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نسجّل: المراجعة ومصادرها، والبريف، واختيارات السعر، وتأكيد إن العميل جاهز يمضي.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لسه محتاجين نحدد مين بيأكد الدفع، وأساس المصروف، وتمويل الإعلانات، والضرائب، ومواعيد باقي الدفعات.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للمتابعة: العميل، والمطلوب، والمنفذ، والميعاد، والحالة، ورابط المراجعة، والملاحظات، والخطوة الجاية. أي حقول جديدة تتأكد قبل اعتمادها.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نربط التعليقات والردود برقم النسخة وإثبات الموافقة. أي تعديل في شغل معتمد يرجع للمراجعة والموافقة على النسخة المتأثرة.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مدير الحساب ينسق مع العميل والأطراف الخارجية. مسؤول السوشيال مسؤول عن تسليم خامات التصوير والكروت وأدوات الاستوديو، مش تلقائيًا عن كل هارد في الشركة.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عندنا كذا هارد. نحدد مسؤول واستخدام كل واحد. وجود الملف على هارد مش معناه إن له نسخة احتياطية.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الشركة موفرة Claude وChatGPT وCanva وبرامج Adobe. نأكد الاشتراكات والصلاحيات واستخدام البيانات. كلمات السر تتحفظ بشكل خاص، مش في شيت المهام أو عرض العميل.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للمراجعة: الفجوة = تقييم المدير ناقص الذاتي؛ المساهمة = الوزن × تقييم المدير ÷ ٥. حدود النموذج: ٩٠٪ ممتاز، ٨٠٪ جيد جدًا، ٧٠٪ جيد، وأقل من كده يحتاج تحسين. نراجع النسخة المعتمدة.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سجل مختصر: الدخول اتراجع / الشغل الحالي مفهوم / دورة بإشراف خلصت / الاستثناءات اتجربت / المالك راجع / النواقص اتحدد لها مسؤول.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ننفذ على الشيت، ونعلّق على نفس الكالندر، ونحفظ الملفات المتفق عليها على الدرايف، ونعرض النسخة المعتمدة على العميل. مش محتاجين ننسخ السجلات اليومية جوه الدليل.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IBM Plex Sans Arabic"/>
              </a:rPr>
              <a:t>PMP  /  دليل التشغيل المختصر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7D2B42"/>
                </a:solidFill>
                <a:latin typeface="IBM Plex Sans Arabic"/>
              </a:rPr>
              <a:t>نكسب العميل المناسب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IBM Plex Sans Arabic"/>
              </a:rPr>
              <a:t>السيلز أو مسؤول تطوير الأعمال يقودوا المرحلة، ومدير الحساب معاهم من البداية.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37576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37576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نوصل لعميل عنده احتياج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زيارات، مكالمات بعد بحث، لينكدإن، إيميلات، أو متابعة العملاء المحتملين من إعلانات PMP. نبص على صفحات النشاط قبل ما نتواصل معاه.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نجهّز قبل أول مقابلة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نستخدم SKILL-1.md لعمل مراجعة للسوشيال، واستراتيجية مبدئية، وعرض سعر بـ٣ مستويات. ندرس المشاكل والحلول كويس. التسعير حسب السوق الفعلي، وأسعارنا السابقة، ومجال العميل وفئته.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نسمع البريف ونأكد الجدية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نقابل العميل أونلاين أو في المكان ونسجل البريف الحقيقي. لما يقول إنه جاهز يمضي، مدير الحساب يقارن البريف بالمقترح، ويشتغل على الاستراتيجية الفعلية مع مسؤول السوشيال ومدير التسويق والميديا باير.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69280"/>
            <a:ext cx="11183112" cy="685800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760720"/>
            <a:ext cx="10780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IBM Plex Sans Arabic"/>
              </a:rPr>
              <a:t>الاستراتيجية الفعلية تبدأ بعد أول مقابلة ولما العميل يبقى جاهز يمضي. ملف المهارة طريقة بحث، مش قائمة أسعار.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IBM Plex Sans Arabic"/>
              </a:rPr>
              <a:t>قواعد مؤكدة؛ المقترحات والنواقص مكتوبة بوضوح.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Montserrat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IBM Plex Sans Arabic"/>
              </a:rPr>
              <a:t>PMP  /  دليل التشغيل المختصر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7D2B42"/>
                </a:solidFill>
                <a:latin typeface="IBM Plex Sans Arabic"/>
              </a:rPr>
              <a:t>نمضي، ننقل الفولدر، ونتأكد من الدفع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IBM Plex Sans Arabic"/>
              </a:rPr>
              <a:t>الإمضاء لوحده مش إذن نبدأ التنفيذ. الدفع له مراجعة لوحده.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37576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37576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تاني مقابلة: ٤ مستندات تتمضي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ناخد نسخ مطبوعة من بريف العميل، والاستراتيجية الفعلية، وعرض السعر المتفق عليه، والعقد. العميل يمضي على الأربعة.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ننقل نفس فولدر العميل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قبل الإمضاء، الفولدر جوه فولدر عروض الأسعار الرئيسي. بعد الإمضاء، ننقل نفس الفولدر عشان يبقى مستقل باسم العميل على درايف PMP. نحافظ على محتواه، من غير نسخة مكررة.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نتأكد إن الدفعة المطلوبة وصلت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لو الخدمة إدارة سوشيال بس: المبلغ كامل مقدمًا. لو العقد فيه خدمات تانية: ٥٠٪ على الأقل مقدمًا. التنفيذ يبدأ بعد مراجعة المستندات الموقعة والدفعة المطلوبة.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69280"/>
            <a:ext cx="11183112" cy="685800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760720"/>
            <a:ext cx="10780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IBM Plex Sans Arabic"/>
              </a:rPr>
              <a:t>أتعاب الميديا باينج ٢٥٪ بتتحسب بعد تنفيذ الخطة على المصروف الفعلي، مش على الميزانية المقترحة.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IBM Plex Sans Arabic"/>
              </a:rPr>
              <a:t>قواعد مؤكدة؛ المقترحات والنواقص مكتوبة بوضوح.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Montserra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IBM Plex Sans Arabic"/>
              </a:rPr>
              <a:t>PMP  /  دليل التشغيل المختصر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7D2B42"/>
                </a:solidFill>
                <a:latin typeface="IBM Plex Sans Arabic"/>
              </a:rPr>
              <a:t>بريف واضح، مسؤول محدد، ومتابعة واحدة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IBM Plex Sans Arabic"/>
              </a:rPr>
              <a:t>مدير الحساب يوزع الشغل، يتابعه، ويلمّه تاني بعد ما يخلص.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37576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37576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نفتح قناة التواصل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مدير الحساب يعمل جروب واتساب فيه العميل، ومالك PMP، ومدير التسويق، والمعنيين. أي قرار يطلع من الجروب يتسجل في متابعة المهمة أو الموافقات.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نحوّل البريف لمهام تتنفّذ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مدير الحساب يوزع على المحتوى والتصميم والمونتاج. كل مهمة يبقى لها مخرج واضح، وشخص مسؤول، وميعاد، ومراجع، ومين هيراجعها. يتابع التنفيذ ويجمع الشغل النهائي.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نسلّم في المكان الصح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فريق المحتوى يسلّم على شيت المهام ويرفع باوربوينت الكالندر على الدرايف. التعليقات تفضل على نفس الكالندر. مسودات التصميم والفيديو تتراجع في المكان المتفق عليه؛ فولدرات الشهور النهائية للنسخ المعتمدة بس.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69280"/>
            <a:ext cx="11183112" cy="685800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760720"/>
            <a:ext cx="10780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IBM Plex Sans Arabic"/>
              </a:rPr>
              <a:t>لو المهمة مش واضحة، متعطلة أو متأخرة، مدير الحساب ينسق الخطوة الجاية مع المنفذ والمراجع. ما نسيبهاش رسالة من غير مسؤول.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IBM Plex Sans Arabic"/>
              </a:rPr>
              <a:t>قواعد مؤكدة؛ المقترحات والنواقص مكتوبة بوضوح.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Montserra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IBM Plex Sans Arabic"/>
              </a:rPr>
              <a:t>PMP  /  دليل التشغيل المختصر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7D2B42"/>
                </a:solidFill>
                <a:latin typeface="IBM Plex Sans Arabic"/>
              </a:rPr>
              <a:t>الموافقة ليها ترتيب ثابت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IBM Plex Sans Arabic"/>
              </a:rPr>
              <a:t>نراجع الجودة الأول، وموافقة العميل تيجي قبل الجدولة.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37576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37576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مراجعة الجودة ← اعتماد مدير التسويق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رئيس المحتوى يراجع المحتوى، ورئيس التصميم يراجع التصميم. المونتيرين تابعين لمدير التسويق مباشرة؛ هو يراجع جودة الفيديو وبعدها يدي الاعتماد الداخلي كقرار منفصل.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مدير الحساب يجمع ← العميل يوافق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بعد الاعتماد الداخلي، مدير الحساب يجمع الشغل في باوربوينت كالندر واحد ويعرضه على العميل عشان ياخد الموافقة النهائية.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النسخة المعتمدة ← مسؤول السوشيال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النسخة اللي العميل وافق عليها بس تروح للجدولة والنشر. التصميمات والفيديوهات النهائية تتحفظ في فولدر الشهر بتاع العميل.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69280"/>
            <a:ext cx="11183112" cy="685800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760720"/>
            <a:ext cx="10780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IBM Plex Sans Arabic"/>
              </a:rPr>
              <a:t>مدير الحساب ومدير التسويق ورؤساء الفرق يكتبوا ملاحظاتهم. المهمة تفضل مفتوحة لحد ما المنفذ يخلّص كل الملاحظات ويتراجع على الشغل تاني.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IBM Plex Sans Arabic"/>
              </a:rPr>
              <a:t>قواعد مؤكدة؛ المقترحات والنواقص مكتوبة بوضوح.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Montserra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IBM Plex Sans Arabic"/>
              </a:rPr>
              <a:t>PMP  /  دليل التشغيل المختصر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7D2B42"/>
                </a:solidFill>
                <a:latin typeface="IBM Plex Sans Arabic"/>
              </a:rPr>
              <a:t>مين مسؤول عن إيه؟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IBM Plex Sans Arabic"/>
              </a:rPr>
              <a:t>الـ١٤ وظيفة يفضلوا واضحين، بما فيهم كل مصمم وكل مونتير لوحده.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37576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37576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العميل والتوجيه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MM-01 مدير التسويق: الاستراتيجية والاعتماد الداخلي وجودة الفيديو. BD-01 تطوير الأعمال وSA-01 السيلز: الوصول للعملاء وتجهيز الاتفاق. AM-01 مدير الحساب: البريف والتوزيع والمتابعة والتجميع وموافقة العميل.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إنتاج المحتوى والتصميم والفيديو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HC-01 رئيس المحتوى، وCW-S01 كاتب أول، وCW-J01 كاتب مبتدئ. HD-01 رئيس التصميم، وGD-01 وGD-02 مصممين. VE-01 وVE-02 مونتيرين. كل رئيس يراجع تخصصه، ومدير التسويق يراجع الفيديو.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السوشيال والإعلانات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SM-01 مسؤول السوشيال: يجمع كالندرات البراندات الخاصة، ويعمل استراتيجيات وتقارير أداء واستماع، ويجدول وينشر ويرد على تعليقات الصفحات. MB-01 الميديا باير: يشارك في الاستراتيجية الفعلية وينفذ خطة الإعلانات.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69280"/>
            <a:ext cx="11183112" cy="685800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760720"/>
            <a:ext cx="10780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IBM Plex Sans Arabic"/>
              </a:rPr>
              <a:t>التبعية الإدارية المؤكدة هنا إن المونتيرين تابعين لمدير التسويق. التنسيق لوحده ما يحددش المدير المباشر أو صلاحية التقييم لباقي الأدوار.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IBM Plex Sans Arabic"/>
              </a:rPr>
              <a:t>قواعد مؤكدة؛ المقترحات والنواقص مكتوبة بوضوح.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Montserra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IBM Plex Sans Arabic"/>
              </a:rPr>
              <a:t>PMP  /  دليل التشغيل المختصر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7D2B42"/>
                </a:solidFill>
                <a:latin typeface="IBM Plex Sans Arabic"/>
              </a:rPr>
              <a:t>نظبط التصوير ونحافظ على الخامات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IBM Plex Sans Arabic"/>
              </a:rPr>
              <a:t>مدير الحساب يرتّب؛ ومسؤول السوشيال يستلم ويسلّم الخامات.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37576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37576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قبل التصوير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مدير الحساب ينسق مع فريق التصوير الخارجي للفيديو والصور، وضيوف البودكاست، ومسؤول العلاقات العامة. يتأكد من بريف التصوير والمواعيد والمشاركين والمطلوب تسليمه.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وقت الاستلام والتسليم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مسؤول السوشيال يجمع الداتا من المصورين ويسلّمها للمونتير أو المصمم المكلف. هو المسؤول بالكامل عن كروت الذاكرة وأدوات الاستوديو، وكمان يصور الكواليس.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نخلي فولدر العميل مفهوم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نحتفظ بفولدرات عرض السعر والاستراتيجية والبريف. المحتوى جواه كالندرات كل شهر، والتصميم جواه النهائي لكل شهر، والفيديو جواه النهائي لكل شهر. كالندر المحتوى يفضل متاح للتعليقات.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69280"/>
            <a:ext cx="11183112" cy="685800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760720"/>
            <a:ext cx="10780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IBM Plex Sans Arabic"/>
              </a:rPr>
              <a:t>إجراء مقترح: نتأكد إن الملفات اتنقلت واتعمل لها نسخة احتياطية قبل مسح الكارت، ونسجل استلام وتسليم الكروت والأدوات. سياسة النسخ والاسترجاع والاحتفاظ تتأكد مع المالك.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IBM Plex Sans Arabic"/>
              </a:rPr>
              <a:t>قواعد مؤكدة؛ المقترحات والنواقص مكتوبة بوضوح.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Montserra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IBM Plex Sans Arabic"/>
              </a:rPr>
              <a:t>PMP  /  دليل التشغيل المختصر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7D2B42"/>
                </a:solidFill>
                <a:latin typeface="IBM Plex Sans Arabic"/>
              </a:rPr>
              <a:t>نخلي اليوم ماشي بنظام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IBM Plex Sans Arabic"/>
              </a:rPr>
              <a:t>روتين خفيف للمتابعة؛ المواعيد الثابتة ومدد التنفيذ لسه محتاجة اتفاق.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37576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37576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أول اليوم: أولويات وعوائق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روتين مقترح: مدير التسويق ومدير الحساب يبصوا على التسليمات، والبريفات الناقصة، وطابور المراجعات، وردود العملاء، واحتياجات التصوير. كل عائق له مسؤول وخطوة جاية.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خلال اليوم: تنفيذ ومراجعة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الفريق ينفذ، والرؤساء ومدير التسويق يراجعوا بالترتيب. مدير الحساب يتابع التعليقات ويجمع الشغل. مسؤول السوشيال يتابع الجدولة المعتمدة والردود وتجميع الكالندرات والتقارير والاستراتيجيات المطلوبة. الميديا باير ينفذ خطة الإعلانات.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آخر اليوم: نحدّث ونجهّز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مدير الحساب يحدّث المهام والموافقات: إيه جاهز للنشر، وإيه راجع تعديل، وإيه مطلوب بعد كده. مراجعة أسبوعية مقترحة للتسليمات ونتائج العملاء والعوائق المتكررة وضغط الشغل.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69280"/>
            <a:ext cx="11183112" cy="685800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760720"/>
            <a:ext cx="10780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IBM Plex Sans Arabic"/>
              </a:rPr>
              <a:t>حساب Higgsfield بتاع الشركة للمونتيرين VE-01 وVE-02 بس. ممنوع أي حد تاني يستخدمه، بما فيهم مدير التسويق.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IBM Plex Sans Arabic"/>
              </a:rPr>
              <a:t>قواعد مؤكدة؛ المقترحات والنواقص مكتوبة بوضوح.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Montserra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IBM Plex Sans Arabic"/>
              </a:rPr>
              <a:t>PMP  /  دليل التشغيل المختصر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7D2B42"/>
                </a:solidFill>
                <a:latin typeface="IBM Plex Sans Arabic"/>
              </a:rPr>
              <a:t>نراجع أداء الفريق كل شهر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IBM Plex Sans Arabic"/>
              </a:rPr>
              <a:t>جلسة تطوير فيها أدلة وخطوات واضحة، مش مجرد درجة.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37576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37576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نجهّز النموذج المناسب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نستخدم النسخة المعتمدة للدور وشهر التقييم الفعلي. الموظف يعمل تقييمه الذاتي قبل الجلسة، والمقيّم المؤكد يحط تقييمه بأدلة من نفس الشهر. نأكد مطابقة مسميات النماذج التسعة مع الـ١٤ وظيفة.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نراجع قبل ما نطلع التقدير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الأوزان المرفقة: كفاءات ٣٠٪، مؤشرات الدور ٥٠٪، تطوير ١٠٪، ثقافة وفعاليات ١٠٪. المقياس: ١ ضعيف، ٢ أقل من المتوقع، ٣ قد المتوقع، ٤ أعلى من المتوقع، ٥ متميز. نبرر درجات ١ و٢ و٥ ونناقش فرق التقييمين.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نتكلم ونتابع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نناقش الإنجازات والعوائق ورأي الموظف. نتفق على أهداف SMART وتدريب ومسؤول تنفيذ ومتابعة. نتابع الأهداف الربع سنوية في الجلسات الشهرية. النماذج والتوقيعات والرواتب والمسار الوظيفي يفضلوا خاصين.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69280"/>
            <a:ext cx="11183112" cy="685800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760720"/>
            <a:ext cx="10780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IBM Plex Sans Arabic"/>
              </a:rPr>
              <a:t>الخانة الفاضية في تقييم المدير ممكن تتحسب بصفر؛ نكمّل النموذج قبل قراءة التقدير. مفيش راتب أو ترقية أو قرار توظيف بيطلع تلقائيًا من الدرجة.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IBM Plex Sans Arabic"/>
              </a:rPr>
              <a:t>قواعد مؤكدة؛ المقترحات والنواقص مكتوبة بوضوح.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Montserra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IBM Plex Sans Arabic"/>
              </a:rPr>
              <a:t>PMP  /  دليل التشغيل المختصر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7D2B42"/>
                </a:solidFill>
                <a:latin typeface="IBM Plex Sans Arabic"/>
              </a:rPr>
              <a:t>نسلّم لمدير التسويق الجديد عملي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IBM Plex Sans Arabic"/>
              </a:rPr>
              <a:t>خطوات قصيرة للتأهيل، وترتيبها مقترح لحد ما نتفق على الاعتماد.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37576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37576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الأول: يفهم ويتأكد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يمشي على عميل حقيقي من أول التواصل لحد النشر. يراجع الدخول مع الشخص المخول، ويعرف الكالندرات والشيت والمواعيد والتعليقات المفتوحة وأي شغل واقف على إمضاء أو دفع.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بعدها: يدير دورة بإشراف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يمسك مهمة من البريف لمراجعة الجودة والاعتماد الداخلي وموافقة العميل والتسليم للنشر. يجرّب دورة رفض وتعديل، وتسليم خامات تصوير. ما يعتبرش المهمة خلصت من غير إثبات.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وفي الآخر: يمسك روتين المتابعة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يدير الأولويات ومراجعة التسليمات وتجهيز التقييم الشهري. يشرح شروط دفع ١٠٠٪ و٥٠٪، وأتعاب الـ٢٥٪ على الفعلي، وقيد Higgsfield، ومسؤولية الكروت والأدوات.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69280"/>
            <a:ext cx="11183112" cy="685800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760720"/>
            <a:ext cx="10780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IBM Plex Sans Arabic"/>
              </a:rPr>
              <a:t>قبل اعتماد التسليم، المالك يأكد الصلاحيات والدخول والنواقص ومسؤول كل خطوة. قراءة الدليل لوحدها مش إثبات إن المدير جاهز يدير الشغل.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IBM Plex Sans Arabic"/>
              </a:rPr>
              <a:t>قواعد مؤكدة؛ المقترحات والنواقص مكتوبة بوضوح.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Montserra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IBM Plex Sans Arabic"/>
              </a:rPr>
              <a:t>PMP  /  دليل التشغيل المختصر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1155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7D2B42"/>
                </a:solidFill>
                <a:latin typeface="IBM Plex Sans Arabic"/>
              </a:rPr>
              <a:t>نرجع لقائمة واحدة لما الشغل يقف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IBM Plex Sans Arabic"/>
              </a:rPr>
              <a:t>نحل سبب التعطيل، مش نزود ورق وخطوات ملهاش لازمة.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37576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37576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جاهزين ننقل للخطوة الجاية؟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بريف حقيقي وجدية للتوقيع قبل الاستراتيجية الفعلية. ٤ مستندات موقعة ودفعة مطلوبة قبل التنفيذ. اعتماد داخلي قبل عرض العميل. موافقة العميل على النسخة قبل الجدولة.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لو الشغل اترفض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المهمة تفضل مفتوحة. نسجل مين علّق، والمطلوب يتعدل، ورد المنفذ، والمراجعة الجاية. مدير الحساب يتابع لحد ما كل الملاحظات تتقفل والنسخة الصح تتعتمد.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58568"/>
            <a:ext cx="3648456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258568"/>
            <a:ext cx="3648456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468880"/>
            <a:ext cx="330098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7D2B42"/>
                </a:solidFill>
                <a:latin typeface="IBM Plex Sans Arabic"/>
              </a:rPr>
              <a:t>قرارات لسه عند المالك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172968"/>
            <a:ext cx="3300984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IBM Plex Sans Arabic"/>
              </a:rPr>
              <a:t>مين بيأكد الدفع وتفاصيل الاتفاق؛ تبعية باقي الأدوار؛ مكان مراجعة المسودات؛ مقيّمي الأداء ومنهم مقيّم مدير التسويق والنماذج والمواعيد؛ صلاحيات البرامج؛ مسؤولي الهاردات والنسخ والاحتفاظ؛ مدد الرد وسلطة الاعتماد النهائي.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69280"/>
            <a:ext cx="11183112" cy="685800"/>
          </a:xfrm>
          <a:prstGeom prst="rect">
            <a:avLst/>
          </a:prstGeom>
          <a:solidFill>
            <a:srgbClr val="7D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760720"/>
            <a:ext cx="10780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IBM Plex Sans Arabic"/>
              </a:rPr>
              <a:t>ده أساس التشغيل المختصر. بيانات المهام والفلوس والدخول والموظفين تفضل في أدواتها الخاصة المصرح بيها.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IBM Plex Sans Arabic"/>
              </a:rPr>
              <a:t>قواعد مؤكدة؛ المقترحات والنواقص مكتوبة بوضوح.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8248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rtl="0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D2B42"/>
                </a:solidFill>
                <a:latin typeface="Montserrat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