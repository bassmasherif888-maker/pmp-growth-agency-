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audit, dated sources, actual brief, quote options and the client’s readiness to 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payment verifier, expense basis, media funding, taxes and balance schedule. These aren’t settled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task-sheet fields: client, deliverable, owner, deadline, status, review link, comments and next action. Confirm any new fields before adoption.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comments, responses, version and approval evidence together. Changes to approved work require fresh approval of the affected version.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coordinates the client and external contributors. SM owns the confirmed shoot-data, memory-card and studio-tool responsibilities—not automatically every company hard drive.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company hard drives. Confirm each drive’s custodian and use. Don’t assume that storing on a drive means a backup exists.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Company tools: Claude, ChatGPT, Canva and Adobe. Confirm seats, licences and permitted data use. Keep credentials in authorized private storage, not the task sheet or client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 reference: gap = manager − self; contribution = weight × manager / 5. Template thresholds: 90% Excellent; 80% Very Good; 70% Good; below 70% Needs Improvement. Verify the approved master.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handover record: access verified / live work understood / supervised cycle completed / exceptions demonstrated / owner review / outstanding 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task sheet for execution, the same calendar for content comments, Drive for the agreed files and the approved deck for the client. Don’t copy live records into this guide.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Win the right client</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Sales or BD leads. The Account Manager stays involved from the start.</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Find a real need</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Use visits, researched cold calls, LinkedIn, email and leads from PMP paid campaigns. Check the business’s social channels before outreach.</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Prepare before meeting one</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Use SKILL-1.md to build an evidence-based social audit, an initial strategy and three quotation tiers. Study the problems and solutions. Price against actual market ranges, previous PMP prices, industry and client class.</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Listen, then qualify</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Meet online or offline and capture the actual client brief. Once the client says they’re ready to sign, AM compares that brief with the initial proposal and develops the actual strategy with Social Media, Marketing Manager and Media Buyer.</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Don’t start the actual strategy before both meeting one and the client’s readiness to sign. The skill is a research method, not a price list.</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Sign, move the folder, collect payment</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Signature and payment are two separate checkpoints.</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Meeting two: four signed documents</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Bring printed copies of the client brief, actual strategy, agreed quotation and contract. The client signs all four.</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Move the same folder</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Before signature: PMP Drive / Quotations / Client. After signature: move that same folder to PMP Drive / Client as a standalone folder. Keep its contents; don’t create a duplicate.</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Confirm the required payment</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Social-management-only: 100% upfront. A contract including other services: at least 50% upfront. Start contracted delivery only after the signed pack and required payment are verified.</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Media buying: the 25% retainer is calculated after plan execution on actual expenses. It isn’t 25% of the planned budget.</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One brief. One task owner. One live record.</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The Account Manager distributes the work, follows it and gathers it back.</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Open the client channel</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AM creates the WhatsApp group with the client, PMP owner, Marketing Manager and relevant stakeholders. Capture decisions back in the task/approval record.</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Make the brief executable</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AM assigns content, design and editing tasks. Each needs a clear deliverable, assigned person, deadline, references and reviewer. AM monitors progress and collects the finished work.</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Submit to the right place</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Content submits through the task sheet and uploads the working calendar PPTX to Drive. Keep comments in that same calendar. Design/video drafts go to the agreed review location; monthly final folders hold approved copies only.</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If a task is unclear, blocked or late, AM coordinates the next action with the holder and reviewer. Don’t leave it as an unowned chat message.</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Approval has a fixed order</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Review quality first. Get client approval before scheduling.</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Internal quality → Marketing Manager</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Content Head reviews content; Design Head reviews design. Video Editors report directly to the Marketing Manager, who reviews video quality and then gives final internal approval as a separate decision.</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AM presentation → client</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After internal approval, AM collects the deliverables into one calendar PPTX and presents it to the client for final approval.</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Approved version → Social Media</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Only the client-approved version goes to Social Media for scheduling/publication. Save final design/video copies in the client’s monthly final folders.</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AM, Marketing Manager and team heads write their comments. A rejected task stays OPEN until its holder executes all comments and the affected work is reviewed again.</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Know who owns what</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Keep the 14 positions separate, including both designers and both editors.</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Client &amp; direction</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MM-01 Marketing Manager: strategy, final internal approval and video quality. BD-01 Business Developer and SA-01 Sales: acquisition and commercial preparation. AM-01 Account Manager: client brief, distribution, follow-up, collection and client approval.</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Creative production</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HC-01 Content Head; CW-S01 Senior Writer; CW-J01 Junior Writer. HD-01 Design Head; GD-01 and GD-02 Designers. VE-01 and VE-02 Video Editors. Heads review their discipline; MM reviews video.</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Social &amp; paid media</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SM-01 Social Media: gather private-label calendars, develop strategies, performance/listening reports, scheduling, publishing and replying to page comments. MB-01 Media Buyer: contributes to actual strategy and executes the media plan.</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Only the Video Editors’ direct reporting to MM is confirmed here. Coordination doesn’t automatically establish everyone else’s line manager or appraisal authority.</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Run the shoot. Protect the files.</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AM handles arrangements; Social Media handles collection and handoff.</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Before the shoot</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AM arranges the outsourced videography/photography team, podcast guests and PR person. Agree the shoot brief, timing, participants and expected materials.</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At collection and handoff</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Social Media collects photo/video data from the crew and hands it to the assigned editor or designer. SM has full accountability for memory cards and studio tools, and captures behind-the-scenes content.</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Keep the client folder usable</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Retain Quotation, Start Strategy and Client Brief folders; Content contains monthly calendars, Design monthly final designs, and Videos monthly final videos. Content’s working calendar stays available for comments.</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Recommended safeguard: verify file transfer and backup before clearing a card. Log card/tool issue and return. Confirm the backup, recovery and retention policy with the owner.</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Make the day predictable</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Use a short operating rhythm; exact timings and SLAs still need agreement.</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Start: priorities &amp; blockers</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Proposed daily check: MM and AM review due work, missing briefs, review queues, client decisions and shoot dependencies. Name one owner and next action for each blocker.</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During: produce &amp; review</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Creators execute; heads/MM review in order; AM follows comments and collects output. Social Media handles approved scheduling, replies, calendar collection and assigned reporting/strategy work. MB works to the media plan.</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Close: update &amp; prepare</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AM updates open tasks and approval status. Check what is approved for publication, what needs rework and what is due next. Proposed weekly review: delivery health, client results, recurring blockers and resource load.</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Company Higgsfield account: VE-01 and VE-02 ONLY. Every other team member is forbidden to use it, including the Marketing Manager.</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Review people every month</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A development conversation, supported by evidence—not just a score.</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Prepare the right form</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Use the approved role-specific master and actual month. Employee completes self-rating before the meeting; confirmed reviewer rates with evidence from that month. Confirm how the nine template-title families map to the 14 positions.</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Check before grading</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Supplied weights: core 30%, role KPIs 50%, development 10%, culture/events 10%. Scale: 1 Poor, 2 Below Expectations, 3 Meets, 4 Exceeds, 5 Outstanding. Justify ratings 1, 2 and 5. Discuss the self/manager gap.</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Meet and follow through</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Discuss achievements, blockers and employee feedback. Agree next SMART goals, training, an action owner and follow-up. Track quarterly OKRs during monthly reviews. Keep forms, signatures and career/pay information private.</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Blank manager ratings can calculate as zero: complete the form before interpreting the grade. Pay, promotion and employment decisions are never automatic.</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Onboard the next Marketing Manager</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A short practical route. Proposed sequence; acceptance still needs agreement.</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First: understand &amp; verify</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Walk one real client from lead to publication. Verify access with the authorized person; identify live calendars, task sheet, current deadlines, open comments and unpaid/unsigned gates.</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Then: run a supervised cycle</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Lead one task from brief through quality review, internal approval, client approval and publishing handoff. Practise a rejection loop and a source-media handoff. Don’t call a task complete without its evidence.</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Finally: own the review rhythm</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Run the priority check, delivery review and monthly appraisal preparation. Demonstrate the 100%/50% payment rules, actual-spend 25% rule, Higgsfield restriction and memory-card/tool accountability.</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Before sign-off, the owner confirms decision authority, access, remaining gaps and who owns each action. Reading this guide alone doesn’t prove operational readiness.</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F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464"/>
            <a:ext cx="11155680" cy="32004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PMP  /  THE LEAN OPERATING PLAYBOOK</a:t>
            </a:r>
          </a:p>
        </p:txBody>
      </p:sp>
      <p:sp>
        <p:nvSpPr>
          <p:cNvPr id="4" name="TextBox 3"/>
          <p:cNvSpPr txBox="1"/>
          <p:nvPr/>
        </p:nvSpPr>
        <p:spPr>
          <a:xfrm>
            <a:off x="502920" y="832104"/>
            <a:ext cx="11155680" cy="621792"/>
          </a:xfrm>
          <a:prstGeom prst="rect">
            <a:avLst/>
          </a:prstGeom>
          <a:noFill/>
        </p:spPr>
        <p:txBody>
          <a:bodyPr wrap="square" lIns="0" rIns="0" tIns="0" bIns="0">
            <a:spAutoFit/>
          </a:bodyPr>
          <a:lstStyle/>
          <a:p>
            <a:pPr algn="l" rtl="0">
              <a:lnSpc>
                <a:spcPct val="112000"/>
              </a:lnSpc>
              <a:spcAft>
                <a:spcPts val="400"/>
              </a:spcAft>
            </a:pPr>
            <a:r>
              <a:rPr sz="3000" b="1">
                <a:solidFill>
                  <a:srgbClr val="7D2B42"/>
                </a:solidFill>
                <a:latin typeface="Montserrat"/>
              </a:rPr>
              <a:t>Keep one clear control list</a:t>
            </a:r>
          </a:p>
        </p:txBody>
      </p:sp>
      <p:sp>
        <p:nvSpPr>
          <p:cNvPr id="5" name="TextBox 4"/>
          <p:cNvSpPr txBox="1"/>
          <p:nvPr/>
        </p:nvSpPr>
        <p:spPr>
          <a:xfrm>
            <a:off x="502920" y="1536192"/>
            <a:ext cx="11155680" cy="502920"/>
          </a:xfrm>
          <a:prstGeom prst="rect">
            <a:avLst/>
          </a:prstGeom>
          <a:noFill/>
        </p:spPr>
        <p:txBody>
          <a:bodyPr wrap="square" lIns="0" rIns="0" tIns="0" bIns="0">
            <a:spAutoFit/>
          </a:bodyPr>
          <a:lstStyle/>
          <a:p>
            <a:pPr algn="l" rtl="0">
              <a:lnSpc>
                <a:spcPct val="112000"/>
              </a:lnSpc>
              <a:spcAft>
                <a:spcPts val="400"/>
              </a:spcAft>
            </a:pPr>
            <a:r>
              <a:rPr sz="1600" b="0">
                <a:solidFill>
                  <a:srgbClr val="555555"/>
                </a:solidFill>
                <a:latin typeface="Montserrat"/>
              </a:rPr>
              <a:t>Use this page when work gets stuck. Don’t expand the process with more paperwork.</a:t>
            </a:r>
          </a:p>
        </p:txBody>
      </p:sp>
      <p:sp>
        <p:nvSpPr>
          <p:cNvPr id="6" name="Rectangle 5"/>
          <p:cNvSpPr/>
          <p:nvPr/>
        </p:nvSpPr>
        <p:spPr>
          <a:xfrm>
            <a:off x="502920"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Ready to move?</a:t>
            </a:r>
          </a:p>
        </p:txBody>
      </p:sp>
      <p:sp>
        <p:nvSpPr>
          <p:cNvPr id="9" name="TextBox 8"/>
          <p:cNvSpPr txBox="1"/>
          <p:nvPr/>
        </p:nvSpPr>
        <p:spPr>
          <a:xfrm>
            <a:off x="676656"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Real brief + readiness before actual strategy. Four signed documents + required payment before delivery. Internal approval before client presentation. Client-approved version before scheduling.</a:t>
            </a:r>
          </a:p>
        </p:txBody>
      </p:sp>
      <p:sp>
        <p:nvSpPr>
          <p:cNvPr id="10" name="Rectangle 9"/>
          <p:cNvSpPr/>
          <p:nvPr/>
        </p:nvSpPr>
        <p:spPr>
          <a:xfrm>
            <a:off x="4270248"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0248"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If approval fails</a:t>
            </a:r>
          </a:p>
        </p:txBody>
      </p:sp>
      <p:sp>
        <p:nvSpPr>
          <p:cNvPr id="13" name="TextBox 12"/>
          <p:cNvSpPr txBox="1"/>
          <p:nvPr/>
        </p:nvSpPr>
        <p:spPr>
          <a:xfrm>
            <a:off x="4443984"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Keep the task open. Record who commented, what needs changing, the holder’s response and the next review. AM follows the loop until every comment is resolved and the right version is approved.</a:t>
            </a:r>
          </a:p>
        </p:txBody>
      </p:sp>
      <p:sp>
        <p:nvSpPr>
          <p:cNvPr id="14" name="Rectangle 13"/>
          <p:cNvSpPr/>
          <p:nvPr/>
        </p:nvSpPr>
        <p:spPr>
          <a:xfrm>
            <a:off x="8037576" y="2258568"/>
            <a:ext cx="3648456"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58568"/>
            <a:ext cx="3648456"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468880"/>
            <a:ext cx="3300984" cy="603504"/>
          </a:xfrm>
          <a:prstGeom prst="rect">
            <a:avLst/>
          </a:prstGeom>
          <a:noFill/>
        </p:spPr>
        <p:txBody>
          <a:bodyPr wrap="square" lIns="0" rIns="0" tIns="0" bIns="0">
            <a:spAutoFit/>
          </a:bodyPr>
          <a:lstStyle/>
          <a:p>
            <a:pPr algn="l" rtl="0">
              <a:lnSpc>
                <a:spcPct val="112000"/>
              </a:lnSpc>
              <a:spcAft>
                <a:spcPts val="400"/>
              </a:spcAft>
            </a:pPr>
            <a:r>
              <a:rPr sz="1800" b="1">
                <a:solidFill>
                  <a:srgbClr val="7D2B42"/>
                </a:solidFill>
                <a:latin typeface="Montserrat"/>
              </a:rPr>
              <a:t>Owner decisions still needed</a:t>
            </a:r>
          </a:p>
        </p:txBody>
      </p:sp>
      <p:sp>
        <p:nvSpPr>
          <p:cNvPr id="17" name="TextBox 16"/>
          <p:cNvSpPr txBox="1"/>
          <p:nvPr/>
        </p:nvSpPr>
        <p:spPr>
          <a:xfrm>
            <a:off x="8211312" y="3172968"/>
            <a:ext cx="3300984" cy="2157984"/>
          </a:xfrm>
          <a:prstGeom prst="rect">
            <a:avLst/>
          </a:prstGeom>
          <a:noFill/>
        </p:spPr>
        <p:txBody>
          <a:bodyPr wrap="square" lIns="0" rIns="0" tIns="0" bIns="0">
            <a:spAutoFit/>
          </a:bodyPr>
          <a:lstStyle/>
          <a:p>
            <a:pPr algn="l" rtl="0">
              <a:lnSpc>
                <a:spcPct val="112000"/>
              </a:lnSpc>
              <a:spcAft>
                <a:spcPts val="400"/>
              </a:spcAft>
            </a:pPr>
            <a:r>
              <a:rPr sz="1500" b="0">
                <a:solidFill>
                  <a:srgbClr val="202020"/>
                </a:solidFill>
                <a:latin typeface="Montserrat"/>
              </a:rPr>
              <a:t>Confirm payment verification and commercial details; other reporting lines; draft-review location; appraisal reviewers including MM, master forms and deadlines; software seats; drive custodians, backup/retention; response times and final sign-off authority.</a:t>
            </a:r>
          </a:p>
        </p:txBody>
      </p:sp>
      <p:sp>
        <p:nvSpPr>
          <p:cNvPr id="18" name="Rectangle 17"/>
          <p:cNvSpPr/>
          <p:nvPr/>
        </p:nvSpPr>
        <p:spPr>
          <a:xfrm>
            <a:off x="502920" y="5669280"/>
            <a:ext cx="11183112" cy="6858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760720"/>
            <a:ext cx="10780776" cy="548640"/>
          </a:xfrm>
          <a:prstGeom prst="rect">
            <a:avLst/>
          </a:prstGeom>
          <a:noFill/>
        </p:spPr>
        <p:txBody>
          <a:bodyPr wrap="square" lIns="0" rIns="0" tIns="0" bIns="0">
            <a:spAutoFit/>
          </a:bodyPr>
          <a:lstStyle/>
          <a:p>
            <a:pPr algn="l" rtl="0">
              <a:lnSpc>
                <a:spcPct val="112000"/>
              </a:lnSpc>
              <a:spcAft>
                <a:spcPts val="400"/>
              </a:spcAft>
            </a:pPr>
            <a:r>
              <a:rPr sz="1450" b="1">
                <a:solidFill>
                  <a:srgbClr val="FFFFFF"/>
                </a:solidFill>
                <a:latin typeface="Montserrat"/>
              </a:rPr>
              <a:t>This is the lean operating baseline. Keep actual task, finance, access and employee records in their authorized private tools.</a:t>
            </a:r>
          </a:p>
        </p:txBody>
      </p:sp>
      <p:sp>
        <p:nvSpPr>
          <p:cNvPr id="20" name="TextBox 19"/>
          <p:cNvSpPr txBox="1"/>
          <p:nvPr/>
        </p:nvSpPr>
        <p:spPr>
          <a:xfrm>
            <a:off x="502920" y="6528816"/>
            <a:ext cx="10515600" cy="182880"/>
          </a:xfrm>
          <a:prstGeom prst="rect">
            <a:avLst/>
          </a:prstGeom>
          <a:noFill/>
        </p:spPr>
        <p:txBody>
          <a:bodyPr wrap="square" lIns="0" rIns="0" tIns="0" bIns="0">
            <a:spAutoFit/>
          </a:bodyPr>
          <a:lstStyle/>
          <a:p>
            <a:pPr algn="l" rtl="0">
              <a:lnSpc>
                <a:spcPct val="112000"/>
              </a:lnSpc>
              <a:spcAft>
                <a:spcPts val="400"/>
              </a:spcAft>
            </a:pPr>
            <a:r>
              <a:rPr sz="900" b="0">
                <a:solidFill>
                  <a:srgbClr val="555555"/>
                </a:solidFill>
                <a:latin typeface="Montserrat"/>
              </a:rPr>
              <a:t>Confirmed rules; proposals and open decisions are marked.</a:t>
            </a:r>
          </a:p>
        </p:txBody>
      </p:sp>
      <p:sp>
        <p:nvSpPr>
          <p:cNvPr id="21" name="TextBox 20"/>
          <p:cNvSpPr txBox="1"/>
          <p:nvPr/>
        </p:nvSpPr>
        <p:spPr>
          <a:xfrm>
            <a:off x="11128248" y="6473952"/>
            <a:ext cx="548640" cy="274320"/>
          </a:xfrm>
          <a:prstGeom prst="rect">
            <a:avLst/>
          </a:prstGeom>
          <a:noFill/>
        </p:spPr>
        <p:txBody>
          <a:bodyPr wrap="square" lIns="0" rIns="0" tIns="0" bIns="0">
            <a:spAutoFit/>
          </a:bodyPr>
          <a:lstStyle/>
          <a:p>
            <a:pPr algn="l" rtl="0">
              <a:lnSpc>
                <a:spcPct val="112000"/>
              </a:lnSpc>
              <a:spcAft>
                <a:spcPts val="400"/>
              </a:spcAft>
            </a:pPr>
            <a:r>
              <a:rPr sz="1200" b="1">
                <a:solidFill>
                  <a:srgbClr val="7D2B42"/>
                </a:solidFill>
                <a:latin typeface="Montserrat"/>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