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1" r:id="rId33"/>
    <p:sldId id="297" r:id="rId49"/>
    <p:sldId id="298" r:id="rId50"/>
    <p:sldId id="299" r:id="rId51"/>
    <p:sldId id="291" r:id="rId43"/>
    <p:sldId id="292" r:id="rId44"/>
    <p:sldId id="293" r:id="rId45"/>
    <p:sldId id="300" r:id="rId52"/>
    <p:sldId id="301" r:id="rId53"/>
    <p:sldId id="302" r:id="rId54"/>
    <p:sldId id="294" r:id="rId46"/>
    <p:sldId id="295" r:id="rId47"/>
    <p:sldId id="296" r:id="rId48"/>
    <p:sldId id="282" r:id="rId34"/>
    <p:sldId id="283" r:id="rId35"/>
    <p:sldId id="284" r:id="rId36"/>
    <p:sldId id="285" r:id="rId37"/>
    <p:sldId id="286" r:id="rId38"/>
    <p:sldId id="287" r:id="rId39"/>
    <p:sldId id="288" r:id="rId40"/>
    <p:sldId id="289" r:id="rId41"/>
    <p:sldId id="290" r:id="rId42"/>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source: Direction -01.pdf, supplied by the user. Palette from p.13; typography direction from p.10; grid/collage treatment from pp.2, 5, 17. Text wordmark is editable text, not the original logo artwork. All organizational reporting and policies are proposals.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 ID is a separate position, not a staff member. Reporting, authority and KPI measures are proposed. No fictional employee names or real performance results are included. Edit all role fields directly. PowerPoint text and shapes are native editable objects.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Relationship types are distinct. Line styles supplement brand colors. Connectors and labels are editable. Proposed rather than verified company policy.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PowerPoint is not the running application: simulation logic, browser persistence and permissions do not execute inside the deck. Role cards and back buttons use internal slide hyperlinks. Native shapes and connectors can be moved; connector endpoints must be adjusted manually after changing the map. Fonts are named but not embedded; substitutes may render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 tokens are transcribed from the supplied PDF, not invented. Native editable shapes interpret its collage direction; they do not replicate photographic paper textures. The original logo is not embedded; PMP is an editable text label. No official logo geometry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2.</a:t>
            </a:r>
          </a:p>
          <a:p>
            <a:r>
              <a:t>Original content:</a:t>
            </a:r>
          </a:p>
          <a:p>
            <a:r>
              <a:t>THE SYSTEM</a:t>
            </a:r>
          </a:p>
          <a:p>
            <a:r>
              <a:t>One operating system. Every engagement.</a:t>
            </a:r>
          </a:p>
          <a:p>
            <a:r>
              <a:t>Most agencies improvise — PMP runs on a system. Every engagement follows the same six stages of the PMP Growth OS™. The system stays constant; only the industry Module on top changes.</a:t>
            </a:r>
          </a:p>
          <a:p/>
          <a:p>
            <a:r>
              <a:t>1</a:t>
            </a:r>
          </a:p>
          <a:p/>
          <a:p>
            <a:r>
              <a:t>DISCOVER</a:t>
            </a:r>
          </a:p>
          <a:p>
            <a:r>
              <a:t>Understand the business before acting.</a:t>
            </a:r>
          </a:p>
          <a:p/>
          <a:p>
            <a:r>
              <a:t>2</a:t>
            </a:r>
          </a:p>
          <a:p/>
          <a:p>
            <a:r>
              <a:t>DIAGNOSE</a:t>
            </a:r>
          </a:p>
          <a:p>
            <a:r>
              <a:t>Find out exactly why growth stalls.</a:t>
            </a:r>
          </a:p>
          <a:p/>
          <a:p>
            <a:r>
              <a:t>3</a:t>
            </a:r>
          </a:p>
          <a:p/>
          <a:p>
            <a:r>
              <a:t>DESIGN</a:t>
            </a:r>
          </a:p>
          <a:p>
            <a:r>
              <a:t>Design the growth plan before building.</a:t>
            </a:r>
          </a:p>
          <a:p/>
          <a:p>
            <a:r>
              <a:t>4</a:t>
            </a:r>
          </a:p>
          <a:p/>
          <a:p>
            <a:r>
              <a:t>DEPLOY</a:t>
            </a:r>
          </a:p>
          <a:p>
            <a:r>
              <a:t>Execute with precision across channels.</a:t>
            </a:r>
          </a:p>
          <a:p/>
          <a:p>
            <a:r>
              <a:t>5</a:t>
            </a:r>
          </a:p>
          <a:p/>
          <a:p>
            <a:r>
              <a:t>OPTIMISE</a:t>
            </a:r>
          </a:p>
          <a:p>
            <a:r>
              <a:t>Improve with data, every week.</a:t>
            </a:r>
          </a:p>
          <a:p/>
          <a:p>
            <a:r>
              <a:t>★</a:t>
            </a:r>
          </a:p>
          <a:p/>
          <a:p>
            <a:r>
              <a:t>SCALE</a:t>
            </a:r>
          </a:p>
          <a:p>
            <a:r>
              <a:t>Scale what works into sustainable growth.</a:t>
            </a:r>
          </a:p>
          <a:p>
            <a:r>
              <a:t>PMP Growth OS™     ·     02</a:t>
            </a:r>
          </a:p>
          <a:p>
            <a:r>
              <a:t>INTEGRATION: Framework and deliverables are supplied content. Position-level ownership, approval gates and stage exit criteria below are proposed mappings, not confirmed company policies.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3.</a:t>
            </a:r>
          </a:p>
          <a:p>
            <a:r>
              <a:t>Original content:</a:t>
            </a:r>
          </a:p>
          <a:p>
            <a:r>
              <a:t>STAGE 01</a:t>
            </a:r>
          </a:p>
          <a:p>
            <a:r>
              <a:t>Discover</a:t>
            </a:r>
          </a:p>
          <a:p>
            <a:r>
              <a:t>“Understand before you act.”</a:t>
            </a:r>
          </a:p>
          <a:p>
            <a:r>
              <a:t>01</a:t>
            </a:r>
          </a:p>
          <a:p/>
          <a:p/>
          <a:p/>
          <a:p>
            <a:r>
              <a:t>What we do</a:t>
            </a:r>
          </a:p>
          <a:p>
            <a:r>
              <a:t>Business discovery &amp; goals</a:t>
            </a:r>
          </a:p>
          <a:p>
            <a:r>
              <a:t>Stakeholder interviews</a:t>
            </a:r>
          </a:p>
          <a:p>
            <a:r>
              <a:t>Brand audit</a:t>
            </a:r>
          </a:p>
          <a:p>
            <a:r>
              <a:t>Customer interviews</a:t>
            </a:r>
          </a:p>
          <a:p>
            <a:r>
              <a:t>Competitor analysis</a:t>
            </a:r>
          </a:p>
          <a:p>
            <a:r>
              <a:t>Market research</a:t>
            </a:r>
          </a:p>
          <a:p/>
          <a:p/>
          <a:p/>
          <a:p>
            <a:r>
              <a:t>Deliverables</a:t>
            </a:r>
          </a:p>
          <a:p>
            <a:r>
              <a:t>Business Discovery Report</a:t>
            </a:r>
          </a:p>
          <a:p>
            <a:r>
              <a:t>SWOT analysis</a:t>
            </a:r>
          </a:p>
          <a:p>
            <a:r>
              <a:t>Growth opportunities map</a:t>
            </a:r>
          </a:p>
          <a:p>
            <a:r>
              <a:t>Competitor landscape</a:t>
            </a:r>
          </a:p>
          <a:p/>
          <a:p>
            <a:r>
              <a:t>We never start with tactics. Discover builds the factual foundation — who the business serves, how it's positioned, and where the real growth opportunities sit.</a:t>
            </a:r>
          </a:p>
          <a:p>
            <a:r>
              <a:t>PMP Growth OS™     ·     03</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4.</a:t>
            </a:r>
          </a:p>
          <a:p>
            <a:r>
              <a:t>Original content:</a:t>
            </a:r>
          </a:p>
          <a:p>
            <a:r>
              <a:t>STAGE 02</a:t>
            </a:r>
          </a:p>
          <a:p>
            <a:r>
              <a:t>Diagnose</a:t>
            </a:r>
          </a:p>
          <a:p>
            <a:r>
              <a:t>“Find out why growth stalls.”</a:t>
            </a:r>
          </a:p>
          <a:p>
            <a:r>
              <a:t>02</a:t>
            </a:r>
          </a:p>
          <a:p/>
          <a:p/>
          <a:p/>
          <a:p>
            <a:r>
              <a:t>Where we look</a:t>
            </a:r>
          </a:p>
          <a:p>
            <a:r>
              <a:t>Positioning &amp; brand</a:t>
            </a:r>
          </a:p>
          <a:p>
            <a:r>
              <a:t>Product &amp; offer</a:t>
            </a:r>
          </a:p>
          <a:p>
            <a:r>
              <a:t>Funnel &amp; website</a:t>
            </a:r>
          </a:p>
          <a:p>
            <a:r>
              <a:t>CRM &amp; sales process</a:t>
            </a:r>
          </a:p>
          <a:p>
            <a:r>
              <a:t>Marketing &amp; media efficiency</a:t>
            </a:r>
          </a:p>
          <a:p/>
          <a:p/>
          <a:p/>
          <a:p>
            <a:r>
              <a:t>Deliverables</a:t>
            </a:r>
          </a:p>
          <a:p>
            <a:r>
              <a:t>Growth Diagnosis</a:t>
            </a:r>
          </a:p>
          <a:p>
            <a:r>
              <a:t>Priority Matrix</a:t>
            </a:r>
          </a:p>
          <a:p>
            <a:r>
              <a:t>Quick Wins list</a:t>
            </a:r>
          </a:p>
          <a:p/>
          <a:p>
            <a:r>
              <a:t>The core question: why isn't the business growing? We isolate the real constraints — not the symptoms — so effort and budget go where they move the needle.</a:t>
            </a:r>
          </a:p>
          <a:p>
            <a:r>
              <a:t>PMP Growth OS™     ·     04</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5.</a:t>
            </a:r>
          </a:p>
          <a:p>
            <a:r>
              <a:t>Original content:</a:t>
            </a:r>
          </a:p>
          <a:p>
            <a:r>
              <a:t>STAGE 03</a:t>
            </a:r>
          </a:p>
          <a:p>
            <a:r>
              <a:t>Design</a:t>
            </a:r>
          </a:p>
          <a:p>
            <a:r>
              <a:t>“Design the solution before building it.”</a:t>
            </a:r>
          </a:p>
          <a:p>
            <a:r>
              <a:t>03</a:t>
            </a:r>
          </a:p>
          <a:p/>
          <a:p/>
          <a:p/>
          <a:p>
            <a:r>
              <a:t>What we design</a:t>
            </a:r>
          </a:p>
          <a:p>
            <a:r>
              <a:t>Brand strategy</a:t>
            </a:r>
          </a:p>
          <a:p>
            <a:r>
              <a:t>Content strategy</a:t>
            </a:r>
          </a:p>
          <a:p>
            <a:r>
              <a:t>Media strategy</a:t>
            </a:r>
          </a:p>
          <a:p>
            <a:r>
              <a:t>Customer journey</a:t>
            </a:r>
          </a:p>
          <a:p>
            <a:r>
              <a:t>KPI framework</a:t>
            </a:r>
          </a:p>
          <a:p>
            <a:r>
              <a:t>Budget allocation</a:t>
            </a:r>
          </a:p>
          <a:p/>
          <a:p/>
          <a:p/>
          <a:p>
            <a:r>
              <a:t>Deliverables</a:t>
            </a:r>
          </a:p>
          <a:p>
            <a:r>
              <a:t>The Growth Blueprint™ — a single, board-ready plan connecting strategy, channels, KPIs &amp; budget</a:t>
            </a:r>
          </a:p>
          <a:p/>
          <a:p>
            <a:r>
              <a:t>Design is where the plan is engineered — not executed. Everything is mapped and agreed before a single campaign goes live.</a:t>
            </a:r>
          </a:p>
          <a:p>
            <a:r>
              <a:t>PMP Growth OS™     ·     05</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6.</a:t>
            </a:r>
          </a:p>
          <a:p>
            <a:r>
              <a:t>Original content:</a:t>
            </a:r>
          </a:p>
          <a:p>
            <a:r>
              <a:t>STAGE 04</a:t>
            </a:r>
          </a:p>
          <a:p>
            <a:r>
              <a:t>Deploy</a:t>
            </a:r>
          </a:p>
          <a:p>
            <a:r>
              <a:t>“Execution with precision.”</a:t>
            </a:r>
          </a:p>
          <a:p>
            <a:r>
              <a:t>04</a:t>
            </a:r>
          </a:p>
          <a:p/>
          <a:p/>
          <a:p/>
          <a:p>
            <a:r>
              <a:t>What we build</a:t>
            </a:r>
          </a:p>
          <a:p>
            <a:r>
              <a:t>Website &amp; landing pages</a:t>
            </a:r>
          </a:p>
          <a:p>
            <a:r>
              <a:t>Branding &amp; creative</a:t>
            </a:r>
          </a:p>
          <a:p>
            <a:r>
              <a:t>Paid campaigns</a:t>
            </a:r>
          </a:p>
          <a:p>
            <a:r>
              <a:t>Social media &amp; content</a:t>
            </a:r>
          </a:p>
          <a:p>
            <a:r>
              <a:t>CRM &amp; automation</a:t>
            </a:r>
          </a:p>
          <a:p/>
          <a:p/>
          <a:p/>
          <a:p>
            <a:r>
              <a:t>Deliverables</a:t>
            </a:r>
          </a:p>
          <a:p>
            <a:r>
              <a:t>Live campaigns &amp; content calendar</a:t>
            </a:r>
          </a:p>
          <a:p>
            <a:r>
              <a:t>Tracking &amp; analytics setup</a:t>
            </a:r>
          </a:p>
          <a:p>
            <a:r>
              <a:t>Automation &amp; lead routing</a:t>
            </a:r>
          </a:p>
          <a:p/>
          <a:p>
            <a:r>
              <a:t>Deployment turns the Blueprint into live assets and campaigns — built to the plan and instrumented from day one, so every result is measurable.</a:t>
            </a:r>
          </a:p>
          <a:p>
            <a:r>
              <a:t>PMP Growth OS™     ·     06</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7.</a:t>
            </a:r>
          </a:p>
          <a:p>
            <a:r>
              <a:t>Original content:</a:t>
            </a:r>
          </a:p>
          <a:p>
            <a:r>
              <a:t>STAGE 05</a:t>
            </a:r>
          </a:p>
          <a:p>
            <a:r>
              <a:t>Optimise</a:t>
            </a:r>
          </a:p>
          <a:p>
            <a:r>
              <a:t>“Improve with data — every week.”</a:t>
            </a:r>
          </a:p>
          <a:p>
            <a:r>
              <a:t>05</a:t>
            </a:r>
          </a:p>
          <a:p/>
          <a:p/>
          <a:p/>
          <a:p>
            <a:r>
              <a:t>How we optimise</a:t>
            </a:r>
          </a:p>
          <a:p>
            <a:r>
              <a:t>Weekly &amp; monthly reporting</a:t>
            </a:r>
          </a:p>
          <a:p>
            <a:r>
              <a:t>Live dashboards</a:t>
            </a:r>
          </a:p>
          <a:p>
            <a:r>
              <a:t>Heatmaps &amp; behaviour analysis</a:t>
            </a:r>
          </a:p>
          <a:p>
            <a:r>
              <a:t>A/B testing</a:t>
            </a:r>
          </a:p>
          <a:p>
            <a:r>
              <a:t>Conversion rate optimisation (CRO)</a:t>
            </a:r>
          </a:p>
          <a:p/>
          <a:p/>
          <a:p/>
          <a:p>
            <a:r>
              <a:t>Deliverables</a:t>
            </a:r>
          </a:p>
          <a:p>
            <a:r>
              <a:t>Performance reports with recommendations</a:t>
            </a:r>
          </a:p>
          <a:p>
            <a:r>
              <a:t>Optimisation log</a:t>
            </a:r>
          </a:p>
          <a:p>
            <a:r>
              <a:t>Improving CPL, CPM &amp; ROAS over time</a:t>
            </a:r>
          </a:p>
          <a:p/>
          <a:p>
            <a:r>
              <a:t>Optimise is the engine of compounding results — a continuous loop of measure, test, and refine that improves efficiency month after month.</a:t>
            </a:r>
          </a:p>
          <a:p>
            <a:r>
              <a:t>PMP Growth OS™     ·     07</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8.</a:t>
            </a:r>
          </a:p>
          <a:p>
            <a:r>
              <a:t>Original content:</a:t>
            </a:r>
          </a:p>
          <a:p>
            <a:r>
              <a:t>STAGE 06</a:t>
            </a:r>
          </a:p>
          <a:p>
            <a:r>
              <a:t>Scale</a:t>
            </a:r>
          </a:p>
          <a:p>
            <a:r>
              <a:t>“Scale what works.”</a:t>
            </a:r>
          </a:p>
          <a:p>
            <a:r>
              <a:t>06</a:t>
            </a:r>
          </a:p>
          <a:p/>
          <a:p/>
          <a:p/>
          <a:p>
            <a:r>
              <a:t>What we scale</a:t>
            </a:r>
          </a:p>
          <a:p>
            <a:r>
              <a:t>Scaling budget behind winners</a:t>
            </a:r>
          </a:p>
          <a:p>
            <a:r>
              <a:t>Scaling into new markets</a:t>
            </a:r>
          </a:p>
          <a:p>
            <a:r>
              <a:t>Scaling new channels</a:t>
            </a:r>
          </a:p>
          <a:p>
            <a:r>
              <a:t>Retention &amp; loyalty</a:t>
            </a:r>
          </a:p>
          <a:p>
            <a:r>
              <a:t>Expansion &amp; new revenue lines</a:t>
            </a:r>
          </a:p>
          <a:p/>
          <a:p/>
          <a:p/>
          <a:p>
            <a:r>
              <a:t>Deliverables</a:t>
            </a:r>
          </a:p>
          <a:p>
            <a:r>
              <a:t>Scaling plan</a:t>
            </a:r>
          </a:p>
          <a:p>
            <a:r>
              <a:t>Expansion roadmap</a:t>
            </a:r>
          </a:p>
          <a:p>
            <a:r>
              <a:t>Sustainable, compounding growth</a:t>
            </a:r>
          </a:p>
          <a:p/>
          <a:p>
            <a:r>
              <a:t>Scale is where proven performance becomes real business growth — expanding budget, markets, and channels on the foundation the system has built.</a:t>
            </a:r>
          </a:p>
          <a:p>
            <a:r>
              <a:t>PMP Growth OS™     ·     08</a:t>
            </a:r>
          </a:p>
          <a:p>
            <a:r>
              <a:t>INTEGRATION: Framework and deliverables are supplied content. Position-level ownership, approval gates and stage exit criteria below are proposed mappings, not confirmed company policies. Performance improvements and growth are objectives, not operational guarantees. The listed 14 roles do not explicitly include web development, CRM implementation, automation or specialist CRO delivery. Confirm an accountable internal or external owner before committing that scope.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connects the nine existing task templates to the six-stage framework. Templates are delivery workflows nested inside the OS, not replacement stages. Paid campaign planning begins in Design; asset production and activation occur in Deploy; testing/reporting continue in Optimise. Urgent requests do not bypass approval gates.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9.</a:t>
            </a:r>
          </a:p>
          <a:p>
            <a:r>
              <a:t>Original content:</a:t>
            </a:r>
          </a:p>
          <a:p>
            <a:r>
              <a:t>ONE SYSTEM, TUNED TO YOUR INDUSTRY</a:t>
            </a:r>
          </a:p>
          <a:p>
            <a:r>
              <a:t>Industry Growth Modules™</a:t>
            </a:r>
          </a:p>
          <a:p>
            <a:r>
              <a:t>The six stages never change. What changes is the Module on top — adding the journeys, funnels, and KPIs specific to each industry.</a:t>
            </a:r>
          </a:p>
          <a:p/>
          <a:p>
            <a:r>
              <a:t>Healthcare Growth Module™</a:t>
            </a:r>
          </a:p>
          <a:p>
            <a:r>
              <a:t>Patient journey · medical authority · appointment funnel · referral system.</a:t>
            </a:r>
          </a:p>
          <a:p/>
          <a:p>
            <a:r>
              <a:t>Real Estate Growth Module™</a:t>
            </a:r>
          </a:p>
          <a:p>
            <a:r>
              <a:t>Buyer journey · lead scoring · CRM · sales pipeline.</a:t>
            </a:r>
          </a:p>
          <a:p/>
          <a:p>
            <a:r>
              <a:t>Hospitality Growth Module™</a:t>
            </a:r>
          </a:p>
          <a:p>
            <a:r>
              <a:t>Reservation funnel · reviews · loyalty · retention.</a:t>
            </a:r>
          </a:p>
          <a:p/>
          <a:p>
            <a:r>
              <a:t>Luxury Brand Module™</a:t>
            </a:r>
          </a:p>
          <a:p>
            <a:r>
              <a:t>Brand experience · storytelling · community · premium positioning.</a:t>
            </a:r>
          </a:p>
          <a:p>
            <a:r>
              <a:t>Each module plugs into the same six-stage Growth OS™ — the system stays constant, the module makes it industry-specific.</a:t>
            </a:r>
          </a:p>
          <a:p>
            <a:r>
              <a:t>PMP Growth OS™     ·     09</a:t>
            </a:r>
          </a:p>
          <a:p>
            <a:r>
              <a:t>INTEGRATION: Framework and deliverables are supplied content. Position-level ownership, approval gates and stage exit criteria below are proposed mappings, not confirmed company policies. Modules overlay all six stages. They do not add fictional staff positions or replace internal approvals. Industry-specific delivery and review responsibilities must be confirmed per engagement.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User-supplied PMP-Growth-OS (1).pptx, slide 10.</a:t>
            </a:r>
          </a:p>
          <a:p>
            <a:r>
              <a:t>Original content:</a:t>
            </a:r>
          </a:p>
          <a:p>
            <a:r>
              <a:t>THE PMP GROWTH ARCHITECTURE</a:t>
            </a:r>
          </a:p>
          <a:p>
            <a:r>
              <a:t>One connected ecosystem</a:t>
            </a:r>
          </a:p>
          <a:p>
            <a:r>
              <a:t>Every PMP asset builds on the Growth OS™ — one system, one language, across every touchpoint.</a:t>
            </a:r>
          </a:p>
          <a:p/>
          <a:p>
            <a:r>
              <a:t>PMP</a:t>
            </a:r>
          </a:p>
          <a:p/>
          <a:p>
            <a:r>
              <a:t>Growth OS™</a:t>
            </a:r>
          </a:p>
          <a:p/>
          <a:p>
            <a:r>
              <a:t>Growth Score™</a:t>
            </a:r>
          </a:p>
          <a:p/>
          <a:p>
            <a:r>
              <a:t>Audit™</a:t>
            </a:r>
          </a:p>
          <a:p/>
          <a:p>
            <a:r>
              <a:t>Blueprint™</a:t>
            </a:r>
          </a:p>
          <a:p/>
          <a:p>
            <a:r>
              <a:t>Dashboard™</a:t>
            </a:r>
          </a:p>
          <a:p/>
          <a:p>
            <a:r>
              <a:t>Playbooks™</a:t>
            </a:r>
          </a:p>
          <a:p/>
          <a:p>
            <a:r>
              <a:t>Academy™</a:t>
            </a:r>
          </a:p>
          <a:p>
            <a:r>
              <a:t>Growth Score™ and Audit™ open the relationship; the Growth OS™ chain delivers and compounds it.</a:t>
            </a:r>
          </a:p>
          <a:p>
            <a:r>
              <a:t>PMP Growth OS™     ·     10</a:t>
            </a:r>
          </a:p>
          <a:p>
            <a:r>
              <a:t>INTEGRATION: Framework and deliverables are supplied content. Position-level ownership, approval gates and stage exit criteria below are proposed mappings, not confirmed company policies. Brand architecture names and ™ notation are retained from the supplied deck; no trademark registration or legal status is asserted.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confirmed directly by the user: AM attends client meetings, captures and writes briefs, distributes tasks to content/design/editing, monitors execution, gathers finalized Marketing-approved work into one PPTX, presents it for final client approval and hands the approved presentation to Social Media Specialist. Heads review team quality; Marketing Manager also reviews video quality and supplies final internal approval. AM, MM and heads record comments; tasks stay open until accountable holders execute all comments. Workbook is a structural reference only; no client, staff, URL or credential data is copied.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reference: user-supplied PMP task workbook. Operational tabs include creative/design, editors, content, social media, media buying, AM reminders and daily completion log. Different tabs have different field positions and status vocabularies. No real names, account names, links, dates, metrics or workbook credentials are embedded. Do not equate a daily activity row with an approval record.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has inconsistent capitalization, spelling and team-specific status names. Mapping shown is explanatory, not a claim that historical rows carried these approvals. Head, Marketing Manager and final client approval must be distinct fields in a future import. Names such as Done by a staff member must not be treated as independent client approval.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 describes client kickoff, WhatsApp group setup, Drive structure and team submission rules, supplemented by a screenshot of top-level company Drive. This is not independent access to the company Drive. Actual client names and screenshot folder names are not reproduced. Monthly naming [YYYY-MM] is suggested formatting, not a mandated existing naming rule. No WhatsApp group or folder is created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Confirmed by user: before contract signature, the client folder is inside the main Quotations folder. On signature it moves out to stand alone on PMP Drive with the client name, containing quotation, strategy, brief and monthly work folders. This is a move of the existing folder, not a copy. Sales / Business Developer ownership carries forward from the earlier folder-setup instruction; no Drive action is performed by the deck.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user describes client kickoff, WhatsApp group setup, Drive structure and team submission rules, supplemented by a screenshot of top-level company Drive. This is not independent access to the company Drive. Actual client names and screenshot folder names are not reproduced. Monthly naming [YYYY-MM] is suggested formatting, not a mandated existing naming rule. No WhatsApp group or folder is created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Content exception confirmed by user: Content uploads its working calendar PPTX to Drive and waits for comments on that same calendar. The final-only archiving rule applies to Design and Video folders, not all Content files. Task-sheet status and comment execution stay visible until reviewers approve. File version handling beyond this same-calendar rule is not specified.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sides interpreted in continuity with the user-confirmed process: internal quality/Marketing approval plus final client approval. No new mandatory Design/Video draft folder is introduced. Editors remain direct reports of Marketing Manager. Content working calendars are explicitly an exception to final-only Drive storage.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handoff separates operational task tracking, a working Content review file and final Design/Video deliverable archives. Real files remain in private company systems. The demo website does not access Drive, send WhatsApp messages or upload deliverables.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FFFFFF"/>
                </a:solidFill>
                <a:latin typeface="Montserrat"/>
              </a:defRPr>
            </a:pPr>
            <a:r>
              <a:t>01</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FFFFFF"/>
                </a:solidFill>
                <a:latin typeface="Montserrat"/>
              </a:defRPr>
            </a:pPr>
            <a:r>
              <a:t>YOUR GROWTH IS OUR PULSE</a:t>
            </a:r>
          </a:p>
        </p:txBody>
      </p:sp>
      <p:sp>
        <p:nvSpPr>
          <p:cNvPr id="34" name="TextBox 33"/>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FFFFFF"/>
                </a:solidFill>
                <a:latin typeface="Montserrat"/>
              </a:defRPr>
            </a:pPr>
            <a:r>
              <a:t>EDITABLE WORKING DRAFT · OTHER REPORTING &amp; POLICIES PROPOSED</a:t>
            </a:r>
          </a:p>
        </p:txBody>
      </p:sp>
      <p:sp>
        <p:nvSpPr>
          <p:cNvPr id="35" name="Freeform 34"/>
          <p:cNvSpPr/>
          <p:nvPr/>
        </p:nvSpPr>
        <p:spPr>
          <a:xfrm>
            <a:off x="9418320" y="1463040"/>
            <a:ext cx="4654296" cy="5212080"/>
          </a:xfrm>
          <a:custGeom>
            <a:avLst/>
            <a:gdLst/>
            <a:ahLst/>
            <a:cxnLst/>
            <a:rect l="l" t="t" r="r" b="b"/>
            <a:pathLst>
              <a:path w="509" h="570">
                <a:moveTo>
                  <a:pt x="0" y="28"/>
                </a:moveTo>
                <a:lnTo>
                  <a:pt x="44" y="0"/>
                </a:lnTo>
                <a:lnTo>
                  <a:pt x="89" y="22"/>
                </a:lnTo>
                <a:lnTo>
                  <a:pt x="140" y="0"/>
                </a:lnTo>
                <a:lnTo>
                  <a:pt x="191" y="19"/>
                </a:lnTo>
                <a:lnTo>
                  <a:pt x="254" y="0"/>
                </a:lnTo>
                <a:lnTo>
                  <a:pt x="306" y="22"/>
                </a:lnTo>
                <a:lnTo>
                  <a:pt x="357" y="0"/>
                </a:lnTo>
                <a:lnTo>
                  <a:pt x="408" y="22"/>
                </a:lnTo>
                <a:lnTo>
                  <a:pt x="446" y="0"/>
                </a:lnTo>
                <a:lnTo>
                  <a:pt x="509" y="28"/>
                </a:lnTo>
                <a:lnTo>
                  <a:pt x="502" y="128"/>
                </a:lnTo>
                <a:lnTo>
                  <a:pt x="509" y="256"/>
                </a:lnTo>
                <a:lnTo>
                  <a:pt x="501" y="370"/>
                </a:lnTo>
                <a:lnTo>
                  <a:pt x="509" y="484"/>
                </a:lnTo>
                <a:lnTo>
                  <a:pt x="499" y="570"/>
                </a:lnTo>
                <a:lnTo>
                  <a:pt x="446" y="558"/>
                </a:lnTo>
                <a:lnTo>
                  <a:pt x="382" y="570"/>
                </a:lnTo>
                <a:lnTo>
                  <a:pt x="318" y="552"/>
                </a:lnTo>
                <a:lnTo>
                  <a:pt x="254" y="570"/>
                </a:lnTo>
                <a:lnTo>
                  <a:pt x="191" y="552"/>
                </a:lnTo>
                <a:lnTo>
                  <a:pt x="127" y="570"/>
                </a:lnTo>
                <a:lnTo>
                  <a:pt x="63" y="552"/>
                </a:lnTo>
                <a:lnTo>
                  <a:pt x="0" y="570"/>
                </a:lnTo>
                <a:lnTo>
                  <a:pt x="8" y="427"/>
                </a:lnTo>
                <a:lnTo>
                  <a:pt x="0" y="313"/>
                </a:lnTo>
                <a:lnTo>
                  <a:pt x="7" y="17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1508760"/>
            <a:ext cx="8229600" cy="3017520"/>
          </a:xfrm>
          <a:prstGeom prst="rect">
            <a:avLst/>
          </a:prstGeom>
          <a:noFill/>
        </p:spPr>
        <p:txBody>
          <a:bodyPr wrap="square" lIns="27432" rIns="27432" tIns="0" bIns="0">
            <a:spAutoFit/>
          </a:bodyPr>
          <a:lstStyle/>
          <a:p>
            <a:pPr>
              <a:spcAft>
                <a:spcPts val="800"/>
              </a:spcAft>
              <a:defRPr sz="10400" b="1">
                <a:solidFill>
                  <a:srgbClr val="FFFFFF"/>
                </a:solidFill>
                <a:latin typeface="Bebas Neue"/>
              </a:defRPr>
            </a:pPr>
            <a:r>
              <a:t>GROWTH</a:t>
            </a:r>
          </a:p>
          <a:p>
            <a:pPr>
              <a:spcAft>
                <a:spcPts val="800"/>
              </a:spcAft>
              <a:defRPr sz="10400" b="1">
                <a:solidFill>
                  <a:srgbClr val="FFFFFF"/>
                </a:solidFill>
                <a:latin typeface="Bebas Neue"/>
              </a:defRPr>
            </a:pPr>
            <a:r>
              <a:t>OS</a:t>
            </a:r>
          </a:p>
        </p:txBody>
      </p:sp>
      <p:sp>
        <p:nvSpPr>
          <p:cNvPr id="37" name="Rectangle 36"/>
          <p:cNvSpPr/>
          <p:nvPr/>
        </p:nvSpPr>
        <p:spPr>
          <a:xfrm>
            <a:off x="777240" y="4983480"/>
            <a:ext cx="7132320" cy="5029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074920"/>
            <a:ext cx="6858000" cy="27432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EVERY ROLE. EVERY HANDOFF. CONNECTED.</a:t>
            </a:r>
          </a:p>
        </p:txBody>
      </p:sp>
      <p:sp>
        <p:nvSpPr>
          <p:cNvPr id="39" name="TextBox 38"/>
          <p:cNvSpPr txBox="1"/>
          <p:nvPr/>
        </p:nvSpPr>
        <p:spPr>
          <a:xfrm>
            <a:off x="822960" y="5897880"/>
            <a:ext cx="8046720" cy="1051560"/>
          </a:xfrm>
          <a:prstGeom prst="rect">
            <a:avLst/>
          </a:prstGeom>
          <a:noFill/>
        </p:spPr>
        <p:txBody>
          <a:bodyPr wrap="square" lIns="27432" rIns="27432" tIns="0" bIns="0">
            <a:spAutoFit/>
          </a:bodyPr>
          <a:lstStyle/>
          <a:p>
            <a:pPr>
              <a:spcAft>
                <a:spcPts val="800"/>
              </a:spcAft>
              <a:defRPr sz="2300" b="0">
                <a:solidFill>
                  <a:srgbClr val="FFFFFF"/>
                </a:solidFill>
                <a:latin typeface="Montserrat"/>
              </a:defRPr>
            </a:pPr>
            <a:r>
              <a:t>The six-stage growth system
Strategy · People · Delivery · Learning</a:t>
            </a:r>
          </a:p>
          <a:p>
            <a:pPr>
              <a:spcAft>
                <a:spcPts val="800"/>
              </a:spcAft>
              <a:defRPr sz="2300" b="0">
                <a:solidFill>
                  <a:srgbClr val="FFFFFF"/>
                </a:solidFill>
                <a:latin typeface="Montserrat"/>
              </a:defRPr>
            </a:pPr>
            <a:r>
              <a:t>Organization · Workflows · Approval gates</a:t>
            </a:r>
          </a:p>
        </p:txBody>
      </p:sp>
      <p:sp>
        <p:nvSpPr>
          <p:cNvPr id="40" name="TextBox 39"/>
          <p:cNvSpPr txBox="1"/>
          <p:nvPr/>
        </p:nvSpPr>
        <p:spPr>
          <a:xfrm>
            <a:off x="10058400" y="2011680"/>
            <a:ext cx="3200400" cy="1280160"/>
          </a:xfrm>
          <a:prstGeom prst="rect">
            <a:avLst/>
          </a:prstGeom>
          <a:noFill/>
        </p:spPr>
        <p:txBody>
          <a:bodyPr wrap="square" lIns="27432" rIns="27432" tIns="0" bIns="0">
            <a:spAutoFit/>
          </a:bodyPr>
          <a:lstStyle/>
          <a:p>
            <a:pPr>
              <a:spcAft>
                <a:spcPts val="800"/>
              </a:spcAft>
              <a:defRPr sz="9000" b="1">
                <a:solidFill>
                  <a:srgbClr val="7D2B42"/>
                </a:solidFill>
                <a:latin typeface="Bebas Neue"/>
              </a:defRPr>
            </a:pPr>
            <a:r>
              <a:t>14</a:t>
            </a:r>
          </a:p>
        </p:txBody>
      </p:sp>
      <p:sp>
        <p:nvSpPr>
          <p:cNvPr id="41" name="TextBox 40"/>
          <p:cNvSpPr txBox="1"/>
          <p:nvPr/>
        </p:nvSpPr>
        <p:spPr>
          <a:xfrm>
            <a:off x="10058400" y="3474720"/>
            <a:ext cx="3108960" cy="45720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DISTINCT POSITIONS</a:t>
            </a:r>
          </a:p>
        </p:txBody>
      </p:sp>
      <p:sp>
        <p:nvSpPr>
          <p:cNvPr id="42" name="TextBox 41"/>
          <p:cNvSpPr txBox="1"/>
          <p:nvPr/>
        </p:nvSpPr>
        <p:spPr>
          <a:xfrm>
            <a:off x="10058400" y="4297680"/>
            <a:ext cx="3017520" cy="1645920"/>
          </a:xfrm>
          <a:prstGeom prst="rect">
            <a:avLst/>
          </a:prstGeom>
          <a:noFill/>
        </p:spPr>
        <p:txBody>
          <a:bodyPr wrap="square" lIns="27432" rIns="27432" tIns="0" bIns="0">
            <a:spAutoFit/>
          </a:bodyPr>
          <a:lstStyle/>
          <a:p>
            <a:pPr>
              <a:spcAft>
                <a:spcPts val="800"/>
              </a:spcAft>
              <a:defRPr sz="2900" b="1">
                <a:solidFill>
                  <a:srgbClr val="7D2B42"/>
                </a:solidFill>
                <a:latin typeface="Montserrat"/>
              </a:defRPr>
            </a:pPr>
            <a:r>
              <a:t>ONE</a:t>
            </a:r>
          </a:p>
          <a:p>
            <a:pPr>
              <a:spcAft>
                <a:spcPts val="800"/>
              </a:spcAft>
              <a:defRPr sz="2900" b="1">
                <a:solidFill>
                  <a:srgbClr val="7D2B42"/>
                </a:solidFill>
                <a:latin typeface="Montserrat"/>
              </a:defRPr>
            </a:pPr>
            <a:r>
              <a:t>CONNECTED</a:t>
            </a:r>
          </a:p>
          <a:p>
            <a:pPr>
              <a:spcAft>
                <a:spcPts val="800"/>
              </a:spcAft>
              <a:defRPr sz="2900" b="1">
                <a:solidFill>
                  <a:srgbClr val="7D2B42"/>
                </a:solidFill>
                <a:latin typeface="Montserrat"/>
              </a:defRPr>
            </a:pPr>
            <a:r>
              <a:t>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A WORKING MAP, NOT A FIXED POLICY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01 / Start with the Growth OS™</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Discover, Diagnose, Design, Deploy, Optimise and Scale.</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02 / Connect the team</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14 editable roles mapped to the stage where each contributes.</a:t>
            </a:r>
          </a:p>
        </p:txBody>
      </p:sp>
      <p:sp>
        <p:nvSpPr>
          <p:cNvPr id="44" name="Rectangle 43"/>
          <p:cNvSpPr/>
          <p:nvPr/>
        </p:nvSpPr>
        <p:spPr>
          <a:xfrm>
            <a:off x="73152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80060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03 / Follow the delivery workflows</a:t>
            </a:r>
          </a:p>
        </p:txBody>
      </p:sp>
      <p:sp>
        <p:nvSpPr>
          <p:cNvPr id="47" name="TextBox 46"/>
          <p:cNvSpPr txBox="1"/>
          <p:nvPr/>
        </p:nvSpPr>
        <p:spPr>
          <a:xfrm>
            <a:off x="896112" y="569671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Nine nested task workflows, handoffs, modules and approval gates.</a:t>
            </a:r>
          </a:p>
        </p:txBody>
      </p:sp>
      <p:sp>
        <p:nvSpPr>
          <p:cNvPr id="48" name="Rectangle 47"/>
          <p:cNvSpPr/>
          <p:nvPr/>
        </p:nvSpPr>
        <p:spPr>
          <a:xfrm>
            <a:off x="7543800" y="461772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61772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80060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04 / Make it yours</a:t>
            </a:r>
          </a:p>
        </p:txBody>
      </p:sp>
      <p:sp>
        <p:nvSpPr>
          <p:cNvPr id="51" name="TextBox 50"/>
          <p:cNvSpPr txBox="1"/>
          <p:nvPr/>
        </p:nvSpPr>
        <p:spPr>
          <a:xfrm>
            <a:off x="7708392" y="569671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Edit text, move cards, reconnect lines and confirm policies.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THE TEAM / PROPOSED REPORTING MAP</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685800" y="1874519"/>
            <a:ext cx="13350240" cy="45720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Solid = confirmed; dashed = proposed line management. Video Editors 1 &amp; 2 → Marketing Manager (confirmed by user). Click a position to open its role card.</a:t>
            </a:r>
          </a:p>
        </p:txBody>
      </p:sp>
      <p:cxnSp>
        <p:nvCxnSpPr>
          <p:cNvPr id="37" name="Connector 36"/>
          <p:cNvCxnSpPr/>
          <p:nvPr/>
        </p:nvCxnSpPr>
        <p:spPr>
          <a:xfrm flipH="1">
            <a:off x="1143000" y="3337560"/>
            <a:ext cx="56235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4300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2926079" y="3337560"/>
            <a:ext cx="3840481"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4709160" y="3337560"/>
            <a:ext cx="205740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0916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70916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492240" y="3337560"/>
            <a:ext cx="27432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492240" y="4663440"/>
            <a:ext cx="0" cy="54864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492240" y="4663440"/>
            <a:ext cx="0" cy="164592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766560" y="3337560"/>
            <a:ext cx="507492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766560" y="3337560"/>
            <a:ext cx="6858000" cy="457200"/>
          </a:xfrm>
          <a:prstGeom prst="line">
            <a:avLst/>
          </a:prstGeom>
          <a:ln w="1524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766560" y="3337560"/>
            <a:ext cx="150876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766560" y="3337560"/>
            <a:ext cx="3291840" cy="457200"/>
          </a:xfrm>
          <a:prstGeom prst="line">
            <a:avLst/>
          </a:prstGeom>
          <a:ln w="15240">
            <a:solidFill>
              <a:srgbClr val="7D2B42"/>
            </a:solidFill>
            <a:prstDash val="dash"/>
          </a:ln>
        </p:spPr>
        <p:style>
          <a:lnRef idx="2">
            <a:schemeClr val="accent1"/>
          </a:lnRef>
          <a:fillRef idx="0">
            <a:schemeClr val="accent1"/>
          </a:fillRef>
          <a:effectRef idx="1">
            <a:schemeClr val="accent1"/>
          </a:effectRef>
          <a:fontRef idx="minor">
            <a:schemeClr val="tx1"/>
          </a:fontRef>
        </p:style>
      </p:cxnSp>
      <p:sp>
        <p:nvSpPr>
          <p:cNvPr id="50" name="Rectangle 49">
            <a:hlinkClick action="ppaction://hlinksldjump" r:id="rId2"/>
          </p:cNvPr>
          <p:cNvSpPr/>
          <p:nvPr/>
        </p:nvSpPr>
        <p:spPr>
          <a:xfrm>
            <a:off x="5943600" y="2468880"/>
            <a:ext cx="1645920" cy="868680"/>
          </a:xfrm>
          <a:prstGeom prst="rect">
            <a:avLst/>
          </a:prstGeom>
          <a:solidFill>
            <a:srgbClr val="7D2B42"/>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a:hlinkClick action="ppaction://hlinksldjump" r:id="rId2"/>
          </p:cNvPr>
          <p:cNvSpPr txBox="1"/>
          <p:nvPr/>
        </p:nvSpPr>
        <p:spPr>
          <a:xfrm>
            <a:off x="6035040" y="2542032"/>
            <a:ext cx="1463040" cy="182880"/>
          </a:xfrm>
          <a:prstGeom prst="rect">
            <a:avLst/>
          </a:prstGeom>
          <a:noFill/>
        </p:spPr>
        <p:txBody>
          <a:bodyPr wrap="square" lIns="27432" rIns="27432" tIns="0" bIns="0">
            <a:spAutoFit/>
          </a:bodyPr>
          <a:lstStyle/>
          <a:p>
            <a:pPr>
              <a:spcAft>
                <a:spcPts val="800"/>
              </a:spcAft>
              <a:defRPr sz="900" b="1">
                <a:solidFill>
                  <a:srgbClr val="FFCC00"/>
                </a:solidFill>
                <a:latin typeface="Montserrat"/>
              </a:defRPr>
            </a:pPr>
            <a:r>
              <a:t>MM-01</a:t>
            </a:r>
          </a:p>
        </p:txBody>
      </p:sp>
      <p:sp>
        <p:nvSpPr>
          <p:cNvPr id="52" name="TextBox 51">
            <a:hlinkClick action="ppaction://hlinksldjump" r:id="rId2"/>
          </p:cNvPr>
          <p:cNvSpPr txBox="1"/>
          <p:nvPr/>
        </p:nvSpPr>
        <p:spPr>
          <a:xfrm>
            <a:off x="6035040" y="2788920"/>
            <a:ext cx="1463040" cy="50292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Marketing Manager</a:t>
            </a:r>
          </a:p>
        </p:txBody>
      </p:sp>
      <p:sp>
        <p:nvSpPr>
          <p:cNvPr id="53" name="Rectangle 52">
            <a:hlinkClick action="ppaction://hlinksldjump" r:id="rId3"/>
          </p:cNvPr>
          <p:cNvSpPr/>
          <p:nvPr/>
        </p:nvSpPr>
        <p:spPr>
          <a:xfrm>
            <a:off x="3200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a:hlinkClick action="ppaction://hlinksldjump" r:id="rId3"/>
          </p:cNvPr>
          <p:cNvSpPr txBox="1"/>
          <p:nvPr/>
        </p:nvSpPr>
        <p:spPr>
          <a:xfrm>
            <a:off x="411479"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BD-01</a:t>
            </a:r>
          </a:p>
        </p:txBody>
      </p:sp>
      <p:sp>
        <p:nvSpPr>
          <p:cNvPr id="55" name="TextBox 54">
            <a:hlinkClick action="ppaction://hlinksldjump" r:id="rId3"/>
          </p:cNvPr>
          <p:cNvSpPr txBox="1"/>
          <p:nvPr/>
        </p:nvSpPr>
        <p:spPr>
          <a:xfrm>
            <a:off x="411479"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Business Developer</a:t>
            </a:r>
          </a:p>
        </p:txBody>
      </p:sp>
      <p:sp>
        <p:nvSpPr>
          <p:cNvPr id="56" name="Rectangle 55">
            <a:hlinkClick action="ppaction://hlinksldjump" r:id="rId4"/>
          </p:cNvPr>
          <p:cNvSpPr/>
          <p:nvPr/>
        </p:nvSpPr>
        <p:spPr>
          <a:xfrm>
            <a:off x="32004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a:hlinkClick action="ppaction://hlinksldjump" r:id="rId4"/>
          </p:cNvPr>
          <p:cNvSpPr txBox="1"/>
          <p:nvPr/>
        </p:nvSpPr>
        <p:spPr>
          <a:xfrm>
            <a:off x="411479" y="528523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SA-01</a:t>
            </a:r>
          </a:p>
        </p:txBody>
      </p:sp>
      <p:sp>
        <p:nvSpPr>
          <p:cNvPr id="58" name="TextBox 57">
            <a:hlinkClick action="ppaction://hlinksldjump" r:id="rId4"/>
          </p:cNvPr>
          <p:cNvSpPr txBox="1"/>
          <p:nvPr/>
        </p:nvSpPr>
        <p:spPr>
          <a:xfrm>
            <a:off x="411479" y="553212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Sales</a:t>
            </a:r>
          </a:p>
        </p:txBody>
      </p:sp>
      <p:sp>
        <p:nvSpPr>
          <p:cNvPr id="59" name="Rectangle 58">
            <a:hlinkClick action="ppaction://hlinksldjump" r:id="rId5"/>
          </p:cNvPr>
          <p:cNvSpPr/>
          <p:nvPr/>
        </p:nvSpPr>
        <p:spPr>
          <a:xfrm>
            <a:off x="210312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a:hlinkClick action="ppaction://hlinksldjump" r:id="rId5"/>
          </p:cNvPr>
          <p:cNvSpPr txBox="1"/>
          <p:nvPr/>
        </p:nvSpPr>
        <p:spPr>
          <a:xfrm>
            <a:off x="2194560"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AM-01</a:t>
            </a:r>
          </a:p>
        </p:txBody>
      </p:sp>
      <p:sp>
        <p:nvSpPr>
          <p:cNvPr id="61" name="TextBox 60">
            <a:hlinkClick action="ppaction://hlinksldjump" r:id="rId5"/>
          </p:cNvPr>
          <p:cNvSpPr txBox="1"/>
          <p:nvPr/>
        </p:nvSpPr>
        <p:spPr>
          <a:xfrm>
            <a:off x="2194560"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Account Manager</a:t>
            </a:r>
          </a:p>
        </p:txBody>
      </p:sp>
      <p:sp>
        <p:nvSpPr>
          <p:cNvPr id="62" name="Rectangle 61">
            <a:hlinkClick action="ppaction://hlinksldjump" r:id="rId6"/>
          </p:cNvPr>
          <p:cNvSpPr/>
          <p:nvPr/>
        </p:nvSpPr>
        <p:spPr>
          <a:xfrm>
            <a:off x="388620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a:hlinkClick action="ppaction://hlinksldjump" r:id="rId6"/>
          </p:cNvPr>
          <p:cNvSpPr txBox="1"/>
          <p:nvPr/>
        </p:nvSpPr>
        <p:spPr>
          <a:xfrm>
            <a:off x="3977639"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HC-01</a:t>
            </a:r>
          </a:p>
        </p:txBody>
      </p:sp>
      <p:sp>
        <p:nvSpPr>
          <p:cNvPr id="64" name="TextBox 63">
            <a:hlinkClick action="ppaction://hlinksldjump" r:id="rId6"/>
          </p:cNvPr>
          <p:cNvSpPr txBox="1"/>
          <p:nvPr/>
        </p:nvSpPr>
        <p:spPr>
          <a:xfrm>
            <a:off x="3977639"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Head of Content</a:t>
            </a:r>
          </a:p>
        </p:txBody>
      </p:sp>
      <p:sp>
        <p:nvSpPr>
          <p:cNvPr id="65" name="Rectangle 64">
            <a:hlinkClick action="ppaction://hlinksldjump" r:id="rId7"/>
          </p:cNvPr>
          <p:cNvSpPr/>
          <p:nvPr/>
        </p:nvSpPr>
        <p:spPr>
          <a:xfrm>
            <a:off x="388620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a:hlinkClick action="ppaction://hlinksldjump" r:id="rId7"/>
          </p:cNvPr>
          <p:cNvSpPr txBox="1"/>
          <p:nvPr/>
        </p:nvSpPr>
        <p:spPr>
          <a:xfrm>
            <a:off x="3977639" y="528523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CW-S01</a:t>
            </a:r>
          </a:p>
        </p:txBody>
      </p:sp>
      <p:sp>
        <p:nvSpPr>
          <p:cNvPr id="67" name="TextBox 66">
            <a:hlinkClick action="ppaction://hlinksldjump" r:id="rId7"/>
          </p:cNvPr>
          <p:cNvSpPr txBox="1"/>
          <p:nvPr/>
        </p:nvSpPr>
        <p:spPr>
          <a:xfrm>
            <a:off x="3977639" y="553212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Senior Content Writer</a:t>
            </a:r>
          </a:p>
        </p:txBody>
      </p:sp>
      <p:sp>
        <p:nvSpPr>
          <p:cNvPr id="68" name="Rectangle 67">
            <a:hlinkClick action="ppaction://hlinksldjump" r:id="rId8"/>
          </p:cNvPr>
          <p:cNvSpPr/>
          <p:nvPr/>
        </p:nvSpPr>
        <p:spPr>
          <a:xfrm>
            <a:off x="388620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a:hlinkClick action="ppaction://hlinksldjump" r:id="rId8"/>
          </p:cNvPr>
          <p:cNvSpPr txBox="1"/>
          <p:nvPr/>
        </p:nvSpPr>
        <p:spPr>
          <a:xfrm>
            <a:off x="3977639" y="63825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CW-J01</a:t>
            </a:r>
          </a:p>
        </p:txBody>
      </p:sp>
      <p:sp>
        <p:nvSpPr>
          <p:cNvPr id="70" name="TextBox 69">
            <a:hlinkClick action="ppaction://hlinksldjump" r:id="rId8"/>
          </p:cNvPr>
          <p:cNvSpPr txBox="1"/>
          <p:nvPr/>
        </p:nvSpPr>
        <p:spPr>
          <a:xfrm>
            <a:off x="3977639" y="66294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Junior Content Writer</a:t>
            </a:r>
          </a:p>
        </p:txBody>
      </p:sp>
      <p:sp>
        <p:nvSpPr>
          <p:cNvPr id="71" name="Rectangle 70">
            <a:hlinkClick action="ppaction://hlinksldjump" r:id="rId9"/>
          </p:cNvPr>
          <p:cNvSpPr/>
          <p:nvPr/>
        </p:nvSpPr>
        <p:spPr>
          <a:xfrm>
            <a:off x="5669279"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a:hlinkClick action="ppaction://hlinksldjump" r:id="rId9"/>
          </p:cNvPr>
          <p:cNvSpPr txBox="1"/>
          <p:nvPr/>
        </p:nvSpPr>
        <p:spPr>
          <a:xfrm>
            <a:off x="5760719"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HD-01</a:t>
            </a:r>
          </a:p>
        </p:txBody>
      </p:sp>
      <p:sp>
        <p:nvSpPr>
          <p:cNvPr id="73" name="TextBox 72">
            <a:hlinkClick action="ppaction://hlinksldjump" r:id="rId9"/>
          </p:cNvPr>
          <p:cNvSpPr txBox="1"/>
          <p:nvPr/>
        </p:nvSpPr>
        <p:spPr>
          <a:xfrm>
            <a:off x="5760719"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Head of Graphic Design Team</a:t>
            </a:r>
          </a:p>
        </p:txBody>
      </p:sp>
      <p:sp>
        <p:nvSpPr>
          <p:cNvPr id="74" name="Rectangle 73">
            <a:hlinkClick action="ppaction://hlinksldjump" r:id="rId10"/>
          </p:cNvPr>
          <p:cNvSpPr/>
          <p:nvPr/>
        </p:nvSpPr>
        <p:spPr>
          <a:xfrm>
            <a:off x="5669280" y="521208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a:hlinkClick action="ppaction://hlinksldjump" r:id="rId10"/>
          </p:cNvPr>
          <p:cNvSpPr txBox="1"/>
          <p:nvPr/>
        </p:nvSpPr>
        <p:spPr>
          <a:xfrm>
            <a:off x="5760720" y="528523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GD-01</a:t>
            </a:r>
          </a:p>
        </p:txBody>
      </p:sp>
      <p:sp>
        <p:nvSpPr>
          <p:cNvPr id="76" name="TextBox 75">
            <a:hlinkClick action="ppaction://hlinksldjump" r:id="rId10"/>
          </p:cNvPr>
          <p:cNvSpPr txBox="1"/>
          <p:nvPr/>
        </p:nvSpPr>
        <p:spPr>
          <a:xfrm>
            <a:off x="5760720" y="553212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Graphic Designer 1</a:t>
            </a:r>
          </a:p>
        </p:txBody>
      </p:sp>
      <p:sp>
        <p:nvSpPr>
          <p:cNvPr id="77" name="Rectangle 76">
            <a:hlinkClick action="ppaction://hlinksldjump" r:id="rId11"/>
          </p:cNvPr>
          <p:cNvSpPr/>
          <p:nvPr/>
        </p:nvSpPr>
        <p:spPr>
          <a:xfrm>
            <a:off x="5669280" y="63093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a:hlinkClick action="ppaction://hlinksldjump" r:id="rId11"/>
          </p:cNvPr>
          <p:cNvSpPr txBox="1"/>
          <p:nvPr/>
        </p:nvSpPr>
        <p:spPr>
          <a:xfrm>
            <a:off x="5760720" y="63825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GD-02</a:t>
            </a:r>
          </a:p>
        </p:txBody>
      </p:sp>
      <p:sp>
        <p:nvSpPr>
          <p:cNvPr id="79" name="TextBox 78">
            <a:hlinkClick action="ppaction://hlinksldjump" r:id="rId11"/>
          </p:cNvPr>
          <p:cNvSpPr txBox="1"/>
          <p:nvPr/>
        </p:nvSpPr>
        <p:spPr>
          <a:xfrm>
            <a:off x="5760720" y="66294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Graphic Designer 2</a:t>
            </a:r>
          </a:p>
        </p:txBody>
      </p:sp>
      <p:sp>
        <p:nvSpPr>
          <p:cNvPr id="80" name="Rectangle 79">
            <a:hlinkClick action="ppaction://hlinksldjump" r:id="rId12"/>
          </p:cNvPr>
          <p:cNvSpPr/>
          <p:nvPr/>
        </p:nvSpPr>
        <p:spPr>
          <a:xfrm>
            <a:off x="11018519"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a:hlinkClick action="ppaction://hlinksldjump" r:id="rId12"/>
          </p:cNvPr>
          <p:cNvSpPr txBox="1"/>
          <p:nvPr/>
        </p:nvSpPr>
        <p:spPr>
          <a:xfrm>
            <a:off x="11109959"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VE-01</a:t>
            </a:r>
          </a:p>
        </p:txBody>
      </p:sp>
      <p:sp>
        <p:nvSpPr>
          <p:cNvPr id="82" name="TextBox 81">
            <a:hlinkClick action="ppaction://hlinksldjump" r:id="rId12"/>
          </p:cNvPr>
          <p:cNvSpPr txBox="1"/>
          <p:nvPr/>
        </p:nvSpPr>
        <p:spPr>
          <a:xfrm>
            <a:off x="11109959"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Video Editor 1</a:t>
            </a:r>
          </a:p>
        </p:txBody>
      </p:sp>
      <p:sp>
        <p:nvSpPr>
          <p:cNvPr id="83" name="Rectangle 82">
            <a:hlinkClick action="ppaction://hlinksldjump" r:id="rId13"/>
          </p:cNvPr>
          <p:cNvSpPr/>
          <p:nvPr/>
        </p:nvSpPr>
        <p:spPr>
          <a:xfrm>
            <a:off x="1280160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a:hlinkClick action="ppaction://hlinksldjump" r:id="rId13"/>
          </p:cNvPr>
          <p:cNvSpPr txBox="1"/>
          <p:nvPr/>
        </p:nvSpPr>
        <p:spPr>
          <a:xfrm>
            <a:off x="12893040"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VE-02</a:t>
            </a:r>
          </a:p>
        </p:txBody>
      </p:sp>
      <p:sp>
        <p:nvSpPr>
          <p:cNvPr id="85" name="TextBox 84">
            <a:hlinkClick action="ppaction://hlinksldjump" r:id="rId13"/>
          </p:cNvPr>
          <p:cNvSpPr txBox="1"/>
          <p:nvPr/>
        </p:nvSpPr>
        <p:spPr>
          <a:xfrm>
            <a:off x="12893040"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Video Editor 2</a:t>
            </a:r>
          </a:p>
        </p:txBody>
      </p:sp>
      <p:sp>
        <p:nvSpPr>
          <p:cNvPr id="86" name="Rectangle 85">
            <a:hlinkClick action="ppaction://hlinksldjump" r:id="rId14"/>
          </p:cNvPr>
          <p:cNvSpPr/>
          <p:nvPr/>
        </p:nvSpPr>
        <p:spPr>
          <a:xfrm>
            <a:off x="745236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a:hlinkClick action="ppaction://hlinksldjump" r:id="rId14"/>
          </p:cNvPr>
          <p:cNvSpPr txBox="1"/>
          <p:nvPr/>
        </p:nvSpPr>
        <p:spPr>
          <a:xfrm>
            <a:off x="7543800"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SM-01</a:t>
            </a:r>
          </a:p>
        </p:txBody>
      </p:sp>
      <p:sp>
        <p:nvSpPr>
          <p:cNvPr id="88" name="TextBox 87">
            <a:hlinkClick action="ppaction://hlinksldjump" r:id="rId14"/>
          </p:cNvPr>
          <p:cNvSpPr txBox="1"/>
          <p:nvPr/>
        </p:nvSpPr>
        <p:spPr>
          <a:xfrm>
            <a:off x="7543800"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Social Media Specialist</a:t>
            </a:r>
          </a:p>
        </p:txBody>
      </p:sp>
      <p:sp>
        <p:nvSpPr>
          <p:cNvPr id="89" name="Rectangle 88">
            <a:hlinkClick action="ppaction://hlinksldjump" r:id="rId15"/>
          </p:cNvPr>
          <p:cNvSpPr/>
          <p:nvPr/>
        </p:nvSpPr>
        <p:spPr>
          <a:xfrm>
            <a:off x="9235440" y="3794760"/>
            <a:ext cx="1645920" cy="868680"/>
          </a:xfrm>
          <a:prstGeom prst="rect">
            <a:avLst/>
          </a:prstGeom>
          <a:solidFill>
            <a:srgbClr val="FFFFFF"/>
          </a:solidFill>
          <a:ln>
            <a:solidFill>
              <a:srgbClr val="7D2B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a:hlinkClick action="ppaction://hlinksldjump" r:id="rId15"/>
          </p:cNvPr>
          <p:cNvSpPr txBox="1"/>
          <p:nvPr/>
        </p:nvSpPr>
        <p:spPr>
          <a:xfrm>
            <a:off x="9326880" y="3867912"/>
            <a:ext cx="1463040" cy="182880"/>
          </a:xfrm>
          <a:prstGeom prst="rect">
            <a:avLst/>
          </a:prstGeom>
          <a:noFill/>
        </p:spPr>
        <p:txBody>
          <a:bodyPr wrap="square" lIns="27432" rIns="27432" tIns="0" bIns="0">
            <a:spAutoFit/>
          </a:bodyPr>
          <a:lstStyle/>
          <a:p>
            <a:pPr>
              <a:spcAft>
                <a:spcPts val="800"/>
              </a:spcAft>
              <a:defRPr sz="900" b="1">
                <a:solidFill>
                  <a:srgbClr val="7D2B42"/>
                </a:solidFill>
                <a:latin typeface="Montserrat"/>
              </a:defRPr>
            </a:pPr>
            <a:r>
              <a:t>MB-01</a:t>
            </a:r>
          </a:p>
        </p:txBody>
      </p:sp>
      <p:sp>
        <p:nvSpPr>
          <p:cNvPr id="91" name="TextBox 90">
            <a:hlinkClick action="ppaction://hlinksldjump" r:id="rId15"/>
          </p:cNvPr>
          <p:cNvSpPr txBox="1"/>
          <p:nvPr/>
        </p:nvSpPr>
        <p:spPr>
          <a:xfrm>
            <a:off x="9326880" y="4114800"/>
            <a:ext cx="1463040" cy="502920"/>
          </a:xfrm>
          <a:prstGeom prst="rect">
            <a:avLst/>
          </a:prstGeom>
          <a:noFill/>
        </p:spPr>
        <p:txBody>
          <a:bodyPr wrap="square" lIns="27432" rIns="27432" tIns="0" bIns="0">
            <a:spAutoFit/>
          </a:bodyPr>
          <a:lstStyle/>
          <a:p>
            <a:pPr>
              <a:spcAft>
                <a:spcPts val="800"/>
              </a:spcAft>
              <a:defRPr sz="1200" b="1">
                <a:solidFill>
                  <a:srgbClr val="202020"/>
                </a:solidFill>
                <a:latin typeface="Montserrat"/>
              </a:defRPr>
            </a:pPr>
            <a:r>
              <a:t>Media Buyer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MM-01 / LEADERSHIP</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MARKETING MANAGER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MM-01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LEADERSHIP</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No manager / overall strategic leadership</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BD-01, AM-01, HC-01, HD-01, VE-01, VE-02, SM-01, MB-01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Strategy, budgets, priorities, resource allocation and final internal task approval after team-head quality review</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Business goals, resource requests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Strategic direction, budget decisions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Campaign outcomes, team capacity</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BD-01 / GROWTH</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BUSINESS DEVELOPER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BD-01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GROWTH</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SA-01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300" b="0">
                <a:solidFill>
                  <a:srgbClr val="202020"/>
                </a:solidFill>
                <a:latin typeface="Montserrat"/>
              </a:defRPr>
            </a:pPr>
            <a:r>
              <a:t>Qualify opportunities. Create prospect folders under Quotations; on contract signing move the same client folder out to stand alone and organize its work.</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Lead sources, opportunities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Qualified leads, discovery notes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Qualified opportunities</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SA-01 / GROWTH</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SALES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SA-01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GROWTH</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Business Developer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Proposals and commercial close. Create prospect folders under Quotations; on signing move the same client folder to stand alone on Drive.</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Qualified leads, requirements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Signed scope, contract summary</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Conversion rate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AM-01 / ACCOUNTS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ACCOUNT MANAGER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AM-01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ACCOUNTS</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300" b="0">
                <a:solidFill>
                  <a:srgbClr val="202020"/>
                </a:solidFill>
                <a:latin typeface="Montserrat"/>
              </a:defRPr>
            </a:pPr>
            <a:r>
              <a:t>After signing, open the client WhatsApp group. Meet client, write and distribute briefs, monitor execution, collect approved work in one PPTX and secure client approval.</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Client meetings, agreed scope, client feedback</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Written brief, assigned tasks, consolidated client PPTX, recorded final client approval</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Client satisfaction,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HC-01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HEAD OF CONTENT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HC-01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CW-S01, CW-J01</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Editorial strategy, assignment and copy quality</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brief, positioning</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Editorial plan, approved scripts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Revision rate, editorial quality</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CW-S01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SENIOR CONTENT WRITER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CW-S01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Head of Content</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Concepts, advanced copy, scripts and mentoring</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Complex briefs, references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Concepts, scripts, advanced copy</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Copy quality,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CW-J01 / CONTENT</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JUNIOR CONTENT WRITER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CW-J01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CONTENT</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Head of Content</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Research, captions and adaptations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Brief, content assignment</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Draft captions, research</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Draft quality, completion</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HD-01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HEAD OF GRAPHIC DESIGN TEAM</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HD-01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GD-01, GD-02</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Art direction, assignments and creative QC</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creative brief and copy</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QC-approved creative assets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Creative quality, revision rate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GD-01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GRAPHIC DESIGNER 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GD-01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Head of Graphic Design Team</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Static posts, carousels and ad creatives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copy, specifications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Design files and source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Quality, delivery time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GD-02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GRAPHIC DESIGNER 2</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GD-02</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Head of Graphic Design Team</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Static posts, resizing and amendments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copy, specifications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Design files and source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Quality, delivery time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VE-01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VIDEO EDITOR 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VE-01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(CONFIRMED)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Reels, subtitles, exports and revisions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script, footage</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Reviewable cuts, final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Revision rate,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VE-02 / CREATIVE</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VIDEO EDITOR 2</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VE-02</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CREATIVE</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(CONFIRMED)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Reels, subtitles, exports and revisions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script, footage</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Reviewable cuts, final exports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Revision rate, turnaround</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SM-01 / DISTRIBUTION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SOCIAL MEDIA SPECIALIST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SM-01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DISTRIBUTION</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300" b="0">
                <a:solidFill>
                  <a:srgbClr val="202020"/>
                </a:solidFill>
                <a:latin typeface="Montserrat"/>
              </a:defRPr>
            </a:pPr>
            <a:r>
              <a:t>Gather all private-label calendars; create strategies, performance reports and social listening reports; schedule and publish client-approved calendars; reply to comments on private-label pages</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Client-approved presentation, approved calendars, private-label insights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Consolidated private-label calendars, strategies, performance reports, listening reports, scheduled and published content, community replies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Engagement, schedule adherence</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MB-01 / DISTRIBUTION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39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MEDIA BUYER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886200" cy="51663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2423160"/>
            <a:ext cx="3291840" cy="548640"/>
          </a:xfrm>
          <a:prstGeom prst="rect">
            <a:avLst/>
          </a:prstGeom>
          <a:noFill/>
        </p:spPr>
        <p:txBody>
          <a:bodyPr wrap="square" lIns="27432" rIns="27432" tIns="0" bIns="0">
            <a:spAutoFit/>
          </a:bodyPr>
          <a:lstStyle/>
          <a:p>
            <a:pPr>
              <a:spcAft>
                <a:spcPts val="800"/>
              </a:spcAft>
              <a:defRPr sz="3600" b="1">
                <a:solidFill>
                  <a:srgbClr val="FFCC00"/>
                </a:solidFill>
                <a:latin typeface="Bebas Neue"/>
              </a:defRPr>
            </a:pPr>
            <a:r>
              <a:t>MB-01</a:t>
            </a:r>
          </a:p>
        </p:txBody>
      </p:sp>
      <p:sp>
        <p:nvSpPr>
          <p:cNvPr id="38" name="TextBox 37"/>
          <p:cNvSpPr txBox="1"/>
          <p:nvPr/>
        </p:nvSpPr>
        <p:spPr>
          <a:xfrm>
            <a:off x="987552" y="3154680"/>
            <a:ext cx="3246120" cy="365760"/>
          </a:xfrm>
          <a:prstGeom prst="rect">
            <a:avLst/>
          </a:prstGeom>
          <a:noFill/>
        </p:spPr>
        <p:txBody>
          <a:bodyPr wrap="square" lIns="27432" rIns="27432" tIns="0" bIns="0">
            <a:spAutoFit/>
          </a:bodyPr>
          <a:lstStyle/>
          <a:p>
            <a:pPr>
              <a:spcAft>
                <a:spcPts val="800"/>
              </a:spcAft>
              <a:defRPr sz="1600" b="1">
                <a:solidFill>
                  <a:srgbClr val="FFFFFF"/>
                </a:solidFill>
                <a:latin typeface="Montserrat"/>
              </a:defRPr>
            </a:pPr>
            <a:r>
              <a:t>DISTRIBUTION</a:t>
            </a:r>
          </a:p>
        </p:txBody>
      </p:sp>
      <p:sp>
        <p:nvSpPr>
          <p:cNvPr id="39" name="TextBox 38"/>
          <p:cNvSpPr txBox="1"/>
          <p:nvPr/>
        </p:nvSpPr>
        <p:spPr>
          <a:xfrm>
            <a:off x="987552" y="3931920"/>
            <a:ext cx="3246120" cy="32004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REPORTS TO (PROPOSED)</a:t>
            </a:r>
          </a:p>
        </p:txBody>
      </p:sp>
      <p:sp>
        <p:nvSpPr>
          <p:cNvPr id="40" name="TextBox 39"/>
          <p:cNvSpPr txBox="1"/>
          <p:nvPr/>
        </p:nvSpPr>
        <p:spPr>
          <a:xfrm>
            <a:off x="987552" y="4434840"/>
            <a:ext cx="3246120" cy="960120"/>
          </a:xfrm>
          <a:prstGeom prst="rect">
            <a:avLst/>
          </a:prstGeom>
          <a:noFill/>
        </p:spPr>
        <p:txBody>
          <a:bodyPr wrap="square" lIns="27432" rIns="27432" tIns="0" bIns="0">
            <a:spAutoFit/>
          </a:bodyPr>
          <a:lstStyle/>
          <a:p>
            <a:pPr>
              <a:spcAft>
                <a:spcPts val="800"/>
              </a:spcAft>
              <a:defRPr sz="2000" b="1">
                <a:solidFill>
                  <a:srgbClr val="FFFFFF"/>
                </a:solidFill>
                <a:latin typeface="Montserrat"/>
              </a:defRPr>
            </a:pPr>
            <a:r>
              <a:t>Marketing Manager</a:t>
            </a:r>
          </a:p>
        </p:txBody>
      </p:sp>
      <p:sp>
        <p:nvSpPr>
          <p:cNvPr id="41" name="TextBox 40"/>
          <p:cNvSpPr txBox="1"/>
          <p:nvPr/>
        </p:nvSpPr>
        <p:spPr>
          <a:xfrm>
            <a:off x="987552" y="5715000"/>
            <a:ext cx="3246120" cy="274320"/>
          </a:xfrm>
          <a:prstGeom prst="rect">
            <a:avLst/>
          </a:prstGeom>
          <a:noFill/>
        </p:spPr>
        <p:txBody>
          <a:bodyPr wrap="square" lIns="27432" rIns="27432" tIns="0" bIns="0">
            <a:spAutoFit/>
          </a:bodyPr>
          <a:lstStyle/>
          <a:p>
            <a:pPr>
              <a:spcAft>
                <a:spcPts val="800"/>
              </a:spcAft>
              <a:defRPr sz="1100" b="1">
                <a:solidFill>
                  <a:srgbClr val="FFCC00"/>
                </a:solidFill>
                <a:latin typeface="Montserrat"/>
              </a:defRPr>
            </a:pPr>
            <a:r>
              <a:t>DIRECT REPORTS</a:t>
            </a:r>
          </a:p>
        </p:txBody>
      </p:sp>
      <p:sp>
        <p:nvSpPr>
          <p:cNvPr id="42" name="TextBox 41"/>
          <p:cNvSpPr txBox="1"/>
          <p:nvPr/>
        </p:nvSpPr>
        <p:spPr>
          <a:xfrm>
            <a:off x="987552" y="6172200"/>
            <a:ext cx="3246120" cy="822960"/>
          </a:xfrm>
          <a:prstGeom prst="rect">
            <a:avLst/>
          </a:prstGeom>
          <a:noFill/>
        </p:spPr>
        <p:txBody>
          <a:bodyPr wrap="square" lIns="27432" rIns="27432" tIns="0" bIns="0">
            <a:spAutoFit/>
          </a:bodyPr>
          <a:lstStyle/>
          <a:p>
            <a:pPr>
              <a:spcAft>
                <a:spcPts val="800"/>
              </a:spcAft>
              <a:defRPr sz="1500" b="0">
                <a:solidFill>
                  <a:srgbClr val="FFFFFF"/>
                </a:solidFill>
                <a:latin typeface="Montserrat"/>
              </a:defRPr>
            </a:pPr>
            <a:r>
              <a:t>None proposed</a:t>
            </a:r>
          </a:p>
        </p:txBody>
      </p:sp>
      <p:sp>
        <p:nvSpPr>
          <p:cNvPr id="43" name="Rectangle 42"/>
          <p:cNvSpPr/>
          <p:nvPr/>
        </p:nvSpPr>
        <p:spPr>
          <a:xfrm>
            <a:off x="4983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PURPOSE &amp; DUTIES</a:t>
            </a:r>
          </a:p>
        </p:txBody>
      </p:sp>
      <p:sp>
        <p:nvSpPr>
          <p:cNvPr id="45" name="TextBox 44"/>
          <p:cNvSpPr txBox="1"/>
          <p:nvPr/>
        </p:nvSpPr>
        <p:spPr>
          <a:xfrm>
            <a:off x="4983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Paid strategy, setup, optimization and reporting</a:t>
            </a:r>
          </a:p>
        </p:txBody>
      </p:sp>
      <p:sp>
        <p:nvSpPr>
          <p:cNvPr id="46" name="Rectangle 45"/>
          <p:cNvSpPr/>
          <p:nvPr/>
        </p:nvSpPr>
        <p:spPr>
          <a:xfrm>
            <a:off x="9555480" y="219456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46919" y="224027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REQUIRED INPUTS</a:t>
            </a:r>
          </a:p>
        </p:txBody>
      </p:sp>
      <p:sp>
        <p:nvSpPr>
          <p:cNvPr id="48" name="TextBox 47"/>
          <p:cNvSpPr txBox="1"/>
          <p:nvPr/>
        </p:nvSpPr>
        <p:spPr>
          <a:xfrm>
            <a:off x="9555480" y="278892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Approved plan, budget, creatives</a:t>
            </a:r>
          </a:p>
        </p:txBody>
      </p:sp>
      <p:sp>
        <p:nvSpPr>
          <p:cNvPr id="49" name="Rectangle 48"/>
          <p:cNvSpPr/>
          <p:nvPr/>
        </p:nvSpPr>
        <p:spPr>
          <a:xfrm>
            <a:off x="4983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74920"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EXPECTED OUTPUTS</a:t>
            </a:r>
          </a:p>
        </p:txBody>
      </p:sp>
      <p:sp>
        <p:nvSpPr>
          <p:cNvPr id="51" name="TextBox 50"/>
          <p:cNvSpPr txBox="1"/>
          <p:nvPr/>
        </p:nvSpPr>
        <p:spPr>
          <a:xfrm>
            <a:off x="4983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Campaign setup, performance reports</a:t>
            </a:r>
          </a:p>
        </p:txBody>
      </p:sp>
      <p:sp>
        <p:nvSpPr>
          <p:cNvPr id="52" name="Rectangle 51"/>
          <p:cNvSpPr/>
          <p:nvPr/>
        </p:nvSpPr>
        <p:spPr>
          <a:xfrm>
            <a:off x="9555480" y="4206240"/>
            <a:ext cx="4297680" cy="3200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46919" y="4251959"/>
            <a:ext cx="4114800" cy="22860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KPI PROMPTS</a:t>
            </a:r>
          </a:p>
        </p:txBody>
      </p:sp>
      <p:sp>
        <p:nvSpPr>
          <p:cNvPr id="54" name="TextBox 53"/>
          <p:cNvSpPr txBox="1"/>
          <p:nvPr/>
        </p:nvSpPr>
        <p:spPr>
          <a:xfrm>
            <a:off x="9555480" y="4800600"/>
            <a:ext cx="4251960" cy="11887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Campaign performance, pacing</a:t>
            </a:r>
          </a:p>
        </p:txBody>
      </p:sp>
      <p:sp>
        <p:nvSpPr>
          <p:cNvPr id="55" name="Rectangle 54">
            <a:hlinkClick action="ppaction://hlinksldjump" r:id="rId2"/>
          </p:cNvPr>
          <p:cNvSpPr/>
          <p:nvPr/>
        </p:nvSpPr>
        <p:spPr>
          <a:xfrm>
            <a:off x="11338560" y="6812280"/>
            <a:ext cx="2468880" cy="4114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a:hlinkClick action="ppaction://hlinksldjump" r:id="rId2"/>
          </p:cNvPr>
          <p:cNvSpPr txBox="1"/>
          <p:nvPr/>
        </p:nvSpPr>
        <p:spPr>
          <a:xfrm>
            <a:off x="11430000" y="6885432"/>
            <a:ext cx="2286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BACK TO TEAM MAP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40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FIVE CONNECTIONS. FIVE DIFFERENT MEANINGS.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cxnSp>
        <p:nvCxnSpPr>
          <p:cNvPr id="36" name="Connector 35"/>
          <p:cNvCxnSpPr/>
          <p:nvPr/>
        </p:nvCxnSpPr>
        <p:spPr>
          <a:xfrm>
            <a:off x="822960" y="2468880"/>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514600" y="2240280"/>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REPORTS TO</a:t>
            </a:r>
          </a:p>
        </p:txBody>
      </p:sp>
      <p:sp>
        <p:nvSpPr>
          <p:cNvPr id="38" name="TextBox 37"/>
          <p:cNvSpPr txBox="1"/>
          <p:nvPr/>
        </p:nvSpPr>
        <p:spPr>
          <a:xfrm>
            <a:off x="6400800" y="2240280"/>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Formal line management. Coordination does not imply authority.</a:t>
            </a:r>
          </a:p>
        </p:txBody>
      </p:sp>
      <p:cxnSp>
        <p:nvCxnSpPr>
          <p:cNvPr id="39" name="Connector 38"/>
          <p:cNvCxnSpPr/>
          <p:nvPr/>
        </p:nvCxnSpPr>
        <p:spPr>
          <a:xfrm>
            <a:off x="822960" y="3456432"/>
            <a:ext cx="1371600" cy="0"/>
          </a:xfrm>
          <a:prstGeom prst="line">
            <a:avLst/>
          </a:prstGeom>
          <a:ln w="38100">
            <a:solidFill>
              <a:srgbClr val="20202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514600" y="3227832"/>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HANDOFF TO</a:t>
            </a:r>
          </a:p>
        </p:txBody>
      </p:sp>
      <p:sp>
        <p:nvSpPr>
          <p:cNvPr id="41" name="TextBox 40"/>
          <p:cNvSpPr txBox="1"/>
          <p:nvPr/>
        </p:nvSpPr>
        <p:spPr>
          <a:xfrm>
            <a:off x="6400800" y="3227832"/>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Accepted output moves from one accountable owner to the next.</a:t>
            </a:r>
          </a:p>
        </p:txBody>
      </p:sp>
      <p:cxnSp>
        <p:nvCxnSpPr>
          <p:cNvPr id="42" name="Connector 41"/>
          <p:cNvCxnSpPr/>
          <p:nvPr/>
        </p:nvCxnSpPr>
        <p:spPr>
          <a:xfrm>
            <a:off x="822960" y="4443984"/>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514600" y="4215384"/>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COLLABORATES WITH</a:t>
            </a:r>
          </a:p>
        </p:txBody>
      </p:sp>
      <p:sp>
        <p:nvSpPr>
          <p:cNvPr id="44" name="TextBox 43"/>
          <p:cNvSpPr txBox="1"/>
          <p:nvPr/>
        </p:nvSpPr>
        <p:spPr>
          <a:xfrm>
            <a:off x="6400800" y="4215384"/>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Peer cooperation without implied managerial power.</a:t>
            </a:r>
          </a:p>
        </p:txBody>
      </p:sp>
      <p:cxnSp>
        <p:nvCxnSpPr>
          <p:cNvPr id="45" name="Connector 44"/>
          <p:cNvCxnSpPr/>
          <p:nvPr/>
        </p:nvCxnSpPr>
        <p:spPr>
          <a:xfrm>
            <a:off x="822960" y="5431536"/>
            <a:ext cx="137160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14600" y="5202936"/>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APPROVAL BY</a:t>
            </a:r>
          </a:p>
        </p:txBody>
      </p:sp>
      <p:sp>
        <p:nvSpPr>
          <p:cNvPr id="47" name="TextBox 46"/>
          <p:cNvSpPr txBox="1"/>
          <p:nvPr/>
        </p:nvSpPr>
        <p:spPr>
          <a:xfrm>
            <a:off x="6400800" y="5202936"/>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Independent review before the next execution gate.</a:t>
            </a:r>
          </a:p>
        </p:txBody>
      </p:sp>
      <p:cxnSp>
        <p:nvCxnSpPr>
          <p:cNvPr id="48" name="Connector 47"/>
          <p:cNvCxnSpPr/>
          <p:nvPr/>
        </p:nvCxnSpPr>
        <p:spPr>
          <a:xfrm>
            <a:off x="822960" y="6419088"/>
            <a:ext cx="1371600" cy="0"/>
          </a:xfrm>
          <a:prstGeom prst="line">
            <a:avLst/>
          </a:prstGeom>
          <a:ln w="381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514600" y="6190488"/>
            <a:ext cx="3657600" cy="36576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ESCALATES TO</a:t>
            </a:r>
          </a:p>
        </p:txBody>
      </p:sp>
      <p:sp>
        <p:nvSpPr>
          <p:cNvPr id="50" name="TextBox 49"/>
          <p:cNvSpPr txBox="1"/>
          <p:nvPr/>
        </p:nvSpPr>
        <p:spPr>
          <a:xfrm>
            <a:off x="6400800" y="6190488"/>
            <a:ext cx="7315200" cy="59436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Proposed resolution path; automatic escalation is off.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41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DELIVERY DETAIL / WITHIN THE SIX-STAGE OS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514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01</a:t>
            </a:r>
          </a:p>
        </p:txBody>
      </p:sp>
      <p:sp>
        <p:nvSpPr>
          <p:cNvPr id="38" name="TextBox 37"/>
          <p:cNvSpPr txBox="1"/>
          <p:nvPr/>
        </p:nvSpPr>
        <p:spPr>
          <a:xfrm>
            <a:off x="914400" y="3154680"/>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QUALIFY</a:t>
            </a:r>
          </a:p>
        </p:txBody>
      </p:sp>
      <p:sp>
        <p:nvSpPr>
          <p:cNvPr id="39" name="TextBox 38"/>
          <p:cNvSpPr txBox="1"/>
          <p:nvPr/>
        </p:nvSpPr>
        <p:spPr>
          <a:xfrm>
            <a:off x="914400" y="3657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Business Developer</a:t>
            </a:r>
          </a:p>
        </p:txBody>
      </p:sp>
      <p:cxnSp>
        <p:nvCxnSpPr>
          <p:cNvPr id="40" name="Connector 39"/>
          <p:cNvCxnSpPr/>
          <p:nvPr/>
        </p:nvCxnSpPr>
        <p:spPr>
          <a:xfrm>
            <a:off x="3977639"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425196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34840" y="2514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02</a:t>
            </a:r>
          </a:p>
        </p:txBody>
      </p:sp>
      <p:sp>
        <p:nvSpPr>
          <p:cNvPr id="43" name="TextBox 42"/>
          <p:cNvSpPr txBox="1"/>
          <p:nvPr/>
        </p:nvSpPr>
        <p:spPr>
          <a:xfrm>
            <a:off x="4434840" y="3154680"/>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CLOSE</a:t>
            </a:r>
          </a:p>
        </p:txBody>
      </p:sp>
      <p:sp>
        <p:nvSpPr>
          <p:cNvPr id="44" name="TextBox 43"/>
          <p:cNvSpPr txBox="1"/>
          <p:nvPr/>
        </p:nvSpPr>
        <p:spPr>
          <a:xfrm>
            <a:off x="4434840" y="3657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Sales</a:t>
            </a:r>
          </a:p>
        </p:txBody>
      </p:sp>
      <p:cxnSp>
        <p:nvCxnSpPr>
          <p:cNvPr id="45" name="Connector 44"/>
          <p:cNvCxnSpPr/>
          <p:nvPr/>
        </p:nvCxnSpPr>
        <p:spPr>
          <a:xfrm>
            <a:off x="7498079" y="3337560"/>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777240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79" y="2514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03</a:t>
            </a:r>
          </a:p>
        </p:txBody>
      </p:sp>
      <p:sp>
        <p:nvSpPr>
          <p:cNvPr id="48" name="TextBox 47"/>
          <p:cNvSpPr txBox="1"/>
          <p:nvPr/>
        </p:nvSpPr>
        <p:spPr>
          <a:xfrm>
            <a:off x="7955279" y="3154680"/>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BRIEF</a:t>
            </a:r>
          </a:p>
        </p:txBody>
      </p:sp>
      <p:sp>
        <p:nvSpPr>
          <p:cNvPr id="49" name="TextBox 48"/>
          <p:cNvSpPr txBox="1"/>
          <p:nvPr/>
        </p:nvSpPr>
        <p:spPr>
          <a:xfrm>
            <a:off x="7955279" y="3657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Account Manager</a:t>
            </a:r>
          </a:p>
        </p:txBody>
      </p:sp>
      <p:cxnSp>
        <p:nvCxnSpPr>
          <p:cNvPr id="50" name="Connector 49"/>
          <p:cNvCxnSpPr/>
          <p:nvPr/>
        </p:nvCxnSpPr>
        <p:spPr>
          <a:xfrm>
            <a:off x="11018520" y="3337560"/>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1292840" y="2377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475720" y="2514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04</a:t>
            </a:r>
          </a:p>
        </p:txBody>
      </p:sp>
      <p:sp>
        <p:nvSpPr>
          <p:cNvPr id="53" name="TextBox 52"/>
          <p:cNvSpPr txBox="1"/>
          <p:nvPr/>
        </p:nvSpPr>
        <p:spPr>
          <a:xfrm>
            <a:off x="11475720" y="3154680"/>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ALIGN</a:t>
            </a:r>
          </a:p>
        </p:txBody>
      </p:sp>
      <p:sp>
        <p:nvSpPr>
          <p:cNvPr id="54" name="TextBox 53"/>
          <p:cNvSpPr txBox="1"/>
          <p:nvPr/>
        </p:nvSpPr>
        <p:spPr>
          <a:xfrm>
            <a:off x="11475720" y="3657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Marketing Manager</a:t>
            </a:r>
          </a:p>
        </p:txBody>
      </p:sp>
      <p:sp>
        <p:nvSpPr>
          <p:cNvPr id="55" name="Rectangle 54"/>
          <p:cNvSpPr/>
          <p:nvPr/>
        </p:nvSpPr>
        <p:spPr>
          <a:xfrm>
            <a:off x="73152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4800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05</a:t>
            </a:r>
          </a:p>
        </p:txBody>
      </p:sp>
      <p:sp>
        <p:nvSpPr>
          <p:cNvPr id="57" name="TextBox 56"/>
          <p:cNvSpPr txBox="1"/>
          <p:nvPr/>
        </p:nvSpPr>
        <p:spPr>
          <a:xfrm>
            <a:off x="914400" y="5440679"/>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CREATE</a:t>
            </a:r>
          </a:p>
        </p:txBody>
      </p:sp>
      <p:sp>
        <p:nvSpPr>
          <p:cNvPr id="58" name="TextBox 57"/>
          <p:cNvSpPr txBox="1"/>
          <p:nvPr/>
        </p:nvSpPr>
        <p:spPr>
          <a:xfrm>
            <a:off x="914400" y="5943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Content + Creative</a:t>
            </a:r>
          </a:p>
        </p:txBody>
      </p:sp>
      <p:cxnSp>
        <p:nvCxnSpPr>
          <p:cNvPr id="59" name="Connector 58"/>
          <p:cNvCxnSpPr/>
          <p:nvPr/>
        </p:nvCxnSpPr>
        <p:spPr>
          <a:xfrm>
            <a:off x="3977639"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425196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34840" y="4800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06</a:t>
            </a:r>
          </a:p>
        </p:txBody>
      </p:sp>
      <p:sp>
        <p:nvSpPr>
          <p:cNvPr id="62" name="TextBox 61"/>
          <p:cNvSpPr txBox="1"/>
          <p:nvPr/>
        </p:nvSpPr>
        <p:spPr>
          <a:xfrm>
            <a:off x="4434840" y="5440679"/>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REVIEW</a:t>
            </a:r>
          </a:p>
        </p:txBody>
      </p:sp>
      <p:sp>
        <p:nvSpPr>
          <p:cNvPr id="63" name="TextBox 62"/>
          <p:cNvSpPr txBox="1"/>
          <p:nvPr/>
        </p:nvSpPr>
        <p:spPr>
          <a:xfrm>
            <a:off x="4434840" y="5943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Internal QC + Client</a:t>
            </a:r>
          </a:p>
        </p:txBody>
      </p:sp>
      <p:cxnSp>
        <p:nvCxnSpPr>
          <p:cNvPr id="64" name="Connector 63"/>
          <p:cNvCxnSpPr/>
          <p:nvPr/>
        </p:nvCxnSpPr>
        <p:spPr>
          <a:xfrm>
            <a:off x="7498079" y="5623559"/>
            <a:ext cx="274321"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777240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55279" y="4800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07</a:t>
            </a:r>
          </a:p>
        </p:txBody>
      </p:sp>
      <p:sp>
        <p:nvSpPr>
          <p:cNvPr id="67" name="TextBox 66"/>
          <p:cNvSpPr txBox="1"/>
          <p:nvPr/>
        </p:nvSpPr>
        <p:spPr>
          <a:xfrm>
            <a:off x="7955279" y="5440679"/>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EXECUTE</a:t>
            </a:r>
          </a:p>
        </p:txBody>
      </p:sp>
      <p:sp>
        <p:nvSpPr>
          <p:cNvPr id="68" name="TextBox 67"/>
          <p:cNvSpPr txBox="1"/>
          <p:nvPr/>
        </p:nvSpPr>
        <p:spPr>
          <a:xfrm>
            <a:off x="7955279" y="5943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Social + Paid</a:t>
            </a:r>
          </a:p>
        </p:txBody>
      </p:sp>
      <p:cxnSp>
        <p:nvCxnSpPr>
          <p:cNvPr id="69" name="Connector 68"/>
          <p:cNvCxnSpPr/>
          <p:nvPr/>
        </p:nvCxnSpPr>
        <p:spPr>
          <a:xfrm>
            <a:off x="11018520" y="5623559"/>
            <a:ext cx="274320" cy="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1292840" y="4663440"/>
            <a:ext cx="3246120"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475720" y="4800600"/>
            <a:ext cx="731520" cy="502920"/>
          </a:xfrm>
          <a:prstGeom prst="rect">
            <a:avLst/>
          </a:prstGeom>
          <a:noFill/>
        </p:spPr>
        <p:txBody>
          <a:bodyPr wrap="square" lIns="27432" rIns="27432" tIns="0" bIns="0">
            <a:spAutoFit/>
          </a:bodyPr>
          <a:lstStyle/>
          <a:p>
            <a:pPr>
              <a:spcAft>
                <a:spcPts val="800"/>
              </a:spcAft>
              <a:defRPr sz="2700" b="1">
                <a:solidFill>
                  <a:srgbClr val="7D2B42"/>
                </a:solidFill>
                <a:latin typeface="Bebas Neue"/>
              </a:defRPr>
            </a:pPr>
            <a:r>
              <a:t>08</a:t>
            </a:r>
          </a:p>
        </p:txBody>
      </p:sp>
      <p:sp>
        <p:nvSpPr>
          <p:cNvPr id="72" name="TextBox 71"/>
          <p:cNvSpPr txBox="1"/>
          <p:nvPr/>
        </p:nvSpPr>
        <p:spPr>
          <a:xfrm>
            <a:off x="11475720" y="5440679"/>
            <a:ext cx="288036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REPORT</a:t>
            </a:r>
          </a:p>
        </p:txBody>
      </p:sp>
      <p:sp>
        <p:nvSpPr>
          <p:cNvPr id="73" name="TextBox 72"/>
          <p:cNvSpPr txBox="1"/>
          <p:nvPr/>
        </p:nvSpPr>
        <p:spPr>
          <a:xfrm>
            <a:off x="11475720" y="5943600"/>
            <a:ext cx="2880360" cy="45720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Account + Marketing</a:t>
            </a:r>
          </a:p>
        </p:txBody>
      </p:sp>
      <p:sp>
        <p:nvSpPr>
          <p:cNvPr id="74" name="TextBox 73"/>
          <p:cNvSpPr txBox="1"/>
          <p:nvPr/>
        </p:nvSpPr>
        <p:spPr>
          <a:xfrm>
            <a:off x="822960" y="7178040"/>
            <a:ext cx="12801600" cy="32004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Conditional journey: static, video and paid work branch as needed. Production may run in parallel after its required inputs are accepted.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42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DEPLOY / PARALLEL PRODUCTION &amp; SHARED GATES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3200400"/>
            <a:ext cx="274320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6112" y="3383280"/>
            <a:ext cx="2414016" cy="64008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APPROVED BRIEF</a:t>
            </a:r>
          </a:p>
        </p:txBody>
      </p:sp>
      <p:sp>
        <p:nvSpPr>
          <p:cNvPr id="38" name="TextBox 37"/>
          <p:cNvSpPr txBox="1"/>
          <p:nvPr/>
        </p:nvSpPr>
        <p:spPr>
          <a:xfrm>
            <a:off x="896112" y="4096512"/>
            <a:ext cx="2414016" cy="731520"/>
          </a:xfrm>
          <a:prstGeom prst="rect">
            <a:avLst/>
          </a:prstGeom>
          <a:noFill/>
        </p:spPr>
        <p:txBody>
          <a:bodyPr wrap="square" lIns="27432" rIns="27432" tIns="0" bIns="0">
            <a:spAutoFit/>
          </a:bodyPr>
          <a:lstStyle/>
          <a:p>
            <a:pPr>
              <a:spcAft>
                <a:spcPts val="800"/>
              </a:spcAft>
              <a:defRPr sz="1400" b="0">
                <a:solidFill>
                  <a:srgbClr val="202020"/>
                </a:solidFill>
                <a:latin typeface="Montserrat"/>
              </a:defRPr>
            </a:pPr>
            <a:r>
              <a:t>Account Manager → Content lead</a:t>
            </a:r>
          </a:p>
        </p:txBody>
      </p:sp>
      <p:sp>
        <p:nvSpPr>
          <p:cNvPr id="39" name="Rectangle 38"/>
          <p:cNvSpPr/>
          <p:nvPr/>
        </p:nvSpPr>
        <p:spPr>
          <a:xfrm>
            <a:off x="4572000" y="2286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36592" y="2468880"/>
            <a:ext cx="3328416" cy="64008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STATIC / CAROUSEL</a:t>
            </a:r>
          </a:p>
        </p:txBody>
      </p:sp>
      <p:sp>
        <p:nvSpPr>
          <p:cNvPr id="41" name="TextBox 40"/>
          <p:cNvSpPr txBox="1"/>
          <p:nvPr/>
        </p:nvSpPr>
        <p:spPr>
          <a:xfrm>
            <a:off x="4736592" y="3182112"/>
            <a:ext cx="3328416" cy="731520"/>
          </a:xfrm>
          <a:prstGeom prst="rect">
            <a:avLst/>
          </a:prstGeom>
          <a:noFill/>
        </p:spPr>
        <p:txBody>
          <a:bodyPr wrap="square" lIns="27432" rIns="27432" tIns="0" bIns="0">
            <a:spAutoFit/>
          </a:bodyPr>
          <a:lstStyle/>
          <a:p>
            <a:pPr>
              <a:spcAft>
                <a:spcPts val="800"/>
              </a:spcAft>
              <a:defRPr sz="1400" b="0">
                <a:solidFill>
                  <a:srgbClr val="202020"/>
                </a:solidFill>
                <a:latin typeface="Montserrat"/>
              </a:defRPr>
            </a:pPr>
            <a:r>
              <a:t>Writer → Content QC → Designer → Design QC</a:t>
            </a:r>
          </a:p>
        </p:txBody>
      </p:sp>
      <p:sp>
        <p:nvSpPr>
          <p:cNvPr id="42" name="Rectangle 41"/>
          <p:cNvSpPr/>
          <p:nvPr/>
        </p:nvSpPr>
        <p:spPr>
          <a:xfrm>
            <a:off x="4572000" y="4572000"/>
            <a:ext cx="3657600" cy="1691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36592" y="4754880"/>
            <a:ext cx="3328416" cy="64008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VIDEO / REEL</a:t>
            </a:r>
          </a:p>
        </p:txBody>
      </p:sp>
      <p:sp>
        <p:nvSpPr>
          <p:cNvPr id="44" name="TextBox 43"/>
          <p:cNvSpPr txBox="1"/>
          <p:nvPr/>
        </p:nvSpPr>
        <p:spPr>
          <a:xfrm>
            <a:off x="4736592" y="5468112"/>
            <a:ext cx="3328416" cy="731520"/>
          </a:xfrm>
          <a:prstGeom prst="rect">
            <a:avLst/>
          </a:prstGeom>
          <a:noFill/>
        </p:spPr>
        <p:txBody>
          <a:bodyPr wrap="square" lIns="27432" rIns="27432" tIns="0" bIns="0">
            <a:spAutoFit/>
          </a:bodyPr>
          <a:lstStyle/>
          <a:p>
            <a:pPr>
              <a:spcAft>
                <a:spcPts val="800"/>
              </a:spcAft>
              <a:defRPr sz="1400" b="0">
                <a:solidFill>
                  <a:srgbClr val="202020"/>
                </a:solidFill>
                <a:latin typeface="Montserrat"/>
              </a:defRPr>
            </a:pPr>
            <a:r>
              <a:t>Script approval → Footage → Editor → Marketing Manager quality review</a:t>
            </a:r>
          </a:p>
        </p:txBody>
      </p:sp>
      <p:sp>
        <p:nvSpPr>
          <p:cNvPr id="45" name="Rectangle 44"/>
          <p:cNvSpPr/>
          <p:nvPr/>
        </p:nvSpPr>
        <p:spPr>
          <a:xfrm>
            <a:off x="10058400" y="3200400"/>
            <a:ext cx="3749039"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3383280"/>
            <a:ext cx="3419856" cy="64008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CLIENT AUTHORIZATION</a:t>
            </a:r>
          </a:p>
        </p:txBody>
      </p:sp>
      <p:sp>
        <p:nvSpPr>
          <p:cNvPr id="47" name="TextBox 46"/>
          <p:cNvSpPr txBox="1"/>
          <p:nvPr/>
        </p:nvSpPr>
        <p:spPr>
          <a:xfrm>
            <a:off x="10222992" y="4096512"/>
            <a:ext cx="3419856" cy="731520"/>
          </a:xfrm>
          <a:prstGeom prst="rect">
            <a:avLst/>
          </a:prstGeom>
          <a:noFill/>
        </p:spPr>
        <p:txBody>
          <a:bodyPr wrap="square" lIns="27432" rIns="27432" tIns="0" bIns="0">
            <a:spAutoFit/>
          </a:bodyPr>
          <a:lstStyle/>
          <a:p>
            <a:pPr>
              <a:spcAft>
                <a:spcPts val="800"/>
              </a:spcAft>
              <a:defRPr sz="1400" b="0">
                <a:solidFill>
                  <a:srgbClr val="202020"/>
                </a:solidFill>
                <a:latin typeface="Montserrat"/>
              </a:defRPr>
            </a:pPr>
            <a:r>
              <a:t>Account Manager collects Marketing-approved work into one PPTX; client approves it before publishing</a:t>
            </a:r>
          </a:p>
        </p:txBody>
      </p:sp>
      <p:cxnSp>
        <p:nvCxnSpPr>
          <p:cNvPr id="48" name="Connector 47"/>
          <p:cNvCxnSpPr/>
          <p:nvPr/>
        </p:nvCxnSpPr>
        <p:spPr>
          <a:xfrm flipV="1">
            <a:off x="3474720" y="3108960"/>
            <a:ext cx="109728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74720" y="4114800"/>
            <a:ext cx="109728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108960"/>
            <a:ext cx="1828800" cy="100584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229600" y="4114800"/>
            <a:ext cx="1828800" cy="1280160"/>
          </a:xfrm>
          <a:prstGeom prst="line">
            <a:avLst/>
          </a:prstGeom>
          <a:ln w="25400">
            <a:solidFill>
              <a:srgbClr val="7D2B42"/>
            </a:solidFill>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822960" y="667512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6858000"/>
            <a:ext cx="12618720" cy="32004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MISSING INPUTS? Hold the handoff. Record the blocker, request assets, and forecast downstream impact.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43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NESTED DELIVERY / NINE WORKFLOW TEMPLATES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35915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01 / CLIENT ONBOARDING</a:t>
            </a:r>
          </a:p>
        </p:txBody>
      </p:sp>
      <p:sp>
        <p:nvSpPr>
          <p:cNvPr id="38" name="TextBox 37"/>
          <p:cNvSpPr txBox="1"/>
          <p:nvPr/>
        </p:nvSpPr>
        <p:spPr>
          <a:xfrm>
            <a:off x="868680" y="289864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BD-01 → SA-01 → AM-01 → HC-01 → HD-01 → MM-01 → AM-01 → SM-01</a:t>
            </a:r>
          </a:p>
        </p:txBody>
      </p:sp>
      <p:sp>
        <p:nvSpPr>
          <p:cNvPr id="39" name="Rectangle 38"/>
          <p:cNvSpPr/>
          <p:nvPr/>
        </p:nvSpPr>
        <p:spPr>
          <a:xfrm>
            <a:off x="5394959"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235915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02 / SOCIAL MEDIA POST</a:t>
            </a:r>
          </a:p>
        </p:txBody>
      </p:sp>
      <p:sp>
        <p:nvSpPr>
          <p:cNvPr id="41" name="TextBox 40"/>
          <p:cNvSpPr txBox="1"/>
          <p:nvPr/>
        </p:nvSpPr>
        <p:spPr>
          <a:xfrm>
            <a:off x="5532120" y="289864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CW-J01 → HC-01 → GD-01 → HD-01 → MM-01 → AM-01 → SM-01</a:t>
            </a:r>
          </a:p>
        </p:txBody>
      </p:sp>
      <p:sp>
        <p:nvSpPr>
          <p:cNvPr id="42" name="Rectangle 41"/>
          <p:cNvSpPr/>
          <p:nvPr/>
        </p:nvSpPr>
        <p:spPr>
          <a:xfrm>
            <a:off x="10058400" y="224028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235915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03 / VIDEO REEL</a:t>
            </a:r>
          </a:p>
        </p:txBody>
      </p:sp>
      <p:sp>
        <p:nvSpPr>
          <p:cNvPr id="44" name="TextBox 43"/>
          <p:cNvSpPr txBox="1"/>
          <p:nvPr/>
        </p:nvSpPr>
        <p:spPr>
          <a:xfrm>
            <a:off x="10195560" y="289864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CW-S01 → HC-01 → VE-01 → MM-01 → AM-01 → SM-01</a:t>
            </a:r>
          </a:p>
        </p:txBody>
      </p:sp>
      <p:sp>
        <p:nvSpPr>
          <p:cNvPr id="45" name="Rectangle 44"/>
          <p:cNvSpPr/>
          <p:nvPr/>
        </p:nvSpPr>
        <p:spPr>
          <a:xfrm>
            <a:off x="73152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400507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04 / PAID CAMPAIGN</a:t>
            </a:r>
          </a:p>
        </p:txBody>
      </p:sp>
      <p:sp>
        <p:nvSpPr>
          <p:cNvPr id="47" name="TextBox 46"/>
          <p:cNvSpPr txBox="1"/>
          <p:nvPr/>
        </p:nvSpPr>
        <p:spPr>
          <a:xfrm>
            <a:off x="868680" y="454456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MB-01 → MM-01 → HC-01 → HD-01 → MM-01 → AM-01 → MB-01</a:t>
            </a:r>
          </a:p>
        </p:txBody>
      </p:sp>
      <p:sp>
        <p:nvSpPr>
          <p:cNvPr id="48" name="Rectangle 47"/>
          <p:cNvSpPr/>
          <p:nvPr/>
        </p:nvSpPr>
        <p:spPr>
          <a:xfrm>
            <a:off x="5394959"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32120" y="400507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05 / MONTHLY CALENDAR</a:t>
            </a:r>
          </a:p>
        </p:txBody>
      </p:sp>
      <p:sp>
        <p:nvSpPr>
          <p:cNvPr id="50" name="TextBox 49"/>
          <p:cNvSpPr txBox="1"/>
          <p:nvPr/>
        </p:nvSpPr>
        <p:spPr>
          <a:xfrm>
            <a:off x="5532120" y="454456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SM-01 → AM-01 → CW-J01 → HC-01 → HD-01 → MM-01 → AM-01 → SM-01</a:t>
            </a:r>
          </a:p>
        </p:txBody>
      </p:sp>
      <p:sp>
        <p:nvSpPr>
          <p:cNvPr id="51" name="Rectangle 50"/>
          <p:cNvSpPr/>
          <p:nvPr/>
        </p:nvSpPr>
        <p:spPr>
          <a:xfrm>
            <a:off x="10058400" y="388620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95560" y="400507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06 / MULTI-SLIDE CAROUSEL</a:t>
            </a:r>
          </a:p>
        </p:txBody>
      </p:sp>
      <p:sp>
        <p:nvSpPr>
          <p:cNvPr id="53" name="TextBox 52"/>
          <p:cNvSpPr txBox="1"/>
          <p:nvPr/>
        </p:nvSpPr>
        <p:spPr>
          <a:xfrm>
            <a:off x="10195560" y="454456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CW-S01 → HC-01 → GD-02 → HD-01 → MM-01 → AM-01 → SM-01</a:t>
            </a:r>
          </a:p>
        </p:txBody>
      </p:sp>
      <p:sp>
        <p:nvSpPr>
          <p:cNvPr id="54" name="Rectangle 53"/>
          <p:cNvSpPr/>
          <p:nvPr/>
        </p:nvSpPr>
        <p:spPr>
          <a:xfrm>
            <a:off x="73152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8680" y="565099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07 / CLIENT REVISION</a:t>
            </a:r>
          </a:p>
        </p:txBody>
      </p:sp>
      <p:sp>
        <p:nvSpPr>
          <p:cNvPr id="56" name="TextBox 55"/>
          <p:cNvSpPr txBox="1"/>
          <p:nvPr/>
        </p:nvSpPr>
        <p:spPr>
          <a:xfrm>
            <a:off x="868680" y="619048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GD-01 → HD-01 → MM-01 → AM-01 → SM-01</a:t>
            </a:r>
          </a:p>
        </p:txBody>
      </p:sp>
      <p:sp>
        <p:nvSpPr>
          <p:cNvPr id="57" name="Rectangle 56"/>
          <p:cNvSpPr/>
          <p:nvPr/>
        </p:nvSpPr>
        <p:spPr>
          <a:xfrm>
            <a:off x="5394959"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32120" y="565099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08 / PERFORMANCE REPORT</a:t>
            </a:r>
          </a:p>
        </p:txBody>
      </p:sp>
      <p:sp>
        <p:nvSpPr>
          <p:cNvPr id="59" name="TextBox 58"/>
          <p:cNvSpPr txBox="1"/>
          <p:nvPr/>
        </p:nvSpPr>
        <p:spPr>
          <a:xfrm>
            <a:off x="5532120" y="619048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SM-01 → MM-01 → AM-01</a:t>
            </a:r>
          </a:p>
        </p:txBody>
      </p:sp>
      <p:sp>
        <p:nvSpPr>
          <p:cNvPr id="60" name="Rectangle 59"/>
          <p:cNvSpPr/>
          <p:nvPr/>
        </p:nvSpPr>
        <p:spPr>
          <a:xfrm>
            <a:off x="10058400" y="5532120"/>
            <a:ext cx="438912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195560" y="5650992"/>
            <a:ext cx="411480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09 / URGENT CLIENT REQUEST</a:t>
            </a:r>
          </a:p>
        </p:txBody>
      </p:sp>
      <p:sp>
        <p:nvSpPr>
          <p:cNvPr id="62" name="TextBox 61"/>
          <p:cNvSpPr txBox="1"/>
          <p:nvPr/>
        </p:nvSpPr>
        <p:spPr>
          <a:xfrm>
            <a:off x="10195560" y="6190488"/>
            <a:ext cx="4114800" cy="640080"/>
          </a:xfrm>
          <a:prstGeom prst="rect">
            <a:avLst/>
          </a:prstGeom>
          <a:noFill/>
        </p:spPr>
        <p:txBody>
          <a:bodyPr wrap="square" lIns="27432" rIns="27432" tIns="0" bIns="0">
            <a:spAutoFit/>
          </a:bodyPr>
          <a:lstStyle/>
          <a:p>
            <a:pPr>
              <a:spcAft>
                <a:spcPts val="800"/>
              </a:spcAft>
              <a:defRPr sz="1100" b="0">
                <a:solidFill>
                  <a:srgbClr val="555555"/>
                </a:solidFill>
                <a:latin typeface="Montserrat"/>
              </a:defRPr>
            </a:pPr>
            <a:r>
              <a:t>AM-01 → HC-01 → HD-01 → MM-01 → AM-01 → SM-01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FFFFFF"/>
                </a:solidFill>
                <a:latin typeface="Montserrat"/>
              </a:defRPr>
            </a:pPr>
            <a:r>
              <a:t>44</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FFFFFF"/>
                </a:solidFill>
                <a:latin typeface="Bebas Neue"/>
              </a:defRPr>
            </a:pPr>
            <a:r>
              <a:t>APPROVALS ARE GATES. NOT DECORATION.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FFFFFF"/>
                </a:solidFill>
                <a:latin typeface="Montserrat"/>
              </a:defRPr>
            </a:pPr>
            <a:r>
              <a:t>EDITABLE WORKING DRAFT · OTHER REPORTING &amp; POLICIES PROPOSED</a:t>
            </a:r>
          </a:p>
        </p:txBody>
      </p:sp>
      <p:sp>
        <p:nvSpPr>
          <p:cNvPr id="36" name="Freeform 35"/>
          <p:cNvSpPr/>
          <p:nvPr/>
        </p:nvSpPr>
        <p:spPr>
          <a:xfrm>
            <a:off x="73152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514600"/>
            <a:ext cx="594360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01 / INPUTS</a:t>
            </a:r>
          </a:p>
        </p:txBody>
      </p:sp>
      <p:sp>
        <p:nvSpPr>
          <p:cNvPr id="38" name="TextBox 37"/>
          <p:cNvSpPr txBox="1"/>
          <p:nvPr/>
        </p:nvSpPr>
        <p:spPr>
          <a:xfrm>
            <a:off x="960120" y="3154680"/>
            <a:ext cx="5943600" cy="86868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Do not hand off incomplete inputs or unresolved dependencies.</a:t>
            </a:r>
          </a:p>
        </p:txBody>
      </p:sp>
      <p:sp>
        <p:nvSpPr>
          <p:cNvPr id="39" name="Freeform 38"/>
          <p:cNvSpPr/>
          <p:nvPr/>
        </p:nvSpPr>
        <p:spPr>
          <a:xfrm>
            <a:off x="7543800" y="228600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514600"/>
            <a:ext cx="594360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02 / INTERNAL QC</a:t>
            </a:r>
          </a:p>
        </p:txBody>
      </p:sp>
      <p:sp>
        <p:nvSpPr>
          <p:cNvPr id="41" name="TextBox 40"/>
          <p:cNvSpPr txBox="1"/>
          <p:nvPr/>
        </p:nvSpPr>
        <p:spPr>
          <a:xfrm>
            <a:off x="7772400" y="3154680"/>
            <a:ext cx="5943600" cy="86868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Writers → Head of Content. Designers → Head of Design. Editors → Marketing Manager.</a:t>
            </a:r>
          </a:p>
        </p:txBody>
      </p:sp>
      <p:sp>
        <p:nvSpPr>
          <p:cNvPr id="42" name="Freeform 41"/>
          <p:cNvSpPr/>
          <p:nvPr/>
        </p:nvSpPr>
        <p:spPr>
          <a:xfrm>
            <a:off x="73152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754880"/>
            <a:ext cx="594360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03 / CLIENT</a:t>
            </a:r>
          </a:p>
        </p:txBody>
      </p:sp>
      <p:sp>
        <p:nvSpPr>
          <p:cNvPr id="44" name="TextBox 43"/>
          <p:cNvSpPr txBox="1"/>
          <p:nvPr/>
        </p:nvSpPr>
        <p:spPr>
          <a:xfrm>
            <a:off x="960120" y="5394960"/>
            <a:ext cx="5943600" cy="86868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Marketing Manager approves after quality review. Account Manager presents one collected PPTX for final client approval.</a:t>
            </a:r>
          </a:p>
        </p:txBody>
      </p:sp>
      <p:sp>
        <p:nvSpPr>
          <p:cNvPr id="45" name="Freeform 44"/>
          <p:cNvSpPr/>
          <p:nvPr/>
        </p:nvSpPr>
        <p:spPr>
          <a:xfrm>
            <a:off x="7543800" y="4526280"/>
            <a:ext cx="6400800" cy="1920240"/>
          </a:xfrm>
          <a:custGeom>
            <a:avLst/>
            <a:gdLst/>
            <a:ahLst/>
            <a:cxnLst/>
            <a:rect l="l" t="t" r="r" b="b"/>
            <a:pathLst>
              <a:path w="700" h="210">
                <a:moveTo>
                  <a:pt x="0" y="10"/>
                </a:moveTo>
                <a:lnTo>
                  <a:pt x="61" y="0"/>
                </a:lnTo>
                <a:lnTo>
                  <a:pt x="122" y="8"/>
                </a:lnTo>
                <a:lnTo>
                  <a:pt x="192" y="0"/>
                </a:lnTo>
                <a:lnTo>
                  <a:pt x="262" y="7"/>
                </a:lnTo>
                <a:lnTo>
                  <a:pt x="350" y="0"/>
                </a:lnTo>
                <a:lnTo>
                  <a:pt x="420" y="8"/>
                </a:lnTo>
                <a:lnTo>
                  <a:pt x="490" y="0"/>
                </a:lnTo>
                <a:lnTo>
                  <a:pt x="560" y="8"/>
                </a:lnTo>
                <a:lnTo>
                  <a:pt x="612" y="0"/>
                </a:lnTo>
                <a:lnTo>
                  <a:pt x="700" y="10"/>
                </a:lnTo>
                <a:lnTo>
                  <a:pt x="689" y="47"/>
                </a:lnTo>
                <a:lnTo>
                  <a:pt x="700" y="94"/>
                </a:lnTo>
                <a:lnTo>
                  <a:pt x="687" y="136"/>
                </a:lnTo>
                <a:lnTo>
                  <a:pt x="700" y="178"/>
                </a:lnTo>
                <a:lnTo>
                  <a:pt x="686" y="210"/>
                </a:lnTo>
                <a:lnTo>
                  <a:pt x="612" y="205"/>
                </a:lnTo>
                <a:lnTo>
                  <a:pt x="525" y="210"/>
                </a:lnTo>
                <a:lnTo>
                  <a:pt x="437" y="203"/>
                </a:lnTo>
                <a:lnTo>
                  <a:pt x="350" y="210"/>
                </a:lnTo>
                <a:lnTo>
                  <a:pt x="262" y="203"/>
                </a:lnTo>
                <a:lnTo>
                  <a:pt x="175" y="210"/>
                </a:lnTo>
                <a:lnTo>
                  <a:pt x="87" y="203"/>
                </a:lnTo>
                <a:lnTo>
                  <a:pt x="0" y="210"/>
                </a:lnTo>
                <a:lnTo>
                  <a:pt x="12" y="157"/>
                </a:lnTo>
                <a:lnTo>
                  <a:pt x="0" y="115"/>
                </a:lnTo>
                <a:lnTo>
                  <a:pt x="10"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0" y="4754880"/>
            <a:ext cx="5943600" cy="36576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04 / EXECUTION</a:t>
            </a:r>
          </a:p>
        </p:txBody>
      </p:sp>
      <p:sp>
        <p:nvSpPr>
          <p:cNvPr id="47" name="TextBox 46"/>
          <p:cNvSpPr txBox="1"/>
          <p:nvPr/>
        </p:nvSpPr>
        <p:spPr>
          <a:xfrm>
            <a:off x="7772400" y="5394960"/>
            <a:ext cx="5943600" cy="86868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Organic: publication authorization. Paid: budget approval + tracking 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45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REJECT. EXPLAIN. RETURN. IMPROVE.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606040"/>
            <a:ext cx="291693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01 / SUBMIT</a:t>
            </a:r>
          </a:p>
        </p:txBody>
      </p:sp>
      <p:sp>
        <p:nvSpPr>
          <p:cNvPr id="39" name="TextBox 38"/>
          <p:cNvSpPr txBox="1"/>
          <p:nvPr/>
        </p:nvSpPr>
        <p:spPr>
          <a:xfrm>
            <a:off x="896112" y="3502152"/>
            <a:ext cx="2916936" cy="30175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Owner supplies the artifact, brief reference, files and acceptance checklist.</a:t>
            </a:r>
          </a:p>
        </p:txBody>
      </p:sp>
      <p:sp>
        <p:nvSpPr>
          <p:cNvPr id="40" name="Rectangle 39"/>
          <p:cNvSpPr/>
          <p:nvPr/>
        </p:nvSpPr>
        <p:spPr>
          <a:xfrm>
            <a:off x="425196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5196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16552" y="2606040"/>
            <a:ext cx="291693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02 / REVIEW</a:t>
            </a:r>
          </a:p>
        </p:txBody>
      </p:sp>
      <p:sp>
        <p:nvSpPr>
          <p:cNvPr id="43" name="TextBox 42"/>
          <p:cNvSpPr txBox="1"/>
          <p:nvPr/>
        </p:nvSpPr>
        <p:spPr>
          <a:xfrm>
            <a:off x="4416552" y="3502152"/>
            <a:ext cx="2916936" cy="30175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Independent reviewer checks accuracy, brand consistency and completeness.</a:t>
            </a:r>
          </a:p>
        </p:txBody>
      </p:sp>
      <p:sp>
        <p:nvSpPr>
          <p:cNvPr id="44" name="Rectangle 43"/>
          <p:cNvSpPr/>
          <p:nvPr/>
        </p:nvSpPr>
        <p:spPr>
          <a:xfrm>
            <a:off x="777240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77240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36992" y="2606040"/>
            <a:ext cx="291693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03 / REVISE</a:t>
            </a:r>
          </a:p>
        </p:txBody>
      </p:sp>
      <p:sp>
        <p:nvSpPr>
          <p:cNvPr id="47" name="TextBox 46"/>
          <p:cNvSpPr txBox="1"/>
          <p:nvPr/>
        </p:nvSpPr>
        <p:spPr>
          <a:xfrm>
            <a:off x="7936992" y="3502152"/>
            <a:ext cx="2916936" cy="30175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Actionable feedback returns work to its proper owner; record a revision event.</a:t>
            </a:r>
          </a:p>
        </p:txBody>
      </p:sp>
      <p:sp>
        <p:nvSpPr>
          <p:cNvPr id="48" name="Rectangle 47"/>
          <p:cNvSpPr/>
          <p:nvPr/>
        </p:nvSpPr>
        <p:spPr>
          <a:xfrm>
            <a:off x="11292840" y="2423160"/>
            <a:ext cx="3246120" cy="420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292840" y="2423160"/>
            <a:ext cx="54864" cy="42062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457432" y="2606040"/>
            <a:ext cx="291693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04 / RESUBMIT</a:t>
            </a:r>
          </a:p>
        </p:txBody>
      </p:sp>
      <p:sp>
        <p:nvSpPr>
          <p:cNvPr id="51" name="TextBox 50"/>
          <p:cNvSpPr txBox="1"/>
          <p:nvPr/>
        </p:nvSpPr>
        <p:spPr>
          <a:xfrm>
            <a:off x="11457432" y="3502152"/>
            <a:ext cx="2916936" cy="30175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Owner executes every comment. Head quality and Marketing approvals repeat; revised PPTX returns to client when needed.</a:t>
            </a:r>
          </a:p>
        </p:txBody>
      </p:sp>
      <p:sp>
        <p:nvSpPr>
          <p:cNvPr id="52" name="Rectangle 51"/>
          <p:cNvSpPr/>
          <p:nvPr/>
        </p:nvSpPr>
        <p:spPr>
          <a:xfrm>
            <a:off x="822960" y="6903720"/>
            <a:ext cx="12984480" cy="4114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6986016"/>
            <a:ext cx="12618720" cy="27432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EXAMPLE: Correct the promotional price to match the approved brief, then resubmit to Design QC.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46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MAKE THIS DECK YOUR WORKING TOOL</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68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EDIT THE CONTENT</a:t>
            </a:r>
          </a:p>
        </p:txBody>
      </p:sp>
      <p:sp>
        <p:nvSpPr>
          <p:cNvPr id="39" name="TextBox 38"/>
          <p:cNvSpPr txBox="1"/>
          <p:nvPr/>
        </p:nvSpPr>
        <p:spPr>
          <a:xfrm>
            <a:off x="896112" y="3364991"/>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Click any title, role field or label and type. All core content is native PowerPoint text.</a:t>
            </a:r>
          </a:p>
        </p:txBody>
      </p:sp>
      <p:sp>
        <p:nvSpPr>
          <p:cNvPr id="40" name="Rectangle 39"/>
          <p:cNvSpPr/>
          <p:nvPr/>
        </p:nvSpPr>
        <p:spPr>
          <a:xfrm>
            <a:off x="7543800" y="2286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86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68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RESHAPE THE ORGANIZATION</a:t>
            </a:r>
          </a:p>
        </p:txBody>
      </p:sp>
      <p:sp>
        <p:nvSpPr>
          <p:cNvPr id="43" name="TextBox 42"/>
          <p:cNvSpPr txBox="1"/>
          <p:nvPr/>
        </p:nvSpPr>
        <p:spPr>
          <a:xfrm>
            <a:off x="7708392" y="3364991"/>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Move role cards and adjust connectors. On the map, use Selection Pane to select overlapping objects.</a:t>
            </a:r>
          </a:p>
        </p:txBody>
      </p:sp>
      <p:sp>
        <p:nvSpPr>
          <p:cNvPr id="44" name="Rectangle 43"/>
          <p:cNvSpPr/>
          <p:nvPr/>
        </p:nvSpPr>
        <p:spPr>
          <a:xfrm>
            <a:off x="73152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54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CONFIRM THE POLICY</a:t>
            </a:r>
          </a:p>
        </p:txBody>
      </p:sp>
      <p:sp>
        <p:nvSpPr>
          <p:cNvPr id="47" name="TextBox 46"/>
          <p:cNvSpPr txBox="1"/>
          <p:nvPr/>
        </p:nvSpPr>
        <p:spPr>
          <a:xfrm>
            <a:off x="896112" y="565099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Reporting lines, approval authority, SLAs and other reporting remain proposed until PMP confirms them.</a:t>
            </a:r>
          </a:p>
        </p:txBody>
      </p:sp>
      <p:sp>
        <p:nvSpPr>
          <p:cNvPr id="48" name="Rectangle 47"/>
          <p:cNvSpPr/>
          <p:nvPr/>
        </p:nvSpPr>
        <p:spPr>
          <a:xfrm>
            <a:off x="7543800" y="457200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7200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5488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KEEP THE BRAND CONSISTENT</a:t>
            </a:r>
          </a:p>
        </p:txBody>
      </p:sp>
      <p:sp>
        <p:nvSpPr>
          <p:cNvPr id="51" name="TextBox 50"/>
          <p:cNvSpPr txBox="1"/>
          <p:nvPr/>
        </p:nvSpPr>
        <p:spPr>
          <a:xfrm>
            <a:off x="7708392" y="565099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Use the six supplied palette colors. Install Montserrat and Bebas Neue for the intended typography.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47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BRAND TOKENS / DIRECTION 01</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1051560"/>
          </a:xfrm>
          <a:prstGeom prst="rect">
            <a:avLst/>
          </a:prstGeom>
          <a:solidFill>
            <a:srgbClr val="7D2B42"/>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342900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Deep Burgundy / #7D2B42</a:t>
            </a:r>
          </a:p>
        </p:txBody>
      </p:sp>
      <p:sp>
        <p:nvSpPr>
          <p:cNvPr id="38" name="Rectangle 37"/>
          <p:cNvSpPr/>
          <p:nvPr/>
        </p:nvSpPr>
        <p:spPr>
          <a:xfrm>
            <a:off x="5394959" y="2240280"/>
            <a:ext cx="4389120" cy="1051560"/>
          </a:xfrm>
          <a:prstGeom prst="rect">
            <a:avLst/>
          </a:prstGeom>
          <a:solidFill>
            <a:srgbClr val="FFFFFF"/>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94959" y="342900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Pure White / #FFFFFF</a:t>
            </a:r>
          </a:p>
        </p:txBody>
      </p:sp>
      <p:sp>
        <p:nvSpPr>
          <p:cNvPr id="40" name="Rectangle 39"/>
          <p:cNvSpPr/>
          <p:nvPr/>
        </p:nvSpPr>
        <p:spPr>
          <a:xfrm>
            <a:off x="10058400" y="2240280"/>
            <a:ext cx="4389120" cy="1051560"/>
          </a:xfrm>
          <a:prstGeom prst="rect">
            <a:avLst/>
          </a:prstGeom>
          <a:solidFill>
            <a:srgbClr val="20202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0" y="342900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Rich Charcoal / #202020</a:t>
            </a:r>
          </a:p>
        </p:txBody>
      </p:sp>
      <p:sp>
        <p:nvSpPr>
          <p:cNvPr id="42" name="Rectangle 41"/>
          <p:cNvSpPr/>
          <p:nvPr/>
        </p:nvSpPr>
        <p:spPr>
          <a:xfrm>
            <a:off x="731520" y="4160520"/>
            <a:ext cx="4389120" cy="1051560"/>
          </a:xfrm>
          <a:prstGeom prst="rect">
            <a:avLst/>
          </a:prstGeom>
          <a:solidFill>
            <a:srgbClr val="FFCC00"/>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34924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Mustard Yellow / #FFCC00</a:t>
            </a:r>
          </a:p>
        </p:txBody>
      </p:sp>
      <p:sp>
        <p:nvSpPr>
          <p:cNvPr id="44" name="Rectangle 43"/>
          <p:cNvSpPr/>
          <p:nvPr/>
        </p:nvSpPr>
        <p:spPr>
          <a:xfrm>
            <a:off x="5394959" y="4160520"/>
            <a:ext cx="4389120" cy="1051560"/>
          </a:xfrm>
          <a:prstGeom prst="rect">
            <a:avLst/>
          </a:prstGeom>
          <a:solidFill>
            <a:srgbClr val="D5D5D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94959" y="534924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Light Gray / #D5D5D5</a:t>
            </a:r>
          </a:p>
        </p:txBody>
      </p:sp>
      <p:sp>
        <p:nvSpPr>
          <p:cNvPr id="46" name="Rectangle 45"/>
          <p:cNvSpPr/>
          <p:nvPr/>
        </p:nvSpPr>
        <p:spPr>
          <a:xfrm>
            <a:off x="10058400" y="4160520"/>
            <a:ext cx="4389120" cy="1051560"/>
          </a:xfrm>
          <a:prstGeom prst="rect">
            <a:avLst/>
          </a:prstGeom>
          <a:solidFill>
            <a:srgbClr val="555555"/>
          </a:solidFill>
          <a:ln>
            <a:solidFill>
              <a:srgbClr val="D5D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0" y="5349240"/>
            <a:ext cx="438912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Slate Gray / #555555</a:t>
            </a:r>
          </a:p>
        </p:txBody>
      </p:sp>
      <p:sp>
        <p:nvSpPr>
          <p:cNvPr id="48" name="TextBox 47"/>
          <p:cNvSpPr txBox="1"/>
          <p:nvPr/>
        </p:nvSpPr>
        <p:spPr>
          <a:xfrm>
            <a:off x="822960" y="6949440"/>
            <a:ext cx="12984480" cy="54864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Source: user-supplied Direction -01.pdf, page 13. Typography: page 10. Collage, grid and paper-cut direction: pages 2, 5 and 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ONE SYSTEM. SIX CONNECTED STAGES.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777240" y="1920240"/>
            <a:ext cx="13167360" cy="548640"/>
          </a:xfrm>
          <a:prstGeom prst="rect">
            <a:avLst/>
          </a:prstGeom>
          <a:noFill/>
        </p:spPr>
        <p:txBody>
          <a:bodyPr wrap="square" lIns="27432" rIns="27432" tIns="0" bIns="0">
            <a:spAutoFit/>
          </a:bodyPr>
          <a:lstStyle/>
          <a:p>
            <a:pPr>
              <a:spcAft>
                <a:spcPts val="800"/>
              </a:spcAft>
              <a:defRPr sz="1800" b="0">
                <a:solidFill>
                  <a:srgbClr val="555555"/>
                </a:solidFill>
                <a:latin typeface="Montserrat"/>
              </a:defRPr>
            </a:pPr>
            <a:r>
              <a:t>The operating system stays constant. The industry module changes the journeys, funnels and KPI choices.</a:t>
            </a:r>
          </a:p>
        </p:txBody>
      </p:sp>
      <p:sp>
        <p:nvSpPr>
          <p:cNvPr id="37" name="Rectangle 36"/>
          <p:cNvSpPr/>
          <p:nvPr/>
        </p:nvSpPr>
        <p:spPr>
          <a:xfrm>
            <a:off x="731520"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880360"/>
            <a:ext cx="594360" cy="502920"/>
          </a:xfrm>
          <a:prstGeom prst="rect">
            <a:avLst/>
          </a:prstGeom>
          <a:noFill/>
        </p:spPr>
        <p:txBody>
          <a:bodyPr wrap="square" lIns="27432" rIns="27432" tIns="0" bIns="0">
            <a:spAutoFit/>
          </a:bodyPr>
          <a:lstStyle/>
          <a:p>
            <a:pPr>
              <a:spcAft>
                <a:spcPts val="800"/>
              </a:spcAft>
              <a:defRPr sz="3000" b="1">
                <a:solidFill>
                  <a:srgbClr val="7D2B42"/>
                </a:solidFill>
                <a:latin typeface="Bebas Neue"/>
              </a:defRPr>
            </a:pPr>
            <a:r>
              <a:t>01</a:t>
            </a:r>
          </a:p>
        </p:txBody>
      </p:sp>
      <p:sp>
        <p:nvSpPr>
          <p:cNvPr id="39" name="TextBox 38"/>
          <p:cNvSpPr txBox="1"/>
          <p:nvPr/>
        </p:nvSpPr>
        <p:spPr>
          <a:xfrm>
            <a:off x="1645920" y="2926080"/>
            <a:ext cx="3200400" cy="457200"/>
          </a:xfrm>
          <a:prstGeom prst="rect">
            <a:avLst/>
          </a:prstGeom>
          <a:noFill/>
        </p:spPr>
        <p:txBody>
          <a:bodyPr wrap="square" lIns="27432" rIns="27432" tIns="0" bIns="0">
            <a:spAutoFit/>
          </a:bodyPr>
          <a:lstStyle/>
          <a:p>
            <a:pPr>
              <a:spcAft>
                <a:spcPts val="800"/>
              </a:spcAft>
              <a:defRPr sz="2200" b="1">
                <a:solidFill>
                  <a:srgbClr val="7D2B42"/>
                </a:solidFill>
                <a:latin typeface="Montserrat"/>
              </a:defRPr>
            </a:pPr>
            <a:r>
              <a:t>DISCOVER</a:t>
            </a:r>
          </a:p>
        </p:txBody>
      </p:sp>
      <p:sp>
        <p:nvSpPr>
          <p:cNvPr id="40" name="TextBox 39"/>
          <p:cNvSpPr txBox="1"/>
          <p:nvPr/>
        </p:nvSpPr>
        <p:spPr>
          <a:xfrm>
            <a:off x="896112" y="3611880"/>
            <a:ext cx="4023360" cy="7315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Understand the business before acting.</a:t>
            </a:r>
          </a:p>
        </p:txBody>
      </p:sp>
      <p:sp>
        <p:nvSpPr>
          <p:cNvPr id="41" name="Rectangle 40"/>
          <p:cNvSpPr/>
          <p:nvPr/>
        </p:nvSpPr>
        <p:spPr>
          <a:xfrm>
            <a:off x="5394959"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880360"/>
            <a:ext cx="594360" cy="502920"/>
          </a:xfrm>
          <a:prstGeom prst="rect">
            <a:avLst/>
          </a:prstGeom>
          <a:noFill/>
        </p:spPr>
        <p:txBody>
          <a:bodyPr wrap="square" lIns="27432" rIns="27432" tIns="0" bIns="0">
            <a:spAutoFit/>
          </a:bodyPr>
          <a:lstStyle/>
          <a:p>
            <a:pPr>
              <a:spcAft>
                <a:spcPts val="800"/>
              </a:spcAft>
              <a:defRPr sz="3000" b="1">
                <a:solidFill>
                  <a:srgbClr val="7D2B42"/>
                </a:solidFill>
                <a:latin typeface="Bebas Neue"/>
              </a:defRPr>
            </a:pPr>
            <a:r>
              <a:t>02</a:t>
            </a:r>
          </a:p>
        </p:txBody>
      </p:sp>
      <p:sp>
        <p:nvSpPr>
          <p:cNvPr id="43" name="TextBox 42"/>
          <p:cNvSpPr txBox="1"/>
          <p:nvPr/>
        </p:nvSpPr>
        <p:spPr>
          <a:xfrm>
            <a:off x="6309359" y="2926080"/>
            <a:ext cx="3200400" cy="457200"/>
          </a:xfrm>
          <a:prstGeom prst="rect">
            <a:avLst/>
          </a:prstGeom>
          <a:noFill/>
        </p:spPr>
        <p:txBody>
          <a:bodyPr wrap="square" lIns="27432" rIns="27432" tIns="0" bIns="0">
            <a:spAutoFit/>
          </a:bodyPr>
          <a:lstStyle/>
          <a:p>
            <a:pPr>
              <a:spcAft>
                <a:spcPts val="800"/>
              </a:spcAft>
              <a:defRPr sz="2200" b="1">
                <a:solidFill>
                  <a:srgbClr val="7D2B42"/>
                </a:solidFill>
                <a:latin typeface="Montserrat"/>
              </a:defRPr>
            </a:pPr>
            <a:r>
              <a:t>DIAGNOSE</a:t>
            </a:r>
          </a:p>
        </p:txBody>
      </p:sp>
      <p:sp>
        <p:nvSpPr>
          <p:cNvPr id="44" name="TextBox 43"/>
          <p:cNvSpPr txBox="1"/>
          <p:nvPr/>
        </p:nvSpPr>
        <p:spPr>
          <a:xfrm>
            <a:off x="5559551" y="3611880"/>
            <a:ext cx="4023360" cy="7315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Find out exactly why growth stalls.</a:t>
            </a:r>
          </a:p>
        </p:txBody>
      </p:sp>
      <p:sp>
        <p:nvSpPr>
          <p:cNvPr id="45" name="Rectangle 44"/>
          <p:cNvSpPr/>
          <p:nvPr/>
        </p:nvSpPr>
        <p:spPr>
          <a:xfrm>
            <a:off x="10058400" y="27432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880360"/>
            <a:ext cx="594360" cy="502920"/>
          </a:xfrm>
          <a:prstGeom prst="rect">
            <a:avLst/>
          </a:prstGeom>
          <a:noFill/>
        </p:spPr>
        <p:txBody>
          <a:bodyPr wrap="square" lIns="27432" rIns="27432" tIns="0" bIns="0">
            <a:spAutoFit/>
          </a:bodyPr>
          <a:lstStyle/>
          <a:p>
            <a:pPr>
              <a:spcAft>
                <a:spcPts val="800"/>
              </a:spcAft>
              <a:defRPr sz="3000" b="1">
                <a:solidFill>
                  <a:srgbClr val="7D2B42"/>
                </a:solidFill>
                <a:latin typeface="Bebas Neue"/>
              </a:defRPr>
            </a:pPr>
            <a:r>
              <a:t>03</a:t>
            </a:r>
          </a:p>
        </p:txBody>
      </p:sp>
      <p:sp>
        <p:nvSpPr>
          <p:cNvPr id="47" name="TextBox 46"/>
          <p:cNvSpPr txBox="1"/>
          <p:nvPr/>
        </p:nvSpPr>
        <p:spPr>
          <a:xfrm>
            <a:off x="10972800" y="2926080"/>
            <a:ext cx="3200400" cy="457200"/>
          </a:xfrm>
          <a:prstGeom prst="rect">
            <a:avLst/>
          </a:prstGeom>
          <a:noFill/>
        </p:spPr>
        <p:txBody>
          <a:bodyPr wrap="square" lIns="27432" rIns="27432" tIns="0" bIns="0">
            <a:spAutoFit/>
          </a:bodyPr>
          <a:lstStyle/>
          <a:p>
            <a:pPr>
              <a:spcAft>
                <a:spcPts val="800"/>
              </a:spcAft>
              <a:defRPr sz="2200" b="1">
                <a:solidFill>
                  <a:srgbClr val="7D2B42"/>
                </a:solidFill>
                <a:latin typeface="Montserrat"/>
              </a:defRPr>
            </a:pPr>
            <a:r>
              <a:t>DESIGN</a:t>
            </a:r>
          </a:p>
        </p:txBody>
      </p:sp>
      <p:sp>
        <p:nvSpPr>
          <p:cNvPr id="48" name="TextBox 47"/>
          <p:cNvSpPr txBox="1"/>
          <p:nvPr/>
        </p:nvSpPr>
        <p:spPr>
          <a:xfrm>
            <a:off x="10222992" y="3611880"/>
            <a:ext cx="4023360" cy="7315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Design the growth plan before building.</a:t>
            </a:r>
          </a:p>
        </p:txBody>
      </p:sp>
      <p:sp>
        <p:nvSpPr>
          <p:cNvPr id="49" name="Rectangle 48"/>
          <p:cNvSpPr/>
          <p:nvPr/>
        </p:nvSpPr>
        <p:spPr>
          <a:xfrm>
            <a:off x="731520"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4937760"/>
            <a:ext cx="594360" cy="502920"/>
          </a:xfrm>
          <a:prstGeom prst="rect">
            <a:avLst/>
          </a:prstGeom>
          <a:noFill/>
        </p:spPr>
        <p:txBody>
          <a:bodyPr wrap="square" lIns="27432" rIns="27432" tIns="0" bIns="0">
            <a:spAutoFit/>
          </a:bodyPr>
          <a:lstStyle/>
          <a:p>
            <a:pPr>
              <a:spcAft>
                <a:spcPts val="800"/>
              </a:spcAft>
              <a:defRPr sz="3000" b="1">
                <a:solidFill>
                  <a:srgbClr val="7D2B42"/>
                </a:solidFill>
                <a:latin typeface="Bebas Neue"/>
              </a:defRPr>
            </a:pPr>
            <a:r>
              <a:t>04</a:t>
            </a:r>
          </a:p>
        </p:txBody>
      </p:sp>
      <p:sp>
        <p:nvSpPr>
          <p:cNvPr id="51" name="TextBox 50"/>
          <p:cNvSpPr txBox="1"/>
          <p:nvPr/>
        </p:nvSpPr>
        <p:spPr>
          <a:xfrm>
            <a:off x="1645920" y="4983480"/>
            <a:ext cx="3200400" cy="457200"/>
          </a:xfrm>
          <a:prstGeom prst="rect">
            <a:avLst/>
          </a:prstGeom>
          <a:noFill/>
        </p:spPr>
        <p:txBody>
          <a:bodyPr wrap="square" lIns="27432" rIns="27432" tIns="0" bIns="0">
            <a:spAutoFit/>
          </a:bodyPr>
          <a:lstStyle/>
          <a:p>
            <a:pPr>
              <a:spcAft>
                <a:spcPts val="800"/>
              </a:spcAft>
              <a:defRPr sz="2200" b="1">
                <a:solidFill>
                  <a:srgbClr val="7D2B42"/>
                </a:solidFill>
                <a:latin typeface="Montserrat"/>
              </a:defRPr>
            </a:pPr>
            <a:r>
              <a:t>DEPLOY</a:t>
            </a:r>
          </a:p>
        </p:txBody>
      </p:sp>
      <p:sp>
        <p:nvSpPr>
          <p:cNvPr id="52" name="TextBox 51"/>
          <p:cNvSpPr txBox="1"/>
          <p:nvPr/>
        </p:nvSpPr>
        <p:spPr>
          <a:xfrm>
            <a:off x="896112" y="5669280"/>
            <a:ext cx="4023360" cy="7315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Execute with precision across channels.</a:t>
            </a:r>
          </a:p>
        </p:txBody>
      </p:sp>
      <p:sp>
        <p:nvSpPr>
          <p:cNvPr id="53" name="Rectangle 52"/>
          <p:cNvSpPr/>
          <p:nvPr/>
        </p:nvSpPr>
        <p:spPr>
          <a:xfrm>
            <a:off x="5394959"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1" y="4937760"/>
            <a:ext cx="594360" cy="502920"/>
          </a:xfrm>
          <a:prstGeom prst="rect">
            <a:avLst/>
          </a:prstGeom>
          <a:noFill/>
        </p:spPr>
        <p:txBody>
          <a:bodyPr wrap="square" lIns="27432" rIns="27432" tIns="0" bIns="0">
            <a:spAutoFit/>
          </a:bodyPr>
          <a:lstStyle/>
          <a:p>
            <a:pPr>
              <a:spcAft>
                <a:spcPts val="800"/>
              </a:spcAft>
              <a:defRPr sz="3000" b="1">
                <a:solidFill>
                  <a:srgbClr val="7D2B42"/>
                </a:solidFill>
                <a:latin typeface="Bebas Neue"/>
              </a:defRPr>
            </a:pPr>
            <a:r>
              <a:t>05</a:t>
            </a:r>
          </a:p>
        </p:txBody>
      </p:sp>
      <p:sp>
        <p:nvSpPr>
          <p:cNvPr id="55" name="TextBox 54"/>
          <p:cNvSpPr txBox="1"/>
          <p:nvPr/>
        </p:nvSpPr>
        <p:spPr>
          <a:xfrm>
            <a:off x="6309359" y="4983480"/>
            <a:ext cx="3200400" cy="457200"/>
          </a:xfrm>
          <a:prstGeom prst="rect">
            <a:avLst/>
          </a:prstGeom>
          <a:noFill/>
        </p:spPr>
        <p:txBody>
          <a:bodyPr wrap="square" lIns="27432" rIns="27432" tIns="0" bIns="0">
            <a:spAutoFit/>
          </a:bodyPr>
          <a:lstStyle/>
          <a:p>
            <a:pPr>
              <a:spcAft>
                <a:spcPts val="800"/>
              </a:spcAft>
              <a:defRPr sz="2200" b="1">
                <a:solidFill>
                  <a:srgbClr val="7D2B42"/>
                </a:solidFill>
                <a:latin typeface="Montserrat"/>
              </a:defRPr>
            </a:pPr>
            <a:r>
              <a:t>OPTIMISE</a:t>
            </a:r>
          </a:p>
        </p:txBody>
      </p:sp>
      <p:sp>
        <p:nvSpPr>
          <p:cNvPr id="56" name="TextBox 55"/>
          <p:cNvSpPr txBox="1"/>
          <p:nvPr/>
        </p:nvSpPr>
        <p:spPr>
          <a:xfrm>
            <a:off x="5559551" y="5669280"/>
            <a:ext cx="4023360" cy="7315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Improve with data, every week.</a:t>
            </a:r>
          </a:p>
        </p:txBody>
      </p:sp>
      <p:sp>
        <p:nvSpPr>
          <p:cNvPr id="57" name="Rectangle 56"/>
          <p:cNvSpPr/>
          <p:nvPr/>
        </p:nvSpPr>
        <p:spPr>
          <a:xfrm>
            <a:off x="10058400" y="4800600"/>
            <a:ext cx="4389120" cy="1783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22992" y="4937760"/>
            <a:ext cx="594360" cy="502920"/>
          </a:xfrm>
          <a:prstGeom prst="rect">
            <a:avLst/>
          </a:prstGeom>
          <a:noFill/>
        </p:spPr>
        <p:txBody>
          <a:bodyPr wrap="square" lIns="27432" rIns="27432" tIns="0" bIns="0">
            <a:spAutoFit/>
          </a:bodyPr>
          <a:lstStyle/>
          <a:p>
            <a:pPr>
              <a:spcAft>
                <a:spcPts val="800"/>
              </a:spcAft>
              <a:defRPr sz="3000" b="1">
                <a:solidFill>
                  <a:srgbClr val="7D2B42"/>
                </a:solidFill>
                <a:latin typeface="Bebas Neue"/>
              </a:defRPr>
            </a:pPr>
            <a:r>
              <a:t>06</a:t>
            </a:r>
          </a:p>
        </p:txBody>
      </p:sp>
      <p:sp>
        <p:nvSpPr>
          <p:cNvPr id="59" name="TextBox 58"/>
          <p:cNvSpPr txBox="1"/>
          <p:nvPr/>
        </p:nvSpPr>
        <p:spPr>
          <a:xfrm>
            <a:off x="10972800" y="4983480"/>
            <a:ext cx="3200400" cy="457200"/>
          </a:xfrm>
          <a:prstGeom prst="rect">
            <a:avLst/>
          </a:prstGeom>
          <a:noFill/>
        </p:spPr>
        <p:txBody>
          <a:bodyPr wrap="square" lIns="27432" rIns="27432" tIns="0" bIns="0">
            <a:spAutoFit/>
          </a:bodyPr>
          <a:lstStyle/>
          <a:p>
            <a:pPr>
              <a:spcAft>
                <a:spcPts val="800"/>
              </a:spcAft>
              <a:defRPr sz="2200" b="1">
                <a:solidFill>
                  <a:srgbClr val="7D2B42"/>
                </a:solidFill>
                <a:latin typeface="Montserrat"/>
              </a:defRPr>
            </a:pPr>
            <a:r>
              <a:t>SCALE</a:t>
            </a:r>
          </a:p>
        </p:txBody>
      </p:sp>
      <p:sp>
        <p:nvSpPr>
          <p:cNvPr id="60" name="TextBox 59"/>
          <p:cNvSpPr txBox="1"/>
          <p:nvPr/>
        </p:nvSpPr>
        <p:spPr>
          <a:xfrm>
            <a:off x="10222992" y="5669280"/>
            <a:ext cx="4023360" cy="7315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Scale what works into sustainable growth.</a:t>
            </a:r>
          </a:p>
        </p:txBody>
      </p:sp>
      <p:sp>
        <p:nvSpPr>
          <p:cNvPr id="61" name="TextBox 60"/>
          <p:cNvSpPr txBox="1"/>
          <p:nvPr/>
        </p:nvSpPr>
        <p:spPr>
          <a:xfrm>
            <a:off x="822960" y="7178040"/>
            <a:ext cx="12984480" cy="457200"/>
          </a:xfrm>
          <a:prstGeom prst="rect">
            <a:avLst/>
          </a:prstGeom>
          <a:noFill/>
        </p:spPr>
        <p:txBody>
          <a:bodyPr wrap="square" lIns="27432" rIns="27432" tIns="0" bIns="0">
            <a:spAutoFit/>
          </a:bodyPr>
          <a:lstStyle/>
          <a:p>
            <a:pPr>
              <a:spcAft>
                <a:spcPts val="800"/>
              </a:spcAft>
              <a:defRPr sz="1200" b="1">
                <a:solidFill>
                  <a:srgbClr val="7D2B42"/>
                </a:solidFill>
                <a:latin typeface="Montserrat"/>
              </a:defRPr>
            </a:pPr>
            <a:r>
              <a:t>Entry: Growth Score™ / Audit™ → Commercial scope → Discover. Optimise feeds new evidence into Diagnose and Design; Scale loops back into discovery.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01 / DISCOVER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800"/>
              </a:spcAft>
              <a:defRPr sz="1700" b="1">
                <a:solidFill>
                  <a:srgbClr val="7D2B42"/>
                </a:solidFill>
                <a:latin typeface="Montserrat"/>
              </a:defRPr>
            </a:pPr>
            <a:r>
              <a:t>Understand before you act.</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Business discovery &amp; goals</a:t>
            </a:r>
          </a:p>
          <a:p>
            <a:pPr>
              <a:spcAft>
                <a:spcPts val="800"/>
              </a:spcAft>
              <a:defRPr sz="1900" b="0">
                <a:solidFill>
                  <a:srgbClr val="202020"/>
                </a:solidFill>
                <a:latin typeface="Montserrat"/>
              </a:defRPr>
            </a:pPr>
            <a:r>
              <a:t>Stakeholder interviews</a:t>
            </a:r>
          </a:p>
          <a:p>
            <a:pPr>
              <a:spcAft>
                <a:spcPts val="800"/>
              </a:spcAft>
              <a:defRPr sz="1900" b="0">
                <a:solidFill>
                  <a:srgbClr val="202020"/>
                </a:solidFill>
                <a:latin typeface="Montserrat"/>
              </a:defRPr>
            </a:pPr>
            <a:r>
              <a:t>Brand audit</a:t>
            </a:r>
          </a:p>
          <a:p>
            <a:pPr>
              <a:spcAft>
                <a:spcPts val="800"/>
              </a:spcAft>
              <a:defRPr sz="1900" b="0">
                <a:solidFill>
                  <a:srgbClr val="202020"/>
                </a:solidFill>
                <a:latin typeface="Montserrat"/>
              </a:defRPr>
            </a:pPr>
            <a:r>
              <a:t>Customer interviews</a:t>
            </a:r>
          </a:p>
          <a:p>
            <a:pPr>
              <a:spcAft>
                <a:spcPts val="800"/>
              </a:spcAft>
              <a:defRPr sz="1900" b="0">
                <a:solidFill>
                  <a:srgbClr val="202020"/>
                </a:solidFill>
                <a:latin typeface="Montserrat"/>
              </a:defRPr>
            </a:pPr>
            <a:r>
              <a:t>Competitor analysis</a:t>
            </a:r>
          </a:p>
          <a:p>
            <a:pPr>
              <a:spcAft>
                <a:spcPts val="800"/>
              </a:spcAft>
              <a:defRPr sz="1900" b="0">
                <a:solidFill>
                  <a:srgbClr val="202020"/>
                </a:solidFill>
                <a:latin typeface="Montserrat"/>
              </a:defRPr>
            </a:pPr>
            <a:r>
              <a:t>Market research</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8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Business Discovery Report</a:t>
            </a:r>
          </a:p>
          <a:p>
            <a:pPr>
              <a:spcAft>
                <a:spcPts val="800"/>
              </a:spcAft>
              <a:defRPr sz="1600" b="0">
                <a:solidFill>
                  <a:srgbClr val="202020"/>
                </a:solidFill>
                <a:latin typeface="Montserrat"/>
              </a:defRPr>
            </a:pPr>
            <a:r>
              <a:t>SWOT analysis</a:t>
            </a:r>
          </a:p>
          <a:p>
            <a:pPr>
              <a:spcAft>
                <a:spcPts val="800"/>
              </a:spcAft>
              <a:defRPr sz="1600" b="0">
                <a:solidFill>
                  <a:srgbClr val="202020"/>
                </a:solidFill>
                <a:latin typeface="Montserrat"/>
              </a:defRPr>
            </a:pPr>
            <a:r>
              <a:t>Growth opportunities map</a:t>
            </a:r>
          </a:p>
          <a:p>
            <a:pPr>
              <a:spcAft>
                <a:spcPts val="800"/>
              </a:spcAft>
              <a:defRPr sz="1600" b="0">
                <a:solidFill>
                  <a:srgbClr val="202020"/>
                </a:solidFill>
                <a:latin typeface="Montserrat"/>
              </a:defRPr>
            </a:pPr>
            <a:r>
              <a:t>Competitor landscape</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MM-01 leads discovery; AM-01 coordinates client inputs. BD-01 and SA-01 transfer discovery notes and agreed commercial scope. Content / design leads contribute audit evidence.</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800"/>
              </a:spcAft>
              <a:defRPr sz="1200" b="0">
                <a:solidFill>
                  <a:srgbClr val="555555"/>
                </a:solidFill>
                <a:latin typeface="Montserrat"/>
              </a:defRPr>
            </a:pPr>
            <a:r>
              <a:t>Complete discovery pack, confirmed objectives and available source assets. Marketing Manager reviews the findings before diagnosis.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17</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02 / DIAGNOSE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800"/>
              </a:spcAft>
              <a:defRPr sz="1700" b="1">
                <a:solidFill>
                  <a:srgbClr val="7D2B42"/>
                </a:solidFill>
                <a:latin typeface="Montserrat"/>
              </a:defRPr>
            </a:pPr>
            <a:r>
              <a:t>Find out why growth stalls.</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Positioning &amp; brand</a:t>
            </a:r>
          </a:p>
          <a:p>
            <a:pPr>
              <a:spcAft>
                <a:spcPts val="800"/>
              </a:spcAft>
              <a:defRPr sz="1900" b="0">
                <a:solidFill>
                  <a:srgbClr val="202020"/>
                </a:solidFill>
                <a:latin typeface="Montserrat"/>
              </a:defRPr>
            </a:pPr>
            <a:r>
              <a:t>Product &amp; offer</a:t>
            </a:r>
          </a:p>
          <a:p>
            <a:pPr>
              <a:spcAft>
                <a:spcPts val="800"/>
              </a:spcAft>
              <a:defRPr sz="1900" b="0">
                <a:solidFill>
                  <a:srgbClr val="202020"/>
                </a:solidFill>
                <a:latin typeface="Montserrat"/>
              </a:defRPr>
            </a:pPr>
            <a:r>
              <a:t>Funnel &amp; website</a:t>
            </a:r>
          </a:p>
          <a:p>
            <a:pPr>
              <a:spcAft>
                <a:spcPts val="800"/>
              </a:spcAft>
              <a:defRPr sz="1900" b="0">
                <a:solidFill>
                  <a:srgbClr val="202020"/>
                </a:solidFill>
                <a:latin typeface="Montserrat"/>
              </a:defRPr>
            </a:pPr>
            <a:r>
              <a:t>CRM &amp; sales process</a:t>
            </a:r>
          </a:p>
          <a:p>
            <a:pPr>
              <a:spcAft>
                <a:spcPts val="800"/>
              </a:spcAft>
              <a:defRPr sz="1900" b="0">
                <a:solidFill>
                  <a:srgbClr val="202020"/>
                </a:solidFill>
                <a:latin typeface="Montserrat"/>
              </a:defRPr>
            </a:pPr>
            <a:r>
              <a:t>Marketing &amp; media efficiency</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8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Growth Diagnosis</a:t>
            </a:r>
          </a:p>
          <a:p>
            <a:pPr>
              <a:spcAft>
                <a:spcPts val="800"/>
              </a:spcAft>
              <a:defRPr sz="1600" b="0">
                <a:solidFill>
                  <a:srgbClr val="202020"/>
                </a:solidFill>
                <a:latin typeface="Montserrat"/>
              </a:defRPr>
            </a:pPr>
            <a:r>
              <a:t>Priority Matrix</a:t>
            </a:r>
          </a:p>
          <a:p>
            <a:pPr>
              <a:spcAft>
                <a:spcPts val="800"/>
              </a:spcAft>
              <a:defRPr sz="1600" b="0">
                <a:solidFill>
                  <a:srgbClr val="202020"/>
                </a:solidFill>
                <a:latin typeface="Montserrat"/>
              </a:defRPr>
            </a:pPr>
            <a:r>
              <a:t>Quick Wins list</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MM-01 leads diagnosis; MB-01 and SM-01 contribute channel evidence; SA-01 contributes sales-process insight; AM-01 attends meetings, writes briefs and resolves information gaps.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800"/>
              </a:spcAft>
              <a:defRPr sz="1200" b="0">
                <a:solidFill>
                  <a:srgbClr val="555555"/>
                </a:solidFill>
                <a:latin typeface="Montserrat"/>
              </a:defRPr>
            </a:pPr>
            <a:r>
              <a:t>Agree priority constraints and their supporting evidence. Missing website / CRM expertise is assigned explicitly rather than assumed.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03 / DESIGN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800"/>
              </a:spcAft>
              <a:defRPr sz="1700" b="1">
                <a:solidFill>
                  <a:srgbClr val="7D2B42"/>
                </a:solidFill>
                <a:latin typeface="Montserrat"/>
              </a:defRPr>
            </a:pPr>
            <a:r>
              <a:t>Design the solution before building it.</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Brand strategy</a:t>
            </a:r>
          </a:p>
          <a:p>
            <a:pPr>
              <a:spcAft>
                <a:spcPts val="800"/>
              </a:spcAft>
              <a:defRPr sz="1900" b="0">
                <a:solidFill>
                  <a:srgbClr val="202020"/>
                </a:solidFill>
                <a:latin typeface="Montserrat"/>
              </a:defRPr>
            </a:pPr>
            <a:r>
              <a:t>Content strategy</a:t>
            </a:r>
          </a:p>
          <a:p>
            <a:pPr>
              <a:spcAft>
                <a:spcPts val="800"/>
              </a:spcAft>
              <a:defRPr sz="1900" b="0">
                <a:solidFill>
                  <a:srgbClr val="202020"/>
                </a:solidFill>
                <a:latin typeface="Montserrat"/>
              </a:defRPr>
            </a:pPr>
            <a:r>
              <a:t>Media strategy</a:t>
            </a:r>
          </a:p>
          <a:p>
            <a:pPr>
              <a:spcAft>
                <a:spcPts val="800"/>
              </a:spcAft>
              <a:defRPr sz="1900" b="0">
                <a:solidFill>
                  <a:srgbClr val="202020"/>
                </a:solidFill>
                <a:latin typeface="Montserrat"/>
              </a:defRPr>
            </a:pPr>
            <a:r>
              <a:t>Customer journey</a:t>
            </a:r>
          </a:p>
          <a:p>
            <a:pPr>
              <a:spcAft>
                <a:spcPts val="800"/>
              </a:spcAft>
              <a:defRPr sz="1900" b="0">
                <a:solidFill>
                  <a:srgbClr val="202020"/>
                </a:solidFill>
                <a:latin typeface="Montserrat"/>
              </a:defRPr>
            </a:pPr>
            <a:r>
              <a:t>KPI framework</a:t>
            </a:r>
          </a:p>
          <a:p>
            <a:pPr>
              <a:spcAft>
                <a:spcPts val="800"/>
              </a:spcAft>
              <a:defRPr sz="1900" b="0">
                <a:solidFill>
                  <a:srgbClr val="202020"/>
                </a:solidFill>
                <a:latin typeface="Montserrat"/>
              </a:defRPr>
            </a:pPr>
            <a:r>
              <a:t>Budget allocation</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8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The Growth Blueprint™</a:t>
            </a:r>
          </a:p>
          <a:p>
            <a:pPr>
              <a:spcAft>
                <a:spcPts val="800"/>
              </a:spcAft>
              <a:defRPr sz="1600" b="0">
                <a:solidFill>
                  <a:srgbClr val="202020"/>
                </a:solidFill>
                <a:latin typeface="Montserrat"/>
              </a:defRPr>
            </a:pPr>
            <a:r>
              <a:t>One agreed plan linking strategy, channels, KPIs and budget</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MM-01 owns strategic and budget decisions. HC-01 shapes content; HD-01 shapes creative; MB-01 shapes paid media. AM-01 coordinates client agreement.</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800"/>
              </a:spcAft>
              <a:defRPr sz="1200" b="0">
                <a:solidFill>
                  <a:srgbClr val="555555"/>
                </a:solidFill>
                <a:latin typeface="Montserrat"/>
              </a:defRPr>
            </a:pPr>
            <a:r>
              <a:t>Blueprint accepted, scope and resource owners agreed, required client authorization recorded and budgets authorized. Design means planning; creative production belongs in Deploy.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04 / DEPLOY</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800"/>
              </a:spcAft>
              <a:defRPr sz="1700" b="1">
                <a:solidFill>
                  <a:srgbClr val="7D2B42"/>
                </a:solidFill>
                <a:latin typeface="Montserrat"/>
              </a:defRPr>
            </a:pPr>
            <a:r>
              <a:t>Execution with precision.</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Website &amp; landing pages</a:t>
            </a:r>
          </a:p>
          <a:p>
            <a:pPr>
              <a:spcAft>
                <a:spcPts val="800"/>
              </a:spcAft>
              <a:defRPr sz="1900" b="0">
                <a:solidFill>
                  <a:srgbClr val="202020"/>
                </a:solidFill>
                <a:latin typeface="Montserrat"/>
              </a:defRPr>
            </a:pPr>
            <a:r>
              <a:t>Branding &amp; creative</a:t>
            </a:r>
          </a:p>
          <a:p>
            <a:pPr>
              <a:spcAft>
                <a:spcPts val="800"/>
              </a:spcAft>
              <a:defRPr sz="1900" b="0">
                <a:solidFill>
                  <a:srgbClr val="202020"/>
                </a:solidFill>
                <a:latin typeface="Montserrat"/>
              </a:defRPr>
            </a:pPr>
            <a:r>
              <a:t>Paid campaigns</a:t>
            </a:r>
          </a:p>
          <a:p>
            <a:pPr>
              <a:spcAft>
                <a:spcPts val="800"/>
              </a:spcAft>
              <a:defRPr sz="1900" b="0">
                <a:solidFill>
                  <a:srgbClr val="202020"/>
                </a:solidFill>
                <a:latin typeface="Montserrat"/>
              </a:defRPr>
            </a:pPr>
            <a:r>
              <a:t>Social media &amp; content</a:t>
            </a:r>
          </a:p>
          <a:p>
            <a:pPr>
              <a:spcAft>
                <a:spcPts val="800"/>
              </a:spcAft>
              <a:defRPr sz="1900" b="0">
                <a:solidFill>
                  <a:srgbClr val="202020"/>
                </a:solidFill>
                <a:latin typeface="Montserrat"/>
              </a:defRPr>
            </a:pPr>
            <a:r>
              <a:t>CRM &amp; automation</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8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Live campaigns &amp; content calendar</a:t>
            </a:r>
          </a:p>
          <a:p>
            <a:pPr>
              <a:spcAft>
                <a:spcPts val="800"/>
              </a:spcAft>
              <a:defRPr sz="1600" b="0">
                <a:solidFill>
                  <a:srgbClr val="202020"/>
                </a:solidFill>
                <a:latin typeface="Montserrat"/>
              </a:defRPr>
            </a:pPr>
            <a:r>
              <a:t>Tracking &amp; analytics setup</a:t>
            </a:r>
          </a:p>
          <a:p>
            <a:pPr>
              <a:spcAft>
                <a:spcPts val="800"/>
              </a:spcAft>
              <a:defRPr sz="1600" b="0">
                <a:solidFill>
                  <a:srgbClr val="202020"/>
                </a:solidFill>
                <a:latin typeface="Montserrat"/>
              </a:defRPr>
            </a:pPr>
            <a:r>
              <a:t>Automation &amp; lead routing</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AM-01 coordinates delivery. HC-01 / writers produce content; HD-01 / GD-01 / GD-02 / VE-01 / VE-02 produce creative. Marketing Manager reviews video quality. SM-01 publishes; MB-01 activates paid media.</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800"/>
              </a:spcAft>
              <a:defRPr sz="1200" b="0">
                <a:solidFill>
                  <a:srgbClr val="555555"/>
                </a:solidFill>
                <a:latin typeface="Montserrat"/>
              </a:defRPr>
            </a:pPr>
            <a:r>
              <a:t>Head QC → Marketing Manager approval → AM collects one PPTX → client approval → SM scheduling/publication. Paid activation also requires budget authorization and tracking QA. Website / CRM / automation owner must be assigned.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05 / OPTIMISE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800"/>
              </a:spcAft>
              <a:defRPr sz="1700" b="1">
                <a:solidFill>
                  <a:srgbClr val="7D2B42"/>
                </a:solidFill>
                <a:latin typeface="Montserrat"/>
              </a:defRPr>
            </a:pPr>
            <a:r>
              <a:t>Improve with data — every week.</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Weekly &amp; monthly reporting</a:t>
            </a:r>
          </a:p>
          <a:p>
            <a:pPr>
              <a:spcAft>
                <a:spcPts val="800"/>
              </a:spcAft>
              <a:defRPr sz="1900" b="0">
                <a:solidFill>
                  <a:srgbClr val="202020"/>
                </a:solidFill>
                <a:latin typeface="Montserrat"/>
              </a:defRPr>
            </a:pPr>
            <a:r>
              <a:t>Live dashboards</a:t>
            </a:r>
          </a:p>
          <a:p>
            <a:pPr>
              <a:spcAft>
                <a:spcPts val="800"/>
              </a:spcAft>
              <a:defRPr sz="1900" b="0">
                <a:solidFill>
                  <a:srgbClr val="202020"/>
                </a:solidFill>
                <a:latin typeface="Montserrat"/>
              </a:defRPr>
            </a:pPr>
            <a:r>
              <a:t>Heatmaps &amp; behaviour analysis</a:t>
            </a:r>
          </a:p>
          <a:p>
            <a:pPr>
              <a:spcAft>
                <a:spcPts val="800"/>
              </a:spcAft>
              <a:defRPr sz="1900" b="0">
                <a:solidFill>
                  <a:srgbClr val="202020"/>
                </a:solidFill>
                <a:latin typeface="Montserrat"/>
              </a:defRPr>
            </a:pPr>
            <a:r>
              <a:t>A/B testing</a:t>
            </a:r>
          </a:p>
          <a:p>
            <a:pPr>
              <a:spcAft>
                <a:spcPts val="800"/>
              </a:spcAft>
              <a:defRPr sz="1900" b="0">
                <a:solidFill>
                  <a:srgbClr val="202020"/>
                </a:solidFill>
                <a:latin typeface="Montserrat"/>
              </a:defRPr>
            </a:pPr>
            <a:r>
              <a:t>Conversion rate optimisation (CRO)</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8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Performance reports with recommendations</a:t>
            </a:r>
          </a:p>
          <a:p>
            <a:pPr>
              <a:spcAft>
                <a:spcPts val="800"/>
              </a:spcAft>
              <a:defRPr sz="1600" b="0">
                <a:solidFill>
                  <a:srgbClr val="202020"/>
                </a:solidFill>
                <a:latin typeface="Montserrat"/>
              </a:defRPr>
            </a:pPr>
            <a:r>
              <a:t>Optimisation log</a:t>
            </a:r>
          </a:p>
          <a:p>
            <a:pPr>
              <a:spcAft>
                <a:spcPts val="800"/>
              </a:spcAft>
              <a:defRPr sz="1600" b="0">
                <a:solidFill>
                  <a:srgbClr val="202020"/>
                </a:solidFill>
                <a:latin typeface="Montserrat"/>
              </a:defRPr>
            </a:pPr>
            <a:r>
              <a:t>CPL, CPM &amp; ROAS improvement targets</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MB-01 analyzes and optimizes paid media; SM-01 reports organic performance; AM-01 delivers client reports; MM-01 reviews priorities and coordinates next actions.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800"/>
              </a:spcAft>
              <a:defRPr sz="1200" b="0">
                <a:solidFill>
                  <a:srgbClr val="555555"/>
                </a:solidFill>
                <a:latin typeface="Montserrat"/>
              </a:defRPr>
            </a:pPr>
            <a:r>
              <a:t>Validated reporting and a documented test / change log. Feed findings back to Diagnose / Design. Weekly cadence comes from the source deck; exact SLAs require confirmation.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SIX-STAGE OPERATING SYSTEM</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06 / SCALE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011680"/>
            <a:ext cx="13075920" cy="45720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084831"/>
            <a:ext cx="12801600" cy="274320"/>
          </a:xfrm>
          <a:prstGeom prst="rect">
            <a:avLst/>
          </a:prstGeom>
          <a:noFill/>
        </p:spPr>
        <p:txBody>
          <a:bodyPr wrap="square" lIns="27432" rIns="27432" tIns="0" bIns="0">
            <a:spAutoFit/>
          </a:bodyPr>
          <a:lstStyle/>
          <a:p>
            <a:pPr>
              <a:spcAft>
                <a:spcPts val="800"/>
              </a:spcAft>
              <a:defRPr sz="1700" b="1">
                <a:solidFill>
                  <a:srgbClr val="7D2B42"/>
                </a:solidFill>
                <a:latin typeface="Montserrat"/>
              </a:defRPr>
            </a:pPr>
            <a:r>
              <a:t>Scale what works.</a:t>
            </a:r>
          </a:p>
        </p:txBody>
      </p:sp>
      <p:sp>
        <p:nvSpPr>
          <p:cNvPr id="38" name="Rectangle 37"/>
          <p:cNvSpPr/>
          <p:nvPr/>
        </p:nvSpPr>
        <p:spPr>
          <a:xfrm>
            <a:off x="777240" y="2743200"/>
            <a:ext cx="4754880" cy="429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2953512"/>
            <a:ext cx="4297680" cy="32004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ACTIVITIES</a:t>
            </a:r>
          </a:p>
        </p:txBody>
      </p:sp>
      <p:sp>
        <p:nvSpPr>
          <p:cNvPr id="40" name="TextBox 39"/>
          <p:cNvSpPr txBox="1"/>
          <p:nvPr/>
        </p:nvSpPr>
        <p:spPr>
          <a:xfrm>
            <a:off x="1005840" y="3566160"/>
            <a:ext cx="4297680" cy="315468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Scaling budget behind winners</a:t>
            </a:r>
          </a:p>
          <a:p>
            <a:pPr>
              <a:spcAft>
                <a:spcPts val="800"/>
              </a:spcAft>
              <a:defRPr sz="1900" b="0">
                <a:solidFill>
                  <a:srgbClr val="202020"/>
                </a:solidFill>
                <a:latin typeface="Montserrat"/>
              </a:defRPr>
            </a:pPr>
            <a:r>
              <a:t>Scaling into new markets</a:t>
            </a:r>
          </a:p>
          <a:p>
            <a:pPr>
              <a:spcAft>
                <a:spcPts val="800"/>
              </a:spcAft>
              <a:defRPr sz="1900" b="0">
                <a:solidFill>
                  <a:srgbClr val="202020"/>
                </a:solidFill>
                <a:latin typeface="Montserrat"/>
              </a:defRPr>
            </a:pPr>
            <a:r>
              <a:t>Scaling new channels</a:t>
            </a:r>
          </a:p>
          <a:p>
            <a:pPr>
              <a:spcAft>
                <a:spcPts val="800"/>
              </a:spcAft>
              <a:defRPr sz="1900" b="0">
                <a:solidFill>
                  <a:srgbClr val="202020"/>
                </a:solidFill>
                <a:latin typeface="Montserrat"/>
              </a:defRPr>
            </a:pPr>
            <a:r>
              <a:t>Retention &amp; loyalty</a:t>
            </a:r>
          </a:p>
          <a:p>
            <a:pPr>
              <a:spcAft>
                <a:spcPts val="800"/>
              </a:spcAft>
              <a:defRPr sz="1900" b="0">
                <a:solidFill>
                  <a:srgbClr val="202020"/>
                </a:solidFill>
                <a:latin typeface="Montserrat"/>
              </a:defRPr>
            </a:pPr>
            <a:r>
              <a:t>Expansion &amp; new revenue lines</a:t>
            </a:r>
          </a:p>
        </p:txBody>
      </p:sp>
      <p:sp>
        <p:nvSpPr>
          <p:cNvPr id="41" name="Rectangle 40"/>
          <p:cNvSpPr/>
          <p:nvPr/>
        </p:nvSpPr>
        <p:spPr>
          <a:xfrm>
            <a:off x="5806440" y="2743200"/>
            <a:ext cx="804672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2944368"/>
            <a:ext cx="7543800" cy="320040"/>
          </a:xfrm>
          <a:prstGeom prst="rect">
            <a:avLst/>
          </a:prstGeom>
          <a:noFill/>
        </p:spPr>
        <p:txBody>
          <a:bodyPr wrap="square" lIns="27432" rIns="27432" tIns="0" bIns="0">
            <a:spAutoFit/>
          </a:bodyPr>
          <a:lstStyle/>
          <a:p>
            <a:pPr>
              <a:spcAft>
                <a:spcPts val="800"/>
              </a:spcAft>
              <a:defRPr sz="1200" b="1">
                <a:solidFill>
                  <a:srgbClr val="7D2B42"/>
                </a:solidFill>
                <a:latin typeface="Montserrat"/>
              </a:defRPr>
            </a:pPr>
            <a:r>
              <a:t>SOURCE DELIVERABLES</a:t>
            </a:r>
          </a:p>
        </p:txBody>
      </p:sp>
      <p:sp>
        <p:nvSpPr>
          <p:cNvPr id="43" name="TextBox 42"/>
          <p:cNvSpPr txBox="1"/>
          <p:nvPr/>
        </p:nvSpPr>
        <p:spPr>
          <a:xfrm>
            <a:off x="6035040" y="3429000"/>
            <a:ext cx="7498079" cy="987552"/>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Scaling plan</a:t>
            </a:r>
          </a:p>
          <a:p>
            <a:pPr>
              <a:spcAft>
                <a:spcPts val="800"/>
              </a:spcAft>
              <a:defRPr sz="1600" b="0">
                <a:solidFill>
                  <a:srgbClr val="202020"/>
                </a:solidFill>
                <a:latin typeface="Montserrat"/>
              </a:defRPr>
            </a:pPr>
            <a:r>
              <a:t>Expansion roadmap</a:t>
            </a:r>
          </a:p>
          <a:p>
            <a:pPr>
              <a:spcAft>
                <a:spcPts val="800"/>
              </a:spcAft>
              <a:defRPr sz="1600" b="0">
                <a:solidFill>
                  <a:srgbClr val="202020"/>
                </a:solidFill>
                <a:latin typeface="Montserrat"/>
              </a:defRPr>
            </a:pPr>
            <a:r>
              <a:t>Sustainable growth objective</a:t>
            </a:r>
          </a:p>
        </p:txBody>
      </p:sp>
      <p:sp>
        <p:nvSpPr>
          <p:cNvPr id="44" name="TextBox 43"/>
          <p:cNvSpPr txBox="1"/>
          <p:nvPr/>
        </p:nvSpPr>
        <p:spPr>
          <a:xfrm>
            <a:off x="5852160" y="470916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PROPOSED POSITION OWNERSHIP</a:t>
            </a:r>
          </a:p>
        </p:txBody>
      </p:sp>
      <p:sp>
        <p:nvSpPr>
          <p:cNvPr id="45" name="TextBox 44"/>
          <p:cNvSpPr txBox="1"/>
          <p:nvPr/>
        </p:nvSpPr>
        <p:spPr>
          <a:xfrm>
            <a:off x="5852160" y="5166360"/>
            <a:ext cx="7863840" cy="114300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MM-01 leads scaling decisions; MB-01 proposes channel expansion and budget changes; AM-01 coordinates scope and client agreement. BD-01 / SA-01 support new commercial opportunities.</a:t>
            </a:r>
          </a:p>
        </p:txBody>
      </p:sp>
      <p:sp>
        <p:nvSpPr>
          <p:cNvPr id="46" name="TextBox 45"/>
          <p:cNvSpPr txBox="1"/>
          <p:nvPr/>
        </p:nvSpPr>
        <p:spPr>
          <a:xfrm>
            <a:off x="5852160" y="6400800"/>
            <a:ext cx="7863840" cy="274320"/>
          </a:xfrm>
          <a:prstGeom prst="rect">
            <a:avLst/>
          </a:prstGeom>
          <a:noFill/>
        </p:spPr>
        <p:txBody>
          <a:bodyPr wrap="square" lIns="27432" rIns="27432" tIns="0" bIns="0">
            <a:spAutoFit/>
          </a:bodyPr>
          <a:lstStyle/>
          <a:p>
            <a:pPr>
              <a:spcAft>
                <a:spcPts val="800"/>
              </a:spcAft>
              <a:defRPr sz="1100" b="1">
                <a:solidFill>
                  <a:srgbClr val="7D2B42"/>
                </a:solidFill>
                <a:latin typeface="Montserrat"/>
              </a:defRPr>
            </a:pPr>
            <a:r>
              <a:t>EXIT / NEXT HANDOFF</a:t>
            </a:r>
          </a:p>
        </p:txBody>
      </p:sp>
      <p:sp>
        <p:nvSpPr>
          <p:cNvPr id="47" name="TextBox 46"/>
          <p:cNvSpPr txBox="1"/>
          <p:nvPr/>
        </p:nvSpPr>
        <p:spPr>
          <a:xfrm>
            <a:off x="5852160" y="6784848"/>
            <a:ext cx="7863840" cy="777240"/>
          </a:xfrm>
          <a:prstGeom prst="rect">
            <a:avLst/>
          </a:prstGeom>
          <a:noFill/>
        </p:spPr>
        <p:txBody>
          <a:bodyPr wrap="square" lIns="27432" rIns="27432" tIns="0" bIns="0">
            <a:spAutoFit/>
          </a:bodyPr>
          <a:lstStyle/>
          <a:p>
            <a:pPr>
              <a:spcAft>
                <a:spcPts val="800"/>
              </a:spcAft>
              <a:defRPr sz="1200" b="0">
                <a:solidFill>
                  <a:srgbClr val="555555"/>
                </a:solidFill>
                <a:latin typeface="Montserrat"/>
              </a:defRPr>
            </a:pPr>
            <a:r>
              <a:t>Evidence supports expansion; authorized budget and revised scope are recorded. New markets / channels re-enter Discover. Sustainable growth is an objective, not a guaranteed result.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WHERE THE TASK WORKFLOWS FIT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377440"/>
            <a:ext cx="2514600" cy="54864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PRE-ENGAGEMENT</a:t>
            </a:r>
          </a:p>
        </p:txBody>
      </p:sp>
      <p:sp>
        <p:nvSpPr>
          <p:cNvPr id="38" name="TextBox 37"/>
          <p:cNvSpPr txBox="1"/>
          <p:nvPr/>
        </p:nvSpPr>
        <p:spPr>
          <a:xfrm>
            <a:off x="3749039" y="2212848"/>
            <a:ext cx="9966960" cy="36576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Growth Score™ / Audit™ → scope and commercial close</a:t>
            </a:r>
          </a:p>
        </p:txBody>
      </p:sp>
      <p:sp>
        <p:nvSpPr>
          <p:cNvPr id="39" name="TextBox 38"/>
          <p:cNvSpPr txBox="1"/>
          <p:nvPr/>
        </p:nvSpPr>
        <p:spPr>
          <a:xfrm>
            <a:off x="3749039" y="2651760"/>
            <a:ext cx="9966960" cy="36576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BD-01 / SA-01; strategic input MM-01</a:t>
            </a:r>
          </a:p>
        </p:txBody>
      </p:sp>
      <p:sp>
        <p:nvSpPr>
          <p:cNvPr id="40" name="Rectangle 39"/>
          <p:cNvSpPr/>
          <p:nvPr/>
        </p:nvSpPr>
        <p:spPr>
          <a:xfrm>
            <a:off x="731520" y="320040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8680" y="3383280"/>
            <a:ext cx="2514600" cy="54864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DISCOVER → DESIGN</a:t>
            </a:r>
          </a:p>
        </p:txBody>
      </p:sp>
      <p:sp>
        <p:nvSpPr>
          <p:cNvPr id="42" name="TextBox 41"/>
          <p:cNvSpPr txBox="1"/>
          <p:nvPr/>
        </p:nvSpPr>
        <p:spPr>
          <a:xfrm>
            <a:off x="3749039" y="3218688"/>
            <a:ext cx="9966960" cy="36576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Client onboarding, discovery, diagnosis and Growth Blueprint™</a:t>
            </a:r>
          </a:p>
        </p:txBody>
      </p:sp>
      <p:sp>
        <p:nvSpPr>
          <p:cNvPr id="43" name="TextBox 42"/>
          <p:cNvSpPr txBox="1"/>
          <p:nvPr/>
        </p:nvSpPr>
        <p:spPr>
          <a:xfrm>
            <a:off x="3749039" y="3657600"/>
            <a:ext cx="9966960" cy="36576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AM-01 coordinates; MM-01 leads; specialist leads contribute</a:t>
            </a:r>
          </a:p>
        </p:txBody>
      </p:sp>
      <p:sp>
        <p:nvSpPr>
          <p:cNvPr id="44" name="Rectangle 43"/>
          <p:cNvSpPr/>
          <p:nvPr/>
        </p:nvSpPr>
        <p:spPr>
          <a:xfrm>
            <a:off x="731520" y="420624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4389120"/>
            <a:ext cx="2514600" cy="54864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DEPLOY</a:t>
            </a:r>
          </a:p>
        </p:txBody>
      </p:sp>
      <p:sp>
        <p:nvSpPr>
          <p:cNvPr id="46" name="TextBox 45"/>
          <p:cNvSpPr txBox="1"/>
          <p:nvPr/>
        </p:nvSpPr>
        <p:spPr>
          <a:xfrm>
            <a:off x="3749039" y="4224527"/>
            <a:ext cx="9966960" cy="36576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Social post · Video reel · Monthly calendar · Carousel · Paid campaign</a:t>
            </a:r>
          </a:p>
        </p:txBody>
      </p:sp>
      <p:sp>
        <p:nvSpPr>
          <p:cNvPr id="47" name="TextBox 46"/>
          <p:cNvSpPr txBox="1"/>
          <p:nvPr/>
        </p:nvSpPr>
        <p:spPr>
          <a:xfrm>
            <a:off x="3749039" y="4663440"/>
            <a:ext cx="9966960" cy="36576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Content / Creative QC → client authorization → SM-01 / MB-01</a:t>
            </a:r>
          </a:p>
        </p:txBody>
      </p:sp>
      <p:sp>
        <p:nvSpPr>
          <p:cNvPr id="48" name="Rectangle 47"/>
          <p:cNvSpPr/>
          <p:nvPr/>
        </p:nvSpPr>
        <p:spPr>
          <a:xfrm>
            <a:off x="731520" y="521208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394960"/>
            <a:ext cx="2514600" cy="54864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DEPLOY ↔ OPTIMISE</a:t>
            </a:r>
          </a:p>
        </p:txBody>
      </p:sp>
      <p:sp>
        <p:nvSpPr>
          <p:cNvPr id="50" name="TextBox 49"/>
          <p:cNvSpPr txBox="1"/>
          <p:nvPr/>
        </p:nvSpPr>
        <p:spPr>
          <a:xfrm>
            <a:off x="3749039" y="5230368"/>
            <a:ext cx="9966960" cy="36576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Client revision · Urgent request</a:t>
            </a:r>
          </a:p>
        </p:txBody>
      </p:sp>
      <p:sp>
        <p:nvSpPr>
          <p:cNvPr id="51" name="TextBox 50"/>
          <p:cNvSpPr txBox="1"/>
          <p:nvPr/>
        </p:nvSpPr>
        <p:spPr>
          <a:xfrm>
            <a:off x="3749039" y="5669280"/>
            <a:ext cx="9966960" cy="36576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Route back to the correct stage; changed strategy returns to Design</a:t>
            </a:r>
          </a:p>
        </p:txBody>
      </p:sp>
      <p:sp>
        <p:nvSpPr>
          <p:cNvPr id="52" name="Rectangle 51"/>
          <p:cNvSpPr/>
          <p:nvPr/>
        </p:nvSpPr>
        <p:spPr>
          <a:xfrm>
            <a:off x="731520" y="6217920"/>
            <a:ext cx="2788920" cy="8229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68680" y="6400800"/>
            <a:ext cx="2514600" cy="54864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OPTIMISE → SCALE</a:t>
            </a:r>
          </a:p>
        </p:txBody>
      </p:sp>
      <p:sp>
        <p:nvSpPr>
          <p:cNvPr id="54" name="TextBox 53"/>
          <p:cNvSpPr txBox="1"/>
          <p:nvPr/>
        </p:nvSpPr>
        <p:spPr>
          <a:xfrm>
            <a:off x="3749039" y="6236208"/>
            <a:ext cx="9966960" cy="36576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Performance report → evidence-led expansion decision</a:t>
            </a:r>
          </a:p>
        </p:txBody>
      </p:sp>
      <p:sp>
        <p:nvSpPr>
          <p:cNvPr id="55" name="TextBox 54"/>
          <p:cNvSpPr txBox="1"/>
          <p:nvPr/>
        </p:nvSpPr>
        <p:spPr>
          <a:xfrm>
            <a:off x="3749039" y="6675120"/>
            <a:ext cx="9966960" cy="36576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Channel specialists → AM-01 → MM-01; budget and scope gates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23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ONE SYSTEM. INDUSTRY-SPECIFIC MODULES.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423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423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60604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HEALTHCARE GROWTH MODULE™</a:t>
            </a:r>
          </a:p>
        </p:txBody>
      </p:sp>
      <p:sp>
        <p:nvSpPr>
          <p:cNvPr id="39" name="TextBox 38"/>
          <p:cNvSpPr txBox="1"/>
          <p:nvPr/>
        </p:nvSpPr>
        <p:spPr>
          <a:xfrm>
            <a:off x="896112" y="350215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Patient journey · Medical authority</a:t>
            </a:r>
          </a:p>
          <a:p>
            <a:pPr>
              <a:spcAft>
                <a:spcPts val="800"/>
              </a:spcAft>
              <a:defRPr sz="1400" b="0">
                <a:solidFill>
                  <a:srgbClr val="555555"/>
                </a:solidFill>
                <a:latin typeface="Montserrat"/>
              </a:defRPr>
            </a:pPr>
            <a:r>
              <a:t>Appointment funnel · Referral system</a:t>
            </a:r>
          </a:p>
        </p:txBody>
      </p:sp>
      <p:sp>
        <p:nvSpPr>
          <p:cNvPr id="40" name="Rectangle 39"/>
          <p:cNvSpPr/>
          <p:nvPr/>
        </p:nvSpPr>
        <p:spPr>
          <a:xfrm>
            <a:off x="7543800" y="2423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423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60604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REAL ESTATE GROWTH MODULE™</a:t>
            </a:r>
          </a:p>
        </p:txBody>
      </p:sp>
      <p:sp>
        <p:nvSpPr>
          <p:cNvPr id="43" name="TextBox 42"/>
          <p:cNvSpPr txBox="1"/>
          <p:nvPr/>
        </p:nvSpPr>
        <p:spPr>
          <a:xfrm>
            <a:off x="7708392" y="350215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Buyer journey · Lead scoring</a:t>
            </a:r>
          </a:p>
          <a:p>
            <a:pPr>
              <a:spcAft>
                <a:spcPts val="800"/>
              </a:spcAft>
              <a:defRPr sz="1400" b="0">
                <a:solidFill>
                  <a:srgbClr val="555555"/>
                </a:solidFill>
                <a:latin typeface="Montserrat"/>
              </a:defRPr>
            </a:pPr>
            <a:r>
              <a:t>CRM · Sales pipeline</a:t>
            </a:r>
          </a:p>
        </p:txBody>
      </p:sp>
      <p:sp>
        <p:nvSpPr>
          <p:cNvPr id="44" name="Rectangle 43"/>
          <p:cNvSpPr/>
          <p:nvPr/>
        </p:nvSpPr>
        <p:spPr>
          <a:xfrm>
            <a:off x="731520" y="4709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709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89204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HOSPITALITY GROWTH MODULE™</a:t>
            </a:r>
          </a:p>
        </p:txBody>
      </p:sp>
      <p:sp>
        <p:nvSpPr>
          <p:cNvPr id="47" name="TextBox 46"/>
          <p:cNvSpPr txBox="1"/>
          <p:nvPr/>
        </p:nvSpPr>
        <p:spPr>
          <a:xfrm>
            <a:off x="896112" y="578815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Reservation funnel · Reviews</a:t>
            </a:r>
          </a:p>
          <a:p>
            <a:pPr>
              <a:spcAft>
                <a:spcPts val="800"/>
              </a:spcAft>
              <a:defRPr sz="1400" b="0">
                <a:solidFill>
                  <a:srgbClr val="555555"/>
                </a:solidFill>
                <a:latin typeface="Montserrat"/>
              </a:defRPr>
            </a:pPr>
            <a:r>
              <a:t>Loyalty · Retention</a:t>
            </a:r>
          </a:p>
        </p:txBody>
      </p:sp>
      <p:sp>
        <p:nvSpPr>
          <p:cNvPr id="48" name="Rectangle 47"/>
          <p:cNvSpPr/>
          <p:nvPr/>
        </p:nvSpPr>
        <p:spPr>
          <a:xfrm>
            <a:off x="7543800" y="470916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70916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89204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LUXURY BRAND MODULE™</a:t>
            </a:r>
          </a:p>
        </p:txBody>
      </p:sp>
      <p:sp>
        <p:nvSpPr>
          <p:cNvPr id="51" name="TextBox 50"/>
          <p:cNvSpPr txBox="1"/>
          <p:nvPr/>
        </p:nvSpPr>
        <p:spPr>
          <a:xfrm>
            <a:off x="7708392" y="578815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Brand experience · Storytelling</a:t>
            </a:r>
          </a:p>
          <a:p>
            <a:pPr>
              <a:spcAft>
                <a:spcPts val="800"/>
              </a:spcAft>
              <a:defRPr sz="1400" b="0">
                <a:solidFill>
                  <a:srgbClr val="555555"/>
                </a:solidFill>
                <a:latin typeface="Montserrat"/>
              </a:defRPr>
            </a:pPr>
            <a:r>
              <a:t>Community · Premium positioning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PMP GROWTH OS / INTEGRATED PROCESS</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FFFFFF"/>
                </a:solidFill>
                <a:latin typeface="Montserrat"/>
              </a:defRPr>
            </a:pPr>
            <a:r>
              <a:t>24</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FFFFFF"/>
                </a:solidFill>
                <a:latin typeface="Bebas Neue"/>
              </a:defRPr>
            </a:pPr>
            <a:r>
              <a:t>THE CONNECTED PMP GROWTH ARCHITECTURE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FFFFFF"/>
                </a:solidFill>
                <a:latin typeface="Montserrat"/>
              </a:defRPr>
            </a:pPr>
            <a:r>
              <a:t>EDITABLE WORKING DRAFT · OTHER REPORTING &amp; POLICIES PROPOSED</a:t>
            </a:r>
          </a:p>
        </p:txBody>
      </p:sp>
      <p:sp>
        <p:nvSpPr>
          <p:cNvPr id="36" name="Freeform 35"/>
          <p:cNvSpPr/>
          <p:nvPr/>
        </p:nvSpPr>
        <p:spPr>
          <a:xfrm>
            <a:off x="777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468880"/>
            <a:ext cx="3474720" cy="50292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OPEN THE RELATIONSHIP</a:t>
            </a:r>
          </a:p>
        </p:txBody>
      </p:sp>
      <p:sp>
        <p:nvSpPr>
          <p:cNvPr id="38" name="TextBox 37"/>
          <p:cNvSpPr txBox="1"/>
          <p:nvPr/>
        </p:nvSpPr>
        <p:spPr>
          <a:xfrm>
            <a:off x="960120" y="3108960"/>
            <a:ext cx="3474720" cy="91440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Growth Score™ + Audit™</a:t>
            </a:r>
          </a:p>
          <a:p>
            <a:pPr>
              <a:spcAft>
                <a:spcPts val="800"/>
              </a:spcAft>
              <a:defRPr sz="1700" b="0">
                <a:solidFill>
                  <a:srgbClr val="202020"/>
                </a:solidFill>
                <a:latin typeface="Montserrat"/>
              </a:defRPr>
            </a:pPr>
            <a:r>
              <a:t>Discover needs; qualify the opportunity.</a:t>
            </a:r>
          </a:p>
        </p:txBody>
      </p:sp>
      <p:sp>
        <p:nvSpPr>
          <p:cNvPr id="39" name="Freeform 38"/>
          <p:cNvSpPr/>
          <p:nvPr/>
        </p:nvSpPr>
        <p:spPr>
          <a:xfrm>
            <a:off x="5349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2468880"/>
            <a:ext cx="3474720" cy="50292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PLAN THE ENGAGEMENT</a:t>
            </a:r>
          </a:p>
        </p:txBody>
      </p:sp>
      <p:sp>
        <p:nvSpPr>
          <p:cNvPr id="41" name="TextBox 40"/>
          <p:cNvSpPr txBox="1"/>
          <p:nvPr/>
        </p:nvSpPr>
        <p:spPr>
          <a:xfrm>
            <a:off x="5532120" y="3108960"/>
            <a:ext cx="3474720" cy="91440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Growth Blueprint™</a:t>
            </a:r>
          </a:p>
          <a:p>
            <a:pPr>
              <a:spcAft>
                <a:spcPts val="800"/>
              </a:spcAft>
              <a:defRPr sz="1700" b="0">
                <a:solidFill>
                  <a:srgbClr val="202020"/>
                </a:solidFill>
                <a:latin typeface="Montserrat"/>
              </a:defRPr>
            </a:pPr>
            <a:r>
              <a:t>Align strategy, channels, KPIs and budget.</a:t>
            </a:r>
          </a:p>
        </p:txBody>
      </p:sp>
      <p:sp>
        <p:nvSpPr>
          <p:cNvPr id="42" name="Freeform 41"/>
          <p:cNvSpPr/>
          <p:nvPr/>
        </p:nvSpPr>
        <p:spPr>
          <a:xfrm>
            <a:off x="9921240" y="2286000"/>
            <a:ext cx="3840480" cy="1920240"/>
          </a:xfrm>
          <a:custGeom>
            <a:avLst/>
            <a:gdLst/>
            <a:ahLst/>
            <a:cxnLst/>
            <a:rect l="l" t="t" r="r" b="b"/>
            <a:pathLst>
              <a:path w="420" h="210">
                <a:moveTo>
                  <a:pt x="0" y="10"/>
                </a:moveTo>
                <a:lnTo>
                  <a:pt x="36" y="0"/>
                </a:lnTo>
                <a:lnTo>
                  <a:pt x="73" y="8"/>
                </a:lnTo>
                <a:lnTo>
                  <a:pt x="115" y="0"/>
                </a:lnTo>
                <a:lnTo>
                  <a:pt x="157" y="7"/>
                </a:lnTo>
                <a:lnTo>
                  <a:pt x="210" y="0"/>
                </a:lnTo>
                <a:lnTo>
                  <a:pt x="252" y="8"/>
                </a:lnTo>
                <a:lnTo>
                  <a:pt x="294" y="0"/>
                </a:lnTo>
                <a:lnTo>
                  <a:pt x="336" y="8"/>
                </a:lnTo>
                <a:lnTo>
                  <a:pt x="367" y="0"/>
                </a:lnTo>
                <a:lnTo>
                  <a:pt x="420" y="10"/>
                </a:lnTo>
                <a:lnTo>
                  <a:pt x="413" y="47"/>
                </a:lnTo>
                <a:lnTo>
                  <a:pt x="420" y="94"/>
                </a:lnTo>
                <a:lnTo>
                  <a:pt x="412" y="136"/>
                </a:lnTo>
                <a:lnTo>
                  <a:pt x="420" y="178"/>
                </a:lnTo>
                <a:lnTo>
                  <a:pt x="411" y="210"/>
                </a:lnTo>
                <a:lnTo>
                  <a:pt x="367" y="205"/>
                </a:lnTo>
                <a:lnTo>
                  <a:pt x="315" y="210"/>
                </a:lnTo>
                <a:lnTo>
                  <a:pt x="262" y="203"/>
                </a:lnTo>
                <a:lnTo>
                  <a:pt x="210" y="210"/>
                </a:lnTo>
                <a:lnTo>
                  <a:pt x="157" y="203"/>
                </a:lnTo>
                <a:lnTo>
                  <a:pt x="105" y="210"/>
                </a:lnTo>
                <a:lnTo>
                  <a:pt x="52" y="203"/>
                </a:lnTo>
                <a:lnTo>
                  <a:pt x="0" y="210"/>
                </a:lnTo>
                <a:lnTo>
                  <a:pt x="7" y="157"/>
                </a:lnTo>
                <a:lnTo>
                  <a:pt x="0" y="115"/>
                </a:lnTo>
                <a:lnTo>
                  <a:pt x="6" y="6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04119" y="2468880"/>
            <a:ext cx="3474720" cy="50292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LEARN &amp; COMPOUND</a:t>
            </a:r>
          </a:p>
        </p:txBody>
      </p:sp>
      <p:sp>
        <p:nvSpPr>
          <p:cNvPr id="44" name="TextBox 43"/>
          <p:cNvSpPr txBox="1"/>
          <p:nvPr/>
        </p:nvSpPr>
        <p:spPr>
          <a:xfrm>
            <a:off x="10104119" y="3108960"/>
            <a:ext cx="3474720" cy="91440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Dashboard™</a:t>
            </a:r>
          </a:p>
          <a:p>
            <a:pPr>
              <a:spcAft>
                <a:spcPts val="800"/>
              </a:spcAft>
              <a:defRPr sz="1700" b="0">
                <a:solidFill>
                  <a:srgbClr val="202020"/>
                </a:solidFill>
                <a:latin typeface="Montserrat"/>
              </a:defRPr>
            </a:pPr>
            <a:r>
              <a:t>Measure, optimise and inform scale.</a:t>
            </a:r>
          </a:p>
        </p:txBody>
      </p:sp>
      <p:cxnSp>
        <p:nvCxnSpPr>
          <p:cNvPr id="45" name="Connector 44"/>
          <p:cNvCxnSpPr/>
          <p:nvPr/>
        </p:nvCxnSpPr>
        <p:spPr>
          <a:xfrm>
            <a:off x="4617720" y="3200400"/>
            <a:ext cx="731520" cy="0"/>
          </a:xfrm>
          <a:prstGeom prst="line">
            <a:avLst/>
          </a:prstGeom>
          <a:ln w="38100">
            <a:solidFill>
              <a:srgbClr val="FFCC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89720" y="3200400"/>
            <a:ext cx="731520" cy="0"/>
          </a:xfrm>
          <a:prstGeom prst="line">
            <a:avLst/>
          </a:prstGeom>
          <a:ln w="38100">
            <a:solidFill>
              <a:srgbClr val="FFCC00"/>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822960" y="4846320"/>
            <a:ext cx="12984480" cy="64008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5029200"/>
            <a:ext cx="12618720" cy="36576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GROWTH OS™ / Discover → Diagnose → Design → Deploy → Optimise → Scale</a:t>
            </a:r>
          </a:p>
        </p:txBody>
      </p:sp>
      <p:sp>
        <p:nvSpPr>
          <p:cNvPr id="49" name="TextBox 48"/>
          <p:cNvSpPr txBox="1"/>
          <p:nvPr/>
        </p:nvSpPr>
        <p:spPr>
          <a:xfrm>
            <a:off x="914400" y="5989320"/>
            <a:ext cx="12710160" cy="777240"/>
          </a:xfrm>
          <a:prstGeom prst="rect">
            <a:avLst/>
          </a:prstGeom>
          <a:noFill/>
        </p:spPr>
        <p:txBody>
          <a:bodyPr wrap="square" lIns="27432" rIns="27432" tIns="0" bIns="0">
            <a:spAutoFit/>
          </a:bodyPr>
          <a:lstStyle/>
          <a:p>
            <a:pPr>
              <a:spcAft>
                <a:spcPts val="800"/>
              </a:spcAft>
              <a:defRPr sz="2300" b="0">
                <a:solidFill>
                  <a:srgbClr val="FFFFFF"/>
                </a:solidFill>
                <a:latin typeface="Montserrat"/>
              </a:defRPr>
            </a:pPr>
            <a:r>
              <a:t>Playbooks™ make execution repeatable. Academy™ develops team capability across every stage.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7D2B42"/>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8C405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FFFFFF"/>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FFFFFF"/>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FFFFFF"/>
                </a:solidFill>
                <a:latin typeface="Montserrat"/>
              </a:defRPr>
            </a:pPr>
            <a:r>
              <a:t>07</a:t>
            </a:r>
          </a:p>
        </p:txBody>
      </p:sp>
      <p:cxnSp>
        <p:nvCxnSpPr>
          <p:cNvPr id="32" name="Connector 31"/>
          <p:cNvCxnSpPr/>
          <p:nvPr/>
        </p:nvCxnSpPr>
        <p:spPr>
          <a:xfrm>
            <a:off x="594360" y="841248"/>
            <a:ext cx="13441680" cy="0"/>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FFFFFF"/>
                </a:solidFill>
                <a:latin typeface="Bebas Neue"/>
              </a:defRPr>
            </a:pPr>
            <a:r>
              <a:t>THE ACCOUNT MANAGER / DISTRIBUTE, TRACK, GATHER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FFFFFF"/>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FFFFFF"/>
                </a:solidFill>
                <a:latin typeface="Montserrat"/>
              </a:defRPr>
            </a:pPr>
            <a:r>
              <a:t>EDITABLE WORKING DRAFT · OTHER REPORTING &amp; POLICIES PROPOSED</a:t>
            </a:r>
          </a:p>
        </p:txBody>
      </p:sp>
      <p:sp>
        <p:nvSpPr>
          <p:cNvPr id="36" name="Freeform 35"/>
          <p:cNvSpPr/>
          <p:nvPr/>
        </p:nvSpPr>
        <p:spPr>
          <a:xfrm>
            <a:off x="731520" y="2286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514600"/>
            <a:ext cx="5943600" cy="54864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01 / CLIENT MEETING</a:t>
            </a:r>
          </a:p>
        </p:txBody>
      </p:sp>
      <p:sp>
        <p:nvSpPr>
          <p:cNvPr id="38" name="TextBox 37"/>
          <p:cNvSpPr txBox="1"/>
          <p:nvPr/>
        </p:nvSpPr>
        <p:spPr>
          <a:xfrm>
            <a:off x="960120" y="3200400"/>
            <a:ext cx="5943600" cy="9601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Attend the meeting, collect requirements and write the client brief.</a:t>
            </a:r>
          </a:p>
        </p:txBody>
      </p:sp>
      <p:sp>
        <p:nvSpPr>
          <p:cNvPr id="39" name="Freeform 38"/>
          <p:cNvSpPr/>
          <p:nvPr/>
        </p:nvSpPr>
        <p:spPr>
          <a:xfrm>
            <a:off x="7543800" y="2286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0" y="2514600"/>
            <a:ext cx="5943600" cy="54864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02 / TASK DISTRIBUTION</a:t>
            </a:r>
          </a:p>
        </p:txBody>
      </p:sp>
      <p:sp>
        <p:nvSpPr>
          <p:cNvPr id="41" name="TextBox 40"/>
          <p:cNvSpPr txBox="1"/>
          <p:nvPr/>
        </p:nvSpPr>
        <p:spPr>
          <a:xfrm>
            <a:off x="7772400" y="3200400"/>
            <a:ext cx="5943600" cy="9601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Send briefs to Content, Design and Editing; identify accountable task holders.</a:t>
            </a:r>
          </a:p>
        </p:txBody>
      </p:sp>
      <p:sp>
        <p:nvSpPr>
          <p:cNvPr id="42" name="Freeform 41"/>
          <p:cNvSpPr/>
          <p:nvPr/>
        </p:nvSpPr>
        <p:spPr>
          <a:xfrm>
            <a:off x="731520" y="4572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800600"/>
            <a:ext cx="5943600" cy="54864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03 / EXECUTION FOLLOW-UP</a:t>
            </a:r>
          </a:p>
        </p:txBody>
      </p:sp>
      <p:sp>
        <p:nvSpPr>
          <p:cNvPr id="44" name="TextBox 43"/>
          <p:cNvSpPr txBox="1"/>
          <p:nvPr/>
        </p:nvSpPr>
        <p:spPr>
          <a:xfrm>
            <a:off x="960120" y="5486400"/>
            <a:ext cx="5943600" cy="9601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Monitor progress, dates, missing inputs and comments until work is finalized.</a:t>
            </a:r>
          </a:p>
        </p:txBody>
      </p:sp>
      <p:sp>
        <p:nvSpPr>
          <p:cNvPr id="45" name="Freeform 44"/>
          <p:cNvSpPr/>
          <p:nvPr/>
        </p:nvSpPr>
        <p:spPr>
          <a:xfrm>
            <a:off x="7543800" y="4572000"/>
            <a:ext cx="6400800" cy="2011680"/>
          </a:xfrm>
          <a:custGeom>
            <a:avLst/>
            <a:gdLst/>
            <a:ahLst/>
            <a:cxnLst/>
            <a:rect l="l" t="t" r="r" b="b"/>
            <a:pathLst>
              <a:path w="700" h="220">
                <a:moveTo>
                  <a:pt x="0" y="11"/>
                </a:moveTo>
                <a:lnTo>
                  <a:pt x="61" y="0"/>
                </a:lnTo>
                <a:lnTo>
                  <a:pt x="122" y="8"/>
                </a:lnTo>
                <a:lnTo>
                  <a:pt x="192" y="0"/>
                </a:lnTo>
                <a:lnTo>
                  <a:pt x="262" y="7"/>
                </a:lnTo>
                <a:lnTo>
                  <a:pt x="350" y="0"/>
                </a:lnTo>
                <a:lnTo>
                  <a:pt x="420" y="8"/>
                </a:lnTo>
                <a:lnTo>
                  <a:pt x="490" y="0"/>
                </a:lnTo>
                <a:lnTo>
                  <a:pt x="560" y="8"/>
                </a:lnTo>
                <a:lnTo>
                  <a:pt x="612" y="0"/>
                </a:lnTo>
                <a:lnTo>
                  <a:pt x="700" y="11"/>
                </a:lnTo>
                <a:lnTo>
                  <a:pt x="689" y="49"/>
                </a:lnTo>
                <a:lnTo>
                  <a:pt x="700" y="99"/>
                </a:lnTo>
                <a:lnTo>
                  <a:pt x="687" y="143"/>
                </a:lnTo>
                <a:lnTo>
                  <a:pt x="700" y="187"/>
                </a:lnTo>
                <a:lnTo>
                  <a:pt x="686" y="220"/>
                </a:lnTo>
                <a:lnTo>
                  <a:pt x="612" y="215"/>
                </a:lnTo>
                <a:lnTo>
                  <a:pt x="525" y="220"/>
                </a:lnTo>
                <a:lnTo>
                  <a:pt x="437" y="213"/>
                </a:lnTo>
                <a:lnTo>
                  <a:pt x="350" y="220"/>
                </a:lnTo>
                <a:lnTo>
                  <a:pt x="262" y="213"/>
                </a:lnTo>
                <a:lnTo>
                  <a:pt x="175" y="220"/>
                </a:lnTo>
                <a:lnTo>
                  <a:pt x="87" y="213"/>
                </a:lnTo>
                <a:lnTo>
                  <a:pt x="0" y="220"/>
                </a:lnTo>
                <a:lnTo>
                  <a:pt x="12" y="165"/>
                </a:lnTo>
                <a:lnTo>
                  <a:pt x="0" y="121"/>
                </a:lnTo>
                <a:lnTo>
                  <a:pt x="10" y="66"/>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0" y="4800600"/>
            <a:ext cx="5943600" cy="54864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04 / CLIENT PRESENTATION</a:t>
            </a:r>
          </a:p>
        </p:txBody>
      </p:sp>
      <p:sp>
        <p:nvSpPr>
          <p:cNvPr id="47" name="TextBox 46"/>
          <p:cNvSpPr txBox="1"/>
          <p:nvPr/>
        </p:nvSpPr>
        <p:spPr>
          <a:xfrm>
            <a:off x="7772400" y="5486400"/>
            <a:ext cx="5943600" cy="96012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Gather approved tasks into one PPTX, present to client and record final approval.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08</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THE CONFIRMED APPROVAL &amp; PUBLICATION CHAIN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48840"/>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2276856"/>
            <a:ext cx="3017520" cy="36576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1 / BRIEF</a:t>
            </a:r>
          </a:p>
        </p:txBody>
      </p:sp>
      <p:sp>
        <p:nvSpPr>
          <p:cNvPr id="38" name="TextBox 37"/>
          <p:cNvSpPr txBox="1"/>
          <p:nvPr/>
        </p:nvSpPr>
        <p:spPr>
          <a:xfrm>
            <a:off x="4251960" y="2221992"/>
            <a:ext cx="9509760" cy="50292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Account Manager meets client, writes brief and distributes tasks.</a:t>
            </a:r>
          </a:p>
        </p:txBody>
      </p:sp>
      <p:sp>
        <p:nvSpPr>
          <p:cNvPr id="39" name="Rectangle 38"/>
          <p:cNvSpPr/>
          <p:nvPr/>
        </p:nvSpPr>
        <p:spPr>
          <a:xfrm>
            <a:off x="731520" y="2871216"/>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2999232"/>
            <a:ext cx="3017520" cy="36576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2 / EXECUTE</a:t>
            </a:r>
          </a:p>
        </p:txBody>
      </p:sp>
      <p:sp>
        <p:nvSpPr>
          <p:cNvPr id="41" name="TextBox 40"/>
          <p:cNvSpPr txBox="1"/>
          <p:nvPr/>
        </p:nvSpPr>
        <p:spPr>
          <a:xfrm>
            <a:off x="4251960" y="2944368"/>
            <a:ext cx="9509760" cy="50292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One accountable task holder executes each assigned deliverable.</a:t>
            </a:r>
          </a:p>
        </p:txBody>
      </p:sp>
      <p:sp>
        <p:nvSpPr>
          <p:cNvPr id="42" name="Rectangle 41"/>
          <p:cNvSpPr/>
          <p:nvPr/>
        </p:nvSpPr>
        <p:spPr>
          <a:xfrm>
            <a:off x="731520" y="3593592"/>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8680" y="3721608"/>
            <a:ext cx="3017520" cy="36576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3 / QUALITY</a:t>
            </a:r>
          </a:p>
        </p:txBody>
      </p:sp>
      <p:sp>
        <p:nvSpPr>
          <p:cNvPr id="44" name="TextBox 43"/>
          <p:cNvSpPr txBox="1"/>
          <p:nvPr/>
        </p:nvSpPr>
        <p:spPr>
          <a:xfrm>
            <a:off x="4251960" y="3666744"/>
            <a:ext cx="9509760" cy="50292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Content head / Design head review quality. Marketing Manager reviews video quality.</a:t>
            </a:r>
          </a:p>
        </p:txBody>
      </p:sp>
      <p:sp>
        <p:nvSpPr>
          <p:cNvPr id="45" name="Rectangle 44"/>
          <p:cNvSpPr/>
          <p:nvPr/>
        </p:nvSpPr>
        <p:spPr>
          <a:xfrm>
            <a:off x="731520" y="4315968"/>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4443984"/>
            <a:ext cx="3017520" cy="36576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4 / INTERNAL APPROVAL</a:t>
            </a:r>
          </a:p>
        </p:txBody>
      </p:sp>
      <p:sp>
        <p:nvSpPr>
          <p:cNvPr id="47" name="TextBox 46"/>
          <p:cNvSpPr txBox="1"/>
          <p:nvPr/>
        </p:nvSpPr>
        <p:spPr>
          <a:xfrm>
            <a:off x="4251960" y="4389120"/>
            <a:ext cx="9509760" cy="50292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Marketing Manager approves after quality review; unresolved comments block this gate.</a:t>
            </a:r>
          </a:p>
        </p:txBody>
      </p:sp>
      <p:sp>
        <p:nvSpPr>
          <p:cNvPr id="48" name="Rectangle 47"/>
          <p:cNvSpPr/>
          <p:nvPr/>
        </p:nvSpPr>
        <p:spPr>
          <a:xfrm>
            <a:off x="731520" y="5038344"/>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8680" y="5166359"/>
            <a:ext cx="3017520" cy="36576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5 / ONE CLIENT PPTX</a:t>
            </a:r>
          </a:p>
        </p:txBody>
      </p:sp>
      <p:sp>
        <p:nvSpPr>
          <p:cNvPr id="50" name="TextBox 49"/>
          <p:cNvSpPr txBox="1"/>
          <p:nvPr/>
        </p:nvSpPr>
        <p:spPr>
          <a:xfrm>
            <a:off x="4251960" y="5111496"/>
            <a:ext cx="9509760" cy="50292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Account Manager gathers finalized work into one presentation and presents it.</a:t>
            </a:r>
          </a:p>
        </p:txBody>
      </p:sp>
      <p:sp>
        <p:nvSpPr>
          <p:cNvPr id="51" name="Rectangle 50"/>
          <p:cNvSpPr/>
          <p:nvPr/>
        </p:nvSpPr>
        <p:spPr>
          <a:xfrm>
            <a:off x="731520" y="5760720"/>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8680" y="5888736"/>
            <a:ext cx="3017520" cy="36576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6 / FINAL CLIENT APPROVAL</a:t>
            </a:r>
          </a:p>
        </p:txBody>
      </p:sp>
      <p:sp>
        <p:nvSpPr>
          <p:cNvPr id="53" name="TextBox 52"/>
          <p:cNvSpPr txBox="1"/>
          <p:nvPr/>
        </p:nvSpPr>
        <p:spPr>
          <a:xfrm>
            <a:off x="4251960" y="5833872"/>
            <a:ext cx="9509760" cy="50292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Client approves the presentation. Any rejection returns affected tasks for revision.</a:t>
            </a:r>
          </a:p>
        </p:txBody>
      </p:sp>
      <p:sp>
        <p:nvSpPr>
          <p:cNvPr id="54" name="Rectangle 53"/>
          <p:cNvSpPr/>
          <p:nvPr/>
        </p:nvSpPr>
        <p:spPr>
          <a:xfrm>
            <a:off x="731520" y="6483096"/>
            <a:ext cx="3291840" cy="585216"/>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8680" y="6611112"/>
            <a:ext cx="3017520" cy="365760"/>
          </a:xfrm>
          <a:prstGeom prst="rect">
            <a:avLst/>
          </a:prstGeom>
          <a:noFill/>
        </p:spPr>
        <p:txBody>
          <a:bodyPr wrap="square" lIns="27432" rIns="27432" tIns="0" bIns="0">
            <a:spAutoFit/>
          </a:bodyPr>
          <a:lstStyle/>
          <a:p>
            <a:pPr>
              <a:spcAft>
                <a:spcPts val="800"/>
              </a:spcAft>
              <a:defRPr sz="1200" b="1">
                <a:solidFill>
                  <a:srgbClr val="FFFFFF"/>
                </a:solidFill>
                <a:latin typeface="Montserrat"/>
              </a:defRPr>
            </a:pPr>
            <a:r>
              <a:t>7 / SOCIAL PUBLICATION</a:t>
            </a:r>
          </a:p>
        </p:txBody>
      </p:sp>
      <p:sp>
        <p:nvSpPr>
          <p:cNvPr id="56" name="TextBox 55"/>
          <p:cNvSpPr txBox="1"/>
          <p:nvPr/>
        </p:nvSpPr>
        <p:spPr>
          <a:xfrm>
            <a:off x="4251960" y="6556248"/>
            <a:ext cx="9509760" cy="502920"/>
          </a:xfrm>
          <a:prstGeom prst="rect">
            <a:avLst/>
          </a:prstGeom>
          <a:noFill/>
        </p:spPr>
        <p:txBody>
          <a:bodyPr wrap="square" lIns="27432" rIns="27432" tIns="0" bIns="0">
            <a:spAutoFit/>
          </a:bodyPr>
          <a:lstStyle/>
          <a:p>
            <a:pPr>
              <a:spcAft>
                <a:spcPts val="800"/>
              </a:spcAft>
              <a:defRPr sz="1500" b="0">
                <a:solidFill>
                  <a:srgbClr val="202020"/>
                </a:solidFill>
                <a:latin typeface="Montserrat"/>
              </a:defRPr>
            </a:pPr>
            <a:r>
              <a:t>Account Manager hands approved PPTX to Social Media Specialist to schedule and publish.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09</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COMMENTS KEEP THE TASK OPEN</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REVIEWERS WRITE COMMENTS</a:t>
            </a:r>
          </a:p>
        </p:txBody>
      </p:sp>
      <p:sp>
        <p:nvSpPr>
          <p:cNvPr id="39" name="TextBox 38"/>
          <p:cNvSpPr txBox="1"/>
          <p:nvPr/>
        </p:nvSpPr>
        <p:spPr>
          <a:xfrm>
            <a:off x="896112" y="3456432"/>
            <a:ext cx="4059935" cy="2377439"/>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Account Manager, Marketing Manager and the relevant head record actionable feedback.</a:t>
            </a:r>
          </a:p>
        </p:txBody>
      </p:sp>
      <p:sp>
        <p:nvSpPr>
          <p:cNvPr id="40" name="Rectangle 39"/>
          <p:cNvSpPr/>
          <p:nvPr/>
        </p:nvSpPr>
        <p:spPr>
          <a:xfrm>
            <a:off x="5394959"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HOLDER EXECUTES COMMENTS</a:t>
            </a:r>
          </a:p>
        </p:txBody>
      </p:sp>
      <p:sp>
        <p:nvSpPr>
          <p:cNvPr id="43" name="TextBox 42"/>
          <p:cNvSpPr txBox="1"/>
          <p:nvPr/>
        </p:nvSpPr>
        <p:spPr>
          <a:xfrm>
            <a:off x="5559551" y="3456432"/>
            <a:ext cx="4059935" cy="2377439"/>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The accountable task holder implements each comment and records the execution response.</a:t>
            </a:r>
          </a:p>
        </p:txBody>
      </p:sp>
      <p:sp>
        <p:nvSpPr>
          <p:cNvPr id="44" name="Rectangle 43"/>
          <p:cNvSpPr/>
          <p:nvPr/>
        </p:nvSpPr>
        <p:spPr>
          <a:xfrm>
            <a:off x="10058400" y="2377440"/>
            <a:ext cx="4389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56616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REVIEW AGAIN — THEN COLLECT</a:t>
            </a:r>
          </a:p>
        </p:txBody>
      </p:sp>
      <p:sp>
        <p:nvSpPr>
          <p:cNvPr id="47" name="TextBox 46"/>
          <p:cNvSpPr txBox="1"/>
          <p:nvPr/>
        </p:nvSpPr>
        <p:spPr>
          <a:xfrm>
            <a:off x="10222992" y="3456432"/>
            <a:ext cx="4059935" cy="2377439"/>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Return to quality review and Marketing Manager approval. AM collects only finalized work.</a:t>
            </a:r>
          </a:p>
        </p:txBody>
      </p:sp>
      <p:sp>
        <p:nvSpPr>
          <p:cNvPr id="48" name="Rectangle 47"/>
          <p:cNvSpPr/>
          <p:nvPr/>
        </p:nvSpPr>
        <p:spPr>
          <a:xfrm>
            <a:off x="822960" y="6446520"/>
            <a:ext cx="12984480" cy="73152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5840" y="6592824"/>
            <a:ext cx="12618720" cy="502920"/>
          </a:xfrm>
          <a:prstGeom prst="rect">
            <a:avLst/>
          </a:prstGeom>
          <a:noFill/>
        </p:spPr>
        <p:txBody>
          <a:bodyPr wrap="square" lIns="27432" rIns="27432" tIns="0" bIns="0">
            <a:spAutoFit/>
          </a:bodyPr>
          <a:lstStyle/>
          <a:p>
            <a:pPr>
              <a:spcAft>
                <a:spcPts val="800"/>
              </a:spcAft>
              <a:defRPr sz="1600" b="1">
                <a:solidFill>
                  <a:srgbClr val="7D2B42"/>
                </a:solidFill>
                <a:latin typeface="Montserrat"/>
              </a:defRPr>
            </a:pPr>
            <a:r>
              <a:t>A task being produced is not the same as a task being approved. Revisions reopen the work and invalidate the affected client presentation.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13</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SOCIAL MEDIA SPECIALIST / PRIVATE-LABEL OPERATIONS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2316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CALENDAR CONTROL</a:t>
            </a:r>
          </a:p>
        </p:txBody>
      </p:sp>
      <p:sp>
        <p:nvSpPr>
          <p:cNvPr id="39" name="TextBox 38"/>
          <p:cNvSpPr txBox="1"/>
          <p:nvPr/>
        </p:nvSpPr>
        <p:spPr>
          <a:xfrm>
            <a:off x="896112" y="3319272"/>
            <a:ext cx="4059935" cy="9601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Gather all private-label calendars and consolidate publishing requirements.</a:t>
            </a:r>
          </a:p>
        </p:txBody>
      </p:sp>
      <p:sp>
        <p:nvSpPr>
          <p:cNvPr id="40" name="Rectangle 39"/>
          <p:cNvSpPr/>
          <p:nvPr/>
        </p:nvSpPr>
        <p:spPr>
          <a:xfrm>
            <a:off x="5394959"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42316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STRATEGY</a:t>
            </a:r>
          </a:p>
        </p:txBody>
      </p:sp>
      <p:sp>
        <p:nvSpPr>
          <p:cNvPr id="43" name="TextBox 42"/>
          <p:cNvSpPr txBox="1"/>
          <p:nvPr/>
        </p:nvSpPr>
        <p:spPr>
          <a:xfrm>
            <a:off x="5559551" y="3319272"/>
            <a:ext cx="4059935" cy="9601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Create social strategies informed by the account objectives and audience insights.</a:t>
            </a:r>
          </a:p>
        </p:txBody>
      </p:sp>
      <p:sp>
        <p:nvSpPr>
          <p:cNvPr id="44" name="Rectangle 43"/>
          <p:cNvSpPr/>
          <p:nvPr/>
        </p:nvSpPr>
        <p:spPr>
          <a:xfrm>
            <a:off x="10058400" y="224028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24028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42316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REPORTING</a:t>
            </a:r>
          </a:p>
        </p:txBody>
      </p:sp>
      <p:sp>
        <p:nvSpPr>
          <p:cNvPr id="47" name="TextBox 46"/>
          <p:cNvSpPr txBox="1"/>
          <p:nvPr/>
        </p:nvSpPr>
        <p:spPr>
          <a:xfrm>
            <a:off x="10222992" y="3319272"/>
            <a:ext cx="4059935" cy="9601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Create performance reports and social listening reports.</a:t>
            </a:r>
          </a:p>
        </p:txBody>
      </p:sp>
      <p:sp>
        <p:nvSpPr>
          <p:cNvPr id="48" name="Rectangle 47"/>
          <p:cNvSpPr/>
          <p:nvPr/>
        </p:nvSpPr>
        <p:spPr>
          <a:xfrm>
            <a:off x="731520"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1520"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 y="4846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PUBLISH &amp; SCHEDULE</a:t>
            </a:r>
          </a:p>
        </p:txBody>
      </p:sp>
      <p:sp>
        <p:nvSpPr>
          <p:cNvPr id="51" name="TextBox 50"/>
          <p:cNvSpPr txBox="1"/>
          <p:nvPr/>
        </p:nvSpPr>
        <p:spPr>
          <a:xfrm>
            <a:off x="896112" y="5742431"/>
            <a:ext cx="4059935" cy="9601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Receive the client-approved PPTX, schedule calendars and publish approved content.</a:t>
            </a:r>
          </a:p>
        </p:txBody>
      </p:sp>
      <p:sp>
        <p:nvSpPr>
          <p:cNvPr id="52" name="Rectangle 51"/>
          <p:cNvSpPr/>
          <p:nvPr/>
        </p:nvSpPr>
        <p:spPr>
          <a:xfrm>
            <a:off x="5394959"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394959"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59551" y="4846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COMMUNITY REPLIES</a:t>
            </a:r>
          </a:p>
        </p:txBody>
      </p:sp>
      <p:sp>
        <p:nvSpPr>
          <p:cNvPr id="55" name="TextBox 54"/>
          <p:cNvSpPr txBox="1"/>
          <p:nvPr/>
        </p:nvSpPr>
        <p:spPr>
          <a:xfrm>
            <a:off x="5559551" y="5742431"/>
            <a:ext cx="4059935" cy="9601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Reply to comments on the private-label pages.</a:t>
            </a:r>
          </a:p>
        </p:txBody>
      </p:sp>
      <p:sp>
        <p:nvSpPr>
          <p:cNvPr id="56" name="Rectangle 55"/>
          <p:cNvSpPr/>
          <p:nvPr/>
        </p:nvSpPr>
        <p:spPr>
          <a:xfrm>
            <a:off x="10058400" y="4663440"/>
            <a:ext cx="438912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058400" y="4663440"/>
            <a:ext cx="54864" cy="21488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22992" y="4846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FEEDBACK LOOP</a:t>
            </a:r>
          </a:p>
        </p:txBody>
      </p:sp>
      <p:sp>
        <p:nvSpPr>
          <p:cNvPr id="59" name="TextBox 58"/>
          <p:cNvSpPr txBox="1"/>
          <p:nvPr/>
        </p:nvSpPr>
        <p:spPr>
          <a:xfrm>
            <a:off x="10222992" y="5742431"/>
            <a:ext cx="4059935" cy="9601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Return performance and listening findings to the Account Manager and Marketing Manager.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TASK SHEET / THE STRUCTURE BEHIND THE WORK</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240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240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42316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ASSIGNMENT</a:t>
            </a:r>
          </a:p>
        </p:txBody>
      </p:sp>
      <p:sp>
        <p:nvSpPr>
          <p:cNvPr id="39" name="TextBox 38"/>
          <p:cNvSpPr txBox="1"/>
          <p:nvPr/>
        </p:nvSpPr>
        <p:spPr>
          <a:xfrm>
            <a:off x="896112" y="331927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Date · Account / private label · Task / content · Task brief · Priority · Task holder</a:t>
            </a:r>
          </a:p>
        </p:txBody>
      </p:sp>
      <p:sp>
        <p:nvSpPr>
          <p:cNvPr id="40" name="Rectangle 39"/>
          <p:cNvSpPr/>
          <p:nvPr/>
        </p:nvSpPr>
        <p:spPr>
          <a:xfrm>
            <a:off x="7543800" y="2240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43800" y="2240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08392" y="242316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EXECUTION</a:t>
            </a:r>
          </a:p>
        </p:txBody>
      </p:sp>
      <p:sp>
        <p:nvSpPr>
          <p:cNvPr id="43" name="TextBox 42"/>
          <p:cNvSpPr txBox="1"/>
          <p:nvPr/>
        </p:nvSpPr>
        <p:spPr>
          <a:xfrm>
            <a:off x="7708392" y="331927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Status · Deadline · Start date · End date · Deliverable link</a:t>
            </a:r>
          </a:p>
        </p:txBody>
      </p:sp>
      <p:sp>
        <p:nvSpPr>
          <p:cNvPr id="44" name="Rectangle 43"/>
          <p:cNvSpPr/>
          <p:nvPr/>
        </p:nvSpPr>
        <p:spPr>
          <a:xfrm>
            <a:off x="731520" y="4526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1520" y="4526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112" y="470916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REVIEW &amp; REVISIONS</a:t>
            </a:r>
          </a:p>
        </p:txBody>
      </p:sp>
      <p:sp>
        <p:nvSpPr>
          <p:cNvPr id="47" name="TextBox 46"/>
          <p:cNvSpPr txBox="1"/>
          <p:nvPr/>
        </p:nvSpPr>
        <p:spPr>
          <a:xfrm>
            <a:off x="896112" y="560527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Reviewer notes · Task-holder notes · Creative file · Revision / edits file</a:t>
            </a:r>
          </a:p>
        </p:txBody>
      </p:sp>
      <p:sp>
        <p:nvSpPr>
          <p:cNvPr id="48" name="Rectangle 47"/>
          <p:cNvSpPr/>
          <p:nvPr/>
        </p:nvSpPr>
        <p:spPr>
          <a:xfrm>
            <a:off x="7543800" y="4526280"/>
            <a:ext cx="640080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543800" y="4526280"/>
            <a:ext cx="54864" cy="201168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08392" y="4709160"/>
            <a:ext cx="6071616"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FOLLOW-UP</a:t>
            </a:r>
          </a:p>
        </p:txBody>
      </p:sp>
      <p:sp>
        <p:nvSpPr>
          <p:cNvPr id="51" name="TextBox 50"/>
          <p:cNvSpPr txBox="1"/>
          <p:nvPr/>
        </p:nvSpPr>
        <p:spPr>
          <a:xfrm>
            <a:off x="7708392" y="5605272"/>
            <a:ext cx="6071616" cy="82296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AM reminders and execution monitoring; Daily Finished Tasks are an activity log, not approval evidence.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OPERATING WORKFLOW</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STATUS LABELS / KEEP APPROVAL EVIDENCE SEPARATE</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240280"/>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377440"/>
            <a:ext cx="3566160" cy="548640"/>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Not started / In progress</a:t>
            </a:r>
          </a:p>
        </p:txBody>
      </p:sp>
      <p:sp>
        <p:nvSpPr>
          <p:cNvPr id="38" name="TextBox 37"/>
          <p:cNvSpPr txBox="1"/>
          <p:nvPr/>
        </p:nvSpPr>
        <p:spPr>
          <a:xfrm>
            <a:off x="5029200" y="2313432"/>
            <a:ext cx="8778240" cy="68580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Work stage: queued or executing.</a:t>
            </a:r>
          </a:p>
        </p:txBody>
      </p:sp>
      <p:sp>
        <p:nvSpPr>
          <p:cNvPr id="39" name="Rectangle 38"/>
          <p:cNvSpPr/>
          <p:nvPr/>
        </p:nvSpPr>
        <p:spPr>
          <a:xfrm>
            <a:off x="777240" y="3182112"/>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3319272"/>
            <a:ext cx="3566160" cy="548640"/>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In review / Under review</a:t>
            </a:r>
          </a:p>
        </p:txBody>
      </p:sp>
      <p:sp>
        <p:nvSpPr>
          <p:cNvPr id="41" name="TextBox 40"/>
          <p:cNvSpPr txBox="1"/>
          <p:nvPr/>
        </p:nvSpPr>
        <p:spPr>
          <a:xfrm>
            <a:off x="5029200" y="3255264"/>
            <a:ext cx="8778240" cy="68580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Review is pending. The reviewer and review layer must be recorded.</a:t>
            </a:r>
          </a:p>
        </p:txBody>
      </p:sp>
      <p:sp>
        <p:nvSpPr>
          <p:cNvPr id="42" name="Rectangle 41"/>
          <p:cNvSpPr/>
          <p:nvPr/>
        </p:nvSpPr>
        <p:spPr>
          <a:xfrm>
            <a:off x="777240" y="4123944"/>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0120" y="4261104"/>
            <a:ext cx="3566160" cy="548640"/>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First approval / Final approval</a:t>
            </a:r>
          </a:p>
        </p:txBody>
      </p:sp>
      <p:sp>
        <p:nvSpPr>
          <p:cNvPr id="44" name="TextBox 43"/>
          <p:cNvSpPr txBox="1"/>
          <p:nvPr/>
        </p:nvSpPr>
        <p:spPr>
          <a:xfrm>
            <a:off x="5029200" y="4197096"/>
            <a:ext cx="8778240" cy="68580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Existing workbook labels. Do not infer the approving actor or client authorization from the label alone.</a:t>
            </a:r>
          </a:p>
        </p:txBody>
      </p:sp>
      <p:sp>
        <p:nvSpPr>
          <p:cNvPr id="45" name="Rectangle 44"/>
          <p:cNvSpPr/>
          <p:nvPr/>
        </p:nvSpPr>
        <p:spPr>
          <a:xfrm>
            <a:off x="777240" y="5065776"/>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0120" y="5202936"/>
            <a:ext cx="3566160" cy="548640"/>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Rejected / Edits needed / Needs editing</a:t>
            </a:r>
          </a:p>
        </p:txBody>
      </p:sp>
      <p:sp>
        <p:nvSpPr>
          <p:cNvPr id="47" name="TextBox 46"/>
          <p:cNvSpPr txBox="1"/>
          <p:nvPr/>
        </p:nvSpPr>
        <p:spPr>
          <a:xfrm>
            <a:off x="5029200" y="5138928"/>
            <a:ext cx="8778240" cy="68580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Task remains open; record author, comment, owner response and re-review.</a:t>
            </a:r>
          </a:p>
        </p:txBody>
      </p:sp>
      <p:sp>
        <p:nvSpPr>
          <p:cNvPr id="48" name="Rectangle 47"/>
          <p:cNvSpPr/>
          <p:nvPr/>
        </p:nvSpPr>
        <p:spPr>
          <a:xfrm>
            <a:off x="777240" y="6007608"/>
            <a:ext cx="39319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 y="6144768"/>
            <a:ext cx="3566160" cy="548640"/>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Done / Published / Hold</a:t>
            </a:r>
          </a:p>
        </p:txBody>
      </p:sp>
      <p:sp>
        <p:nvSpPr>
          <p:cNvPr id="50" name="TextBox 49"/>
          <p:cNvSpPr txBox="1"/>
          <p:nvPr/>
        </p:nvSpPr>
        <p:spPr>
          <a:xfrm>
            <a:off x="5029200" y="6080760"/>
            <a:ext cx="8778240" cy="68580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Done is completion, Published is execution, Hold is a pause. None replaces approval evidence.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04</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NEW CLIENT / OPEN THE COMMUNICATION CHANNEL</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Freeform 35"/>
          <p:cNvSpPr/>
          <p:nvPr/>
        </p:nvSpPr>
        <p:spPr>
          <a:xfrm>
            <a:off x="731520" y="2286000"/>
            <a:ext cx="6217920" cy="4297680"/>
          </a:xfrm>
          <a:custGeom>
            <a:avLst/>
            <a:gdLst/>
            <a:ahLst/>
            <a:cxnLst/>
            <a:rect l="l" t="t" r="r" b="b"/>
            <a:pathLst>
              <a:path w="680" h="470">
                <a:moveTo>
                  <a:pt x="0" y="23"/>
                </a:moveTo>
                <a:lnTo>
                  <a:pt x="59" y="0"/>
                </a:lnTo>
                <a:lnTo>
                  <a:pt x="119" y="18"/>
                </a:lnTo>
                <a:lnTo>
                  <a:pt x="187" y="0"/>
                </a:lnTo>
                <a:lnTo>
                  <a:pt x="255" y="16"/>
                </a:lnTo>
                <a:lnTo>
                  <a:pt x="340" y="0"/>
                </a:lnTo>
                <a:lnTo>
                  <a:pt x="408" y="18"/>
                </a:lnTo>
                <a:lnTo>
                  <a:pt x="476" y="0"/>
                </a:lnTo>
                <a:lnTo>
                  <a:pt x="544" y="18"/>
                </a:lnTo>
                <a:lnTo>
                  <a:pt x="595" y="0"/>
                </a:lnTo>
                <a:lnTo>
                  <a:pt x="680" y="23"/>
                </a:lnTo>
                <a:lnTo>
                  <a:pt x="669" y="105"/>
                </a:lnTo>
                <a:lnTo>
                  <a:pt x="680" y="211"/>
                </a:lnTo>
                <a:lnTo>
                  <a:pt x="668" y="305"/>
                </a:lnTo>
                <a:lnTo>
                  <a:pt x="680" y="399"/>
                </a:lnTo>
                <a:lnTo>
                  <a:pt x="666" y="470"/>
                </a:lnTo>
                <a:lnTo>
                  <a:pt x="595" y="460"/>
                </a:lnTo>
                <a:lnTo>
                  <a:pt x="510" y="470"/>
                </a:lnTo>
                <a:lnTo>
                  <a:pt x="425" y="455"/>
                </a:lnTo>
                <a:lnTo>
                  <a:pt x="340" y="470"/>
                </a:lnTo>
                <a:lnTo>
                  <a:pt x="255" y="455"/>
                </a:lnTo>
                <a:lnTo>
                  <a:pt x="170" y="470"/>
                </a:lnTo>
                <a:lnTo>
                  <a:pt x="85" y="455"/>
                </a:lnTo>
                <a:lnTo>
                  <a:pt x="0" y="470"/>
                </a:lnTo>
                <a:lnTo>
                  <a:pt x="11" y="352"/>
                </a:lnTo>
                <a:lnTo>
                  <a:pt x="0" y="258"/>
                </a:lnTo>
                <a:lnTo>
                  <a:pt x="10" y="14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2651760"/>
            <a:ext cx="5577840" cy="548640"/>
          </a:xfrm>
          <a:prstGeom prst="rect">
            <a:avLst/>
          </a:prstGeom>
          <a:noFill/>
        </p:spPr>
        <p:txBody>
          <a:bodyPr wrap="square" lIns="27432" rIns="27432" tIns="0" bIns="0">
            <a:spAutoFit/>
          </a:bodyPr>
          <a:lstStyle/>
          <a:p>
            <a:pPr>
              <a:spcAft>
                <a:spcPts val="800"/>
              </a:spcAft>
              <a:defRPr sz="2800" b="1">
                <a:solidFill>
                  <a:srgbClr val="7D2B42"/>
                </a:solidFill>
                <a:latin typeface="Montserrat"/>
              </a:defRPr>
            </a:pPr>
            <a:r>
              <a:t>ACCOUNT MANAGER</a:t>
            </a:r>
          </a:p>
        </p:txBody>
      </p:sp>
      <p:sp>
        <p:nvSpPr>
          <p:cNvPr id="38" name="TextBox 37"/>
          <p:cNvSpPr txBox="1"/>
          <p:nvPr/>
        </p:nvSpPr>
        <p:spPr>
          <a:xfrm>
            <a:off x="1051560" y="3520440"/>
            <a:ext cx="5577840" cy="1280160"/>
          </a:xfrm>
          <a:prstGeom prst="rect">
            <a:avLst/>
          </a:prstGeom>
          <a:noFill/>
        </p:spPr>
        <p:txBody>
          <a:bodyPr wrap="square" lIns="27432" rIns="27432" tIns="0" bIns="0">
            <a:spAutoFit/>
          </a:bodyPr>
          <a:lstStyle/>
          <a:p>
            <a:pPr>
              <a:spcAft>
                <a:spcPts val="800"/>
              </a:spcAft>
              <a:defRPr sz="2500" b="0">
                <a:solidFill>
                  <a:srgbClr val="202020"/>
                </a:solidFill>
                <a:latin typeface="Montserrat"/>
              </a:defRPr>
            </a:pPr>
            <a:r>
              <a:t>After the client signs the contract, creates the WhatsApp group for project kickoff.</a:t>
            </a:r>
          </a:p>
        </p:txBody>
      </p:sp>
      <p:sp>
        <p:nvSpPr>
          <p:cNvPr id="39" name="Rectangle 38"/>
          <p:cNvSpPr/>
          <p:nvPr/>
        </p:nvSpPr>
        <p:spPr>
          <a:xfrm>
            <a:off x="1051560" y="5532120"/>
            <a:ext cx="54406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8720" y="5715000"/>
            <a:ext cx="5166360" cy="274320"/>
          </a:xfrm>
          <a:prstGeom prst="rect">
            <a:avLst/>
          </a:prstGeom>
          <a:noFill/>
        </p:spPr>
        <p:txBody>
          <a:bodyPr wrap="square" lIns="27432" rIns="27432" tIns="0" bIns="0">
            <a:spAutoFit/>
          </a:bodyPr>
          <a:lstStyle/>
          <a:p>
            <a:pPr>
              <a:spcAft>
                <a:spcPts val="800"/>
              </a:spcAft>
              <a:defRPr sz="1300" b="1">
                <a:solidFill>
                  <a:srgbClr val="7D2B42"/>
                </a:solidFill>
                <a:latin typeface="Montserrat"/>
              </a:defRPr>
            </a:pPr>
            <a:r>
              <a:t>COORDINATE → BRIEF → ASSIGN → MONITOR</a:t>
            </a:r>
          </a:p>
        </p:txBody>
      </p:sp>
      <p:sp>
        <p:nvSpPr>
          <p:cNvPr id="41" name="TextBox 40"/>
          <p:cNvSpPr txBox="1"/>
          <p:nvPr/>
        </p:nvSpPr>
        <p:spPr>
          <a:xfrm>
            <a:off x="7635240" y="2560320"/>
            <a:ext cx="5943600" cy="411480"/>
          </a:xfrm>
          <a:prstGeom prst="rect">
            <a:avLst/>
          </a:prstGeom>
          <a:noFill/>
        </p:spPr>
        <p:txBody>
          <a:bodyPr wrap="square" lIns="27432" rIns="27432" tIns="0" bIns="0">
            <a:spAutoFit/>
          </a:bodyPr>
          <a:lstStyle/>
          <a:p>
            <a:pPr>
              <a:spcAft>
                <a:spcPts val="800"/>
              </a:spcAft>
              <a:defRPr sz="2200" b="1">
                <a:solidFill>
                  <a:srgbClr val="7D2B42"/>
                </a:solidFill>
                <a:latin typeface="Montserrat"/>
              </a:defRPr>
            </a:pPr>
            <a:r>
              <a:t>GROUP MEMBERS</a:t>
            </a:r>
          </a:p>
        </p:txBody>
      </p:sp>
      <p:sp>
        <p:nvSpPr>
          <p:cNvPr id="42" name="Rectangle 41"/>
          <p:cNvSpPr/>
          <p:nvPr/>
        </p:nvSpPr>
        <p:spPr>
          <a:xfrm>
            <a:off x="7635240" y="3291840"/>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18120" y="3429000"/>
            <a:ext cx="5532120" cy="36576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Client</a:t>
            </a:r>
          </a:p>
        </p:txBody>
      </p:sp>
      <p:sp>
        <p:nvSpPr>
          <p:cNvPr id="44" name="Rectangle 43"/>
          <p:cNvSpPr/>
          <p:nvPr/>
        </p:nvSpPr>
        <p:spPr>
          <a:xfrm>
            <a:off x="7635240" y="4096512"/>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18120" y="4233672"/>
            <a:ext cx="5532120" cy="36576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PMP owner</a:t>
            </a:r>
          </a:p>
        </p:txBody>
      </p:sp>
      <p:sp>
        <p:nvSpPr>
          <p:cNvPr id="46" name="Rectangle 45"/>
          <p:cNvSpPr/>
          <p:nvPr/>
        </p:nvSpPr>
        <p:spPr>
          <a:xfrm>
            <a:off x="7635240" y="4901184"/>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18120" y="5038344"/>
            <a:ext cx="5532120" cy="36576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Marketing Manager</a:t>
            </a:r>
          </a:p>
        </p:txBody>
      </p:sp>
      <p:sp>
        <p:nvSpPr>
          <p:cNvPr id="48" name="Rectangle 47"/>
          <p:cNvSpPr/>
          <p:nvPr/>
        </p:nvSpPr>
        <p:spPr>
          <a:xfrm>
            <a:off x="7635240" y="5705856"/>
            <a:ext cx="594360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18120" y="5843016"/>
            <a:ext cx="5532120" cy="365760"/>
          </a:xfrm>
          <a:prstGeom prst="rect">
            <a:avLst/>
          </a:prstGeom>
          <a:noFill/>
        </p:spPr>
        <p:txBody>
          <a:bodyPr wrap="square" lIns="27432" rIns="27432" tIns="0" bIns="0">
            <a:spAutoFit/>
          </a:bodyPr>
          <a:lstStyle/>
          <a:p>
            <a:pPr>
              <a:spcAft>
                <a:spcPts val="800"/>
              </a:spcAft>
              <a:defRPr sz="1800" b="0">
                <a:solidFill>
                  <a:srgbClr val="202020"/>
                </a:solidFill>
                <a:latin typeface="Montserrat"/>
              </a:defRPr>
            </a:pPr>
            <a:r>
              <a:t>Other relevant project stakeholders</a:t>
            </a:r>
          </a:p>
        </p:txBody>
      </p:sp>
      <p:sp>
        <p:nvSpPr>
          <p:cNvPr id="50" name="TextBox 49"/>
          <p:cNvSpPr txBox="1"/>
          <p:nvPr/>
        </p:nvSpPr>
        <p:spPr>
          <a:xfrm>
            <a:off x="822960" y="7040880"/>
            <a:ext cx="12893040" cy="457200"/>
          </a:xfrm>
          <a:prstGeom prst="rect">
            <a:avLst/>
          </a:prstGeom>
          <a:noFill/>
        </p:spPr>
        <p:txBody>
          <a:bodyPr wrap="square" lIns="27432" rIns="27432" tIns="0" bIns="0">
            <a:spAutoFit/>
          </a:bodyPr>
          <a:lstStyle/>
          <a:p>
            <a:pPr>
              <a:spcAft>
                <a:spcPts val="800"/>
              </a:spcAft>
              <a:defRPr sz="1300" b="0">
                <a:solidFill>
                  <a:srgbClr val="555555"/>
                </a:solidFill>
                <a:latin typeface="Montserrat"/>
              </a:defRPr>
            </a:pPr>
            <a:r>
              <a:t>The PMP owner and stakeholders are group participants, not additional positions added to the 14-role organization map.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05</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CONTRACT SIGNED / MOVE THE CLIENT FOLDER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TextBox 35"/>
          <p:cNvSpPr txBox="1"/>
          <p:nvPr/>
        </p:nvSpPr>
        <p:spPr>
          <a:xfrm>
            <a:off x="822960" y="2286000"/>
            <a:ext cx="5577840" cy="41148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BEFORE CONTRACT</a:t>
            </a:r>
          </a:p>
        </p:txBody>
      </p:sp>
      <p:sp>
        <p:nvSpPr>
          <p:cNvPr id="37" name="TextBox 36"/>
          <p:cNvSpPr txBox="1"/>
          <p:nvPr/>
        </p:nvSpPr>
        <p:spPr>
          <a:xfrm>
            <a:off x="7680960" y="2286000"/>
            <a:ext cx="6035040" cy="411480"/>
          </a:xfrm>
          <a:prstGeom prst="rect">
            <a:avLst/>
          </a:prstGeom>
          <a:noFill/>
        </p:spPr>
        <p:txBody>
          <a:bodyPr wrap="square" lIns="27432" rIns="27432" tIns="0" bIns="0">
            <a:spAutoFit/>
          </a:bodyPr>
          <a:lstStyle/>
          <a:p>
            <a:pPr>
              <a:spcAft>
                <a:spcPts val="800"/>
              </a:spcAft>
              <a:defRPr sz="1900" b="1">
                <a:solidFill>
                  <a:srgbClr val="7D2B42"/>
                </a:solidFill>
                <a:latin typeface="Montserrat"/>
              </a:defRPr>
            </a:pPr>
            <a:r>
              <a:t>AFTER CONTRACT SIGNED</a:t>
            </a:r>
          </a:p>
        </p:txBody>
      </p:sp>
      <p:sp>
        <p:nvSpPr>
          <p:cNvPr id="38" name="Freeform 37"/>
          <p:cNvSpPr/>
          <p:nvPr/>
        </p:nvSpPr>
        <p:spPr>
          <a:xfrm>
            <a:off x="731520" y="2971800"/>
            <a:ext cx="6217920" cy="2286000"/>
          </a:xfrm>
          <a:custGeom>
            <a:avLst/>
            <a:gdLst/>
            <a:ahLst/>
            <a:cxnLst/>
            <a:rect l="l" t="t" r="r" b="b"/>
            <a:pathLst>
              <a:path w="680" h="250">
                <a:moveTo>
                  <a:pt x="0" y="12"/>
                </a:moveTo>
                <a:lnTo>
                  <a:pt x="59" y="0"/>
                </a:lnTo>
                <a:lnTo>
                  <a:pt x="119" y="10"/>
                </a:lnTo>
                <a:lnTo>
                  <a:pt x="187" y="0"/>
                </a:lnTo>
                <a:lnTo>
                  <a:pt x="255" y="8"/>
                </a:lnTo>
                <a:lnTo>
                  <a:pt x="340" y="0"/>
                </a:lnTo>
                <a:lnTo>
                  <a:pt x="408" y="10"/>
                </a:lnTo>
                <a:lnTo>
                  <a:pt x="476" y="0"/>
                </a:lnTo>
                <a:lnTo>
                  <a:pt x="544" y="10"/>
                </a:lnTo>
                <a:lnTo>
                  <a:pt x="595" y="0"/>
                </a:lnTo>
                <a:lnTo>
                  <a:pt x="680" y="12"/>
                </a:lnTo>
                <a:lnTo>
                  <a:pt x="669" y="56"/>
                </a:lnTo>
                <a:lnTo>
                  <a:pt x="680" y="112"/>
                </a:lnTo>
                <a:lnTo>
                  <a:pt x="668" y="162"/>
                </a:lnTo>
                <a:lnTo>
                  <a:pt x="680" y="212"/>
                </a:lnTo>
                <a:lnTo>
                  <a:pt x="666" y="250"/>
                </a:lnTo>
                <a:lnTo>
                  <a:pt x="595" y="245"/>
                </a:lnTo>
                <a:lnTo>
                  <a:pt x="510" y="250"/>
                </a:lnTo>
                <a:lnTo>
                  <a:pt x="425" y="242"/>
                </a:lnTo>
                <a:lnTo>
                  <a:pt x="340" y="250"/>
                </a:lnTo>
                <a:lnTo>
                  <a:pt x="255" y="242"/>
                </a:lnTo>
                <a:lnTo>
                  <a:pt x="170" y="250"/>
                </a:lnTo>
                <a:lnTo>
                  <a:pt x="85" y="242"/>
                </a:lnTo>
                <a:lnTo>
                  <a:pt x="0" y="250"/>
                </a:lnTo>
                <a:lnTo>
                  <a:pt x="11" y="187"/>
                </a:lnTo>
                <a:lnTo>
                  <a:pt x="0" y="137"/>
                </a:lnTo>
                <a:lnTo>
                  <a:pt x="10" y="75"/>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3520440"/>
            <a:ext cx="5577840" cy="1188720"/>
          </a:xfrm>
          <a:prstGeom prst="rect">
            <a:avLst/>
          </a:prstGeom>
          <a:noFill/>
        </p:spPr>
        <p:txBody>
          <a:bodyPr wrap="square" lIns="27432" rIns="27432" tIns="0" bIns="0">
            <a:spAutoFit/>
          </a:bodyPr>
          <a:lstStyle/>
          <a:p>
            <a:pPr>
              <a:spcAft>
                <a:spcPts val="800"/>
              </a:spcAft>
              <a:defRPr sz="2500" b="1">
                <a:solidFill>
                  <a:srgbClr val="202020"/>
                </a:solidFill>
                <a:latin typeface="Montserrat"/>
              </a:defRPr>
            </a:pPr>
            <a:r>
              <a:t>PMP Drive / Quotations /</a:t>
            </a:r>
          </a:p>
          <a:p>
            <a:pPr>
              <a:spcAft>
                <a:spcPts val="800"/>
              </a:spcAft>
              <a:defRPr sz="2500" b="1">
                <a:solidFill>
                  <a:srgbClr val="202020"/>
                </a:solidFill>
                <a:latin typeface="Montserrat"/>
              </a:defRPr>
            </a:pPr>
            <a:r>
              <a:t>[Client name]</a:t>
            </a:r>
          </a:p>
        </p:txBody>
      </p:sp>
      <p:sp>
        <p:nvSpPr>
          <p:cNvPr id="40" name="Freeform 39"/>
          <p:cNvSpPr/>
          <p:nvPr/>
        </p:nvSpPr>
        <p:spPr>
          <a:xfrm>
            <a:off x="7589520" y="2971800"/>
            <a:ext cx="6217920" cy="2286000"/>
          </a:xfrm>
          <a:custGeom>
            <a:avLst/>
            <a:gdLst/>
            <a:ahLst/>
            <a:cxnLst/>
            <a:rect l="l" t="t" r="r" b="b"/>
            <a:pathLst>
              <a:path w="680" h="250">
                <a:moveTo>
                  <a:pt x="0" y="12"/>
                </a:moveTo>
                <a:lnTo>
                  <a:pt x="59" y="0"/>
                </a:lnTo>
                <a:lnTo>
                  <a:pt x="119" y="10"/>
                </a:lnTo>
                <a:lnTo>
                  <a:pt x="187" y="0"/>
                </a:lnTo>
                <a:lnTo>
                  <a:pt x="255" y="8"/>
                </a:lnTo>
                <a:lnTo>
                  <a:pt x="340" y="0"/>
                </a:lnTo>
                <a:lnTo>
                  <a:pt x="408" y="10"/>
                </a:lnTo>
                <a:lnTo>
                  <a:pt x="476" y="0"/>
                </a:lnTo>
                <a:lnTo>
                  <a:pt x="544" y="10"/>
                </a:lnTo>
                <a:lnTo>
                  <a:pt x="595" y="0"/>
                </a:lnTo>
                <a:lnTo>
                  <a:pt x="680" y="12"/>
                </a:lnTo>
                <a:lnTo>
                  <a:pt x="669" y="56"/>
                </a:lnTo>
                <a:lnTo>
                  <a:pt x="680" y="112"/>
                </a:lnTo>
                <a:lnTo>
                  <a:pt x="668" y="162"/>
                </a:lnTo>
                <a:lnTo>
                  <a:pt x="680" y="212"/>
                </a:lnTo>
                <a:lnTo>
                  <a:pt x="666" y="250"/>
                </a:lnTo>
                <a:lnTo>
                  <a:pt x="595" y="245"/>
                </a:lnTo>
                <a:lnTo>
                  <a:pt x="510" y="250"/>
                </a:lnTo>
                <a:lnTo>
                  <a:pt x="425" y="242"/>
                </a:lnTo>
                <a:lnTo>
                  <a:pt x="340" y="250"/>
                </a:lnTo>
                <a:lnTo>
                  <a:pt x="255" y="242"/>
                </a:lnTo>
                <a:lnTo>
                  <a:pt x="170" y="250"/>
                </a:lnTo>
                <a:lnTo>
                  <a:pt x="85" y="242"/>
                </a:lnTo>
                <a:lnTo>
                  <a:pt x="0" y="250"/>
                </a:lnTo>
                <a:lnTo>
                  <a:pt x="11" y="187"/>
                </a:lnTo>
                <a:lnTo>
                  <a:pt x="0" y="137"/>
                </a:lnTo>
                <a:lnTo>
                  <a:pt x="10" y="75"/>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09560" y="3520440"/>
            <a:ext cx="5577840" cy="1188720"/>
          </a:xfrm>
          <a:prstGeom prst="rect">
            <a:avLst/>
          </a:prstGeom>
          <a:noFill/>
        </p:spPr>
        <p:txBody>
          <a:bodyPr wrap="square" lIns="27432" rIns="27432" tIns="0" bIns="0">
            <a:spAutoFit/>
          </a:bodyPr>
          <a:lstStyle/>
          <a:p>
            <a:pPr>
              <a:spcAft>
                <a:spcPts val="800"/>
              </a:spcAft>
              <a:defRPr sz="2500" b="1">
                <a:solidFill>
                  <a:srgbClr val="7D2B42"/>
                </a:solidFill>
                <a:latin typeface="Montserrat"/>
              </a:defRPr>
            </a:pPr>
            <a:r>
              <a:t>PMP Drive /</a:t>
            </a:r>
          </a:p>
          <a:p>
            <a:pPr>
              <a:spcAft>
                <a:spcPts val="800"/>
              </a:spcAft>
              <a:defRPr sz="2500" b="1">
                <a:solidFill>
                  <a:srgbClr val="7D2B42"/>
                </a:solidFill>
                <a:latin typeface="Montserrat"/>
              </a:defRPr>
            </a:pPr>
            <a:r>
              <a:t>[Client name]</a:t>
            </a:r>
          </a:p>
        </p:txBody>
      </p:sp>
      <p:cxnSp>
        <p:nvCxnSpPr>
          <p:cNvPr id="42" name="Connector 41"/>
          <p:cNvCxnSpPr/>
          <p:nvPr/>
        </p:nvCxnSpPr>
        <p:spPr>
          <a:xfrm>
            <a:off x="6949440" y="4069080"/>
            <a:ext cx="640080" cy="0"/>
          </a:xfrm>
          <a:prstGeom prst="line">
            <a:avLst/>
          </a:prstGeom>
          <a:ln w="38100">
            <a:solidFill>
              <a:srgbClr val="7D2B42"/>
            </a:solidFill>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822960" y="5715000"/>
            <a:ext cx="12984480" cy="59436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5870448"/>
            <a:ext cx="12618720" cy="320040"/>
          </a:xfrm>
          <a:prstGeom prst="rect">
            <a:avLst/>
          </a:prstGeom>
          <a:noFill/>
        </p:spPr>
        <p:txBody>
          <a:bodyPr wrap="square" lIns="27432" rIns="27432" tIns="0" bIns="0">
            <a:spAutoFit/>
          </a:bodyPr>
          <a:lstStyle/>
          <a:p>
            <a:pPr>
              <a:spcAft>
                <a:spcPts val="800"/>
              </a:spcAft>
              <a:defRPr sz="1800" b="1">
                <a:solidFill>
                  <a:srgbClr val="7D2B42"/>
                </a:solidFill>
                <a:latin typeface="Montserrat"/>
              </a:defRPr>
            </a:pPr>
            <a:r>
              <a:t>MOVE THE SAME FOLDER — DO NOT CREATE A DUPLICATE</a:t>
            </a:r>
          </a:p>
        </p:txBody>
      </p:sp>
      <p:sp>
        <p:nvSpPr>
          <p:cNvPr id="45" name="TextBox 44"/>
          <p:cNvSpPr txBox="1"/>
          <p:nvPr/>
        </p:nvSpPr>
        <p:spPr>
          <a:xfrm>
            <a:off x="914400" y="6492240"/>
            <a:ext cx="12801600" cy="960120"/>
          </a:xfrm>
          <a:prstGeom prst="rect">
            <a:avLst/>
          </a:prstGeom>
          <a:noFill/>
        </p:spPr>
        <p:txBody>
          <a:bodyPr wrap="square" lIns="27432" rIns="27432" tIns="0" bIns="0">
            <a:spAutoFit/>
          </a:bodyPr>
          <a:lstStyle/>
          <a:p>
            <a:pPr>
              <a:spcAft>
                <a:spcPts val="800"/>
              </a:spcAft>
              <a:defRPr sz="1900" b="0">
                <a:solidFill>
                  <a:srgbClr val="202020"/>
                </a:solidFill>
                <a:latin typeface="Montserrat"/>
              </a:defRPr>
            </a:pPr>
            <a:r>
              <a:t>Trigger: the client signs the contract. Sales or Business Developer moves the folder out of the main Quotations folder. It stands alone with the client’s name, keeps its quotation documents and contains all subsequent client work.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06</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CLIENT DRIVE / ONE HOME FOR THE PROJECT</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4572000" cy="5120640"/>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1560" y="2560320"/>
            <a:ext cx="3931920" cy="365760"/>
          </a:xfrm>
          <a:prstGeom prst="rect">
            <a:avLst/>
          </a:prstGeom>
          <a:noFill/>
        </p:spPr>
        <p:txBody>
          <a:bodyPr wrap="square" lIns="27432" rIns="27432" tIns="0" bIns="0">
            <a:spAutoFit/>
          </a:bodyPr>
          <a:lstStyle/>
          <a:p>
            <a:pPr>
              <a:spcAft>
                <a:spcPts val="800"/>
              </a:spcAft>
              <a:defRPr sz="1400" b="1">
                <a:solidFill>
                  <a:srgbClr val="FFCC00"/>
                </a:solidFill>
                <a:latin typeface="Montserrat"/>
              </a:defRPr>
            </a:pPr>
            <a:r>
              <a:t>CREATED BY</a:t>
            </a:r>
          </a:p>
        </p:txBody>
      </p:sp>
      <p:sp>
        <p:nvSpPr>
          <p:cNvPr id="38" name="TextBox 37"/>
          <p:cNvSpPr txBox="1"/>
          <p:nvPr/>
        </p:nvSpPr>
        <p:spPr>
          <a:xfrm>
            <a:off x="1051560" y="3200400"/>
            <a:ext cx="3931920" cy="2103120"/>
          </a:xfrm>
          <a:prstGeom prst="rect">
            <a:avLst/>
          </a:prstGeom>
          <a:noFill/>
        </p:spPr>
        <p:txBody>
          <a:bodyPr wrap="square" lIns="27432" rIns="27432" tIns="0" bIns="0">
            <a:spAutoFit/>
          </a:bodyPr>
          <a:lstStyle/>
          <a:p>
            <a:pPr>
              <a:spcAft>
                <a:spcPts val="800"/>
              </a:spcAft>
              <a:defRPr sz="3300" b="1">
                <a:solidFill>
                  <a:srgbClr val="FFFFFF"/>
                </a:solidFill>
                <a:latin typeface="Bebas Neue"/>
              </a:defRPr>
            </a:pPr>
            <a:r>
              <a:t>SALES</a:t>
            </a:r>
          </a:p>
          <a:p>
            <a:pPr>
              <a:spcAft>
                <a:spcPts val="800"/>
              </a:spcAft>
              <a:defRPr sz="3300" b="1">
                <a:solidFill>
                  <a:srgbClr val="FFFFFF"/>
                </a:solidFill>
                <a:latin typeface="Bebas Neue"/>
              </a:defRPr>
            </a:pPr>
            <a:r>
              <a:t>OR BUSINESS</a:t>
            </a:r>
          </a:p>
          <a:p>
            <a:pPr>
              <a:spcAft>
                <a:spcPts val="800"/>
              </a:spcAft>
              <a:defRPr sz="3300" b="1">
                <a:solidFill>
                  <a:srgbClr val="FFFFFF"/>
                </a:solidFill>
                <a:latin typeface="Bebas Neue"/>
              </a:defRPr>
            </a:pPr>
            <a:r>
              <a:t>DEVELOPER</a:t>
            </a:r>
          </a:p>
        </p:txBody>
      </p:sp>
      <p:sp>
        <p:nvSpPr>
          <p:cNvPr id="39" name="TextBox 38"/>
          <p:cNvSpPr txBox="1"/>
          <p:nvPr/>
        </p:nvSpPr>
        <p:spPr>
          <a:xfrm>
            <a:off x="1051560" y="5852160"/>
            <a:ext cx="3931920" cy="548640"/>
          </a:xfrm>
          <a:prstGeom prst="rect">
            <a:avLst/>
          </a:prstGeom>
          <a:noFill/>
        </p:spPr>
        <p:txBody>
          <a:bodyPr wrap="square" lIns="27432" rIns="27432" tIns="0" bIns="0">
            <a:spAutoFit/>
          </a:bodyPr>
          <a:lstStyle/>
          <a:p>
            <a:pPr>
              <a:spcAft>
                <a:spcPts val="800"/>
              </a:spcAft>
              <a:defRPr sz="1900" b="0">
                <a:solidFill>
                  <a:srgbClr val="FFFFFF"/>
                </a:solidFill>
                <a:latin typeface="Montserrat"/>
              </a:defRPr>
            </a:pPr>
            <a:r>
              <a:t>Standalone folder = client name</a:t>
            </a:r>
          </a:p>
        </p:txBody>
      </p:sp>
      <p:sp>
        <p:nvSpPr>
          <p:cNvPr id="40" name="TextBox 39"/>
          <p:cNvSpPr txBox="1"/>
          <p:nvPr/>
        </p:nvSpPr>
        <p:spPr>
          <a:xfrm>
            <a:off x="5760720" y="2423160"/>
            <a:ext cx="8046720" cy="3840480"/>
          </a:xfrm>
          <a:prstGeom prst="rect">
            <a:avLst/>
          </a:prstGeom>
          <a:noFill/>
        </p:spPr>
        <p:txBody>
          <a:bodyPr wrap="square" lIns="27432" rIns="27432" tIns="0" bIns="0">
            <a:spAutoFit/>
          </a:bodyPr>
          <a:lstStyle/>
          <a:p>
            <a:pPr>
              <a:spcAft>
                <a:spcPts val="800"/>
              </a:spcAft>
              <a:defRPr sz="2000" b="0">
                <a:solidFill>
                  <a:srgbClr val="202020"/>
                </a:solidFill>
                <a:latin typeface="Montserrat"/>
              </a:defRPr>
            </a:pPr>
            <a:r>
              <a:t>[Client name]/</a:t>
            </a:r>
          </a:p>
          <a:p>
            <a:pPr>
              <a:spcAft>
                <a:spcPts val="800"/>
              </a:spcAft>
              <a:defRPr sz="2000" b="0">
                <a:solidFill>
                  <a:srgbClr val="202020"/>
                </a:solidFill>
                <a:latin typeface="Montserrat"/>
              </a:defRPr>
            </a:pPr>
            <a:r>
              <a:t>  Quotation/</a:t>
            </a:r>
          </a:p>
          <a:p>
            <a:pPr>
              <a:spcAft>
                <a:spcPts val="800"/>
              </a:spcAft>
              <a:defRPr sz="2000" b="0">
                <a:solidFill>
                  <a:srgbClr val="202020"/>
                </a:solidFill>
                <a:latin typeface="Montserrat"/>
              </a:defRPr>
            </a:pPr>
            <a:r>
              <a:t>  Start Strategy/</a:t>
            </a:r>
          </a:p>
          <a:p>
            <a:pPr>
              <a:spcAft>
                <a:spcPts val="800"/>
              </a:spcAft>
              <a:defRPr sz="2000" b="0">
                <a:solidFill>
                  <a:srgbClr val="202020"/>
                </a:solidFill>
                <a:latin typeface="Montserrat"/>
              </a:defRPr>
            </a:pPr>
            <a:r>
              <a:t>  Client Brief/</a:t>
            </a:r>
          </a:p>
          <a:p>
            <a:pPr>
              <a:spcAft>
                <a:spcPts val="800"/>
              </a:spcAft>
              <a:defRPr sz="2000" b="0">
                <a:solidFill>
                  <a:srgbClr val="202020"/>
                </a:solidFill>
                <a:latin typeface="Montserrat"/>
              </a:defRPr>
            </a:pPr>
            <a:r>
              <a:t>  Content/  →  [month]/  →  Calendar.pptx</a:t>
            </a:r>
          </a:p>
          <a:p>
            <a:pPr>
              <a:spcAft>
                <a:spcPts val="800"/>
              </a:spcAft>
              <a:defRPr sz="2000" b="0">
                <a:solidFill>
                  <a:srgbClr val="202020"/>
                </a:solidFill>
                <a:latin typeface="Montserrat"/>
              </a:defRPr>
            </a:pPr>
            <a:r>
              <a:t>  Design/    →  [month]/  →  Final approved designs</a:t>
            </a:r>
          </a:p>
          <a:p>
            <a:pPr>
              <a:spcAft>
                <a:spcPts val="800"/>
              </a:spcAft>
              <a:defRPr sz="2000" b="0">
                <a:solidFill>
                  <a:srgbClr val="202020"/>
                </a:solidFill>
                <a:latin typeface="Montserrat"/>
              </a:defRPr>
            </a:pPr>
            <a:r>
              <a:t>  Videos/    →  [month]/  →  Final approved videos</a:t>
            </a:r>
          </a:p>
        </p:txBody>
      </p:sp>
      <p:sp>
        <p:nvSpPr>
          <p:cNvPr id="41" name="Rectangle 40"/>
          <p:cNvSpPr/>
          <p:nvPr/>
        </p:nvSpPr>
        <p:spPr>
          <a:xfrm>
            <a:off x="5806440" y="6537960"/>
            <a:ext cx="7955279" cy="548640"/>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89320" y="6684264"/>
            <a:ext cx="7543800" cy="274320"/>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Add other folders when the agreed scope needs them.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10</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CONTENT / SUBMIT AND REVIEW THE SAME CALENDAR</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77240" y="2240280"/>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404872"/>
            <a:ext cx="3108960" cy="411480"/>
          </a:xfrm>
          <a:prstGeom prst="rect">
            <a:avLst/>
          </a:prstGeom>
          <a:noFill/>
        </p:spPr>
        <p:txBody>
          <a:bodyPr wrap="square" lIns="27432" rIns="27432" tIns="0" bIns="0">
            <a:spAutoFit/>
          </a:bodyPr>
          <a:lstStyle/>
          <a:p>
            <a:pPr>
              <a:spcAft>
                <a:spcPts val="800"/>
              </a:spcAft>
              <a:defRPr sz="1300" b="1">
                <a:solidFill>
                  <a:srgbClr val="FFFFFF"/>
                </a:solidFill>
                <a:latin typeface="Montserrat"/>
              </a:defRPr>
            </a:pPr>
            <a:r>
              <a:t>1 / PRODUCE</a:t>
            </a:r>
          </a:p>
        </p:txBody>
      </p:sp>
      <p:sp>
        <p:nvSpPr>
          <p:cNvPr id="38" name="TextBox 37"/>
          <p:cNvSpPr txBox="1"/>
          <p:nvPr/>
        </p:nvSpPr>
        <p:spPr>
          <a:xfrm>
            <a:off x="4480560" y="2331720"/>
            <a:ext cx="9326880" cy="64008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Execute the assigned content task from the Account Manager’s brief.</a:t>
            </a:r>
          </a:p>
        </p:txBody>
      </p:sp>
      <p:sp>
        <p:nvSpPr>
          <p:cNvPr id="39" name="Rectangle 38"/>
          <p:cNvSpPr/>
          <p:nvPr/>
        </p:nvSpPr>
        <p:spPr>
          <a:xfrm>
            <a:off x="777240" y="3182112"/>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346704"/>
            <a:ext cx="3108960" cy="411480"/>
          </a:xfrm>
          <a:prstGeom prst="rect">
            <a:avLst/>
          </a:prstGeom>
          <a:noFill/>
        </p:spPr>
        <p:txBody>
          <a:bodyPr wrap="square" lIns="27432" rIns="27432" tIns="0" bIns="0">
            <a:spAutoFit/>
          </a:bodyPr>
          <a:lstStyle/>
          <a:p>
            <a:pPr>
              <a:spcAft>
                <a:spcPts val="800"/>
              </a:spcAft>
              <a:defRPr sz="1300" b="1">
                <a:solidFill>
                  <a:srgbClr val="FFFFFF"/>
                </a:solidFill>
                <a:latin typeface="Montserrat"/>
              </a:defRPr>
            </a:pPr>
            <a:r>
              <a:t>2 / LOG</a:t>
            </a:r>
          </a:p>
        </p:txBody>
      </p:sp>
      <p:sp>
        <p:nvSpPr>
          <p:cNvPr id="41" name="TextBox 40"/>
          <p:cNvSpPr txBox="1"/>
          <p:nvPr/>
        </p:nvSpPr>
        <p:spPr>
          <a:xfrm>
            <a:off x="4480560" y="3273552"/>
            <a:ext cx="9326880" cy="64008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Submit the work on the task sheet and include its reference/link.</a:t>
            </a:r>
          </a:p>
        </p:txBody>
      </p:sp>
      <p:sp>
        <p:nvSpPr>
          <p:cNvPr id="42" name="Rectangle 41"/>
          <p:cNvSpPr/>
          <p:nvPr/>
        </p:nvSpPr>
        <p:spPr>
          <a:xfrm>
            <a:off x="777240" y="4123944"/>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288536"/>
            <a:ext cx="3108960" cy="411480"/>
          </a:xfrm>
          <a:prstGeom prst="rect">
            <a:avLst/>
          </a:prstGeom>
          <a:noFill/>
        </p:spPr>
        <p:txBody>
          <a:bodyPr wrap="square" lIns="27432" rIns="27432" tIns="0" bIns="0">
            <a:spAutoFit/>
          </a:bodyPr>
          <a:lstStyle/>
          <a:p>
            <a:pPr>
              <a:spcAft>
                <a:spcPts val="800"/>
              </a:spcAft>
              <a:defRPr sz="1300" b="1">
                <a:solidFill>
                  <a:srgbClr val="FFFFFF"/>
                </a:solidFill>
                <a:latin typeface="Montserrat"/>
              </a:defRPr>
            </a:pPr>
            <a:r>
              <a:t>3 / UPLOAD</a:t>
            </a:r>
          </a:p>
        </p:txBody>
      </p:sp>
      <p:sp>
        <p:nvSpPr>
          <p:cNvPr id="44" name="TextBox 43"/>
          <p:cNvSpPr txBox="1"/>
          <p:nvPr/>
        </p:nvSpPr>
        <p:spPr>
          <a:xfrm>
            <a:off x="4480560" y="4215383"/>
            <a:ext cx="9326880" cy="64008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Upload the working calendar PPTX to Content / the relevant month.</a:t>
            </a:r>
          </a:p>
        </p:txBody>
      </p:sp>
      <p:sp>
        <p:nvSpPr>
          <p:cNvPr id="45" name="Rectangle 44"/>
          <p:cNvSpPr/>
          <p:nvPr/>
        </p:nvSpPr>
        <p:spPr>
          <a:xfrm>
            <a:off x="777240" y="5065776"/>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230368"/>
            <a:ext cx="3108960" cy="411480"/>
          </a:xfrm>
          <a:prstGeom prst="rect">
            <a:avLst/>
          </a:prstGeom>
          <a:noFill/>
        </p:spPr>
        <p:txBody>
          <a:bodyPr wrap="square" lIns="27432" rIns="27432" tIns="0" bIns="0">
            <a:spAutoFit/>
          </a:bodyPr>
          <a:lstStyle/>
          <a:p>
            <a:pPr>
              <a:spcAft>
                <a:spcPts val="800"/>
              </a:spcAft>
              <a:defRPr sz="1300" b="1">
                <a:solidFill>
                  <a:srgbClr val="FFFFFF"/>
                </a:solidFill>
                <a:latin typeface="Montserrat"/>
              </a:defRPr>
            </a:pPr>
            <a:r>
              <a:t>4 / REVIEW IN PLACE</a:t>
            </a:r>
          </a:p>
        </p:txBody>
      </p:sp>
      <p:sp>
        <p:nvSpPr>
          <p:cNvPr id="47" name="TextBox 46"/>
          <p:cNvSpPr txBox="1"/>
          <p:nvPr/>
        </p:nvSpPr>
        <p:spPr>
          <a:xfrm>
            <a:off x="4480560" y="5157216"/>
            <a:ext cx="9326880" cy="64008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Receive comments on that same calendar PPTX, rather than inventing a separate review copy.</a:t>
            </a:r>
          </a:p>
        </p:txBody>
      </p:sp>
      <p:sp>
        <p:nvSpPr>
          <p:cNvPr id="48" name="Rectangle 47"/>
          <p:cNvSpPr/>
          <p:nvPr/>
        </p:nvSpPr>
        <p:spPr>
          <a:xfrm>
            <a:off x="777240" y="6007608"/>
            <a:ext cx="3383280" cy="749808"/>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6172200"/>
            <a:ext cx="3108960" cy="411480"/>
          </a:xfrm>
          <a:prstGeom prst="rect">
            <a:avLst/>
          </a:prstGeom>
          <a:noFill/>
        </p:spPr>
        <p:txBody>
          <a:bodyPr wrap="square" lIns="27432" rIns="27432" tIns="0" bIns="0">
            <a:spAutoFit/>
          </a:bodyPr>
          <a:lstStyle/>
          <a:p>
            <a:pPr>
              <a:spcAft>
                <a:spcPts val="800"/>
              </a:spcAft>
              <a:defRPr sz="1300" b="1">
                <a:solidFill>
                  <a:srgbClr val="FFFFFF"/>
                </a:solidFill>
                <a:latin typeface="Montserrat"/>
              </a:defRPr>
            </a:pPr>
            <a:r>
              <a:t>5 / EXECUTE COMMENTS</a:t>
            </a:r>
          </a:p>
        </p:txBody>
      </p:sp>
      <p:sp>
        <p:nvSpPr>
          <p:cNvPr id="50" name="TextBox 49"/>
          <p:cNvSpPr txBox="1"/>
          <p:nvPr/>
        </p:nvSpPr>
        <p:spPr>
          <a:xfrm>
            <a:off x="4480560" y="6099048"/>
            <a:ext cx="9326880" cy="640080"/>
          </a:xfrm>
          <a:prstGeom prst="rect">
            <a:avLst/>
          </a:prstGeom>
          <a:noFill/>
        </p:spPr>
        <p:txBody>
          <a:bodyPr wrap="square" lIns="27432" rIns="27432" tIns="0" bIns="0">
            <a:spAutoFit/>
          </a:bodyPr>
          <a:lstStyle/>
          <a:p>
            <a:pPr>
              <a:spcAft>
                <a:spcPts val="800"/>
              </a:spcAft>
              <a:defRPr sz="1700" b="0">
                <a:solidFill>
                  <a:srgbClr val="202020"/>
                </a:solidFill>
                <a:latin typeface="Montserrat"/>
              </a:defRPr>
            </a:pPr>
            <a:r>
              <a:t>Address comments and keep the task open until required reviews and approvals pass.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11</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DESIGN &amp; VIDEO / ARCHIVE ONLY THE APPROVED FINALS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31520"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112" y="2560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EXECUTE &amp; LOG</a:t>
            </a:r>
          </a:p>
        </p:txBody>
      </p:sp>
      <p:sp>
        <p:nvSpPr>
          <p:cNvPr id="39" name="TextBox 38"/>
          <p:cNvSpPr txBox="1"/>
          <p:nvPr/>
        </p:nvSpPr>
        <p:spPr>
          <a:xfrm>
            <a:off x="896112" y="3456432"/>
            <a:ext cx="4059935" cy="25603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Create the deliverable and keep its task-sheet record and references current.</a:t>
            </a:r>
          </a:p>
        </p:txBody>
      </p:sp>
      <p:sp>
        <p:nvSpPr>
          <p:cNvPr id="40" name="Rectangle 39"/>
          <p:cNvSpPr/>
          <p:nvPr/>
        </p:nvSpPr>
        <p:spPr>
          <a:xfrm>
            <a:off x="5394959"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394959"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9551" y="2560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QUALITY → MARKETING</a:t>
            </a:r>
          </a:p>
        </p:txBody>
      </p:sp>
      <p:sp>
        <p:nvSpPr>
          <p:cNvPr id="43" name="TextBox 42"/>
          <p:cNvSpPr txBox="1"/>
          <p:nvPr/>
        </p:nvSpPr>
        <p:spPr>
          <a:xfrm>
            <a:off x="5559551" y="3456432"/>
            <a:ext cx="4059935" cy="25603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Design head reviews design quality. Marketing Manager reviews video quality and supplies final internal approval.</a:t>
            </a:r>
          </a:p>
        </p:txBody>
      </p:sp>
      <p:sp>
        <p:nvSpPr>
          <p:cNvPr id="44" name="Rectangle 43"/>
          <p:cNvSpPr/>
          <p:nvPr/>
        </p:nvSpPr>
        <p:spPr>
          <a:xfrm>
            <a:off x="10058400" y="2377440"/>
            <a:ext cx="4389120"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58400" y="2377440"/>
            <a:ext cx="54864" cy="3749039"/>
          </a:xfrm>
          <a:prstGeom prst="rect">
            <a:avLst/>
          </a:prstGeom>
          <a:solidFill>
            <a:srgbClr val="7D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22992" y="2560320"/>
            <a:ext cx="4059935" cy="731520"/>
          </a:xfrm>
          <a:prstGeom prst="rect">
            <a:avLst/>
          </a:prstGeom>
          <a:noFill/>
        </p:spPr>
        <p:txBody>
          <a:bodyPr wrap="square" lIns="27432" rIns="27432" tIns="0" bIns="0">
            <a:spAutoFit/>
          </a:bodyPr>
          <a:lstStyle/>
          <a:p>
            <a:pPr>
              <a:spcAft>
                <a:spcPts val="800"/>
              </a:spcAft>
              <a:defRPr sz="2000" b="1">
                <a:solidFill>
                  <a:srgbClr val="7D2B42"/>
                </a:solidFill>
                <a:latin typeface="Montserrat"/>
              </a:defRPr>
            </a:pPr>
            <a:r>
              <a:t>CLIENT → FINAL ARCHIVE</a:t>
            </a:r>
          </a:p>
        </p:txBody>
      </p:sp>
      <p:sp>
        <p:nvSpPr>
          <p:cNvPr id="47" name="TextBox 46"/>
          <p:cNvSpPr txBox="1"/>
          <p:nvPr/>
        </p:nvSpPr>
        <p:spPr>
          <a:xfrm>
            <a:off x="10222992" y="3456432"/>
            <a:ext cx="4059935" cy="2560320"/>
          </a:xfrm>
          <a:prstGeom prst="rect">
            <a:avLst/>
          </a:prstGeom>
          <a:noFill/>
        </p:spPr>
        <p:txBody>
          <a:bodyPr wrap="square" lIns="27432" rIns="27432" tIns="0" bIns="0">
            <a:spAutoFit/>
          </a:bodyPr>
          <a:lstStyle/>
          <a:p>
            <a:pPr>
              <a:spcAft>
                <a:spcPts val="800"/>
              </a:spcAft>
              <a:defRPr sz="1400" b="0">
                <a:solidFill>
                  <a:srgbClr val="555555"/>
                </a:solidFill>
                <a:latin typeface="Montserrat"/>
              </a:defRPr>
            </a:pPr>
            <a:r>
              <a:t>AM collects one presentation for client approval. After internal and client approval, put final copies in the monthly Design or Videos folder.</a:t>
            </a:r>
          </a:p>
        </p:txBody>
      </p:sp>
      <p:sp>
        <p:nvSpPr>
          <p:cNvPr id="48" name="Rectangle 47"/>
          <p:cNvSpPr/>
          <p:nvPr/>
        </p:nvSpPr>
        <p:spPr>
          <a:xfrm>
            <a:off x="777240" y="6537960"/>
            <a:ext cx="13075920" cy="658368"/>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 y="6675120"/>
            <a:ext cx="12710160" cy="457200"/>
          </a:xfrm>
          <a:prstGeom prst="rect">
            <a:avLst/>
          </a:prstGeom>
          <a:noFill/>
        </p:spPr>
        <p:txBody>
          <a:bodyPr wrap="square" lIns="27432" rIns="27432" tIns="0" bIns="0">
            <a:spAutoFit/>
          </a:bodyPr>
          <a:lstStyle/>
          <a:p>
            <a:pPr>
              <a:spcAft>
                <a:spcPts val="800"/>
              </a:spcAft>
              <a:defRPr sz="1500" b="1">
                <a:solidFill>
                  <a:srgbClr val="7D2B42"/>
                </a:solidFill>
                <a:latin typeface="Montserrat"/>
              </a:defRPr>
            </a:pPr>
            <a:r>
              <a:t>A Design or Video draft is not a final archived copy. The draft-review location has not been specified; this deck does not invent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3F1EE"/>
        </a:solidFill>
        <a:effectLst/>
      </p:bgPr>
    </p:bg>
    <p:spTree>
      <p:nvGrpSpPr>
        <p:cNvPr id="1" name=""/>
        <p:cNvGrpSpPr/>
        <p:nvPr/>
      </p:nvGrpSpPr>
      <p:grpSpPr/>
      <p:cxnSp>
        <p:nvCxnSpPr>
          <p:cNvPr id="2" name="Connector 1"/>
          <p:cNvCxnSpPr/>
          <p:nvPr/>
        </p:nvCxnSpPr>
        <p:spPr>
          <a:xfrm>
            <a:off x="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14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828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743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657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572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486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400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315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9728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872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8016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7160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0" y="0"/>
            <a:ext cx="0" cy="822960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0" y="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914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828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2743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3657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45720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54864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64008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73152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8229600"/>
            <a:ext cx="14630400" cy="0"/>
          </a:xfrm>
          <a:prstGeom prst="line">
            <a:avLst/>
          </a:prstGeom>
          <a:ln w="4445">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256032"/>
            <a:ext cx="1371600" cy="384048"/>
          </a:xfrm>
          <a:prstGeom prst="rect">
            <a:avLst/>
          </a:prstGeom>
          <a:noFill/>
        </p:spPr>
        <p:txBody>
          <a:bodyPr wrap="square" lIns="27432" rIns="27432" tIns="0" bIns="0">
            <a:spAutoFit/>
          </a:bodyPr>
          <a:lstStyle/>
          <a:p>
            <a:pPr>
              <a:spcAft>
                <a:spcPts val="800"/>
              </a:spcAft>
              <a:defRPr sz="2400" b="1">
                <a:solidFill>
                  <a:srgbClr val="7D2B42"/>
                </a:solidFill>
                <a:latin typeface="Montserrat"/>
              </a:defRPr>
            </a:pPr>
            <a:r>
              <a:t>PMP</a:t>
            </a:r>
          </a:p>
        </p:txBody>
      </p:sp>
      <p:sp>
        <p:nvSpPr>
          <p:cNvPr id="30" name="TextBox 29"/>
          <p:cNvSpPr txBox="1"/>
          <p:nvPr/>
        </p:nvSpPr>
        <p:spPr>
          <a:xfrm>
            <a:off x="1965960" y="365760"/>
            <a:ext cx="9144000" cy="228600"/>
          </a:xfrm>
          <a:prstGeom prst="rect">
            <a:avLst/>
          </a:prstGeom>
          <a:noFill/>
        </p:spPr>
        <p:txBody>
          <a:bodyPr wrap="square" lIns="27432" rIns="27432" tIns="0" bIns="0">
            <a:spAutoFit/>
          </a:bodyPr>
          <a:lstStyle/>
          <a:p>
            <a:pPr>
              <a:spcAft>
                <a:spcPts val="800"/>
              </a:spcAft>
              <a:defRPr sz="1000" b="1">
                <a:solidFill>
                  <a:srgbClr val="7D2B42"/>
                </a:solidFill>
                <a:latin typeface="Montserrat"/>
              </a:defRPr>
            </a:pPr>
            <a:r>
              <a:t>PMP / USER-CONFIRMED WORK SUBMISSION</a:t>
            </a:r>
          </a:p>
        </p:txBody>
      </p:sp>
      <p:sp>
        <p:nvSpPr>
          <p:cNvPr id="31" name="TextBox 30"/>
          <p:cNvSpPr txBox="1"/>
          <p:nvPr/>
        </p:nvSpPr>
        <p:spPr>
          <a:xfrm>
            <a:off x="13258800" y="320040"/>
            <a:ext cx="822960" cy="274320"/>
          </a:xfrm>
          <a:prstGeom prst="rect">
            <a:avLst/>
          </a:prstGeom>
          <a:noFill/>
        </p:spPr>
        <p:txBody>
          <a:bodyPr wrap="square" lIns="27432" rIns="27432" tIns="0" bIns="0">
            <a:spAutoFit/>
          </a:bodyPr>
          <a:lstStyle/>
          <a:p>
            <a:pPr algn="r">
              <a:spcAft>
                <a:spcPts val="800"/>
              </a:spcAft>
              <a:defRPr sz="1100" b="0">
                <a:solidFill>
                  <a:srgbClr val="7D2B42"/>
                </a:solidFill>
                <a:latin typeface="Montserrat"/>
              </a:defRPr>
            </a:pPr>
            <a:r>
              <a:t>12</a:t>
            </a:r>
          </a:p>
        </p:txBody>
      </p:sp>
      <p:cxnSp>
        <p:nvCxnSpPr>
          <p:cNvPr id="32" name="Connector 31"/>
          <p:cNvCxnSpPr/>
          <p:nvPr/>
        </p:nvCxnSpPr>
        <p:spPr>
          <a:xfrm>
            <a:off x="594360" y="841248"/>
            <a:ext cx="13441680" cy="0"/>
          </a:xfrm>
          <a:prstGeom prst="line">
            <a:avLst/>
          </a:prstGeom>
          <a:ln w="10160">
            <a:solidFill>
              <a:srgbClr val="7D2B42"/>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1143000"/>
            <a:ext cx="13258800" cy="777240"/>
          </a:xfrm>
          <a:prstGeom prst="rect">
            <a:avLst/>
          </a:prstGeom>
          <a:noFill/>
        </p:spPr>
        <p:txBody>
          <a:bodyPr wrap="square" lIns="27432" rIns="27432" tIns="0" bIns="0">
            <a:spAutoFit/>
          </a:bodyPr>
          <a:lstStyle/>
          <a:p>
            <a:pPr>
              <a:spcAft>
                <a:spcPts val="800"/>
              </a:spcAft>
              <a:defRPr sz="3800" b="1">
                <a:solidFill>
                  <a:srgbClr val="7D2B42"/>
                </a:solidFill>
                <a:latin typeface="Bebas Neue"/>
              </a:defRPr>
            </a:pPr>
            <a:r>
              <a:t>THE HANDOFF / SHEET, CALENDAR, FINAL FILES</a:t>
            </a:r>
          </a:p>
        </p:txBody>
      </p:sp>
      <p:sp>
        <p:nvSpPr>
          <p:cNvPr id="34" name="TextBox 33"/>
          <p:cNvSpPr txBox="1"/>
          <p:nvPr/>
        </p:nvSpPr>
        <p:spPr>
          <a:xfrm>
            <a:off x="640080" y="7772400"/>
            <a:ext cx="6400800" cy="228600"/>
          </a:xfrm>
          <a:prstGeom prst="rect">
            <a:avLst/>
          </a:prstGeom>
          <a:noFill/>
        </p:spPr>
        <p:txBody>
          <a:bodyPr wrap="square" lIns="27432" rIns="27432" tIns="0" bIns="0">
            <a:spAutoFit/>
          </a:bodyPr>
          <a:lstStyle/>
          <a:p>
            <a:pPr>
              <a:spcAft>
                <a:spcPts val="800"/>
              </a:spcAft>
              <a:defRPr sz="900" b="0">
                <a:solidFill>
                  <a:srgbClr val="555555"/>
                </a:solidFill>
                <a:latin typeface="Montserrat"/>
              </a:defRPr>
            </a:pPr>
            <a:r>
              <a:t>YOUR GROWTH IS OUR PULSE</a:t>
            </a:r>
          </a:p>
        </p:txBody>
      </p:sp>
      <p:sp>
        <p:nvSpPr>
          <p:cNvPr id="35" name="TextBox 34"/>
          <p:cNvSpPr txBox="1"/>
          <p:nvPr/>
        </p:nvSpPr>
        <p:spPr>
          <a:xfrm>
            <a:off x="7498079" y="7772400"/>
            <a:ext cx="6492240" cy="228600"/>
          </a:xfrm>
          <a:prstGeom prst="rect">
            <a:avLst/>
          </a:prstGeom>
          <a:noFill/>
        </p:spPr>
        <p:txBody>
          <a:bodyPr wrap="square" lIns="27432" rIns="27432" tIns="0" bIns="0">
            <a:spAutoFit/>
          </a:bodyPr>
          <a:lstStyle/>
          <a:p>
            <a:pPr algn="r">
              <a:spcAft>
                <a:spcPts val="800"/>
              </a:spcAft>
              <a:defRPr sz="800" b="0">
                <a:solidFill>
                  <a:srgbClr val="555555"/>
                </a:solidFill>
                <a:latin typeface="Montserrat"/>
              </a:defRPr>
            </a:pPr>
            <a:r>
              <a:t>EDITABLE WORKING DRAFT · OTHER REPORTING &amp; POLICIES PROPOSED</a:t>
            </a:r>
          </a:p>
        </p:txBody>
      </p:sp>
      <p:sp>
        <p:nvSpPr>
          <p:cNvPr id="36" name="Rectangle 35"/>
          <p:cNvSpPr/>
          <p:nvPr/>
        </p:nvSpPr>
        <p:spPr>
          <a:xfrm>
            <a:off x="731520" y="2194560"/>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31720"/>
            <a:ext cx="3794760" cy="530352"/>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TASK SHEET</a:t>
            </a:r>
          </a:p>
        </p:txBody>
      </p:sp>
      <p:sp>
        <p:nvSpPr>
          <p:cNvPr id="38" name="TextBox 37"/>
          <p:cNvSpPr txBox="1"/>
          <p:nvPr/>
        </p:nvSpPr>
        <p:spPr>
          <a:xfrm>
            <a:off x="5212080" y="2249424"/>
            <a:ext cx="8641080" cy="77724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Who owns the task, its progress, dates, notes, comments and deliverable references.</a:t>
            </a:r>
          </a:p>
        </p:txBody>
      </p:sp>
      <p:sp>
        <p:nvSpPr>
          <p:cNvPr id="39" name="Rectangle 38"/>
          <p:cNvSpPr/>
          <p:nvPr/>
        </p:nvSpPr>
        <p:spPr>
          <a:xfrm>
            <a:off x="731520" y="3182112"/>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319272"/>
            <a:ext cx="3794760" cy="530352"/>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CONTENT CALENDAR PPTX</a:t>
            </a:r>
          </a:p>
        </p:txBody>
      </p:sp>
      <p:sp>
        <p:nvSpPr>
          <p:cNvPr id="41" name="TextBox 40"/>
          <p:cNvSpPr txBox="1"/>
          <p:nvPr/>
        </p:nvSpPr>
        <p:spPr>
          <a:xfrm>
            <a:off x="5212080" y="3236976"/>
            <a:ext cx="8641080" cy="77724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The same working calendar carries content review comments and revisions.</a:t>
            </a:r>
          </a:p>
        </p:txBody>
      </p:sp>
      <p:sp>
        <p:nvSpPr>
          <p:cNvPr id="42" name="Rectangle 41"/>
          <p:cNvSpPr/>
          <p:nvPr/>
        </p:nvSpPr>
        <p:spPr>
          <a:xfrm>
            <a:off x="731520" y="4169664"/>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306824"/>
            <a:ext cx="3794760" cy="530352"/>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FINAL DESIGN / VIDEO FOLDERS</a:t>
            </a:r>
          </a:p>
        </p:txBody>
      </p:sp>
      <p:sp>
        <p:nvSpPr>
          <p:cNvPr id="44" name="TextBox 43"/>
          <p:cNvSpPr txBox="1"/>
          <p:nvPr/>
        </p:nvSpPr>
        <p:spPr>
          <a:xfrm>
            <a:off x="5212080" y="4224528"/>
            <a:ext cx="8641080" cy="77724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Monthly final copies only, after internal approval and final client approval.</a:t>
            </a:r>
          </a:p>
        </p:txBody>
      </p:sp>
      <p:sp>
        <p:nvSpPr>
          <p:cNvPr id="45" name="Rectangle 44"/>
          <p:cNvSpPr/>
          <p:nvPr/>
        </p:nvSpPr>
        <p:spPr>
          <a:xfrm>
            <a:off x="731520" y="5157216"/>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5294376"/>
            <a:ext cx="3794760" cy="530352"/>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ACCOUNT MANAGER</a:t>
            </a:r>
          </a:p>
        </p:txBody>
      </p:sp>
      <p:sp>
        <p:nvSpPr>
          <p:cNvPr id="47" name="TextBox 46"/>
          <p:cNvSpPr txBox="1"/>
          <p:nvPr/>
        </p:nvSpPr>
        <p:spPr>
          <a:xfrm>
            <a:off x="5212080" y="5212080"/>
            <a:ext cx="8641080" cy="77724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Tracks execution, gathers finalized work into one PPTX and secures client approval.</a:t>
            </a:r>
          </a:p>
        </p:txBody>
      </p:sp>
      <p:sp>
        <p:nvSpPr>
          <p:cNvPr id="48" name="Rectangle 47"/>
          <p:cNvSpPr/>
          <p:nvPr/>
        </p:nvSpPr>
        <p:spPr>
          <a:xfrm>
            <a:off x="731520" y="6144768"/>
            <a:ext cx="4160520"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6281928"/>
            <a:ext cx="3794760" cy="530352"/>
          </a:xfrm>
          <a:prstGeom prst="rect">
            <a:avLst/>
          </a:prstGeom>
          <a:noFill/>
        </p:spPr>
        <p:txBody>
          <a:bodyPr wrap="square" lIns="27432" rIns="27432" tIns="0" bIns="0">
            <a:spAutoFit/>
          </a:bodyPr>
          <a:lstStyle/>
          <a:p>
            <a:pPr>
              <a:spcAft>
                <a:spcPts val="800"/>
              </a:spcAft>
              <a:defRPr sz="1400" b="1">
                <a:solidFill>
                  <a:srgbClr val="7D2B42"/>
                </a:solidFill>
                <a:latin typeface="Montserrat"/>
              </a:defRPr>
            </a:pPr>
            <a:r>
              <a:t>SOCIAL MEDIA SPECIALIST</a:t>
            </a:r>
          </a:p>
        </p:txBody>
      </p:sp>
      <p:sp>
        <p:nvSpPr>
          <p:cNvPr id="50" name="TextBox 49"/>
          <p:cNvSpPr txBox="1"/>
          <p:nvPr/>
        </p:nvSpPr>
        <p:spPr>
          <a:xfrm>
            <a:off x="5212080" y="6199632"/>
            <a:ext cx="8641080" cy="777240"/>
          </a:xfrm>
          <a:prstGeom prst="rect">
            <a:avLst/>
          </a:prstGeom>
          <a:noFill/>
        </p:spPr>
        <p:txBody>
          <a:bodyPr wrap="square" lIns="27432" rIns="27432" tIns="0" bIns="0">
            <a:spAutoFit/>
          </a:bodyPr>
          <a:lstStyle/>
          <a:p>
            <a:pPr>
              <a:spcAft>
                <a:spcPts val="800"/>
              </a:spcAft>
              <a:defRPr sz="1600" b="0">
                <a:solidFill>
                  <a:srgbClr val="202020"/>
                </a:solidFill>
                <a:latin typeface="Montserrat"/>
              </a:defRPr>
            </a:pPr>
            <a:r>
              <a:t>Receives the approved calendar/presentation to consolidate, schedule and publish; reports results and handles page comments.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