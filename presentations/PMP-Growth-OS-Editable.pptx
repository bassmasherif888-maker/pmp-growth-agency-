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400"/>
              </a:spcAft>
              <a:defRPr sz="10400" b="1">
                <a:solidFill>
                  <a:srgbClr val="FFFFFF"/>
                </a:solidFill>
                <a:latin typeface="Bebas Neue"/>
              </a:defRPr>
            </a:pPr>
            <a:r>
              <a:t>GROWTH</a:t>
            </a:r>
          </a:p>
          <a:p>
            <a:pPr>
              <a:spcAft>
                <a:spcPts val="4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400"/>
              </a:spcAft>
              <a:defRPr sz="2300" b="0">
                <a:solidFill>
                  <a:srgbClr val="FFFFFF"/>
                </a:solidFill>
                <a:latin typeface="Montserrat"/>
              </a:defRPr>
            </a:pPr>
            <a:r>
              <a:t>An editable agency operating map</a:t>
            </a:r>
          </a:p>
          <a:p>
            <a:pPr>
              <a:spcAft>
                <a:spcPts val="4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4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400"/>
              </a:spcAft>
              <a:defRPr sz="2900" b="1">
                <a:solidFill>
                  <a:srgbClr val="7D2B42"/>
                </a:solidFill>
                <a:latin typeface="Montserrat"/>
              </a:defRPr>
            </a:pPr>
            <a:r>
              <a:t>ONE</a:t>
            </a:r>
          </a:p>
          <a:p>
            <a:pPr>
              <a:spcAft>
                <a:spcPts val="400"/>
              </a:spcAft>
              <a:defRPr sz="2900" b="1">
                <a:solidFill>
                  <a:srgbClr val="7D2B42"/>
                </a:solidFill>
                <a:latin typeface="Montserrat"/>
              </a:defRPr>
            </a:pPr>
            <a:r>
              <a:t>CONNECTED</a:t>
            </a:r>
          </a:p>
          <a:p>
            <a:pPr>
              <a:spcAft>
                <a:spcPts val="4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Explore the team</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14 separate positions and proposed reporting lines.</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Understand each role</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Editable responsibilities, inputs, outputs and KPIs.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Follow the work</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Client journey, nine templates and quality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4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Strategy, budgets, priorities, resource allocation and final internal task approval after team-head quality review</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Qualify opportunities. Create prospect folders under Quotations; on contract signing move the same client folder out to stand alone and organize its work.</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Proposals and commercial close. Create prospect folders under Quotations; on signing move the same client folder to stand alone on Drive.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Participate in preparation and both sales meetings. Open WhatsApp at signing; write/distribute briefs, monitor work, collect approved tasks in one PPTX and secure client approval.</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 meetings, agreed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Written brief, assigned tasks, consolidated client PPTX, recorded final client approval</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Gather all private-label calendars; create strategies, performance reports and social listening reports; schedule and publish client-approved calendars; reply to comments on private-label pages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Client-approved presentation, approved calendars, private-label insights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Consolidated private-label calendars, strategies, performance reports, listening reports, scheduled and published content, community replies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FROM FIRST CONTACT TO FINAL REPORT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ONE BRIEF. PARALLEL PRODUCTION.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Script approval → Footage → Editor → Marketing Manager quality review</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Account Manager collects Marketing-approved work into one PPTX; client approves it before publishing</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NINE REUSABLE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BD-01 → SA-01 → AM-01 → BD-01 → SA-01 → AM-01 → HC-01 → HD-01 → MM-01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CW-J01 → HC-01 → GD-01 → HD-01 → MM-01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CW-S01 → HC-01 → VE-01 → MM-01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MB-01 → MM-01 → HC-01 → HD-01 → MM-01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SM-01 → AM-01 → CW-J01 → HC-01 → HD-01 → MM-01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CW-S01 → HC-01 → GD-02 → HD-01 → MM-01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GD-01 → HD-01 → MM-01 → AM-01 → SM-01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SM-01 → MM-01 → AM-01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HC-01 → HD-01 → MM-01 → AM-01 → SM-01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Writers → Head of Content. Designers → Head of Design. Editors → Marketing Manager.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Marketing Manager approves after quality review. Account Manager presents one collected PPTX for final client approval.</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Owner executes every comment. Head quality and Marketing approvals repeat; revised PPTX returns to client when needed.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