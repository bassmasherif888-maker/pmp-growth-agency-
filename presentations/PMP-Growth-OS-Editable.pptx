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Brand source: Direction -01.pdf, supplied by the user. Palette from p.13; typography direction from p.10; grid/collage treatment from pp.2, 5, 17. Text wordmark is editable text, not the original logo artwork. All organizational reporting and policies are proposals.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Relationship types are distinct. Line styles supplement brand colors. Connectors and labels are editable. Proposed rather than verified company policy.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Editable PowerPoint is not the running application: simulation logic, browser persistence and permissions do not execute inside the deck. Role cards and back buttons use internal slide hyperlinks. Native shapes and connectors can be moved; connector endpoints must be adjusted manually after changing the map. Fonts are named but not embedded; substitutes may render differently.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Color tokens are transcribed from the supplied PDF, not invented. Native editable shapes interpret its collage direction; they do not replicate photographic paper textures. The original logo is not embedded; PMP is an editable text label. No official logo geometry is claimed.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xml"/><Relationship Id="rId4" Type="http://schemas.openxmlformats.org/officeDocument/2006/relationships/slide" Target="slide6.xml"/><Relationship Id="rId5" Type="http://schemas.openxmlformats.org/officeDocument/2006/relationships/slide" Target="slide7.xml"/><Relationship Id="rId6" Type="http://schemas.openxmlformats.org/officeDocument/2006/relationships/slide" Target="slide8.xml"/><Relationship Id="rId7" Type="http://schemas.openxmlformats.org/officeDocument/2006/relationships/slide" Target="slide9.xml"/><Relationship Id="rId8" Type="http://schemas.openxmlformats.org/officeDocument/2006/relationships/slide" Target="slide10.xml"/><Relationship Id="rId9" Type="http://schemas.openxmlformats.org/officeDocument/2006/relationships/slide" Target="slide11.xml"/><Relationship Id="rId10" Type="http://schemas.openxmlformats.org/officeDocument/2006/relationships/slide" Target="slide12.xml"/><Relationship Id="rId11" Type="http://schemas.openxmlformats.org/officeDocument/2006/relationships/slide" Target="slide13.xml"/><Relationship Id="rId12" Type="http://schemas.openxmlformats.org/officeDocument/2006/relationships/slide" Target="slide14.xml"/><Relationship Id="rId13" Type="http://schemas.openxmlformats.org/officeDocument/2006/relationships/slide" Target="slide15.xml"/><Relationship Id="rId14" Type="http://schemas.openxmlformats.org/officeDocument/2006/relationships/slide" Target="slide16.xml"/><Relationship Id="rId15" Type="http://schemas.openxmlformats.org/officeDocument/2006/relationships/slide" Target="slide1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D2B42"/>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FFFFFF"/>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FFFFFF"/>
                </a:solidFill>
                <a:latin typeface="Montserrat"/>
              </a:defRPr>
            </a:pPr>
            <a:r>
              <a:t>01</a:t>
            </a:r>
          </a:p>
        </p:txBody>
      </p:sp>
      <p:cxnSp>
        <p:nvCxnSpPr>
          <p:cNvPr id="32" name="Connector 31"/>
          <p:cNvCxnSpPr/>
          <p:nvPr/>
        </p:nvCxnSpPr>
        <p:spPr>
          <a:xfrm>
            <a:off x="594360" y="841248"/>
            <a:ext cx="13441680" cy="0"/>
          </a:xfrm>
          <a:prstGeom prst="line">
            <a:avLst/>
          </a:prstGeom>
          <a:ln w="10160">
            <a:solidFill>
              <a:srgbClr val="FFFFFF"/>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FFFFFF"/>
                </a:solidFill>
                <a:latin typeface="Montserrat"/>
              </a:defRPr>
            </a:pPr>
            <a:r>
              <a:t>YOUR GROWTH IS OUR PULSE</a:t>
            </a:r>
          </a:p>
        </p:txBody>
      </p:sp>
      <p:sp>
        <p:nvSpPr>
          <p:cNvPr id="34" name="TextBox 33"/>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FFFFFF"/>
                </a:solidFill>
                <a:latin typeface="Montserrat"/>
              </a:defRPr>
            </a:pPr>
            <a:r>
              <a:t>EDITABLE WORKING DRAFT · OTHER REPORTING &amp; POLICIES PROPOSED</a:t>
            </a:r>
          </a:p>
        </p:txBody>
      </p:sp>
      <p:sp>
        <p:nvSpPr>
          <p:cNvPr id="35" name="Freeform 34"/>
          <p:cNvSpPr/>
          <p:nvPr/>
        </p:nvSpPr>
        <p:spPr>
          <a:xfrm>
            <a:off x="9418320" y="1463040"/>
            <a:ext cx="4654296" cy="5212080"/>
          </a:xfrm>
          <a:custGeom>
            <a:avLst/>
            <a:gdLst/>
            <a:ahLst/>
            <a:cxnLst/>
            <a:rect l="l" t="t" r="r" b="b"/>
            <a:pathLst>
              <a:path w="509" h="570">
                <a:moveTo>
                  <a:pt x="0" y="28"/>
                </a:moveTo>
                <a:lnTo>
                  <a:pt x="44" y="0"/>
                </a:lnTo>
                <a:lnTo>
                  <a:pt x="89" y="22"/>
                </a:lnTo>
                <a:lnTo>
                  <a:pt x="140" y="0"/>
                </a:lnTo>
                <a:lnTo>
                  <a:pt x="191" y="19"/>
                </a:lnTo>
                <a:lnTo>
                  <a:pt x="254" y="0"/>
                </a:lnTo>
                <a:lnTo>
                  <a:pt x="306" y="22"/>
                </a:lnTo>
                <a:lnTo>
                  <a:pt x="357" y="0"/>
                </a:lnTo>
                <a:lnTo>
                  <a:pt x="408" y="22"/>
                </a:lnTo>
                <a:lnTo>
                  <a:pt x="446" y="0"/>
                </a:lnTo>
                <a:lnTo>
                  <a:pt x="509" y="28"/>
                </a:lnTo>
                <a:lnTo>
                  <a:pt x="502" y="128"/>
                </a:lnTo>
                <a:lnTo>
                  <a:pt x="509" y="256"/>
                </a:lnTo>
                <a:lnTo>
                  <a:pt x="501" y="370"/>
                </a:lnTo>
                <a:lnTo>
                  <a:pt x="509" y="484"/>
                </a:lnTo>
                <a:lnTo>
                  <a:pt x="499" y="570"/>
                </a:lnTo>
                <a:lnTo>
                  <a:pt x="446" y="558"/>
                </a:lnTo>
                <a:lnTo>
                  <a:pt x="382" y="570"/>
                </a:lnTo>
                <a:lnTo>
                  <a:pt x="318" y="552"/>
                </a:lnTo>
                <a:lnTo>
                  <a:pt x="254" y="570"/>
                </a:lnTo>
                <a:lnTo>
                  <a:pt x="191" y="552"/>
                </a:lnTo>
                <a:lnTo>
                  <a:pt x="127" y="570"/>
                </a:lnTo>
                <a:lnTo>
                  <a:pt x="63" y="552"/>
                </a:lnTo>
                <a:lnTo>
                  <a:pt x="0" y="570"/>
                </a:lnTo>
                <a:lnTo>
                  <a:pt x="8" y="427"/>
                </a:lnTo>
                <a:lnTo>
                  <a:pt x="0" y="313"/>
                </a:lnTo>
                <a:lnTo>
                  <a:pt x="7" y="171"/>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1508760"/>
            <a:ext cx="8229600" cy="3017520"/>
          </a:xfrm>
          <a:prstGeom prst="rect">
            <a:avLst/>
          </a:prstGeom>
          <a:noFill/>
        </p:spPr>
        <p:txBody>
          <a:bodyPr wrap="square" lIns="27432" rIns="27432" tIns="0" bIns="0">
            <a:spAutoFit/>
          </a:bodyPr>
          <a:lstStyle/>
          <a:p>
            <a:pPr>
              <a:spcAft>
                <a:spcPts val="800"/>
              </a:spcAft>
              <a:defRPr sz="10400" b="1">
                <a:solidFill>
                  <a:srgbClr val="FFFFFF"/>
                </a:solidFill>
                <a:latin typeface="Bebas Neue"/>
              </a:defRPr>
            </a:pPr>
            <a:r>
              <a:t>GROWTH</a:t>
            </a:r>
          </a:p>
          <a:p>
            <a:pPr>
              <a:spcAft>
                <a:spcPts val="800"/>
              </a:spcAft>
              <a:defRPr sz="10400" b="1">
                <a:solidFill>
                  <a:srgbClr val="FFFFFF"/>
                </a:solidFill>
                <a:latin typeface="Bebas Neue"/>
              </a:defRPr>
            </a:pPr>
            <a:r>
              <a:t>OS</a:t>
            </a:r>
          </a:p>
        </p:txBody>
      </p:sp>
      <p:sp>
        <p:nvSpPr>
          <p:cNvPr id="37" name="Rectangle 36"/>
          <p:cNvSpPr/>
          <p:nvPr/>
        </p:nvSpPr>
        <p:spPr>
          <a:xfrm>
            <a:off x="777240" y="4983480"/>
            <a:ext cx="7132320" cy="50292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4400" y="5074920"/>
            <a:ext cx="6858000" cy="274320"/>
          </a:xfrm>
          <a:prstGeom prst="rect">
            <a:avLst/>
          </a:prstGeom>
          <a:noFill/>
        </p:spPr>
        <p:txBody>
          <a:bodyPr wrap="square" lIns="27432" rIns="27432" tIns="0" bIns="0">
            <a:spAutoFit/>
          </a:bodyPr>
          <a:lstStyle/>
          <a:p>
            <a:pPr>
              <a:spcAft>
                <a:spcPts val="800"/>
              </a:spcAft>
              <a:defRPr sz="1600" b="1">
                <a:solidFill>
                  <a:srgbClr val="7D2B42"/>
                </a:solidFill>
                <a:latin typeface="Montserrat"/>
              </a:defRPr>
            </a:pPr>
            <a:r>
              <a:t>EVERY ROLE. EVERY HANDOFF. CONNECTED.</a:t>
            </a:r>
          </a:p>
        </p:txBody>
      </p:sp>
      <p:sp>
        <p:nvSpPr>
          <p:cNvPr id="39" name="TextBox 38"/>
          <p:cNvSpPr txBox="1"/>
          <p:nvPr/>
        </p:nvSpPr>
        <p:spPr>
          <a:xfrm>
            <a:off x="822960" y="5897880"/>
            <a:ext cx="8046720" cy="1051560"/>
          </a:xfrm>
          <a:prstGeom prst="rect">
            <a:avLst/>
          </a:prstGeom>
          <a:noFill/>
        </p:spPr>
        <p:txBody>
          <a:bodyPr wrap="square" lIns="27432" rIns="27432" tIns="0" bIns="0">
            <a:spAutoFit/>
          </a:bodyPr>
          <a:lstStyle/>
          <a:p>
            <a:pPr>
              <a:spcAft>
                <a:spcPts val="800"/>
              </a:spcAft>
              <a:defRPr sz="2300" b="0">
                <a:solidFill>
                  <a:srgbClr val="FFFFFF"/>
                </a:solidFill>
                <a:latin typeface="Montserrat"/>
              </a:defRPr>
            </a:pPr>
            <a:r>
              <a:t>An editable agency operating map</a:t>
            </a:r>
          </a:p>
          <a:p>
            <a:pPr>
              <a:spcAft>
                <a:spcPts val="800"/>
              </a:spcAft>
              <a:defRPr sz="2300" b="0">
                <a:solidFill>
                  <a:srgbClr val="FFFFFF"/>
                </a:solidFill>
                <a:latin typeface="Montserrat"/>
              </a:defRPr>
            </a:pPr>
            <a:r>
              <a:t>Organization · Workflows · Approval gates</a:t>
            </a:r>
          </a:p>
        </p:txBody>
      </p:sp>
      <p:sp>
        <p:nvSpPr>
          <p:cNvPr id="40" name="TextBox 39"/>
          <p:cNvSpPr txBox="1"/>
          <p:nvPr/>
        </p:nvSpPr>
        <p:spPr>
          <a:xfrm>
            <a:off x="10058400" y="2011680"/>
            <a:ext cx="3200400" cy="1280160"/>
          </a:xfrm>
          <a:prstGeom prst="rect">
            <a:avLst/>
          </a:prstGeom>
          <a:noFill/>
        </p:spPr>
        <p:txBody>
          <a:bodyPr wrap="square" lIns="27432" rIns="27432" tIns="0" bIns="0">
            <a:spAutoFit/>
          </a:bodyPr>
          <a:lstStyle/>
          <a:p>
            <a:pPr>
              <a:spcAft>
                <a:spcPts val="800"/>
              </a:spcAft>
              <a:defRPr sz="9000" b="1">
                <a:solidFill>
                  <a:srgbClr val="7D2B42"/>
                </a:solidFill>
                <a:latin typeface="Bebas Neue"/>
              </a:defRPr>
            </a:pPr>
            <a:r>
              <a:t>14</a:t>
            </a:r>
          </a:p>
        </p:txBody>
      </p:sp>
      <p:sp>
        <p:nvSpPr>
          <p:cNvPr id="41" name="TextBox 40"/>
          <p:cNvSpPr txBox="1"/>
          <p:nvPr/>
        </p:nvSpPr>
        <p:spPr>
          <a:xfrm>
            <a:off x="10058400" y="3474720"/>
            <a:ext cx="3108960" cy="457200"/>
          </a:xfrm>
          <a:prstGeom prst="rect">
            <a:avLst/>
          </a:prstGeom>
          <a:noFill/>
        </p:spPr>
        <p:txBody>
          <a:bodyPr wrap="square" lIns="27432" rIns="27432" tIns="0" bIns="0">
            <a:spAutoFit/>
          </a:bodyPr>
          <a:lstStyle/>
          <a:p>
            <a:pPr>
              <a:spcAft>
                <a:spcPts val="800"/>
              </a:spcAft>
              <a:defRPr sz="1800" b="1">
                <a:solidFill>
                  <a:srgbClr val="7D2B42"/>
                </a:solidFill>
                <a:latin typeface="Montserrat"/>
              </a:defRPr>
            </a:pPr>
            <a:r>
              <a:t>DISTINCT POSITIONS</a:t>
            </a:r>
          </a:p>
        </p:txBody>
      </p:sp>
      <p:sp>
        <p:nvSpPr>
          <p:cNvPr id="42" name="TextBox 41"/>
          <p:cNvSpPr txBox="1"/>
          <p:nvPr/>
        </p:nvSpPr>
        <p:spPr>
          <a:xfrm>
            <a:off x="10058400" y="4297680"/>
            <a:ext cx="3017520" cy="1645920"/>
          </a:xfrm>
          <a:prstGeom prst="rect">
            <a:avLst/>
          </a:prstGeom>
          <a:noFill/>
        </p:spPr>
        <p:txBody>
          <a:bodyPr wrap="square" lIns="27432" rIns="27432" tIns="0" bIns="0">
            <a:spAutoFit/>
          </a:bodyPr>
          <a:lstStyle/>
          <a:p>
            <a:pPr>
              <a:spcAft>
                <a:spcPts val="800"/>
              </a:spcAft>
              <a:defRPr sz="2900" b="1">
                <a:solidFill>
                  <a:srgbClr val="7D2B42"/>
                </a:solidFill>
                <a:latin typeface="Montserrat"/>
              </a:defRPr>
            </a:pPr>
            <a:r>
              <a:t>ONE</a:t>
            </a:r>
          </a:p>
          <a:p>
            <a:pPr>
              <a:spcAft>
                <a:spcPts val="800"/>
              </a:spcAft>
              <a:defRPr sz="2900" b="1">
                <a:solidFill>
                  <a:srgbClr val="7D2B42"/>
                </a:solidFill>
                <a:latin typeface="Montserrat"/>
              </a:defRPr>
            </a:pPr>
            <a:r>
              <a:t>CONNECTED</a:t>
            </a:r>
          </a:p>
          <a:p>
            <a:pPr>
              <a:spcAft>
                <a:spcPts val="800"/>
              </a:spcAft>
              <a:defRPr sz="2900" b="1">
                <a:solidFill>
                  <a:srgbClr val="7D2B42"/>
                </a:solidFill>
                <a:latin typeface="Montserrat"/>
              </a:defRPr>
            </a:pPr>
            <a:r>
              <a:t>TEAM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02</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A WORKING MAP, NOT A FIXED POLICY</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286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1520" y="2286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46888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01 / Explore the team</a:t>
            </a:r>
          </a:p>
        </p:txBody>
      </p:sp>
      <p:sp>
        <p:nvSpPr>
          <p:cNvPr id="39" name="TextBox 38"/>
          <p:cNvSpPr txBox="1"/>
          <p:nvPr/>
        </p:nvSpPr>
        <p:spPr>
          <a:xfrm>
            <a:off x="896112" y="3364991"/>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14 separate positions and proposed reporting lines.</a:t>
            </a:r>
          </a:p>
        </p:txBody>
      </p:sp>
      <p:sp>
        <p:nvSpPr>
          <p:cNvPr id="40" name="Rectangle 39"/>
          <p:cNvSpPr/>
          <p:nvPr/>
        </p:nvSpPr>
        <p:spPr>
          <a:xfrm>
            <a:off x="7543800" y="2286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543800" y="2286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08392" y="246888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02 / Understand each role</a:t>
            </a:r>
          </a:p>
        </p:txBody>
      </p:sp>
      <p:sp>
        <p:nvSpPr>
          <p:cNvPr id="43" name="TextBox 42"/>
          <p:cNvSpPr txBox="1"/>
          <p:nvPr/>
        </p:nvSpPr>
        <p:spPr>
          <a:xfrm>
            <a:off x="7708392" y="3364991"/>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Editable responsibilities, inputs, outputs and KPIs.</a:t>
            </a:r>
          </a:p>
        </p:txBody>
      </p:sp>
      <p:sp>
        <p:nvSpPr>
          <p:cNvPr id="44" name="Rectangle 43"/>
          <p:cNvSpPr/>
          <p:nvPr/>
        </p:nvSpPr>
        <p:spPr>
          <a:xfrm>
            <a:off x="731520" y="461772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31520" y="461772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480060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03 / Follow the work</a:t>
            </a:r>
          </a:p>
        </p:txBody>
      </p:sp>
      <p:sp>
        <p:nvSpPr>
          <p:cNvPr id="47" name="TextBox 46"/>
          <p:cNvSpPr txBox="1"/>
          <p:nvPr/>
        </p:nvSpPr>
        <p:spPr>
          <a:xfrm>
            <a:off x="896112" y="5696712"/>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Client journey, nine templates and quality gates.</a:t>
            </a:r>
          </a:p>
        </p:txBody>
      </p:sp>
      <p:sp>
        <p:nvSpPr>
          <p:cNvPr id="48" name="Rectangle 47"/>
          <p:cNvSpPr/>
          <p:nvPr/>
        </p:nvSpPr>
        <p:spPr>
          <a:xfrm>
            <a:off x="7543800" y="461772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543800" y="461772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708392" y="480060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04 / Make it yours</a:t>
            </a:r>
          </a:p>
        </p:txBody>
      </p:sp>
      <p:sp>
        <p:nvSpPr>
          <p:cNvPr id="51" name="TextBox 50"/>
          <p:cNvSpPr txBox="1"/>
          <p:nvPr/>
        </p:nvSpPr>
        <p:spPr>
          <a:xfrm>
            <a:off x="7708392" y="5696712"/>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Edit text, move cards, reconnect lines and confirm policies.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03</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THE TEAM / PROPOSED REPORTING MAP</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TextBox 35"/>
          <p:cNvSpPr txBox="1"/>
          <p:nvPr/>
        </p:nvSpPr>
        <p:spPr>
          <a:xfrm>
            <a:off x="685800" y="1874519"/>
            <a:ext cx="13350240" cy="457200"/>
          </a:xfrm>
          <a:prstGeom prst="rect">
            <a:avLst/>
          </a:prstGeom>
          <a:noFill/>
        </p:spPr>
        <p:txBody>
          <a:bodyPr wrap="square" lIns="27432" rIns="27432" tIns="0" bIns="0">
            <a:spAutoFit/>
          </a:bodyPr>
          <a:lstStyle/>
          <a:p>
            <a:pPr>
              <a:spcAft>
                <a:spcPts val="800"/>
              </a:spcAft>
              <a:defRPr sz="1300" b="0">
                <a:solidFill>
                  <a:srgbClr val="555555"/>
                </a:solidFill>
                <a:latin typeface="Montserrat"/>
              </a:defRPr>
            </a:pPr>
            <a:r>
              <a:t>Solid = confirmed; dashed = proposed line management. Video Editors 1 &amp; 2 → Marketing Manager (confirmed by user). Click a position to open its role card.</a:t>
            </a:r>
          </a:p>
        </p:txBody>
      </p:sp>
      <p:cxnSp>
        <p:nvCxnSpPr>
          <p:cNvPr id="37" name="Connector 36"/>
          <p:cNvCxnSpPr/>
          <p:nvPr/>
        </p:nvCxnSpPr>
        <p:spPr>
          <a:xfrm flipH="1">
            <a:off x="1143000" y="3337560"/>
            <a:ext cx="5623560"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143000" y="4663440"/>
            <a:ext cx="0" cy="54864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2926079" y="3337560"/>
            <a:ext cx="3840481"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4709160" y="3337560"/>
            <a:ext cx="2057400"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709160" y="4663440"/>
            <a:ext cx="0" cy="54864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709160" y="4663440"/>
            <a:ext cx="0" cy="164592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6492240" y="3337560"/>
            <a:ext cx="274320"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492240" y="4663440"/>
            <a:ext cx="0" cy="54864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492240" y="4663440"/>
            <a:ext cx="0" cy="164592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6766560" y="3337560"/>
            <a:ext cx="5074920" cy="457200"/>
          </a:xfrm>
          <a:prstGeom prst="line">
            <a:avLst/>
          </a:prstGeom>
          <a:ln w="1524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766560" y="3337560"/>
            <a:ext cx="6858000" cy="457200"/>
          </a:xfrm>
          <a:prstGeom prst="line">
            <a:avLst/>
          </a:prstGeom>
          <a:ln w="1524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6766560" y="3337560"/>
            <a:ext cx="1508760"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766560" y="3337560"/>
            <a:ext cx="3291840"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sp>
        <p:nvSpPr>
          <p:cNvPr id="50" name="Rectangle 49">
            <a:hlinkClick action="ppaction://hlinksldjump" r:id="rId2"/>
          </p:cNvPr>
          <p:cNvSpPr/>
          <p:nvPr/>
        </p:nvSpPr>
        <p:spPr>
          <a:xfrm>
            <a:off x="5943600" y="2468880"/>
            <a:ext cx="1645920" cy="868680"/>
          </a:xfrm>
          <a:prstGeom prst="rect">
            <a:avLst/>
          </a:prstGeom>
          <a:solidFill>
            <a:srgbClr val="7D2B42"/>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a:hlinkClick action="ppaction://hlinksldjump" r:id="rId2"/>
          </p:cNvPr>
          <p:cNvSpPr txBox="1"/>
          <p:nvPr/>
        </p:nvSpPr>
        <p:spPr>
          <a:xfrm>
            <a:off x="6035040" y="2542032"/>
            <a:ext cx="1463040" cy="182880"/>
          </a:xfrm>
          <a:prstGeom prst="rect">
            <a:avLst/>
          </a:prstGeom>
          <a:noFill/>
        </p:spPr>
        <p:txBody>
          <a:bodyPr wrap="square" lIns="27432" rIns="27432" tIns="0" bIns="0">
            <a:spAutoFit/>
          </a:bodyPr>
          <a:lstStyle/>
          <a:p>
            <a:pPr>
              <a:spcAft>
                <a:spcPts val="800"/>
              </a:spcAft>
              <a:defRPr sz="900" b="1">
                <a:solidFill>
                  <a:srgbClr val="FFCC00"/>
                </a:solidFill>
                <a:latin typeface="Montserrat"/>
              </a:defRPr>
            </a:pPr>
            <a:r>
              <a:t>MM-01</a:t>
            </a:r>
          </a:p>
        </p:txBody>
      </p:sp>
      <p:sp>
        <p:nvSpPr>
          <p:cNvPr id="52" name="TextBox 51">
            <a:hlinkClick action="ppaction://hlinksldjump" r:id="rId2"/>
          </p:cNvPr>
          <p:cNvSpPr txBox="1"/>
          <p:nvPr/>
        </p:nvSpPr>
        <p:spPr>
          <a:xfrm>
            <a:off x="6035040" y="2788920"/>
            <a:ext cx="1463040" cy="502920"/>
          </a:xfrm>
          <a:prstGeom prst="rect">
            <a:avLst/>
          </a:prstGeom>
          <a:noFill/>
        </p:spPr>
        <p:txBody>
          <a:bodyPr wrap="square" lIns="27432" rIns="27432" tIns="0" bIns="0">
            <a:spAutoFit/>
          </a:bodyPr>
          <a:lstStyle/>
          <a:p>
            <a:pPr>
              <a:spcAft>
                <a:spcPts val="800"/>
              </a:spcAft>
              <a:defRPr sz="1200" b="1">
                <a:solidFill>
                  <a:srgbClr val="FFFFFF"/>
                </a:solidFill>
                <a:latin typeface="Montserrat"/>
              </a:defRPr>
            </a:pPr>
            <a:r>
              <a:t>Marketing Manager</a:t>
            </a:r>
          </a:p>
        </p:txBody>
      </p:sp>
      <p:sp>
        <p:nvSpPr>
          <p:cNvPr id="53" name="Rectangle 52">
            <a:hlinkClick action="ppaction://hlinksldjump" r:id="rId3"/>
          </p:cNvPr>
          <p:cNvSpPr/>
          <p:nvPr/>
        </p:nvSpPr>
        <p:spPr>
          <a:xfrm>
            <a:off x="32004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a:hlinkClick action="ppaction://hlinksldjump" r:id="rId3"/>
          </p:cNvPr>
          <p:cNvSpPr txBox="1"/>
          <p:nvPr/>
        </p:nvSpPr>
        <p:spPr>
          <a:xfrm>
            <a:off x="411479" y="386791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BD-01</a:t>
            </a:r>
          </a:p>
        </p:txBody>
      </p:sp>
      <p:sp>
        <p:nvSpPr>
          <p:cNvPr id="55" name="TextBox 54">
            <a:hlinkClick action="ppaction://hlinksldjump" r:id="rId3"/>
          </p:cNvPr>
          <p:cNvSpPr txBox="1"/>
          <p:nvPr/>
        </p:nvSpPr>
        <p:spPr>
          <a:xfrm>
            <a:off x="411479" y="411480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Business Developer</a:t>
            </a:r>
          </a:p>
        </p:txBody>
      </p:sp>
      <p:sp>
        <p:nvSpPr>
          <p:cNvPr id="56" name="Rectangle 55">
            <a:hlinkClick action="ppaction://hlinksldjump" r:id="rId4"/>
          </p:cNvPr>
          <p:cNvSpPr/>
          <p:nvPr/>
        </p:nvSpPr>
        <p:spPr>
          <a:xfrm>
            <a:off x="320040" y="521208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a:hlinkClick action="ppaction://hlinksldjump" r:id="rId4"/>
          </p:cNvPr>
          <p:cNvSpPr txBox="1"/>
          <p:nvPr/>
        </p:nvSpPr>
        <p:spPr>
          <a:xfrm>
            <a:off x="411479" y="528523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SA-01</a:t>
            </a:r>
          </a:p>
        </p:txBody>
      </p:sp>
      <p:sp>
        <p:nvSpPr>
          <p:cNvPr id="58" name="TextBox 57">
            <a:hlinkClick action="ppaction://hlinksldjump" r:id="rId4"/>
          </p:cNvPr>
          <p:cNvSpPr txBox="1"/>
          <p:nvPr/>
        </p:nvSpPr>
        <p:spPr>
          <a:xfrm>
            <a:off x="411479" y="553212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Sales</a:t>
            </a:r>
          </a:p>
        </p:txBody>
      </p:sp>
      <p:sp>
        <p:nvSpPr>
          <p:cNvPr id="59" name="Rectangle 58">
            <a:hlinkClick action="ppaction://hlinksldjump" r:id="rId5"/>
          </p:cNvPr>
          <p:cNvSpPr/>
          <p:nvPr/>
        </p:nvSpPr>
        <p:spPr>
          <a:xfrm>
            <a:off x="210312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a:hlinkClick action="ppaction://hlinksldjump" r:id="rId5"/>
          </p:cNvPr>
          <p:cNvSpPr txBox="1"/>
          <p:nvPr/>
        </p:nvSpPr>
        <p:spPr>
          <a:xfrm>
            <a:off x="2194560" y="386791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AM-01</a:t>
            </a:r>
          </a:p>
        </p:txBody>
      </p:sp>
      <p:sp>
        <p:nvSpPr>
          <p:cNvPr id="61" name="TextBox 60">
            <a:hlinkClick action="ppaction://hlinksldjump" r:id="rId5"/>
          </p:cNvPr>
          <p:cNvSpPr txBox="1"/>
          <p:nvPr/>
        </p:nvSpPr>
        <p:spPr>
          <a:xfrm>
            <a:off x="2194560" y="411480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Account Manager</a:t>
            </a:r>
          </a:p>
        </p:txBody>
      </p:sp>
      <p:sp>
        <p:nvSpPr>
          <p:cNvPr id="62" name="Rectangle 61">
            <a:hlinkClick action="ppaction://hlinksldjump" r:id="rId6"/>
          </p:cNvPr>
          <p:cNvSpPr/>
          <p:nvPr/>
        </p:nvSpPr>
        <p:spPr>
          <a:xfrm>
            <a:off x="388620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a:hlinkClick action="ppaction://hlinksldjump" r:id="rId6"/>
          </p:cNvPr>
          <p:cNvSpPr txBox="1"/>
          <p:nvPr/>
        </p:nvSpPr>
        <p:spPr>
          <a:xfrm>
            <a:off x="3977639" y="386791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HC-01</a:t>
            </a:r>
          </a:p>
        </p:txBody>
      </p:sp>
      <p:sp>
        <p:nvSpPr>
          <p:cNvPr id="64" name="TextBox 63">
            <a:hlinkClick action="ppaction://hlinksldjump" r:id="rId6"/>
          </p:cNvPr>
          <p:cNvSpPr txBox="1"/>
          <p:nvPr/>
        </p:nvSpPr>
        <p:spPr>
          <a:xfrm>
            <a:off x="3977639" y="411480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Head of Content</a:t>
            </a:r>
          </a:p>
        </p:txBody>
      </p:sp>
      <p:sp>
        <p:nvSpPr>
          <p:cNvPr id="65" name="Rectangle 64">
            <a:hlinkClick action="ppaction://hlinksldjump" r:id="rId7"/>
          </p:cNvPr>
          <p:cNvSpPr/>
          <p:nvPr/>
        </p:nvSpPr>
        <p:spPr>
          <a:xfrm>
            <a:off x="3886200" y="521208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a:hlinkClick action="ppaction://hlinksldjump" r:id="rId7"/>
          </p:cNvPr>
          <p:cNvSpPr txBox="1"/>
          <p:nvPr/>
        </p:nvSpPr>
        <p:spPr>
          <a:xfrm>
            <a:off x="3977639" y="528523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CW-S01</a:t>
            </a:r>
          </a:p>
        </p:txBody>
      </p:sp>
      <p:sp>
        <p:nvSpPr>
          <p:cNvPr id="67" name="TextBox 66">
            <a:hlinkClick action="ppaction://hlinksldjump" r:id="rId7"/>
          </p:cNvPr>
          <p:cNvSpPr txBox="1"/>
          <p:nvPr/>
        </p:nvSpPr>
        <p:spPr>
          <a:xfrm>
            <a:off x="3977639" y="553212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Senior Content Writer</a:t>
            </a:r>
          </a:p>
        </p:txBody>
      </p:sp>
      <p:sp>
        <p:nvSpPr>
          <p:cNvPr id="68" name="Rectangle 67">
            <a:hlinkClick action="ppaction://hlinksldjump" r:id="rId8"/>
          </p:cNvPr>
          <p:cNvSpPr/>
          <p:nvPr/>
        </p:nvSpPr>
        <p:spPr>
          <a:xfrm>
            <a:off x="3886200" y="63093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a:hlinkClick action="ppaction://hlinksldjump" r:id="rId8"/>
          </p:cNvPr>
          <p:cNvSpPr txBox="1"/>
          <p:nvPr/>
        </p:nvSpPr>
        <p:spPr>
          <a:xfrm>
            <a:off x="3977639" y="638251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CW-J01</a:t>
            </a:r>
          </a:p>
        </p:txBody>
      </p:sp>
      <p:sp>
        <p:nvSpPr>
          <p:cNvPr id="70" name="TextBox 69">
            <a:hlinkClick action="ppaction://hlinksldjump" r:id="rId8"/>
          </p:cNvPr>
          <p:cNvSpPr txBox="1"/>
          <p:nvPr/>
        </p:nvSpPr>
        <p:spPr>
          <a:xfrm>
            <a:off x="3977639" y="662940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Junior Content Writer</a:t>
            </a:r>
          </a:p>
        </p:txBody>
      </p:sp>
      <p:sp>
        <p:nvSpPr>
          <p:cNvPr id="71" name="Rectangle 70">
            <a:hlinkClick action="ppaction://hlinksldjump" r:id="rId9"/>
          </p:cNvPr>
          <p:cNvSpPr/>
          <p:nvPr/>
        </p:nvSpPr>
        <p:spPr>
          <a:xfrm>
            <a:off x="5669279"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a:hlinkClick action="ppaction://hlinksldjump" r:id="rId9"/>
          </p:cNvPr>
          <p:cNvSpPr txBox="1"/>
          <p:nvPr/>
        </p:nvSpPr>
        <p:spPr>
          <a:xfrm>
            <a:off x="5760719" y="386791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HD-01</a:t>
            </a:r>
          </a:p>
        </p:txBody>
      </p:sp>
      <p:sp>
        <p:nvSpPr>
          <p:cNvPr id="73" name="TextBox 72">
            <a:hlinkClick action="ppaction://hlinksldjump" r:id="rId9"/>
          </p:cNvPr>
          <p:cNvSpPr txBox="1"/>
          <p:nvPr/>
        </p:nvSpPr>
        <p:spPr>
          <a:xfrm>
            <a:off x="5760719" y="411480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Head of Graphic Design Team</a:t>
            </a:r>
          </a:p>
        </p:txBody>
      </p:sp>
      <p:sp>
        <p:nvSpPr>
          <p:cNvPr id="74" name="Rectangle 73">
            <a:hlinkClick action="ppaction://hlinksldjump" r:id="rId10"/>
          </p:cNvPr>
          <p:cNvSpPr/>
          <p:nvPr/>
        </p:nvSpPr>
        <p:spPr>
          <a:xfrm>
            <a:off x="5669280" y="521208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a:hlinkClick action="ppaction://hlinksldjump" r:id="rId10"/>
          </p:cNvPr>
          <p:cNvSpPr txBox="1"/>
          <p:nvPr/>
        </p:nvSpPr>
        <p:spPr>
          <a:xfrm>
            <a:off x="5760720" y="528523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GD-01</a:t>
            </a:r>
          </a:p>
        </p:txBody>
      </p:sp>
      <p:sp>
        <p:nvSpPr>
          <p:cNvPr id="76" name="TextBox 75">
            <a:hlinkClick action="ppaction://hlinksldjump" r:id="rId10"/>
          </p:cNvPr>
          <p:cNvSpPr txBox="1"/>
          <p:nvPr/>
        </p:nvSpPr>
        <p:spPr>
          <a:xfrm>
            <a:off x="5760720" y="553212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Graphic Designer 1</a:t>
            </a:r>
          </a:p>
        </p:txBody>
      </p:sp>
      <p:sp>
        <p:nvSpPr>
          <p:cNvPr id="77" name="Rectangle 76">
            <a:hlinkClick action="ppaction://hlinksldjump" r:id="rId11"/>
          </p:cNvPr>
          <p:cNvSpPr/>
          <p:nvPr/>
        </p:nvSpPr>
        <p:spPr>
          <a:xfrm>
            <a:off x="5669280" y="63093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a:hlinkClick action="ppaction://hlinksldjump" r:id="rId11"/>
          </p:cNvPr>
          <p:cNvSpPr txBox="1"/>
          <p:nvPr/>
        </p:nvSpPr>
        <p:spPr>
          <a:xfrm>
            <a:off x="5760720" y="638251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GD-02</a:t>
            </a:r>
          </a:p>
        </p:txBody>
      </p:sp>
      <p:sp>
        <p:nvSpPr>
          <p:cNvPr id="79" name="TextBox 78">
            <a:hlinkClick action="ppaction://hlinksldjump" r:id="rId11"/>
          </p:cNvPr>
          <p:cNvSpPr txBox="1"/>
          <p:nvPr/>
        </p:nvSpPr>
        <p:spPr>
          <a:xfrm>
            <a:off x="5760720" y="662940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Graphic Designer 2</a:t>
            </a:r>
          </a:p>
        </p:txBody>
      </p:sp>
      <p:sp>
        <p:nvSpPr>
          <p:cNvPr id="80" name="Rectangle 79">
            <a:hlinkClick action="ppaction://hlinksldjump" r:id="rId12"/>
          </p:cNvPr>
          <p:cNvSpPr/>
          <p:nvPr/>
        </p:nvSpPr>
        <p:spPr>
          <a:xfrm>
            <a:off x="11018519"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a:hlinkClick action="ppaction://hlinksldjump" r:id="rId12"/>
          </p:cNvPr>
          <p:cNvSpPr txBox="1"/>
          <p:nvPr/>
        </p:nvSpPr>
        <p:spPr>
          <a:xfrm>
            <a:off x="11109959" y="386791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VE-01</a:t>
            </a:r>
          </a:p>
        </p:txBody>
      </p:sp>
      <p:sp>
        <p:nvSpPr>
          <p:cNvPr id="82" name="TextBox 81">
            <a:hlinkClick action="ppaction://hlinksldjump" r:id="rId12"/>
          </p:cNvPr>
          <p:cNvSpPr txBox="1"/>
          <p:nvPr/>
        </p:nvSpPr>
        <p:spPr>
          <a:xfrm>
            <a:off x="11109959" y="411480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Video Editor 1</a:t>
            </a:r>
          </a:p>
        </p:txBody>
      </p:sp>
      <p:sp>
        <p:nvSpPr>
          <p:cNvPr id="83" name="Rectangle 82">
            <a:hlinkClick action="ppaction://hlinksldjump" r:id="rId13"/>
          </p:cNvPr>
          <p:cNvSpPr/>
          <p:nvPr/>
        </p:nvSpPr>
        <p:spPr>
          <a:xfrm>
            <a:off x="1280160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a:hlinkClick action="ppaction://hlinksldjump" r:id="rId13"/>
          </p:cNvPr>
          <p:cNvSpPr txBox="1"/>
          <p:nvPr/>
        </p:nvSpPr>
        <p:spPr>
          <a:xfrm>
            <a:off x="12893040" y="386791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VE-02</a:t>
            </a:r>
          </a:p>
        </p:txBody>
      </p:sp>
      <p:sp>
        <p:nvSpPr>
          <p:cNvPr id="85" name="TextBox 84">
            <a:hlinkClick action="ppaction://hlinksldjump" r:id="rId13"/>
          </p:cNvPr>
          <p:cNvSpPr txBox="1"/>
          <p:nvPr/>
        </p:nvSpPr>
        <p:spPr>
          <a:xfrm>
            <a:off x="12893040" y="411480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Video Editor 2</a:t>
            </a:r>
          </a:p>
        </p:txBody>
      </p:sp>
      <p:sp>
        <p:nvSpPr>
          <p:cNvPr id="86" name="Rectangle 85">
            <a:hlinkClick action="ppaction://hlinksldjump" r:id="rId14"/>
          </p:cNvPr>
          <p:cNvSpPr/>
          <p:nvPr/>
        </p:nvSpPr>
        <p:spPr>
          <a:xfrm>
            <a:off x="745236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a:hlinkClick action="ppaction://hlinksldjump" r:id="rId14"/>
          </p:cNvPr>
          <p:cNvSpPr txBox="1"/>
          <p:nvPr/>
        </p:nvSpPr>
        <p:spPr>
          <a:xfrm>
            <a:off x="7543800" y="386791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SM-01</a:t>
            </a:r>
          </a:p>
        </p:txBody>
      </p:sp>
      <p:sp>
        <p:nvSpPr>
          <p:cNvPr id="88" name="TextBox 87">
            <a:hlinkClick action="ppaction://hlinksldjump" r:id="rId14"/>
          </p:cNvPr>
          <p:cNvSpPr txBox="1"/>
          <p:nvPr/>
        </p:nvSpPr>
        <p:spPr>
          <a:xfrm>
            <a:off x="7543800" y="411480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Social Media Specialist</a:t>
            </a:r>
          </a:p>
        </p:txBody>
      </p:sp>
      <p:sp>
        <p:nvSpPr>
          <p:cNvPr id="89" name="Rectangle 88">
            <a:hlinkClick action="ppaction://hlinksldjump" r:id="rId15"/>
          </p:cNvPr>
          <p:cNvSpPr/>
          <p:nvPr/>
        </p:nvSpPr>
        <p:spPr>
          <a:xfrm>
            <a:off x="923544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a:hlinkClick action="ppaction://hlinksldjump" r:id="rId15"/>
          </p:cNvPr>
          <p:cNvSpPr txBox="1"/>
          <p:nvPr/>
        </p:nvSpPr>
        <p:spPr>
          <a:xfrm>
            <a:off x="9326880" y="386791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MB-01</a:t>
            </a:r>
          </a:p>
        </p:txBody>
      </p:sp>
      <p:sp>
        <p:nvSpPr>
          <p:cNvPr id="91" name="TextBox 90">
            <a:hlinkClick action="ppaction://hlinksldjump" r:id="rId15"/>
          </p:cNvPr>
          <p:cNvSpPr txBox="1"/>
          <p:nvPr/>
        </p:nvSpPr>
        <p:spPr>
          <a:xfrm>
            <a:off x="9326880" y="411480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Media Buyer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MM-01 / LEADERSHIP</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04</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MARKETING MANAGER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MM-01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LEADERSHIP</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No manager / overall strategic leadership</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BD-01, AM-01, HC-01, HD-01, VE-01, VE-02, SM-01, MB-01</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600" b="0">
                <a:solidFill>
                  <a:srgbClr val="202020"/>
                </a:solidFill>
                <a:latin typeface="Montserrat"/>
              </a:defRPr>
            </a:pPr>
            <a:r>
              <a:t>Strategy, budgets, priorities, resource allocation and final internal task approval after team-head quality review</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Business goals, resource requests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Strategic direction, budget decisions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Campaign outcomes, team capacity</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BD-01 / GROWTH</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05</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BUSINESS DEVELOPER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BD-01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GROWTH</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SA-01</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Prospecting, qualification and partnerships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Lead sources, opportunities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Qualified leads, discovery notes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Qualified opportunities</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SA-01 / GROWTH</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06</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SALES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SA-01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GROWTH</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Business Developer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Proposals, negotiation and commercial close</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Qualified leads, requirements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Signed scope, contract summary</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Conversion rate</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AM-01 / ACCOUNTS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07</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ACCOUNT MANAGER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AM-01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ACCOUNTS</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300" b="0">
                <a:solidFill>
                  <a:srgbClr val="202020"/>
                </a:solidFill>
                <a:latin typeface="Montserrat"/>
              </a:defRPr>
            </a:pPr>
            <a:r>
              <a:t>Attend client meetings; capture and write the client brief; distribute tasks to Content, Design and Editing; monitor execution; comment on revisions; gather approved work into one PPTX; present it for final client approval</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Client meetings, agreed scope, client feedback</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600" b="0">
                <a:solidFill>
                  <a:srgbClr val="202020"/>
                </a:solidFill>
                <a:latin typeface="Montserrat"/>
              </a:defRPr>
            </a:pPr>
            <a:r>
              <a:t>Written brief, assigned tasks, consolidated client PPTX, recorded final client approval</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Client satisfaction, turnaround</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HC-01 / CONTENT</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08</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HEAD OF CONTENT</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HC-01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CONTENT</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CW-S01, CW-J01</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Editorial strategy, assignment and copy quality</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Approved brief, positioning</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Editorial plan, approved scripts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Revision rate, editorial quality</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CW-S01 / CONTENT</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09</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SENIOR CONTENT WRITER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CW-S01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CONTENT</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Head of Content</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Concepts, advanced copy, scripts and mentoring</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Complex briefs, references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Concepts, scripts, advanced copy</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Copy quality, turnaround</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CW-J01 / CONTENT</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10</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JUNIOR CONTENT WRITER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CW-J01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CONTENT</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Head of Content</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Research, captions and adaptations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Brief, content assignment</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Draft captions, research</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Draft quality, completion</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HD-01 / CREATIVE</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11</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HEAD OF GRAPHIC DESIGN TEAM</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HD-01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CREATIVE</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GD-01, GD-02</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Art direction, assignments and creative QC</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Approved creative brief and copy</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QC-approved creative assets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Creative quality, revision rate</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GD-01 / CREATIVE</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12</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GRAPHIC DESIGNER 1</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GD-01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CREATIVE</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Head of Graphic Design Team</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Static posts, carousels and ad creatives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Approved copy, specifications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Design files and source exports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Quality, delivery time</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GD-02 / CREATIVE</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13</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GRAPHIC DESIGNER 2</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GD-02</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CREATIVE</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Head of Graphic Design Team</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Static posts, resizing and amendments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Approved copy, specifications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Design files and source exports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Quality, delivery time</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VE-01 / CREATIVE</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14</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VIDEO EDITOR 1</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VE-01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CREATIVE</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(CONFIRMED)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Reels, subtitles, exports and revisions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Approved script, footage</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Reviewable cuts, final exports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Revision rate, turnaround</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VE-02 / CREATIVE</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15</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VIDEO EDITOR 2</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VE-02</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CREATIVE</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(CONFIRMED)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Reels, subtitles, exports and revisions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Approved script, footage</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Reviewable cuts, final exports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Revision rate, turnaround</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SM-01 / DISTRIBUTION</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16</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SOCIAL MEDIA SPECIALIST</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SM-01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DISTRIBUTION</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300" b="0">
                <a:solidFill>
                  <a:srgbClr val="202020"/>
                </a:solidFill>
                <a:latin typeface="Montserrat"/>
              </a:defRPr>
            </a:pPr>
            <a:r>
              <a:t>Gather all private-label calendars; create strategies, performance reports and social listening reports; schedule and publish client-approved calendars; reply to comments on private-label pages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Client-approved presentation, approved calendars, private-label insights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600" b="0">
                <a:solidFill>
                  <a:srgbClr val="202020"/>
                </a:solidFill>
                <a:latin typeface="Montserrat"/>
              </a:defRPr>
            </a:pPr>
            <a:r>
              <a:t>Consolidated private-label calendars, strategies, performance reports, listening reports, scheduled and published content, community replies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Engagement, schedule adherence</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MB-01 / DISTRIBUTION</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17</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MEDIA BUYER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MB-01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DISTRIBUTION</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Paid strategy, setup, optimization and reporting</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Approved plan, budget, creatives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Campaign setup, performance reports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Campaign performance, pacing</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18</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FIVE CONNECTIONS. FIVE DIFFERENT MEANINGS.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cxnSp>
        <p:nvCxnSpPr>
          <p:cNvPr id="36" name="Connector 35"/>
          <p:cNvCxnSpPr/>
          <p:nvPr/>
        </p:nvCxnSpPr>
        <p:spPr>
          <a:xfrm>
            <a:off x="822960" y="2468880"/>
            <a:ext cx="1371600" cy="0"/>
          </a:xfrm>
          <a:prstGeom prst="line">
            <a:avLst/>
          </a:prstGeom>
          <a:ln w="38100">
            <a:solidFill>
              <a:srgbClr val="7D2B42"/>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2514600" y="2240280"/>
            <a:ext cx="3657600" cy="365760"/>
          </a:xfrm>
          <a:prstGeom prst="rect">
            <a:avLst/>
          </a:prstGeom>
          <a:noFill/>
        </p:spPr>
        <p:txBody>
          <a:bodyPr wrap="square" lIns="27432" rIns="27432" tIns="0" bIns="0">
            <a:spAutoFit/>
          </a:bodyPr>
          <a:lstStyle/>
          <a:p>
            <a:pPr>
              <a:spcAft>
                <a:spcPts val="800"/>
              </a:spcAft>
              <a:defRPr sz="1900" b="1">
                <a:solidFill>
                  <a:srgbClr val="7D2B42"/>
                </a:solidFill>
                <a:latin typeface="Montserrat"/>
              </a:defRPr>
            </a:pPr>
            <a:r>
              <a:t>REPORTS TO</a:t>
            </a:r>
          </a:p>
        </p:txBody>
      </p:sp>
      <p:sp>
        <p:nvSpPr>
          <p:cNvPr id="38" name="TextBox 37"/>
          <p:cNvSpPr txBox="1"/>
          <p:nvPr/>
        </p:nvSpPr>
        <p:spPr>
          <a:xfrm>
            <a:off x="6400800" y="2240280"/>
            <a:ext cx="7315200" cy="59436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Formal line management. Coordination does not imply authority.</a:t>
            </a:r>
          </a:p>
        </p:txBody>
      </p:sp>
      <p:cxnSp>
        <p:nvCxnSpPr>
          <p:cNvPr id="39" name="Connector 38"/>
          <p:cNvCxnSpPr/>
          <p:nvPr/>
        </p:nvCxnSpPr>
        <p:spPr>
          <a:xfrm>
            <a:off x="822960" y="3456432"/>
            <a:ext cx="1371600" cy="0"/>
          </a:xfrm>
          <a:prstGeom prst="line">
            <a:avLst/>
          </a:prstGeom>
          <a:ln w="38100">
            <a:solidFill>
              <a:srgbClr val="20202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514600" y="3227832"/>
            <a:ext cx="3657600" cy="365760"/>
          </a:xfrm>
          <a:prstGeom prst="rect">
            <a:avLst/>
          </a:prstGeom>
          <a:noFill/>
        </p:spPr>
        <p:txBody>
          <a:bodyPr wrap="square" lIns="27432" rIns="27432" tIns="0" bIns="0">
            <a:spAutoFit/>
          </a:bodyPr>
          <a:lstStyle/>
          <a:p>
            <a:pPr>
              <a:spcAft>
                <a:spcPts val="800"/>
              </a:spcAft>
              <a:defRPr sz="1900" b="1">
                <a:solidFill>
                  <a:srgbClr val="7D2B42"/>
                </a:solidFill>
                <a:latin typeface="Montserrat"/>
              </a:defRPr>
            </a:pPr>
            <a:r>
              <a:t>HANDOFF TO</a:t>
            </a:r>
          </a:p>
        </p:txBody>
      </p:sp>
      <p:sp>
        <p:nvSpPr>
          <p:cNvPr id="41" name="TextBox 40"/>
          <p:cNvSpPr txBox="1"/>
          <p:nvPr/>
        </p:nvSpPr>
        <p:spPr>
          <a:xfrm>
            <a:off x="6400800" y="3227832"/>
            <a:ext cx="7315200" cy="59436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Accepted output moves from one accountable owner to the next.</a:t>
            </a:r>
          </a:p>
        </p:txBody>
      </p:sp>
      <p:cxnSp>
        <p:nvCxnSpPr>
          <p:cNvPr id="42" name="Connector 41"/>
          <p:cNvCxnSpPr/>
          <p:nvPr/>
        </p:nvCxnSpPr>
        <p:spPr>
          <a:xfrm>
            <a:off x="822960" y="4443984"/>
            <a:ext cx="1371600" cy="0"/>
          </a:xfrm>
          <a:prstGeom prst="line">
            <a:avLst/>
          </a:prstGeom>
          <a:ln w="38100">
            <a:solidFill>
              <a:srgbClr val="555555"/>
            </a:solidFill>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2514600" y="4215384"/>
            <a:ext cx="3657600" cy="365760"/>
          </a:xfrm>
          <a:prstGeom prst="rect">
            <a:avLst/>
          </a:prstGeom>
          <a:noFill/>
        </p:spPr>
        <p:txBody>
          <a:bodyPr wrap="square" lIns="27432" rIns="27432" tIns="0" bIns="0">
            <a:spAutoFit/>
          </a:bodyPr>
          <a:lstStyle/>
          <a:p>
            <a:pPr>
              <a:spcAft>
                <a:spcPts val="800"/>
              </a:spcAft>
              <a:defRPr sz="1900" b="1">
                <a:solidFill>
                  <a:srgbClr val="7D2B42"/>
                </a:solidFill>
                <a:latin typeface="Montserrat"/>
              </a:defRPr>
            </a:pPr>
            <a:r>
              <a:t>COLLABORATES WITH</a:t>
            </a:r>
          </a:p>
        </p:txBody>
      </p:sp>
      <p:sp>
        <p:nvSpPr>
          <p:cNvPr id="44" name="TextBox 43"/>
          <p:cNvSpPr txBox="1"/>
          <p:nvPr/>
        </p:nvSpPr>
        <p:spPr>
          <a:xfrm>
            <a:off x="6400800" y="4215384"/>
            <a:ext cx="7315200" cy="59436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Peer cooperation without implied managerial power.</a:t>
            </a:r>
          </a:p>
        </p:txBody>
      </p:sp>
      <p:cxnSp>
        <p:nvCxnSpPr>
          <p:cNvPr id="45" name="Connector 44"/>
          <p:cNvCxnSpPr/>
          <p:nvPr/>
        </p:nvCxnSpPr>
        <p:spPr>
          <a:xfrm>
            <a:off x="822960" y="5431536"/>
            <a:ext cx="1371600" cy="0"/>
          </a:xfrm>
          <a:prstGeom prst="line">
            <a:avLst/>
          </a:prstGeom>
          <a:ln w="38100">
            <a:solidFill>
              <a:srgbClr val="7D2B42"/>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2514600" y="5202936"/>
            <a:ext cx="3657600" cy="365760"/>
          </a:xfrm>
          <a:prstGeom prst="rect">
            <a:avLst/>
          </a:prstGeom>
          <a:noFill/>
        </p:spPr>
        <p:txBody>
          <a:bodyPr wrap="square" lIns="27432" rIns="27432" tIns="0" bIns="0">
            <a:spAutoFit/>
          </a:bodyPr>
          <a:lstStyle/>
          <a:p>
            <a:pPr>
              <a:spcAft>
                <a:spcPts val="800"/>
              </a:spcAft>
              <a:defRPr sz="1900" b="1">
                <a:solidFill>
                  <a:srgbClr val="7D2B42"/>
                </a:solidFill>
                <a:latin typeface="Montserrat"/>
              </a:defRPr>
            </a:pPr>
            <a:r>
              <a:t>APPROVAL BY</a:t>
            </a:r>
          </a:p>
        </p:txBody>
      </p:sp>
      <p:sp>
        <p:nvSpPr>
          <p:cNvPr id="47" name="TextBox 46"/>
          <p:cNvSpPr txBox="1"/>
          <p:nvPr/>
        </p:nvSpPr>
        <p:spPr>
          <a:xfrm>
            <a:off x="6400800" y="5202936"/>
            <a:ext cx="7315200" cy="59436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Independent review before the next execution gate.</a:t>
            </a:r>
          </a:p>
        </p:txBody>
      </p:sp>
      <p:cxnSp>
        <p:nvCxnSpPr>
          <p:cNvPr id="48" name="Connector 47"/>
          <p:cNvCxnSpPr/>
          <p:nvPr/>
        </p:nvCxnSpPr>
        <p:spPr>
          <a:xfrm>
            <a:off x="822960" y="6419088"/>
            <a:ext cx="1371600" cy="0"/>
          </a:xfrm>
          <a:prstGeom prst="line">
            <a:avLst/>
          </a:prstGeom>
          <a:ln w="38100">
            <a:solidFill>
              <a:srgbClr val="555555"/>
            </a:solidFill>
            <a:prstDash val="dash"/>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2514600" y="6190488"/>
            <a:ext cx="3657600" cy="365760"/>
          </a:xfrm>
          <a:prstGeom prst="rect">
            <a:avLst/>
          </a:prstGeom>
          <a:noFill/>
        </p:spPr>
        <p:txBody>
          <a:bodyPr wrap="square" lIns="27432" rIns="27432" tIns="0" bIns="0">
            <a:spAutoFit/>
          </a:bodyPr>
          <a:lstStyle/>
          <a:p>
            <a:pPr>
              <a:spcAft>
                <a:spcPts val="800"/>
              </a:spcAft>
              <a:defRPr sz="1900" b="1">
                <a:solidFill>
                  <a:srgbClr val="7D2B42"/>
                </a:solidFill>
                <a:latin typeface="Montserrat"/>
              </a:defRPr>
            </a:pPr>
            <a:r>
              <a:t>ESCALATES TO</a:t>
            </a:r>
          </a:p>
        </p:txBody>
      </p:sp>
      <p:sp>
        <p:nvSpPr>
          <p:cNvPr id="50" name="TextBox 49"/>
          <p:cNvSpPr txBox="1"/>
          <p:nvPr/>
        </p:nvSpPr>
        <p:spPr>
          <a:xfrm>
            <a:off x="6400800" y="6190488"/>
            <a:ext cx="7315200" cy="59436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Proposed resolution path; automatic escalation is off.</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19</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FROM FIRST CONTACT TO FINAL REPORT</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377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2514600"/>
            <a:ext cx="731520" cy="502920"/>
          </a:xfrm>
          <a:prstGeom prst="rect">
            <a:avLst/>
          </a:prstGeom>
          <a:noFill/>
        </p:spPr>
        <p:txBody>
          <a:bodyPr wrap="square" lIns="27432" rIns="27432" tIns="0" bIns="0">
            <a:spAutoFit/>
          </a:bodyPr>
          <a:lstStyle/>
          <a:p>
            <a:pPr>
              <a:spcAft>
                <a:spcPts val="800"/>
              </a:spcAft>
              <a:defRPr sz="2700" b="1">
                <a:solidFill>
                  <a:srgbClr val="7D2B42"/>
                </a:solidFill>
                <a:latin typeface="Bebas Neue"/>
              </a:defRPr>
            </a:pPr>
            <a:r>
              <a:t>01</a:t>
            </a:r>
          </a:p>
        </p:txBody>
      </p:sp>
      <p:sp>
        <p:nvSpPr>
          <p:cNvPr id="38" name="TextBox 37"/>
          <p:cNvSpPr txBox="1"/>
          <p:nvPr/>
        </p:nvSpPr>
        <p:spPr>
          <a:xfrm>
            <a:off x="914400" y="3154680"/>
            <a:ext cx="288036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QUALIFY</a:t>
            </a:r>
          </a:p>
        </p:txBody>
      </p:sp>
      <p:sp>
        <p:nvSpPr>
          <p:cNvPr id="39" name="TextBox 38"/>
          <p:cNvSpPr txBox="1"/>
          <p:nvPr/>
        </p:nvSpPr>
        <p:spPr>
          <a:xfrm>
            <a:off x="914400" y="3657600"/>
            <a:ext cx="2880360" cy="45720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Business Developer</a:t>
            </a:r>
          </a:p>
        </p:txBody>
      </p:sp>
      <p:cxnSp>
        <p:nvCxnSpPr>
          <p:cNvPr id="40" name="Connector 39"/>
          <p:cNvCxnSpPr/>
          <p:nvPr/>
        </p:nvCxnSpPr>
        <p:spPr>
          <a:xfrm>
            <a:off x="3977639" y="3337560"/>
            <a:ext cx="274321"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4251960" y="2377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434840" y="2514600"/>
            <a:ext cx="731520" cy="502920"/>
          </a:xfrm>
          <a:prstGeom prst="rect">
            <a:avLst/>
          </a:prstGeom>
          <a:noFill/>
        </p:spPr>
        <p:txBody>
          <a:bodyPr wrap="square" lIns="27432" rIns="27432" tIns="0" bIns="0">
            <a:spAutoFit/>
          </a:bodyPr>
          <a:lstStyle/>
          <a:p>
            <a:pPr>
              <a:spcAft>
                <a:spcPts val="800"/>
              </a:spcAft>
              <a:defRPr sz="2700" b="1">
                <a:solidFill>
                  <a:srgbClr val="7D2B42"/>
                </a:solidFill>
                <a:latin typeface="Bebas Neue"/>
              </a:defRPr>
            </a:pPr>
            <a:r>
              <a:t>02</a:t>
            </a:r>
          </a:p>
        </p:txBody>
      </p:sp>
      <p:sp>
        <p:nvSpPr>
          <p:cNvPr id="43" name="TextBox 42"/>
          <p:cNvSpPr txBox="1"/>
          <p:nvPr/>
        </p:nvSpPr>
        <p:spPr>
          <a:xfrm>
            <a:off x="4434840" y="3154680"/>
            <a:ext cx="288036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CLOSE</a:t>
            </a:r>
          </a:p>
        </p:txBody>
      </p:sp>
      <p:sp>
        <p:nvSpPr>
          <p:cNvPr id="44" name="TextBox 43"/>
          <p:cNvSpPr txBox="1"/>
          <p:nvPr/>
        </p:nvSpPr>
        <p:spPr>
          <a:xfrm>
            <a:off x="4434840" y="3657600"/>
            <a:ext cx="2880360" cy="45720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Sales</a:t>
            </a:r>
          </a:p>
        </p:txBody>
      </p:sp>
      <p:cxnSp>
        <p:nvCxnSpPr>
          <p:cNvPr id="45" name="Connector 44"/>
          <p:cNvCxnSpPr/>
          <p:nvPr/>
        </p:nvCxnSpPr>
        <p:spPr>
          <a:xfrm>
            <a:off x="7498079" y="3337560"/>
            <a:ext cx="274321"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46" name="Rectangle 45"/>
          <p:cNvSpPr/>
          <p:nvPr/>
        </p:nvSpPr>
        <p:spPr>
          <a:xfrm>
            <a:off x="7772400" y="2377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955279" y="2514600"/>
            <a:ext cx="731520" cy="502920"/>
          </a:xfrm>
          <a:prstGeom prst="rect">
            <a:avLst/>
          </a:prstGeom>
          <a:noFill/>
        </p:spPr>
        <p:txBody>
          <a:bodyPr wrap="square" lIns="27432" rIns="27432" tIns="0" bIns="0">
            <a:spAutoFit/>
          </a:bodyPr>
          <a:lstStyle/>
          <a:p>
            <a:pPr>
              <a:spcAft>
                <a:spcPts val="800"/>
              </a:spcAft>
              <a:defRPr sz="2700" b="1">
                <a:solidFill>
                  <a:srgbClr val="7D2B42"/>
                </a:solidFill>
                <a:latin typeface="Bebas Neue"/>
              </a:defRPr>
            </a:pPr>
            <a:r>
              <a:t>03</a:t>
            </a:r>
          </a:p>
        </p:txBody>
      </p:sp>
      <p:sp>
        <p:nvSpPr>
          <p:cNvPr id="48" name="TextBox 47"/>
          <p:cNvSpPr txBox="1"/>
          <p:nvPr/>
        </p:nvSpPr>
        <p:spPr>
          <a:xfrm>
            <a:off x="7955279" y="3154680"/>
            <a:ext cx="288036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BRIEF</a:t>
            </a:r>
          </a:p>
        </p:txBody>
      </p:sp>
      <p:sp>
        <p:nvSpPr>
          <p:cNvPr id="49" name="TextBox 48"/>
          <p:cNvSpPr txBox="1"/>
          <p:nvPr/>
        </p:nvSpPr>
        <p:spPr>
          <a:xfrm>
            <a:off x="7955279" y="3657600"/>
            <a:ext cx="2880360" cy="45720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Account Manager</a:t>
            </a:r>
          </a:p>
        </p:txBody>
      </p:sp>
      <p:cxnSp>
        <p:nvCxnSpPr>
          <p:cNvPr id="50" name="Connector 49"/>
          <p:cNvCxnSpPr/>
          <p:nvPr/>
        </p:nvCxnSpPr>
        <p:spPr>
          <a:xfrm>
            <a:off x="11018520" y="3337560"/>
            <a:ext cx="274320"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11292840" y="2377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475720" y="2514600"/>
            <a:ext cx="731520" cy="502920"/>
          </a:xfrm>
          <a:prstGeom prst="rect">
            <a:avLst/>
          </a:prstGeom>
          <a:noFill/>
        </p:spPr>
        <p:txBody>
          <a:bodyPr wrap="square" lIns="27432" rIns="27432" tIns="0" bIns="0">
            <a:spAutoFit/>
          </a:bodyPr>
          <a:lstStyle/>
          <a:p>
            <a:pPr>
              <a:spcAft>
                <a:spcPts val="800"/>
              </a:spcAft>
              <a:defRPr sz="2700" b="1">
                <a:solidFill>
                  <a:srgbClr val="7D2B42"/>
                </a:solidFill>
                <a:latin typeface="Bebas Neue"/>
              </a:defRPr>
            </a:pPr>
            <a:r>
              <a:t>04</a:t>
            </a:r>
          </a:p>
        </p:txBody>
      </p:sp>
      <p:sp>
        <p:nvSpPr>
          <p:cNvPr id="53" name="TextBox 52"/>
          <p:cNvSpPr txBox="1"/>
          <p:nvPr/>
        </p:nvSpPr>
        <p:spPr>
          <a:xfrm>
            <a:off x="11475720" y="3154680"/>
            <a:ext cx="288036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ALIGN</a:t>
            </a:r>
          </a:p>
        </p:txBody>
      </p:sp>
      <p:sp>
        <p:nvSpPr>
          <p:cNvPr id="54" name="TextBox 53"/>
          <p:cNvSpPr txBox="1"/>
          <p:nvPr/>
        </p:nvSpPr>
        <p:spPr>
          <a:xfrm>
            <a:off x="11475720" y="3657600"/>
            <a:ext cx="2880360" cy="45720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Marketing Manager</a:t>
            </a:r>
          </a:p>
        </p:txBody>
      </p:sp>
      <p:sp>
        <p:nvSpPr>
          <p:cNvPr id="55" name="Rectangle 54"/>
          <p:cNvSpPr/>
          <p:nvPr/>
        </p:nvSpPr>
        <p:spPr>
          <a:xfrm>
            <a:off x="731520" y="4663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4400" y="4800600"/>
            <a:ext cx="731520" cy="502920"/>
          </a:xfrm>
          <a:prstGeom prst="rect">
            <a:avLst/>
          </a:prstGeom>
          <a:noFill/>
        </p:spPr>
        <p:txBody>
          <a:bodyPr wrap="square" lIns="27432" rIns="27432" tIns="0" bIns="0">
            <a:spAutoFit/>
          </a:bodyPr>
          <a:lstStyle/>
          <a:p>
            <a:pPr>
              <a:spcAft>
                <a:spcPts val="800"/>
              </a:spcAft>
              <a:defRPr sz="2700" b="1">
                <a:solidFill>
                  <a:srgbClr val="7D2B42"/>
                </a:solidFill>
                <a:latin typeface="Bebas Neue"/>
              </a:defRPr>
            </a:pPr>
            <a:r>
              <a:t>05</a:t>
            </a:r>
          </a:p>
        </p:txBody>
      </p:sp>
      <p:sp>
        <p:nvSpPr>
          <p:cNvPr id="57" name="TextBox 56"/>
          <p:cNvSpPr txBox="1"/>
          <p:nvPr/>
        </p:nvSpPr>
        <p:spPr>
          <a:xfrm>
            <a:off x="914400" y="5440679"/>
            <a:ext cx="288036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CREATE</a:t>
            </a:r>
          </a:p>
        </p:txBody>
      </p:sp>
      <p:sp>
        <p:nvSpPr>
          <p:cNvPr id="58" name="TextBox 57"/>
          <p:cNvSpPr txBox="1"/>
          <p:nvPr/>
        </p:nvSpPr>
        <p:spPr>
          <a:xfrm>
            <a:off x="914400" y="5943600"/>
            <a:ext cx="2880360" cy="45720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Content + Creative</a:t>
            </a:r>
          </a:p>
        </p:txBody>
      </p:sp>
      <p:cxnSp>
        <p:nvCxnSpPr>
          <p:cNvPr id="59" name="Connector 58"/>
          <p:cNvCxnSpPr/>
          <p:nvPr/>
        </p:nvCxnSpPr>
        <p:spPr>
          <a:xfrm>
            <a:off x="3977639" y="5623559"/>
            <a:ext cx="274321"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4251960" y="4663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434840" y="4800600"/>
            <a:ext cx="731520" cy="502920"/>
          </a:xfrm>
          <a:prstGeom prst="rect">
            <a:avLst/>
          </a:prstGeom>
          <a:noFill/>
        </p:spPr>
        <p:txBody>
          <a:bodyPr wrap="square" lIns="27432" rIns="27432" tIns="0" bIns="0">
            <a:spAutoFit/>
          </a:bodyPr>
          <a:lstStyle/>
          <a:p>
            <a:pPr>
              <a:spcAft>
                <a:spcPts val="800"/>
              </a:spcAft>
              <a:defRPr sz="2700" b="1">
                <a:solidFill>
                  <a:srgbClr val="7D2B42"/>
                </a:solidFill>
                <a:latin typeface="Bebas Neue"/>
              </a:defRPr>
            </a:pPr>
            <a:r>
              <a:t>06</a:t>
            </a:r>
          </a:p>
        </p:txBody>
      </p:sp>
      <p:sp>
        <p:nvSpPr>
          <p:cNvPr id="62" name="TextBox 61"/>
          <p:cNvSpPr txBox="1"/>
          <p:nvPr/>
        </p:nvSpPr>
        <p:spPr>
          <a:xfrm>
            <a:off x="4434840" y="5440679"/>
            <a:ext cx="288036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REVIEW</a:t>
            </a:r>
          </a:p>
        </p:txBody>
      </p:sp>
      <p:sp>
        <p:nvSpPr>
          <p:cNvPr id="63" name="TextBox 62"/>
          <p:cNvSpPr txBox="1"/>
          <p:nvPr/>
        </p:nvSpPr>
        <p:spPr>
          <a:xfrm>
            <a:off x="4434840" y="5943600"/>
            <a:ext cx="2880360" cy="45720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Internal QC + Client</a:t>
            </a:r>
          </a:p>
        </p:txBody>
      </p:sp>
      <p:cxnSp>
        <p:nvCxnSpPr>
          <p:cNvPr id="64" name="Connector 63"/>
          <p:cNvCxnSpPr/>
          <p:nvPr/>
        </p:nvCxnSpPr>
        <p:spPr>
          <a:xfrm>
            <a:off x="7498079" y="5623559"/>
            <a:ext cx="274321"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65" name="Rectangle 64"/>
          <p:cNvSpPr/>
          <p:nvPr/>
        </p:nvSpPr>
        <p:spPr>
          <a:xfrm>
            <a:off x="7772400" y="4663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955279" y="4800600"/>
            <a:ext cx="731520" cy="502920"/>
          </a:xfrm>
          <a:prstGeom prst="rect">
            <a:avLst/>
          </a:prstGeom>
          <a:noFill/>
        </p:spPr>
        <p:txBody>
          <a:bodyPr wrap="square" lIns="27432" rIns="27432" tIns="0" bIns="0">
            <a:spAutoFit/>
          </a:bodyPr>
          <a:lstStyle/>
          <a:p>
            <a:pPr>
              <a:spcAft>
                <a:spcPts val="800"/>
              </a:spcAft>
              <a:defRPr sz="2700" b="1">
                <a:solidFill>
                  <a:srgbClr val="7D2B42"/>
                </a:solidFill>
                <a:latin typeface="Bebas Neue"/>
              </a:defRPr>
            </a:pPr>
            <a:r>
              <a:t>07</a:t>
            </a:r>
          </a:p>
        </p:txBody>
      </p:sp>
      <p:sp>
        <p:nvSpPr>
          <p:cNvPr id="67" name="TextBox 66"/>
          <p:cNvSpPr txBox="1"/>
          <p:nvPr/>
        </p:nvSpPr>
        <p:spPr>
          <a:xfrm>
            <a:off x="7955279" y="5440679"/>
            <a:ext cx="288036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EXECUTE</a:t>
            </a:r>
          </a:p>
        </p:txBody>
      </p:sp>
      <p:sp>
        <p:nvSpPr>
          <p:cNvPr id="68" name="TextBox 67"/>
          <p:cNvSpPr txBox="1"/>
          <p:nvPr/>
        </p:nvSpPr>
        <p:spPr>
          <a:xfrm>
            <a:off x="7955279" y="5943600"/>
            <a:ext cx="2880360" cy="45720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Social + Paid</a:t>
            </a:r>
          </a:p>
        </p:txBody>
      </p:sp>
      <p:cxnSp>
        <p:nvCxnSpPr>
          <p:cNvPr id="69" name="Connector 68"/>
          <p:cNvCxnSpPr/>
          <p:nvPr/>
        </p:nvCxnSpPr>
        <p:spPr>
          <a:xfrm>
            <a:off x="11018520" y="5623559"/>
            <a:ext cx="274320"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70" name="Rectangle 69"/>
          <p:cNvSpPr/>
          <p:nvPr/>
        </p:nvSpPr>
        <p:spPr>
          <a:xfrm>
            <a:off x="11292840" y="4663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1475720" y="4800600"/>
            <a:ext cx="731520" cy="502920"/>
          </a:xfrm>
          <a:prstGeom prst="rect">
            <a:avLst/>
          </a:prstGeom>
          <a:noFill/>
        </p:spPr>
        <p:txBody>
          <a:bodyPr wrap="square" lIns="27432" rIns="27432" tIns="0" bIns="0">
            <a:spAutoFit/>
          </a:bodyPr>
          <a:lstStyle/>
          <a:p>
            <a:pPr>
              <a:spcAft>
                <a:spcPts val="800"/>
              </a:spcAft>
              <a:defRPr sz="2700" b="1">
                <a:solidFill>
                  <a:srgbClr val="7D2B42"/>
                </a:solidFill>
                <a:latin typeface="Bebas Neue"/>
              </a:defRPr>
            </a:pPr>
            <a:r>
              <a:t>08</a:t>
            </a:r>
          </a:p>
        </p:txBody>
      </p:sp>
      <p:sp>
        <p:nvSpPr>
          <p:cNvPr id="72" name="TextBox 71"/>
          <p:cNvSpPr txBox="1"/>
          <p:nvPr/>
        </p:nvSpPr>
        <p:spPr>
          <a:xfrm>
            <a:off x="11475720" y="5440679"/>
            <a:ext cx="288036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REPORT</a:t>
            </a:r>
          </a:p>
        </p:txBody>
      </p:sp>
      <p:sp>
        <p:nvSpPr>
          <p:cNvPr id="73" name="TextBox 72"/>
          <p:cNvSpPr txBox="1"/>
          <p:nvPr/>
        </p:nvSpPr>
        <p:spPr>
          <a:xfrm>
            <a:off x="11475720" y="5943600"/>
            <a:ext cx="2880360" cy="45720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Account + Marketing</a:t>
            </a:r>
          </a:p>
        </p:txBody>
      </p:sp>
      <p:sp>
        <p:nvSpPr>
          <p:cNvPr id="74" name="TextBox 73"/>
          <p:cNvSpPr txBox="1"/>
          <p:nvPr/>
        </p:nvSpPr>
        <p:spPr>
          <a:xfrm>
            <a:off x="822960" y="7178040"/>
            <a:ext cx="12801600" cy="320040"/>
          </a:xfrm>
          <a:prstGeom prst="rect">
            <a:avLst/>
          </a:prstGeom>
          <a:noFill/>
        </p:spPr>
        <p:txBody>
          <a:bodyPr wrap="square" lIns="27432" rIns="27432" tIns="0" bIns="0">
            <a:spAutoFit/>
          </a:bodyPr>
          <a:lstStyle/>
          <a:p>
            <a:pPr>
              <a:spcAft>
                <a:spcPts val="800"/>
              </a:spcAft>
              <a:defRPr sz="1300" b="0">
                <a:solidFill>
                  <a:srgbClr val="555555"/>
                </a:solidFill>
                <a:latin typeface="Montserrat"/>
              </a:defRPr>
            </a:pPr>
            <a:r>
              <a:t>Conditional journey: static, video and paid work branch as needed. Production may run in parallel after its required inputs are accepted.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20</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ONE BRIEF. PARALLEL PRODUCTION. SHARED GATES.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3200400"/>
            <a:ext cx="2743200" cy="1828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96112" y="3383280"/>
            <a:ext cx="2414016" cy="640080"/>
          </a:xfrm>
          <a:prstGeom prst="rect">
            <a:avLst/>
          </a:prstGeom>
          <a:noFill/>
        </p:spPr>
        <p:txBody>
          <a:bodyPr wrap="square" lIns="27432" rIns="27432" tIns="0" bIns="0">
            <a:spAutoFit/>
          </a:bodyPr>
          <a:lstStyle/>
          <a:p>
            <a:pPr>
              <a:spcAft>
                <a:spcPts val="800"/>
              </a:spcAft>
              <a:defRPr sz="1800" b="1">
                <a:solidFill>
                  <a:srgbClr val="7D2B42"/>
                </a:solidFill>
                <a:latin typeface="Montserrat"/>
              </a:defRPr>
            </a:pPr>
            <a:r>
              <a:t>APPROVED BRIEF</a:t>
            </a:r>
          </a:p>
        </p:txBody>
      </p:sp>
      <p:sp>
        <p:nvSpPr>
          <p:cNvPr id="38" name="TextBox 37"/>
          <p:cNvSpPr txBox="1"/>
          <p:nvPr/>
        </p:nvSpPr>
        <p:spPr>
          <a:xfrm>
            <a:off x="896112" y="4096512"/>
            <a:ext cx="2414016" cy="731520"/>
          </a:xfrm>
          <a:prstGeom prst="rect">
            <a:avLst/>
          </a:prstGeom>
          <a:noFill/>
        </p:spPr>
        <p:txBody>
          <a:bodyPr wrap="square" lIns="27432" rIns="27432" tIns="0" bIns="0">
            <a:spAutoFit/>
          </a:bodyPr>
          <a:lstStyle/>
          <a:p>
            <a:pPr>
              <a:spcAft>
                <a:spcPts val="800"/>
              </a:spcAft>
              <a:defRPr sz="1400" b="0">
                <a:solidFill>
                  <a:srgbClr val="202020"/>
                </a:solidFill>
                <a:latin typeface="Montserrat"/>
              </a:defRPr>
            </a:pPr>
            <a:r>
              <a:t>Account Manager → Content lead</a:t>
            </a:r>
          </a:p>
        </p:txBody>
      </p:sp>
      <p:sp>
        <p:nvSpPr>
          <p:cNvPr id="39" name="Rectangle 38"/>
          <p:cNvSpPr/>
          <p:nvPr/>
        </p:nvSpPr>
        <p:spPr>
          <a:xfrm>
            <a:off x="4572000" y="2286000"/>
            <a:ext cx="3657600" cy="1691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736592" y="2468880"/>
            <a:ext cx="3328416" cy="640080"/>
          </a:xfrm>
          <a:prstGeom prst="rect">
            <a:avLst/>
          </a:prstGeom>
          <a:noFill/>
        </p:spPr>
        <p:txBody>
          <a:bodyPr wrap="square" lIns="27432" rIns="27432" tIns="0" bIns="0">
            <a:spAutoFit/>
          </a:bodyPr>
          <a:lstStyle/>
          <a:p>
            <a:pPr>
              <a:spcAft>
                <a:spcPts val="800"/>
              </a:spcAft>
              <a:defRPr sz="1800" b="1">
                <a:solidFill>
                  <a:srgbClr val="7D2B42"/>
                </a:solidFill>
                <a:latin typeface="Montserrat"/>
              </a:defRPr>
            </a:pPr>
            <a:r>
              <a:t>STATIC / CAROUSEL</a:t>
            </a:r>
          </a:p>
        </p:txBody>
      </p:sp>
      <p:sp>
        <p:nvSpPr>
          <p:cNvPr id="41" name="TextBox 40"/>
          <p:cNvSpPr txBox="1"/>
          <p:nvPr/>
        </p:nvSpPr>
        <p:spPr>
          <a:xfrm>
            <a:off x="4736592" y="3182112"/>
            <a:ext cx="3328416" cy="731520"/>
          </a:xfrm>
          <a:prstGeom prst="rect">
            <a:avLst/>
          </a:prstGeom>
          <a:noFill/>
        </p:spPr>
        <p:txBody>
          <a:bodyPr wrap="square" lIns="27432" rIns="27432" tIns="0" bIns="0">
            <a:spAutoFit/>
          </a:bodyPr>
          <a:lstStyle/>
          <a:p>
            <a:pPr>
              <a:spcAft>
                <a:spcPts val="800"/>
              </a:spcAft>
              <a:defRPr sz="1400" b="0">
                <a:solidFill>
                  <a:srgbClr val="202020"/>
                </a:solidFill>
                <a:latin typeface="Montserrat"/>
              </a:defRPr>
            </a:pPr>
            <a:r>
              <a:t>Writer → Content QC → Designer → Design QC</a:t>
            </a:r>
          </a:p>
        </p:txBody>
      </p:sp>
      <p:sp>
        <p:nvSpPr>
          <p:cNvPr id="42" name="Rectangle 41"/>
          <p:cNvSpPr/>
          <p:nvPr/>
        </p:nvSpPr>
        <p:spPr>
          <a:xfrm>
            <a:off x="4572000" y="4572000"/>
            <a:ext cx="3657600" cy="1691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736592" y="4754880"/>
            <a:ext cx="3328416" cy="640080"/>
          </a:xfrm>
          <a:prstGeom prst="rect">
            <a:avLst/>
          </a:prstGeom>
          <a:noFill/>
        </p:spPr>
        <p:txBody>
          <a:bodyPr wrap="square" lIns="27432" rIns="27432" tIns="0" bIns="0">
            <a:spAutoFit/>
          </a:bodyPr>
          <a:lstStyle/>
          <a:p>
            <a:pPr>
              <a:spcAft>
                <a:spcPts val="800"/>
              </a:spcAft>
              <a:defRPr sz="1800" b="1">
                <a:solidFill>
                  <a:srgbClr val="7D2B42"/>
                </a:solidFill>
                <a:latin typeface="Montserrat"/>
              </a:defRPr>
            </a:pPr>
            <a:r>
              <a:t>VIDEO / REEL</a:t>
            </a:r>
          </a:p>
        </p:txBody>
      </p:sp>
      <p:sp>
        <p:nvSpPr>
          <p:cNvPr id="44" name="TextBox 43"/>
          <p:cNvSpPr txBox="1"/>
          <p:nvPr/>
        </p:nvSpPr>
        <p:spPr>
          <a:xfrm>
            <a:off x="4736592" y="5468112"/>
            <a:ext cx="3328416" cy="731520"/>
          </a:xfrm>
          <a:prstGeom prst="rect">
            <a:avLst/>
          </a:prstGeom>
          <a:noFill/>
        </p:spPr>
        <p:txBody>
          <a:bodyPr wrap="square" lIns="27432" rIns="27432" tIns="0" bIns="0">
            <a:spAutoFit/>
          </a:bodyPr>
          <a:lstStyle/>
          <a:p>
            <a:pPr>
              <a:spcAft>
                <a:spcPts val="800"/>
              </a:spcAft>
              <a:defRPr sz="1400" b="0">
                <a:solidFill>
                  <a:srgbClr val="202020"/>
                </a:solidFill>
                <a:latin typeface="Montserrat"/>
              </a:defRPr>
            </a:pPr>
            <a:r>
              <a:t>Script approval → Footage → Editor → Marketing Manager quality review</a:t>
            </a:r>
          </a:p>
        </p:txBody>
      </p:sp>
      <p:sp>
        <p:nvSpPr>
          <p:cNvPr id="45" name="Rectangle 44"/>
          <p:cNvSpPr/>
          <p:nvPr/>
        </p:nvSpPr>
        <p:spPr>
          <a:xfrm>
            <a:off x="10058400" y="3200400"/>
            <a:ext cx="3749039" cy="1828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222992" y="3383280"/>
            <a:ext cx="3419856" cy="640080"/>
          </a:xfrm>
          <a:prstGeom prst="rect">
            <a:avLst/>
          </a:prstGeom>
          <a:noFill/>
        </p:spPr>
        <p:txBody>
          <a:bodyPr wrap="square" lIns="27432" rIns="27432" tIns="0" bIns="0">
            <a:spAutoFit/>
          </a:bodyPr>
          <a:lstStyle/>
          <a:p>
            <a:pPr>
              <a:spcAft>
                <a:spcPts val="800"/>
              </a:spcAft>
              <a:defRPr sz="1800" b="1">
                <a:solidFill>
                  <a:srgbClr val="7D2B42"/>
                </a:solidFill>
                <a:latin typeface="Montserrat"/>
              </a:defRPr>
            </a:pPr>
            <a:r>
              <a:t>CLIENT AUTHORIZATION</a:t>
            </a:r>
          </a:p>
        </p:txBody>
      </p:sp>
      <p:sp>
        <p:nvSpPr>
          <p:cNvPr id="47" name="TextBox 46"/>
          <p:cNvSpPr txBox="1"/>
          <p:nvPr/>
        </p:nvSpPr>
        <p:spPr>
          <a:xfrm>
            <a:off x="10222992" y="4096512"/>
            <a:ext cx="3419856" cy="731520"/>
          </a:xfrm>
          <a:prstGeom prst="rect">
            <a:avLst/>
          </a:prstGeom>
          <a:noFill/>
        </p:spPr>
        <p:txBody>
          <a:bodyPr wrap="square" lIns="27432" rIns="27432" tIns="0" bIns="0">
            <a:spAutoFit/>
          </a:bodyPr>
          <a:lstStyle/>
          <a:p>
            <a:pPr>
              <a:spcAft>
                <a:spcPts val="800"/>
              </a:spcAft>
              <a:defRPr sz="1400" b="0">
                <a:solidFill>
                  <a:srgbClr val="202020"/>
                </a:solidFill>
                <a:latin typeface="Montserrat"/>
              </a:defRPr>
            </a:pPr>
            <a:r>
              <a:t>Account Manager collects Marketing-approved work into one PPTX; client approves it before publishing</a:t>
            </a:r>
          </a:p>
        </p:txBody>
      </p:sp>
      <p:cxnSp>
        <p:nvCxnSpPr>
          <p:cNvPr id="48" name="Connector 47"/>
          <p:cNvCxnSpPr/>
          <p:nvPr/>
        </p:nvCxnSpPr>
        <p:spPr>
          <a:xfrm flipV="1">
            <a:off x="3474720" y="3108960"/>
            <a:ext cx="1097280" cy="100584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3474720" y="4114800"/>
            <a:ext cx="1097280" cy="128016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229600" y="3108960"/>
            <a:ext cx="1828800" cy="100584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8229600" y="4114800"/>
            <a:ext cx="1828800" cy="128016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822960" y="6675120"/>
            <a:ext cx="12984480" cy="59436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05840" y="6858000"/>
            <a:ext cx="12618720" cy="32004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MISSING INPUTS? Hold the handoff. Record the blocker, request assets, and forecast downstream impact.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21</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NINE REUSABLE WORKFLOW TEMPLATES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24028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8680" y="235915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01 / CLIENT ONBOARDING</a:t>
            </a:r>
          </a:p>
        </p:txBody>
      </p:sp>
      <p:sp>
        <p:nvSpPr>
          <p:cNvPr id="38" name="TextBox 37"/>
          <p:cNvSpPr txBox="1"/>
          <p:nvPr/>
        </p:nvSpPr>
        <p:spPr>
          <a:xfrm>
            <a:off x="868680" y="289864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BD-01 → SA-01 → AM-01 → HC-01 → HD-01 → MM-01 → AM-01 → SM-01</a:t>
            </a:r>
          </a:p>
        </p:txBody>
      </p:sp>
      <p:sp>
        <p:nvSpPr>
          <p:cNvPr id="39" name="Rectangle 38"/>
          <p:cNvSpPr/>
          <p:nvPr/>
        </p:nvSpPr>
        <p:spPr>
          <a:xfrm>
            <a:off x="5394959" y="224028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532120" y="235915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02 / SOCIAL MEDIA POST</a:t>
            </a:r>
          </a:p>
        </p:txBody>
      </p:sp>
      <p:sp>
        <p:nvSpPr>
          <p:cNvPr id="41" name="TextBox 40"/>
          <p:cNvSpPr txBox="1"/>
          <p:nvPr/>
        </p:nvSpPr>
        <p:spPr>
          <a:xfrm>
            <a:off x="5532120" y="289864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AM-01 → CW-J01 → HC-01 → GD-01 → HD-01 → MM-01 → AM-01 → SM-01</a:t>
            </a:r>
          </a:p>
        </p:txBody>
      </p:sp>
      <p:sp>
        <p:nvSpPr>
          <p:cNvPr id="42" name="Rectangle 41"/>
          <p:cNvSpPr/>
          <p:nvPr/>
        </p:nvSpPr>
        <p:spPr>
          <a:xfrm>
            <a:off x="10058400" y="224028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195560" y="235915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03 / VIDEO REEL</a:t>
            </a:r>
          </a:p>
        </p:txBody>
      </p:sp>
      <p:sp>
        <p:nvSpPr>
          <p:cNvPr id="44" name="TextBox 43"/>
          <p:cNvSpPr txBox="1"/>
          <p:nvPr/>
        </p:nvSpPr>
        <p:spPr>
          <a:xfrm>
            <a:off x="10195560" y="289864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AM-01 → CW-S01 → HC-01 → VE-01 → MM-01 → AM-01 → SM-01</a:t>
            </a:r>
          </a:p>
        </p:txBody>
      </p:sp>
      <p:sp>
        <p:nvSpPr>
          <p:cNvPr id="45" name="Rectangle 44"/>
          <p:cNvSpPr/>
          <p:nvPr/>
        </p:nvSpPr>
        <p:spPr>
          <a:xfrm>
            <a:off x="731520" y="388620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68680" y="400507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04 / PAID CAMPAIGN</a:t>
            </a:r>
          </a:p>
        </p:txBody>
      </p:sp>
      <p:sp>
        <p:nvSpPr>
          <p:cNvPr id="47" name="TextBox 46"/>
          <p:cNvSpPr txBox="1"/>
          <p:nvPr/>
        </p:nvSpPr>
        <p:spPr>
          <a:xfrm>
            <a:off x="868680" y="454456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AM-01 → MB-01 → MM-01 → HC-01 → HD-01 → MM-01 → AM-01 → MB-01</a:t>
            </a:r>
          </a:p>
        </p:txBody>
      </p:sp>
      <p:sp>
        <p:nvSpPr>
          <p:cNvPr id="48" name="Rectangle 47"/>
          <p:cNvSpPr/>
          <p:nvPr/>
        </p:nvSpPr>
        <p:spPr>
          <a:xfrm>
            <a:off x="5394959" y="388620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532120" y="400507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05 / MONTHLY CALENDAR</a:t>
            </a:r>
          </a:p>
        </p:txBody>
      </p:sp>
      <p:sp>
        <p:nvSpPr>
          <p:cNvPr id="50" name="TextBox 49"/>
          <p:cNvSpPr txBox="1"/>
          <p:nvPr/>
        </p:nvSpPr>
        <p:spPr>
          <a:xfrm>
            <a:off x="5532120" y="454456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SM-01 → AM-01 → CW-J01 → HC-01 → HD-01 → MM-01 → AM-01 → SM-01</a:t>
            </a:r>
          </a:p>
        </p:txBody>
      </p:sp>
      <p:sp>
        <p:nvSpPr>
          <p:cNvPr id="51" name="Rectangle 50"/>
          <p:cNvSpPr/>
          <p:nvPr/>
        </p:nvSpPr>
        <p:spPr>
          <a:xfrm>
            <a:off x="10058400" y="388620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195560" y="400507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06 / MULTI-SLIDE CAROUSEL</a:t>
            </a:r>
          </a:p>
        </p:txBody>
      </p:sp>
      <p:sp>
        <p:nvSpPr>
          <p:cNvPr id="53" name="TextBox 52"/>
          <p:cNvSpPr txBox="1"/>
          <p:nvPr/>
        </p:nvSpPr>
        <p:spPr>
          <a:xfrm>
            <a:off x="10195560" y="454456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AM-01 → CW-S01 → HC-01 → GD-02 → HD-01 → MM-01 → AM-01 → SM-01</a:t>
            </a:r>
          </a:p>
        </p:txBody>
      </p:sp>
      <p:sp>
        <p:nvSpPr>
          <p:cNvPr id="54" name="Rectangle 53"/>
          <p:cNvSpPr/>
          <p:nvPr/>
        </p:nvSpPr>
        <p:spPr>
          <a:xfrm>
            <a:off x="731520" y="553212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68680" y="565099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07 / CLIENT REVISION</a:t>
            </a:r>
          </a:p>
        </p:txBody>
      </p:sp>
      <p:sp>
        <p:nvSpPr>
          <p:cNvPr id="56" name="TextBox 55"/>
          <p:cNvSpPr txBox="1"/>
          <p:nvPr/>
        </p:nvSpPr>
        <p:spPr>
          <a:xfrm>
            <a:off x="868680" y="619048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AM-01 → GD-01 → HD-01 → MM-01 → AM-01 → SM-01</a:t>
            </a:r>
          </a:p>
        </p:txBody>
      </p:sp>
      <p:sp>
        <p:nvSpPr>
          <p:cNvPr id="57" name="Rectangle 56"/>
          <p:cNvSpPr/>
          <p:nvPr/>
        </p:nvSpPr>
        <p:spPr>
          <a:xfrm>
            <a:off x="5394959" y="553212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532120" y="565099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08 / PERFORMANCE REPORT</a:t>
            </a:r>
          </a:p>
        </p:txBody>
      </p:sp>
      <p:sp>
        <p:nvSpPr>
          <p:cNvPr id="59" name="TextBox 58"/>
          <p:cNvSpPr txBox="1"/>
          <p:nvPr/>
        </p:nvSpPr>
        <p:spPr>
          <a:xfrm>
            <a:off x="5532120" y="619048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SM-01 → MM-01 → AM-01</a:t>
            </a:r>
          </a:p>
        </p:txBody>
      </p:sp>
      <p:sp>
        <p:nvSpPr>
          <p:cNvPr id="60" name="Rectangle 59"/>
          <p:cNvSpPr/>
          <p:nvPr/>
        </p:nvSpPr>
        <p:spPr>
          <a:xfrm>
            <a:off x="10058400" y="553212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195560" y="565099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09 / URGENT CLIENT REQUEST</a:t>
            </a:r>
          </a:p>
        </p:txBody>
      </p:sp>
      <p:sp>
        <p:nvSpPr>
          <p:cNvPr id="62" name="TextBox 61"/>
          <p:cNvSpPr txBox="1"/>
          <p:nvPr/>
        </p:nvSpPr>
        <p:spPr>
          <a:xfrm>
            <a:off x="10195560" y="619048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AM-01 → HC-01 → HD-01 → MM-01 → AM-01 → SM-01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7D2B42"/>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FFFFFF"/>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FFFFFF"/>
                </a:solidFill>
                <a:latin typeface="Montserrat"/>
              </a:defRPr>
            </a:pPr>
            <a:r>
              <a:t>22</a:t>
            </a:r>
          </a:p>
        </p:txBody>
      </p:sp>
      <p:cxnSp>
        <p:nvCxnSpPr>
          <p:cNvPr id="32" name="Connector 31"/>
          <p:cNvCxnSpPr/>
          <p:nvPr/>
        </p:nvCxnSpPr>
        <p:spPr>
          <a:xfrm>
            <a:off x="594360" y="841248"/>
            <a:ext cx="13441680" cy="0"/>
          </a:xfrm>
          <a:prstGeom prst="line">
            <a:avLst/>
          </a:prstGeom>
          <a:ln w="10160">
            <a:solidFill>
              <a:srgbClr val="FFFFFF"/>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FFFFFF"/>
                </a:solidFill>
                <a:latin typeface="Bebas Neue"/>
              </a:defRPr>
            </a:pPr>
            <a:r>
              <a:t>APPROVALS ARE GATES. NOT DECORATION.</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FFFFFF"/>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FFFFFF"/>
                </a:solidFill>
                <a:latin typeface="Montserrat"/>
              </a:defRPr>
            </a:pPr>
            <a:r>
              <a:t>EDITABLE WORKING DRAFT · OTHER REPORTING &amp; POLICIES PROPOSED</a:t>
            </a:r>
          </a:p>
        </p:txBody>
      </p:sp>
      <p:sp>
        <p:nvSpPr>
          <p:cNvPr id="36" name="Freeform 35"/>
          <p:cNvSpPr/>
          <p:nvPr/>
        </p:nvSpPr>
        <p:spPr>
          <a:xfrm>
            <a:off x="731520" y="2286000"/>
            <a:ext cx="6400800" cy="1920240"/>
          </a:xfrm>
          <a:custGeom>
            <a:avLst/>
            <a:gdLst/>
            <a:ahLst/>
            <a:cxnLst/>
            <a:rect l="l" t="t" r="r" b="b"/>
            <a:pathLst>
              <a:path w="700" h="210">
                <a:moveTo>
                  <a:pt x="0" y="10"/>
                </a:moveTo>
                <a:lnTo>
                  <a:pt x="61" y="0"/>
                </a:lnTo>
                <a:lnTo>
                  <a:pt x="122" y="8"/>
                </a:lnTo>
                <a:lnTo>
                  <a:pt x="192" y="0"/>
                </a:lnTo>
                <a:lnTo>
                  <a:pt x="262" y="7"/>
                </a:lnTo>
                <a:lnTo>
                  <a:pt x="350" y="0"/>
                </a:lnTo>
                <a:lnTo>
                  <a:pt x="420" y="8"/>
                </a:lnTo>
                <a:lnTo>
                  <a:pt x="490" y="0"/>
                </a:lnTo>
                <a:lnTo>
                  <a:pt x="560" y="8"/>
                </a:lnTo>
                <a:lnTo>
                  <a:pt x="612" y="0"/>
                </a:lnTo>
                <a:lnTo>
                  <a:pt x="700" y="10"/>
                </a:lnTo>
                <a:lnTo>
                  <a:pt x="689" y="47"/>
                </a:lnTo>
                <a:lnTo>
                  <a:pt x="700" y="94"/>
                </a:lnTo>
                <a:lnTo>
                  <a:pt x="687" y="136"/>
                </a:lnTo>
                <a:lnTo>
                  <a:pt x="700" y="178"/>
                </a:lnTo>
                <a:lnTo>
                  <a:pt x="686" y="210"/>
                </a:lnTo>
                <a:lnTo>
                  <a:pt x="612" y="205"/>
                </a:lnTo>
                <a:lnTo>
                  <a:pt x="525" y="210"/>
                </a:lnTo>
                <a:lnTo>
                  <a:pt x="437" y="203"/>
                </a:lnTo>
                <a:lnTo>
                  <a:pt x="350" y="210"/>
                </a:lnTo>
                <a:lnTo>
                  <a:pt x="262" y="203"/>
                </a:lnTo>
                <a:lnTo>
                  <a:pt x="175" y="210"/>
                </a:lnTo>
                <a:lnTo>
                  <a:pt x="87" y="203"/>
                </a:lnTo>
                <a:lnTo>
                  <a:pt x="0" y="210"/>
                </a:lnTo>
                <a:lnTo>
                  <a:pt x="12" y="157"/>
                </a:lnTo>
                <a:lnTo>
                  <a:pt x="0" y="115"/>
                </a:lnTo>
                <a:lnTo>
                  <a:pt x="10"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0120" y="2514600"/>
            <a:ext cx="594360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01 / INPUTS</a:t>
            </a:r>
          </a:p>
        </p:txBody>
      </p:sp>
      <p:sp>
        <p:nvSpPr>
          <p:cNvPr id="38" name="TextBox 37"/>
          <p:cNvSpPr txBox="1"/>
          <p:nvPr/>
        </p:nvSpPr>
        <p:spPr>
          <a:xfrm>
            <a:off x="960120" y="3154680"/>
            <a:ext cx="5943600" cy="868680"/>
          </a:xfrm>
          <a:prstGeom prst="rect">
            <a:avLst/>
          </a:prstGeom>
          <a:noFill/>
        </p:spPr>
        <p:txBody>
          <a:bodyPr wrap="square" lIns="27432" rIns="27432" tIns="0" bIns="0">
            <a:spAutoFit/>
          </a:bodyPr>
          <a:lstStyle/>
          <a:p>
            <a:pPr>
              <a:spcAft>
                <a:spcPts val="800"/>
              </a:spcAft>
              <a:defRPr sz="1800" b="0">
                <a:solidFill>
                  <a:srgbClr val="202020"/>
                </a:solidFill>
                <a:latin typeface="Montserrat"/>
              </a:defRPr>
            </a:pPr>
            <a:r>
              <a:t>Do not hand off incomplete inputs or unresolved dependencies.</a:t>
            </a:r>
          </a:p>
        </p:txBody>
      </p:sp>
      <p:sp>
        <p:nvSpPr>
          <p:cNvPr id="39" name="Freeform 38"/>
          <p:cNvSpPr/>
          <p:nvPr/>
        </p:nvSpPr>
        <p:spPr>
          <a:xfrm>
            <a:off x="7543800" y="2286000"/>
            <a:ext cx="6400800" cy="1920240"/>
          </a:xfrm>
          <a:custGeom>
            <a:avLst/>
            <a:gdLst/>
            <a:ahLst/>
            <a:cxnLst/>
            <a:rect l="l" t="t" r="r" b="b"/>
            <a:pathLst>
              <a:path w="700" h="210">
                <a:moveTo>
                  <a:pt x="0" y="10"/>
                </a:moveTo>
                <a:lnTo>
                  <a:pt x="61" y="0"/>
                </a:lnTo>
                <a:lnTo>
                  <a:pt x="122" y="8"/>
                </a:lnTo>
                <a:lnTo>
                  <a:pt x="192" y="0"/>
                </a:lnTo>
                <a:lnTo>
                  <a:pt x="262" y="7"/>
                </a:lnTo>
                <a:lnTo>
                  <a:pt x="350" y="0"/>
                </a:lnTo>
                <a:lnTo>
                  <a:pt x="420" y="8"/>
                </a:lnTo>
                <a:lnTo>
                  <a:pt x="490" y="0"/>
                </a:lnTo>
                <a:lnTo>
                  <a:pt x="560" y="8"/>
                </a:lnTo>
                <a:lnTo>
                  <a:pt x="612" y="0"/>
                </a:lnTo>
                <a:lnTo>
                  <a:pt x="700" y="10"/>
                </a:lnTo>
                <a:lnTo>
                  <a:pt x="689" y="47"/>
                </a:lnTo>
                <a:lnTo>
                  <a:pt x="700" y="94"/>
                </a:lnTo>
                <a:lnTo>
                  <a:pt x="687" y="136"/>
                </a:lnTo>
                <a:lnTo>
                  <a:pt x="700" y="178"/>
                </a:lnTo>
                <a:lnTo>
                  <a:pt x="686" y="210"/>
                </a:lnTo>
                <a:lnTo>
                  <a:pt x="612" y="205"/>
                </a:lnTo>
                <a:lnTo>
                  <a:pt x="525" y="210"/>
                </a:lnTo>
                <a:lnTo>
                  <a:pt x="437" y="203"/>
                </a:lnTo>
                <a:lnTo>
                  <a:pt x="350" y="210"/>
                </a:lnTo>
                <a:lnTo>
                  <a:pt x="262" y="203"/>
                </a:lnTo>
                <a:lnTo>
                  <a:pt x="175" y="210"/>
                </a:lnTo>
                <a:lnTo>
                  <a:pt x="87" y="203"/>
                </a:lnTo>
                <a:lnTo>
                  <a:pt x="0" y="210"/>
                </a:lnTo>
                <a:lnTo>
                  <a:pt x="12" y="157"/>
                </a:lnTo>
                <a:lnTo>
                  <a:pt x="0" y="115"/>
                </a:lnTo>
                <a:lnTo>
                  <a:pt x="10"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772400" y="2514600"/>
            <a:ext cx="594360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02 / INTERNAL QC</a:t>
            </a:r>
          </a:p>
        </p:txBody>
      </p:sp>
      <p:sp>
        <p:nvSpPr>
          <p:cNvPr id="41" name="TextBox 40"/>
          <p:cNvSpPr txBox="1"/>
          <p:nvPr/>
        </p:nvSpPr>
        <p:spPr>
          <a:xfrm>
            <a:off x="7772400" y="3154680"/>
            <a:ext cx="5943600" cy="868680"/>
          </a:xfrm>
          <a:prstGeom prst="rect">
            <a:avLst/>
          </a:prstGeom>
          <a:noFill/>
        </p:spPr>
        <p:txBody>
          <a:bodyPr wrap="square" lIns="27432" rIns="27432" tIns="0" bIns="0">
            <a:spAutoFit/>
          </a:bodyPr>
          <a:lstStyle/>
          <a:p>
            <a:pPr>
              <a:spcAft>
                <a:spcPts val="800"/>
              </a:spcAft>
              <a:defRPr sz="1800" b="0">
                <a:solidFill>
                  <a:srgbClr val="202020"/>
                </a:solidFill>
                <a:latin typeface="Montserrat"/>
              </a:defRPr>
            </a:pPr>
            <a:r>
              <a:t>Writers → Head of Content. Designers → Head of Design. Editors → Marketing Manager.</a:t>
            </a:r>
          </a:p>
        </p:txBody>
      </p:sp>
      <p:sp>
        <p:nvSpPr>
          <p:cNvPr id="42" name="Freeform 41"/>
          <p:cNvSpPr/>
          <p:nvPr/>
        </p:nvSpPr>
        <p:spPr>
          <a:xfrm>
            <a:off x="731520" y="4526280"/>
            <a:ext cx="6400800" cy="1920240"/>
          </a:xfrm>
          <a:custGeom>
            <a:avLst/>
            <a:gdLst/>
            <a:ahLst/>
            <a:cxnLst/>
            <a:rect l="l" t="t" r="r" b="b"/>
            <a:pathLst>
              <a:path w="700" h="210">
                <a:moveTo>
                  <a:pt x="0" y="10"/>
                </a:moveTo>
                <a:lnTo>
                  <a:pt x="61" y="0"/>
                </a:lnTo>
                <a:lnTo>
                  <a:pt x="122" y="8"/>
                </a:lnTo>
                <a:lnTo>
                  <a:pt x="192" y="0"/>
                </a:lnTo>
                <a:lnTo>
                  <a:pt x="262" y="7"/>
                </a:lnTo>
                <a:lnTo>
                  <a:pt x="350" y="0"/>
                </a:lnTo>
                <a:lnTo>
                  <a:pt x="420" y="8"/>
                </a:lnTo>
                <a:lnTo>
                  <a:pt x="490" y="0"/>
                </a:lnTo>
                <a:lnTo>
                  <a:pt x="560" y="8"/>
                </a:lnTo>
                <a:lnTo>
                  <a:pt x="612" y="0"/>
                </a:lnTo>
                <a:lnTo>
                  <a:pt x="700" y="10"/>
                </a:lnTo>
                <a:lnTo>
                  <a:pt x="689" y="47"/>
                </a:lnTo>
                <a:lnTo>
                  <a:pt x="700" y="94"/>
                </a:lnTo>
                <a:lnTo>
                  <a:pt x="687" y="136"/>
                </a:lnTo>
                <a:lnTo>
                  <a:pt x="700" y="178"/>
                </a:lnTo>
                <a:lnTo>
                  <a:pt x="686" y="210"/>
                </a:lnTo>
                <a:lnTo>
                  <a:pt x="612" y="205"/>
                </a:lnTo>
                <a:lnTo>
                  <a:pt x="525" y="210"/>
                </a:lnTo>
                <a:lnTo>
                  <a:pt x="437" y="203"/>
                </a:lnTo>
                <a:lnTo>
                  <a:pt x="350" y="210"/>
                </a:lnTo>
                <a:lnTo>
                  <a:pt x="262" y="203"/>
                </a:lnTo>
                <a:lnTo>
                  <a:pt x="175" y="210"/>
                </a:lnTo>
                <a:lnTo>
                  <a:pt x="87" y="203"/>
                </a:lnTo>
                <a:lnTo>
                  <a:pt x="0" y="210"/>
                </a:lnTo>
                <a:lnTo>
                  <a:pt x="12" y="157"/>
                </a:lnTo>
                <a:lnTo>
                  <a:pt x="0" y="115"/>
                </a:lnTo>
                <a:lnTo>
                  <a:pt x="10"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60120" y="4754880"/>
            <a:ext cx="594360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03 / CLIENT</a:t>
            </a:r>
          </a:p>
        </p:txBody>
      </p:sp>
      <p:sp>
        <p:nvSpPr>
          <p:cNvPr id="44" name="TextBox 43"/>
          <p:cNvSpPr txBox="1"/>
          <p:nvPr/>
        </p:nvSpPr>
        <p:spPr>
          <a:xfrm>
            <a:off x="960120" y="5394960"/>
            <a:ext cx="5943600" cy="868680"/>
          </a:xfrm>
          <a:prstGeom prst="rect">
            <a:avLst/>
          </a:prstGeom>
          <a:noFill/>
        </p:spPr>
        <p:txBody>
          <a:bodyPr wrap="square" lIns="27432" rIns="27432" tIns="0" bIns="0">
            <a:spAutoFit/>
          </a:bodyPr>
          <a:lstStyle/>
          <a:p>
            <a:pPr>
              <a:spcAft>
                <a:spcPts val="800"/>
              </a:spcAft>
              <a:defRPr sz="1800" b="0">
                <a:solidFill>
                  <a:srgbClr val="202020"/>
                </a:solidFill>
                <a:latin typeface="Montserrat"/>
              </a:defRPr>
            </a:pPr>
            <a:r>
              <a:t>Marketing Manager approves after quality review. Account Manager presents one collected PPTX for final client approval.</a:t>
            </a:r>
          </a:p>
        </p:txBody>
      </p:sp>
      <p:sp>
        <p:nvSpPr>
          <p:cNvPr id="45" name="Freeform 44"/>
          <p:cNvSpPr/>
          <p:nvPr/>
        </p:nvSpPr>
        <p:spPr>
          <a:xfrm>
            <a:off x="7543800" y="4526280"/>
            <a:ext cx="6400800" cy="1920240"/>
          </a:xfrm>
          <a:custGeom>
            <a:avLst/>
            <a:gdLst/>
            <a:ahLst/>
            <a:cxnLst/>
            <a:rect l="l" t="t" r="r" b="b"/>
            <a:pathLst>
              <a:path w="700" h="210">
                <a:moveTo>
                  <a:pt x="0" y="10"/>
                </a:moveTo>
                <a:lnTo>
                  <a:pt x="61" y="0"/>
                </a:lnTo>
                <a:lnTo>
                  <a:pt x="122" y="8"/>
                </a:lnTo>
                <a:lnTo>
                  <a:pt x="192" y="0"/>
                </a:lnTo>
                <a:lnTo>
                  <a:pt x="262" y="7"/>
                </a:lnTo>
                <a:lnTo>
                  <a:pt x="350" y="0"/>
                </a:lnTo>
                <a:lnTo>
                  <a:pt x="420" y="8"/>
                </a:lnTo>
                <a:lnTo>
                  <a:pt x="490" y="0"/>
                </a:lnTo>
                <a:lnTo>
                  <a:pt x="560" y="8"/>
                </a:lnTo>
                <a:lnTo>
                  <a:pt x="612" y="0"/>
                </a:lnTo>
                <a:lnTo>
                  <a:pt x="700" y="10"/>
                </a:lnTo>
                <a:lnTo>
                  <a:pt x="689" y="47"/>
                </a:lnTo>
                <a:lnTo>
                  <a:pt x="700" y="94"/>
                </a:lnTo>
                <a:lnTo>
                  <a:pt x="687" y="136"/>
                </a:lnTo>
                <a:lnTo>
                  <a:pt x="700" y="178"/>
                </a:lnTo>
                <a:lnTo>
                  <a:pt x="686" y="210"/>
                </a:lnTo>
                <a:lnTo>
                  <a:pt x="612" y="205"/>
                </a:lnTo>
                <a:lnTo>
                  <a:pt x="525" y="210"/>
                </a:lnTo>
                <a:lnTo>
                  <a:pt x="437" y="203"/>
                </a:lnTo>
                <a:lnTo>
                  <a:pt x="350" y="210"/>
                </a:lnTo>
                <a:lnTo>
                  <a:pt x="262" y="203"/>
                </a:lnTo>
                <a:lnTo>
                  <a:pt x="175" y="210"/>
                </a:lnTo>
                <a:lnTo>
                  <a:pt x="87" y="203"/>
                </a:lnTo>
                <a:lnTo>
                  <a:pt x="0" y="210"/>
                </a:lnTo>
                <a:lnTo>
                  <a:pt x="12" y="157"/>
                </a:lnTo>
                <a:lnTo>
                  <a:pt x="0" y="115"/>
                </a:lnTo>
                <a:lnTo>
                  <a:pt x="10"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72400" y="4754880"/>
            <a:ext cx="594360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04 / EXECUTION</a:t>
            </a:r>
          </a:p>
        </p:txBody>
      </p:sp>
      <p:sp>
        <p:nvSpPr>
          <p:cNvPr id="47" name="TextBox 46"/>
          <p:cNvSpPr txBox="1"/>
          <p:nvPr/>
        </p:nvSpPr>
        <p:spPr>
          <a:xfrm>
            <a:off x="7772400" y="5394960"/>
            <a:ext cx="5943600" cy="868680"/>
          </a:xfrm>
          <a:prstGeom prst="rect">
            <a:avLst/>
          </a:prstGeom>
          <a:noFill/>
        </p:spPr>
        <p:txBody>
          <a:bodyPr wrap="square" lIns="27432" rIns="27432" tIns="0" bIns="0">
            <a:spAutoFit/>
          </a:bodyPr>
          <a:lstStyle/>
          <a:p>
            <a:pPr>
              <a:spcAft>
                <a:spcPts val="800"/>
              </a:spcAft>
              <a:defRPr sz="1800" b="0">
                <a:solidFill>
                  <a:srgbClr val="202020"/>
                </a:solidFill>
                <a:latin typeface="Montserrat"/>
              </a:defRPr>
            </a:pPr>
            <a:r>
              <a:t>Organic: publication authorization. Paid: budget approval + tracking QA.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23</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REJECT. EXPLAIN. RETURN. IMPROVE.</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423160"/>
            <a:ext cx="3246120" cy="4206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1520" y="2423160"/>
            <a:ext cx="54864" cy="42062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606040"/>
            <a:ext cx="291693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01 / SUBMIT</a:t>
            </a:r>
          </a:p>
        </p:txBody>
      </p:sp>
      <p:sp>
        <p:nvSpPr>
          <p:cNvPr id="39" name="TextBox 38"/>
          <p:cNvSpPr txBox="1"/>
          <p:nvPr/>
        </p:nvSpPr>
        <p:spPr>
          <a:xfrm>
            <a:off x="896112" y="3502152"/>
            <a:ext cx="2916936" cy="301752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Owner supplies the artifact, brief reference, files and acceptance checklist.</a:t>
            </a:r>
          </a:p>
        </p:txBody>
      </p:sp>
      <p:sp>
        <p:nvSpPr>
          <p:cNvPr id="40" name="Rectangle 39"/>
          <p:cNvSpPr/>
          <p:nvPr/>
        </p:nvSpPr>
        <p:spPr>
          <a:xfrm>
            <a:off x="4251960" y="2423160"/>
            <a:ext cx="3246120" cy="4206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251960" y="2423160"/>
            <a:ext cx="54864" cy="42062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416552" y="2606040"/>
            <a:ext cx="291693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02 / REVIEW</a:t>
            </a:r>
          </a:p>
        </p:txBody>
      </p:sp>
      <p:sp>
        <p:nvSpPr>
          <p:cNvPr id="43" name="TextBox 42"/>
          <p:cNvSpPr txBox="1"/>
          <p:nvPr/>
        </p:nvSpPr>
        <p:spPr>
          <a:xfrm>
            <a:off x="4416552" y="3502152"/>
            <a:ext cx="2916936" cy="301752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Independent reviewer checks accuracy, brand consistency and completeness.</a:t>
            </a:r>
          </a:p>
        </p:txBody>
      </p:sp>
      <p:sp>
        <p:nvSpPr>
          <p:cNvPr id="44" name="Rectangle 43"/>
          <p:cNvSpPr/>
          <p:nvPr/>
        </p:nvSpPr>
        <p:spPr>
          <a:xfrm>
            <a:off x="7772400" y="2423160"/>
            <a:ext cx="3246120" cy="4206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772400" y="2423160"/>
            <a:ext cx="54864" cy="42062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936992" y="2606040"/>
            <a:ext cx="291693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03 / REVISE</a:t>
            </a:r>
          </a:p>
        </p:txBody>
      </p:sp>
      <p:sp>
        <p:nvSpPr>
          <p:cNvPr id="47" name="TextBox 46"/>
          <p:cNvSpPr txBox="1"/>
          <p:nvPr/>
        </p:nvSpPr>
        <p:spPr>
          <a:xfrm>
            <a:off x="7936992" y="3502152"/>
            <a:ext cx="2916936" cy="301752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Actionable feedback returns work to its proper owner; record a revision event.</a:t>
            </a:r>
          </a:p>
        </p:txBody>
      </p:sp>
      <p:sp>
        <p:nvSpPr>
          <p:cNvPr id="48" name="Rectangle 47"/>
          <p:cNvSpPr/>
          <p:nvPr/>
        </p:nvSpPr>
        <p:spPr>
          <a:xfrm>
            <a:off x="11292840" y="2423160"/>
            <a:ext cx="3246120" cy="4206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1292840" y="2423160"/>
            <a:ext cx="54864" cy="42062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1457432" y="2606040"/>
            <a:ext cx="291693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04 / RESUBMIT</a:t>
            </a:r>
          </a:p>
        </p:txBody>
      </p:sp>
      <p:sp>
        <p:nvSpPr>
          <p:cNvPr id="51" name="TextBox 50"/>
          <p:cNvSpPr txBox="1"/>
          <p:nvPr/>
        </p:nvSpPr>
        <p:spPr>
          <a:xfrm>
            <a:off x="11457432" y="3502152"/>
            <a:ext cx="2916936" cy="301752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Owner executes every comment. Head quality and Marketing approvals repeat; revised PPTX returns to client when needed.</a:t>
            </a:r>
          </a:p>
        </p:txBody>
      </p:sp>
      <p:sp>
        <p:nvSpPr>
          <p:cNvPr id="52" name="Rectangle 51"/>
          <p:cNvSpPr/>
          <p:nvPr/>
        </p:nvSpPr>
        <p:spPr>
          <a:xfrm>
            <a:off x="822960" y="6903720"/>
            <a:ext cx="12984480" cy="41148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05840" y="6986016"/>
            <a:ext cx="12618720" cy="274320"/>
          </a:xfrm>
          <a:prstGeom prst="rect">
            <a:avLst/>
          </a:prstGeom>
          <a:noFill/>
        </p:spPr>
        <p:txBody>
          <a:bodyPr wrap="square" lIns="27432" rIns="27432" tIns="0" bIns="0">
            <a:spAutoFit/>
          </a:bodyPr>
          <a:lstStyle/>
          <a:p>
            <a:pPr>
              <a:spcAft>
                <a:spcPts val="800"/>
              </a:spcAft>
              <a:defRPr sz="1300" b="1">
                <a:solidFill>
                  <a:srgbClr val="7D2B42"/>
                </a:solidFill>
                <a:latin typeface="Montserrat"/>
              </a:defRPr>
            </a:pPr>
            <a:r>
              <a:t>EXAMPLE: Correct the promotional price to match the approved brief, then resubmit to Design QC.</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24</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MAKE THIS DECK YOUR WORKING TOOL</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286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1520" y="2286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46888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EDIT THE CONTENT</a:t>
            </a:r>
          </a:p>
        </p:txBody>
      </p:sp>
      <p:sp>
        <p:nvSpPr>
          <p:cNvPr id="39" name="TextBox 38"/>
          <p:cNvSpPr txBox="1"/>
          <p:nvPr/>
        </p:nvSpPr>
        <p:spPr>
          <a:xfrm>
            <a:off x="896112" y="3364991"/>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Click any title, role field or label and type. All core content is native PowerPoint text.</a:t>
            </a:r>
          </a:p>
        </p:txBody>
      </p:sp>
      <p:sp>
        <p:nvSpPr>
          <p:cNvPr id="40" name="Rectangle 39"/>
          <p:cNvSpPr/>
          <p:nvPr/>
        </p:nvSpPr>
        <p:spPr>
          <a:xfrm>
            <a:off x="7543800" y="2286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543800" y="2286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08392" y="246888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RESHAPE THE ORGANIZATION</a:t>
            </a:r>
          </a:p>
        </p:txBody>
      </p:sp>
      <p:sp>
        <p:nvSpPr>
          <p:cNvPr id="43" name="TextBox 42"/>
          <p:cNvSpPr txBox="1"/>
          <p:nvPr/>
        </p:nvSpPr>
        <p:spPr>
          <a:xfrm>
            <a:off x="7708392" y="3364991"/>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Move role cards and adjust connectors. On the map, use Selection Pane to select overlapping objects.</a:t>
            </a:r>
          </a:p>
        </p:txBody>
      </p:sp>
      <p:sp>
        <p:nvSpPr>
          <p:cNvPr id="44" name="Rectangle 43"/>
          <p:cNvSpPr/>
          <p:nvPr/>
        </p:nvSpPr>
        <p:spPr>
          <a:xfrm>
            <a:off x="731520" y="4572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31520" y="4572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475488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CONFIRM THE POLICY</a:t>
            </a:r>
          </a:p>
        </p:txBody>
      </p:sp>
      <p:sp>
        <p:nvSpPr>
          <p:cNvPr id="47" name="TextBox 46"/>
          <p:cNvSpPr txBox="1"/>
          <p:nvPr/>
        </p:nvSpPr>
        <p:spPr>
          <a:xfrm>
            <a:off x="896112" y="5650992"/>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Reporting lines, approval authority, SLAs and other reporting remain proposed until PMP confirms them.</a:t>
            </a:r>
          </a:p>
        </p:txBody>
      </p:sp>
      <p:sp>
        <p:nvSpPr>
          <p:cNvPr id="48" name="Rectangle 47"/>
          <p:cNvSpPr/>
          <p:nvPr/>
        </p:nvSpPr>
        <p:spPr>
          <a:xfrm>
            <a:off x="7543800" y="4572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543800" y="4572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708392" y="475488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KEEP THE BRAND CONSISTENT</a:t>
            </a:r>
          </a:p>
        </p:txBody>
      </p:sp>
      <p:sp>
        <p:nvSpPr>
          <p:cNvPr id="51" name="TextBox 50"/>
          <p:cNvSpPr txBox="1"/>
          <p:nvPr/>
        </p:nvSpPr>
        <p:spPr>
          <a:xfrm>
            <a:off x="7708392" y="5650992"/>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Use the six supplied palette colors. Install Montserrat and Bebas Neue for the intended typography.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25</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BRAND TOKENS / DIRECTION 01</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240280"/>
            <a:ext cx="4389120" cy="1051560"/>
          </a:xfrm>
          <a:prstGeom prst="rect">
            <a:avLst/>
          </a:prstGeom>
          <a:solidFill>
            <a:srgbClr val="7D2B42"/>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20" y="3429000"/>
            <a:ext cx="438912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Deep Burgundy / #7D2B42</a:t>
            </a:r>
          </a:p>
        </p:txBody>
      </p:sp>
      <p:sp>
        <p:nvSpPr>
          <p:cNvPr id="38" name="Rectangle 37"/>
          <p:cNvSpPr/>
          <p:nvPr/>
        </p:nvSpPr>
        <p:spPr>
          <a:xfrm>
            <a:off x="5394959" y="2240280"/>
            <a:ext cx="4389120" cy="1051560"/>
          </a:xfrm>
          <a:prstGeom prst="rect">
            <a:avLst/>
          </a:prstGeom>
          <a:solidFill>
            <a:srgbClr val="FFFFFF"/>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94959" y="3429000"/>
            <a:ext cx="438912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Pure White / #FFFFFF</a:t>
            </a:r>
          </a:p>
        </p:txBody>
      </p:sp>
      <p:sp>
        <p:nvSpPr>
          <p:cNvPr id="40" name="Rectangle 39"/>
          <p:cNvSpPr/>
          <p:nvPr/>
        </p:nvSpPr>
        <p:spPr>
          <a:xfrm>
            <a:off x="10058400" y="2240280"/>
            <a:ext cx="4389120" cy="1051560"/>
          </a:xfrm>
          <a:prstGeom prst="rect">
            <a:avLst/>
          </a:prstGeom>
          <a:solidFill>
            <a:srgbClr val="202020"/>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3429000"/>
            <a:ext cx="438912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Rich Charcoal / #202020</a:t>
            </a:r>
          </a:p>
        </p:txBody>
      </p:sp>
      <p:sp>
        <p:nvSpPr>
          <p:cNvPr id="42" name="Rectangle 41"/>
          <p:cNvSpPr/>
          <p:nvPr/>
        </p:nvSpPr>
        <p:spPr>
          <a:xfrm>
            <a:off x="731520" y="4160520"/>
            <a:ext cx="4389120" cy="1051560"/>
          </a:xfrm>
          <a:prstGeom prst="rect">
            <a:avLst/>
          </a:prstGeom>
          <a:solidFill>
            <a:srgbClr val="FFCC00"/>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1520" y="5349240"/>
            <a:ext cx="438912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Mustard Yellow / #FFCC00</a:t>
            </a:r>
          </a:p>
        </p:txBody>
      </p:sp>
      <p:sp>
        <p:nvSpPr>
          <p:cNvPr id="44" name="Rectangle 43"/>
          <p:cNvSpPr/>
          <p:nvPr/>
        </p:nvSpPr>
        <p:spPr>
          <a:xfrm>
            <a:off x="5394959" y="4160520"/>
            <a:ext cx="4389120" cy="1051560"/>
          </a:xfrm>
          <a:prstGeom prst="rect">
            <a:avLst/>
          </a:prstGeom>
          <a:solidFill>
            <a:srgbClr val="D5D5D5"/>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94959" y="5349240"/>
            <a:ext cx="438912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Light Gray / #D5D5D5</a:t>
            </a:r>
          </a:p>
        </p:txBody>
      </p:sp>
      <p:sp>
        <p:nvSpPr>
          <p:cNvPr id="46" name="Rectangle 45"/>
          <p:cNvSpPr/>
          <p:nvPr/>
        </p:nvSpPr>
        <p:spPr>
          <a:xfrm>
            <a:off x="10058400" y="4160520"/>
            <a:ext cx="4389120" cy="1051560"/>
          </a:xfrm>
          <a:prstGeom prst="rect">
            <a:avLst/>
          </a:prstGeom>
          <a:solidFill>
            <a:srgbClr val="555555"/>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058400" y="5349240"/>
            <a:ext cx="438912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Slate Gray / #555555</a:t>
            </a:r>
          </a:p>
        </p:txBody>
      </p:sp>
      <p:sp>
        <p:nvSpPr>
          <p:cNvPr id="48" name="TextBox 47"/>
          <p:cNvSpPr txBox="1"/>
          <p:nvPr/>
        </p:nvSpPr>
        <p:spPr>
          <a:xfrm>
            <a:off x="822960" y="6949440"/>
            <a:ext cx="12984480" cy="548640"/>
          </a:xfrm>
          <a:prstGeom prst="rect">
            <a:avLst/>
          </a:prstGeom>
          <a:noFill/>
        </p:spPr>
        <p:txBody>
          <a:bodyPr wrap="square" lIns="27432" rIns="27432" tIns="0" bIns="0">
            <a:spAutoFit/>
          </a:bodyPr>
          <a:lstStyle/>
          <a:p>
            <a:pPr>
              <a:spcAft>
                <a:spcPts val="800"/>
              </a:spcAft>
              <a:defRPr sz="1300" b="0">
                <a:solidFill>
                  <a:srgbClr val="555555"/>
                </a:solidFill>
                <a:latin typeface="Montserrat"/>
              </a:defRPr>
            </a:pPr>
            <a:r>
              <a:t>Source: user-supplied Direction -01.pdf, page 13. Typography: page 10. Collage, grid and paper-cut direction: pages 2, 5 and 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