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81" r:id="rId33"/>
    <p:sldId id="282" r:id="rId34"/>
    <p:sldId id="283" r:id="rId35"/>
    <p:sldId id="284" r:id="rId36"/>
    <p:sldId id="285" r:id="rId37"/>
    <p:sldId id="286" r:id="rId38"/>
    <p:sldId id="287" r:id="rId39"/>
    <p:sldId id="288" r:id="rId40"/>
    <p:sldId id="289" r:id="rId41"/>
    <p:sldId id="290" r:id="rId42"/>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4630400" cy="82296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Brand source: Direction -01.pdf, supplied by the user. Palette from p.13; typography direction from p.10; grid/collage treatment from pp.2, 5, 17. Text wordmark is editable text, not the original logo artwork. All organizational reporting and policies are proposals.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Relationship types are distinct. Line styles supplement brand colors. Connectors and labels are editable. Proposed rather than verified company policy.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Editable PowerPoint is not the running application: simulation logic, browser persistence and permissions do not execute inside the deck. Role cards and back buttons use internal slide hyperlinks. Native shapes and connectors can be moved; connector endpoints must be adjusted manually after changing the map. Fonts are named but not embedded; substitutes may render differently.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Color tokens are transcribed from the supplied PDF, not invented. Native editable shapes interpret its collage direction; they do not replicate photographic paper textures. The original logo is not embedded; PMP is an editable text label. No official logo geometry is claimed.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User-supplied PMP-Growth-OS (1).pptx, slide 2.</a:t>
            </a:r>
          </a:p>
          <a:p>
            <a:r>
              <a:t>Original content:</a:t>
            </a:r>
          </a:p>
          <a:p>
            <a:r>
              <a:t>THE SYSTEM</a:t>
            </a:r>
          </a:p>
          <a:p>
            <a:r>
              <a:t>One operating system. Every engagement.</a:t>
            </a:r>
          </a:p>
          <a:p>
            <a:r>
              <a:t>Most agencies improvise — PMP runs on a system. Every engagement follows the same six stages of the PMP Growth OS™. The system stays constant; only the industry Module on top changes.</a:t>
            </a:r>
          </a:p>
          <a:p/>
          <a:p>
            <a:r>
              <a:t>1</a:t>
            </a:r>
          </a:p>
          <a:p/>
          <a:p>
            <a:r>
              <a:t>DISCOVER</a:t>
            </a:r>
          </a:p>
          <a:p>
            <a:r>
              <a:t>Understand the business before acting.</a:t>
            </a:r>
          </a:p>
          <a:p/>
          <a:p>
            <a:r>
              <a:t>2</a:t>
            </a:r>
          </a:p>
          <a:p/>
          <a:p>
            <a:r>
              <a:t>DIAGNOSE</a:t>
            </a:r>
          </a:p>
          <a:p>
            <a:r>
              <a:t>Find out exactly why growth stalls.</a:t>
            </a:r>
          </a:p>
          <a:p/>
          <a:p>
            <a:r>
              <a:t>3</a:t>
            </a:r>
          </a:p>
          <a:p/>
          <a:p>
            <a:r>
              <a:t>DESIGN</a:t>
            </a:r>
          </a:p>
          <a:p>
            <a:r>
              <a:t>Design the growth plan before building.</a:t>
            </a:r>
          </a:p>
          <a:p/>
          <a:p>
            <a:r>
              <a:t>4</a:t>
            </a:r>
          </a:p>
          <a:p/>
          <a:p>
            <a:r>
              <a:t>DEPLOY</a:t>
            </a:r>
          </a:p>
          <a:p>
            <a:r>
              <a:t>Execute with precision across channels.</a:t>
            </a:r>
          </a:p>
          <a:p/>
          <a:p>
            <a:r>
              <a:t>5</a:t>
            </a:r>
          </a:p>
          <a:p/>
          <a:p>
            <a:r>
              <a:t>OPTIMISE</a:t>
            </a:r>
          </a:p>
          <a:p>
            <a:r>
              <a:t>Improve with data, every week.</a:t>
            </a:r>
          </a:p>
          <a:p/>
          <a:p>
            <a:r>
              <a:t>★</a:t>
            </a:r>
          </a:p>
          <a:p/>
          <a:p>
            <a:r>
              <a:t>SCALE</a:t>
            </a:r>
          </a:p>
          <a:p>
            <a:r>
              <a:t>Scale what works into sustainable growth.</a:t>
            </a:r>
          </a:p>
          <a:p>
            <a:r>
              <a:t>PMP Growth OS™     ·     02</a:t>
            </a:r>
          </a:p>
          <a:p>
            <a:r>
              <a:t>INTEGRATION: Framework and deliverables are supplied content. Position-level ownership, approval gates and stage exit criteria below are proposed mappings, not confirmed company policies. </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User-supplied PMP-Growth-OS (1).pptx, slide 3.</a:t>
            </a:r>
          </a:p>
          <a:p>
            <a:r>
              <a:t>Original content:</a:t>
            </a:r>
          </a:p>
          <a:p>
            <a:r>
              <a:t>STAGE 01</a:t>
            </a:r>
          </a:p>
          <a:p>
            <a:r>
              <a:t>Discover</a:t>
            </a:r>
          </a:p>
          <a:p>
            <a:r>
              <a:t>“Understand before you act.”</a:t>
            </a:r>
          </a:p>
          <a:p>
            <a:r>
              <a:t>01</a:t>
            </a:r>
          </a:p>
          <a:p/>
          <a:p/>
          <a:p/>
          <a:p>
            <a:r>
              <a:t>What we do</a:t>
            </a:r>
          </a:p>
          <a:p>
            <a:r>
              <a:t>Business discovery &amp; goals</a:t>
            </a:r>
          </a:p>
          <a:p>
            <a:r>
              <a:t>Stakeholder interviews</a:t>
            </a:r>
          </a:p>
          <a:p>
            <a:r>
              <a:t>Brand audit</a:t>
            </a:r>
          </a:p>
          <a:p>
            <a:r>
              <a:t>Customer interviews</a:t>
            </a:r>
          </a:p>
          <a:p>
            <a:r>
              <a:t>Competitor analysis</a:t>
            </a:r>
          </a:p>
          <a:p>
            <a:r>
              <a:t>Market research</a:t>
            </a:r>
          </a:p>
          <a:p/>
          <a:p/>
          <a:p/>
          <a:p>
            <a:r>
              <a:t>Deliverables</a:t>
            </a:r>
          </a:p>
          <a:p>
            <a:r>
              <a:t>Business Discovery Report</a:t>
            </a:r>
          </a:p>
          <a:p>
            <a:r>
              <a:t>SWOT analysis</a:t>
            </a:r>
          </a:p>
          <a:p>
            <a:r>
              <a:t>Growth opportunities map</a:t>
            </a:r>
          </a:p>
          <a:p>
            <a:r>
              <a:t>Competitor landscape</a:t>
            </a:r>
          </a:p>
          <a:p/>
          <a:p>
            <a:r>
              <a:t>We never start with tactics. Discover builds the factual foundation — who the business serves, how it's positioned, and where the real growth opportunities sit.</a:t>
            </a:r>
          </a:p>
          <a:p>
            <a:r>
              <a:t>PMP Growth OS™     ·     03</a:t>
            </a:r>
          </a:p>
          <a:p>
            <a:r>
              <a:t>INTEGRATION: Framework and deliverables are supplied content. Position-level ownership, approval gates and stage exit criteria below are proposed mappings, not confirmed company policies. Performance improvements and growth are objectives, not operational guarantees. The listed 14 roles do not explicitly include web development, CRM implementation, automation or specialist CRO delivery. Confirm an accountable internal or external owner before committing that scope.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User-supplied PMP-Growth-OS (1).pptx, slide 4.</a:t>
            </a:r>
          </a:p>
          <a:p>
            <a:r>
              <a:t>Original content:</a:t>
            </a:r>
          </a:p>
          <a:p>
            <a:r>
              <a:t>STAGE 02</a:t>
            </a:r>
          </a:p>
          <a:p>
            <a:r>
              <a:t>Diagnose</a:t>
            </a:r>
          </a:p>
          <a:p>
            <a:r>
              <a:t>“Find out why growth stalls.”</a:t>
            </a:r>
          </a:p>
          <a:p>
            <a:r>
              <a:t>02</a:t>
            </a:r>
          </a:p>
          <a:p/>
          <a:p/>
          <a:p/>
          <a:p>
            <a:r>
              <a:t>Where we look</a:t>
            </a:r>
          </a:p>
          <a:p>
            <a:r>
              <a:t>Positioning &amp; brand</a:t>
            </a:r>
          </a:p>
          <a:p>
            <a:r>
              <a:t>Product &amp; offer</a:t>
            </a:r>
          </a:p>
          <a:p>
            <a:r>
              <a:t>Funnel &amp; website</a:t>
            </a:r>
          </a:p>
          <a:p>
            <a:r>
              <a:t>CRM &amp; sales process</a:t>
            </a:r>
          </a:p>
          <a:p>
            <a:r>
              <a:t>Marketing &amp; media efficiency</a:t>
            </a:r>
          </a:p>
          <a:p/>
          <a:p/>
          <a:p/>
          <a:p>
            <a:r>
              <a:t>Deliverables</a:t>
            </a:r>
          </a:p>
          <a:p>
            <a:r>
              <a:t>Growth Diagnosis</a:t>
            </a:r>
          </a:p>
          <a:p>
            <a:r>
              <a:t>Priority Matrix</a:t>
            </a:r>
          </a:p>
          <a:p>
            <a:r>
              <a:t>Quick Wins list</a:t>
            </a:r>
          </a:p>
          <a:p/>
          <a:p>
            <a:r>
              <a:t>The core question: why isn't the business growing? We isolate the real constraints — not the symptoms — so effort and budget go where they move the needle.</a:t>
            </a:r>
          </a:p>
          <a:p>
            <a:r>
              <a:t>PMP Growth OS™     ·     04</a:t>
            </a:r>
          </a:p>
          <a:p>
            <a:r>
              <a:t>INTEGRATION: Framework and deliverables are supplied content. Position-level ownership, approval gates and stage exit criteria below are proposed mappings, not confirmed company policies. Performance improvements and growth are objectives, not operational guarantees. The listed 14 roles do not explicitly include web development, CRM implementation, automation or specialist CRO delivery. Confirm an accountable internal or external owner before committing that scope.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User-supplied PMP-Growth-OS (1).pptx, slide 5.</a:t>
            </a:r>
          </a:p>
          <a:p>
            <a:r>
              <a:t>Original content:</a:t>
            </a:r>
          </a:p>
          <a:p>
            <a:r>
              <a:t>STAGE 03</a:t>
            </a:r>
          </a:p>
          <a:p>
            <a:r>
              <a:t>Design</a:t>
            </a:r>
          </a:p>
          <a:p>
            <a:r>
              <a:t>“Design the solution before building it.”</a:t>
            </a:r>
          </a:p>
          <a:p>
            <a:r>
              <a:t>03</a:t>
            </a:r>
          </a:p>
          <a:p/>
          <a:p/>
          <a:p/>
          <a:p>
            <a:r>
              <a:t>What we design</a:t>
            </a:r>
          </a:p>
          <a:p>
            <a:r>
              <a:t>Brand strategy</a:t>
            </a:r>
          </a:p>
          <a:p>
            <a:r>
              <a:t>Content strategy</a:t>
            </a:r>
          </a:p>
          <a:p>
            <a:r>
              <a:t>Media strategy</a:t>
            </a:r>
          </a:p>
          <a:p>
            <a:r>
              <a:t>Customer journey</a:t>
            </a:r>
          </a:p>
          <a:p>
            <a:r>
              <a:t>KPI framework</a:t>
            </a:r>
          </a:p>
          <a:p>
            <a:r>
              <a:t>Budget allocation</a:t>
            </a:r>
          </a:p>
          <a:p/>
          <a:p/>
          <a:p/>
          <a:p>
            <a:r>
              <a:t>Deliverables</a:t>
            </a:r>
          </a:p>
          <a:p>
            <a:r>
              <a:t>The Growth Blueprint™ — a single, board-ready plan connecting strategy, channels, KPIs &amp; budget</a:t>
            </a:r>
          </a:p>
          <a:p/>
          <a:p>
            <a:r>
              <a:t>Design is where the plan is engineered — not executed. Everything is mapped and agreed before a single campaign goes live.</a:t>
            </a:r>
          </a:p>
          <a:p>
            <a:r>
              <a:t>PMP Growth OS™     ·     05</a:t>
            </a:r>
          </a:p>
          <a:p>
            <a:r>
              <a:t>INTEGRATION: Framework and deliverables are supplied content. Position-level ownership, approval gates and stage exit criteria below are proposed mappings, not confirmed company policies. Performance improvements and growth are objectives, not operational guarantees. The listed 14 roles do not explicitly include web development, CRM implementation, automation or specialist CRO delivery. Confirm an accountable internal or external owner before committing that scope.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User-supplied PMP-Growth-OS (1).pptx, slide 6.</a:t>
            </a:r>
          </a:p>
          <a:p>
            <a:r>
              <a:t>Original content:</a:t>
            </a:r>
          </a:p>
          <a:p>
            <a:r>
              <a:t>STAGE 04</a:t>
            </a:r>
          </a:p>
          <a:p>
            <a:r>
              <a:t>Deploy</a:t>
            </a:r>
          </a:p>
          <a:p>
            <a:r>
              <a:t>“Execution with precision.”</a:t>
            </a:r>
          </a:p>
          <a:p>
            <a:r>
              <a:t>04</a:t>
            </a:r>
          </a:p>
          <a:p/>
          <a:p/>
          <a:p/>
          <a:p>
            <a:r>
              <a:t>What we build</a:t>
            </a:r>
          </a:p>
          <a:p>
            <a:r>
              <a:t>Website &amp; landing pages</a:t>
            </a:r>
          </a:p>
          <a:p>
            <a:r>
              <a:t>Branding &amp; creative</a:t>
            </a:r>
          </a:p>
          <a:p>
            <a:r>
              <a:t>Paid campaigns</a:t>
            </a:r>
          </a:p>
          <a:p>
            <a:r>
              <a:t>Social media &amp; content</a:t>
            </a:r>
          </a:p>
          <a:p>
            <a:r>
              <a:t>CRM &amp; automation</a:t>
            </a:r>
          </a:p>
          <a:p/>
          <a:p/>
          <a:p/>
          <a:p>
            <a:r>
              <a:t>Deliverables</a:t>
            </a:r>
          </a:p>
          <a:p>
            <a:r>
              <a:t>Live campaigns &amp; content calendar</a:t>
            </a:r>
          </a:p>
          <a:p>
            <a:r>
              <a:t>Tracking &amp; analytics setup</a:t>
            </a:r>
          </a:p>
          <a:p>
            <a:r>
              <a:t>Automation &amp; lead routing</a:t>
            </a:r>
          </a:p>
          <a:p/>
          <a:p>
            <a:r>
              <a:t>Deployment turns the Blueprint into live assets and campaigns — built to the plan and instrumented from day one, so every result is measurable.</a:t>
            </a:r>
          </a:p>
          <a:p>
            <a:r>
              <a:t>PMP Growth OS™     ·     06</a:t>
            </a:r>
          </a:p>
          <a:p>
            <a:r>
              <a:t>INTEGRATION: Framework and deliverables are supplied content. Position-level ownership, approval gates and stage exit criteria below are proposed mappings, not confirmed company policies. Performance improvements and growth are objectives, not operational guarantees. The listed 14 roles do not explicitly include web development, CRM implementation, automation or specialist CRO delivery. Confirm an accountable internal or external owner before committing that scope.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User-supplied PMP-Growth-OS (1).pptx, slide 7.</a:t>
            </a:r>
          </a:p>
          <a:p>
            <a:r>
              <a:t>Original content:</a:t>
            </a:r>
          </a:p>
          <a:p>
            <a:r>
              <a:t>STAGE 05</a:t>
            </a:r>
          </a:p>
          <a:p>
            <a:r>
              <a:t>Optimise</a:t>
            </a:r>
          </a:p>
          <a:p>
            <a:r>
              <a:t>“Improve with data — every week.”</a:t>
            </a:r>
          </a:p>
          <a:p>
            <a:r>
              <a:t>05</a:t>
            </a:r>
          </a:p>
          <a:p/>
          <a:p/>
          <a:p/>
          <a:p>
            <a:r>
              <a:t>How we optimise</a:t>
            </a:r>
          </a:p>
          <a:p>
            <a:r>
              <a:t>Weekly &amp; monthly reporting</a:t>
            </a:r>
          </a:p>
          <a:p>
            <a:r>
              <a:t>Live dashboards</a:t>
            </a:r>
          </a:p>
          <a:p>
            <a:r>
              <a:t>Heatmaps &amp; behaviour analysis</a:t>
            </a:r>
          </a:p>
          <a:p>
            <a:r>
              <a:t>A/B testing</a:t>
            </a:r>
          </a:p>
          <a:p>
            <a:r>
              <a:t>Conversion rate optimisation (CRO)</a:t>
            </a:r>
          </a:p>
          <a:p/>
          <a:p/>
          <a:p/>
          <a:p>
            <a:r>
              <a:t>Deliverables</a:t>
            </a:r>
          </a:p>
          <a:p>
            <a:r>
              <a:t>Performance reports with recommendations</a:t>
            </a:r>
          </a:p>
          <a:p>
            <a:r>
              <a:t>Optimisation log</a:t>
            </a:r>
          </a:p>
          <a:p>
            <a:r>
              <a:t>Improving CPL, CPM &amp; ROAS over time</a:t>
            </a:r>
          </a:p>
          <a:p/>
          <a:p>
            <a:r>
              <a:t>Optimise is the engine of compounding results — a continuous loop of measure, test, and refine that improves efficiency month after month.</a:t>
            </a:r>
          </a:p>
          <a:p>
            <a:r>
              <a:t>PMP Growth OS™     ·     07</a:t>
            </a:r>
          </a:p>
          <a:p>
            <a:r>
              <a:t>INTEGRATION: Framework and deliverables are supplied content. Position-level ownership, approval gates and stage exit criteria below are proposed mappings, not confirmed company policies. Performance improvements and growth are objectives, not operational guarantees. The listed 14 roles do not explicitly include web development, CRM implementation, automation or specialist CRO delivery. Confirm an accountable internal or external owner before committing that scope.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User-supplied PMP-Growth-OS (1).pptx, slide 8.</a:t>
            </a:r>
          </a:p>
          <a:p>
            <a:r>
              <a:t>Original content:</a:t>
            </a:r>
          </a:p>
          <a:p>
            <a:r>
              <a:t>STAGE 06</a:t>
            </a:r>
          </a:p>
          <a:p>
            <a:r>
              <a:t>Scale</a:t>
            </a:r>
          </a:p>
          <a:p>
            <a:r>
              <a:t>“Scale what works.”</a:t>
            </a:r>
          </a:p>
          <a:p>
            <a:r>
              <a:t>06</a:t>
            </a:r>
          </a:p>
          <a:p/>
          <a:p/>
          <a:p/>
          <a:p>
            <a:r>
              <a:t>What we scale</a:t>
            </a:r>
          </a:p>
          <a:p>
            <a:r>
              <a:t>Scaling budget behind winners</a:t>
            </a:r>
          </a:p>
          <a:p>
            <a:r>
              <a:t>Scaling into new markets</a:t>
            </a:r>
          </a:p>
          <a:p>
            <a:r>
              <a:t>Scaling new channels</a:t>
            </a:r>
          </a:p>
          <a:p>
            <a:r>
              <a:t>Retention &amp; loyalty</a:t>
            </a:r>
          </a:p>
          <a:p>
            <a:r>
              <a:t>Expansion &amp; new revenue lines</a:t>
            </a:r>
          </a:p>
          <a:p/>
          <a:p/>
          <a:p/>
          <a:p>
            <a:r>
              <a:t>Deliverables</a:t>
            </a:r>
          </a:p>
          <a:p>
            <a:r>
              <a:t>Scaling plan</a:t>
            </a:r>
          </a:p>
          <a:p>
            <a:r>
              <a:t>Expansion roadmap</a:t>
            </a:r>
          </a:p>
          <a:p>
            <a:r>
              <a:t>Sustainable, compounding growth</a:t>
            </a:r>
          </a:p>
          <a:p/>
          <a:p>
            <a:r>
              <a:t>Scale is where proven performance becomes real business growth — expanding budget, markets, and channels on the foundation the system has built.</a:t>
            </a:r>
          </a:p>
          <a:p>
            <a:r>
              <a:t>PMP Growth OS™     ·     08</a:t>
            </a:r>
          </a:p>
          <a:p>
            <a:r>
              <a:t>INTEGRATION: Framework and deliverables are supplied content. Position-level ownership, approval gates and stage exit criteria below are proposed mappings, not confirmed company policies. Performance improvements and growth are objectives, not operational guarantees. The listed 14 roles do not explicitly include web development, CRM implementation, automation or specialist CRO delivery. Confirm an accountable internal or external owner before committing that scope.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the nine existing task templates to the six-stage framework. Templates are delivery workflows nested inside the OS, not replacement stages. Paid campaign planning begins in Design; asset production and activation occur in Deploy; testing/reporting continue in Optimise. Urgent requests do not bypass approval gates.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User-supplied PMP-Growth-OS (1).pptx, slide 9.</a:t>
            </a:r>
          </a:p>
          <a:p>
            <a:r>
              <a:t>Original content:</a:t>
            </a:r>
          </a:p>
          <a:p>
            <a:r>
              <a:t>ONE SYSTEM, TUNED TO YOUR INDUSTRY</a:t>
            </a:r>
          </a:p>
          <a:p>
            <a:r>
              <a:t>Industry Growth Modules™</a:t>
            </a:r>
          </a:p>
          <a:p>
            <a:r>
              <a:t>The six stages never change. What changes is the Module on top — adding the journeys, funnels, and KPIs specific to each industry.</a:t>
            </a:r>
          </a:p>
          <a:p/>
          <a:p>
            <a:r>
              <a:t>Healthcare Growth Module™</a:t>
            </a:r>
          </a:p>
          <a:p>
            <a:r>
              <a:t>Patient journey · medical authority · appointment funnel · referral system.</a:t>
            </a:r>
          </a:p>
          <a:p/>
          <a:p>
            <a:r>
              <a:t>Real Estate Growth Module™</a:t>
            </a:r>
          </a:p>
          <a:p>
            <a:r>
              <a:t>Buyer journey · lead scoring · CRM · sales pipeline.</a:t>
            </a:r>
          </a:p>
          <a:p/>
          <a:p>
            <a:r>
              <a:t>Hospitality Growth Module™</a:t>
            </a:r>
          </a:p>
          <a:p>
            <a:r>
              <a:t>Reservation funnel · reviews · loyalty · retention.</a:t>
            </a:r>
          </a:p>
          <a:p/>
          <a:p>
            <a:r>
              <a:t>Luxury Brand Module™</a:t>
            </a:r>
          </a:p>
          <a:p>
            <a:r>
              <a:t>Brand experience · storytelling · community · premium positioning.</a:t>
            </a:r>
          </a:p>
          <a:p>
            <a:r>
              <a:t>Each module plugs into the same six-stage Growth OS™ — the system stays constant, the module makes it industry-specific.</a:t>
            </a:r>
          </a:p>
          <a:p>
            <a:r>
              <a:t>PMP Growth OS™     ·     09</a:t>
            </a:r>
          </a:p>
          <a:p>
            <a:r>
              <a:t>INTEGRATION: Framework and deliverables are supplied content. Position-level ownership, approval gates and stage exit criteria below are proposed mappings, not confirmed company policies. Modules overlay all six stages. They do not add fictional staff positions or replace internal approvals. Industry-specific delivery and review responsibilities must be confirmed per engagement.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User-supplied PMP-Growth-OS (1).pptx, slide 10.</a:t>
            </a:r>
          </a:p>
          <a:p>
            <a:r>
              <a:t>Original content:</a:t>
            </a:r>
          </a:p>
          <a:p>
            <a:r>
              <a:t>THE PMP GROWTH ARCHITECTURE</a:t>
            </a:r>
          </a:p>
          <a:p>
            <a:r>
              <a:t>One connected ecosystem</a:t>
            </a:r>
          </a:p>
          <a:p>
            <a:r>
              <a:t>Every PMP asset builds on the Growth OS™ — one system, one language, across every touchpoint.</a:t>
            </a:r>
          </a:p>
          <a:p/>
          <a:p>
            <a:r>
              <a:t>PMP</a:t>
            </a:r>
          </a:p>
          <a:p/>
          <a:p>
            <a:r>
              <a:t>Growth OS™</a:t>
            </a:r>
          </a:p>
          <a:p/>
          <a:p>
            <a:r>
              <a:t>Growth Score™</a:t>
            </a:r>
          </a:p>
          <a:p/>
          <a:p>
            <a:r>
              <a:t>Audit™</a:t>
            </a:r>
          </a:p>
          <a:p/>
          <a:p>
            <a:r>
              <a:t>Blueprint™</a:t>
            </a:r>
          </a:p>
          <a:p/>
          <a:p>
            <a:r>
              <a:t>Dashboard™</a:t>
            </a:r>
          </a:p>
          <a:p/>
          <a:p>
            <a:r>
              <a:t>Playbooks™</a:t>
            </a:r>
          </a:p>
          <a:p/>
          <a:p>
            <a:r>
              <a:t>Academy™</a:t>
            </a:r>
          </a:p>
          <a:p>
            <a:r>
              <a:t>Growth Score™ and Audit™ open the relationship; the Growth OS™ chain delivers and compounds it.</a:t>
            </a:r>
          </a:p>
          <a:p>
            <a:r>
              <a:t>PMP Growth OS™     ·     10</a:t>
            </a:r>
          </a:p>
          <a:p>
            <a:r>
              <a:t>INTEGRATION: Framework and deliverables are supplied content. Position-level ownership, approval gates and stage exit criteria below are proposed mappings, not confirmed company policies. Brand architecture names and ™ notation are retained from the supplied deck; no trademark registration or legal status is asserted.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5.xml"/><Relationship Id="rId4" Type="http://schemas.openxmlformats.org/officeDocument/2006/relationships/slide" Target="slide6.xml"/><Relationship Id="rId5" Type="http://schemas.openxmlformats.org/officeDocument/2006/relationships/slide" Target="slide7.xml"/><Relationship Id="rId6" Type="http://schemas.openxmlformats.org/officeDocument/2006/relationships/slide" Target="slide8.xml"/><Relationship Id="rId7" Type="http://schemas.openxmlformats.org/officeDocument/2006/relationships/slide" Target="slide9.xml"/><Relationship Id="rId8" Type="http://schemas.openxmlformats.org/officeDocument/2006/relationships/slide" Target="slide10.xml"/><Relationship Id="rId9" Type="http://schemas.openxmlformats.org/officeDocument/2006/relationships/slide" Target="slide11.xml"/><Relationship Id="rId10" Type="http://schemas.openxmlformats.org/officeDocument/2006/relationships/slide" Target="slide12.xml"/><Relationship Id="rId11" Type="http://schemas.openxmlformats.org/officeDocument/2006/relationships/slide" Target="slide13.xml"/><Relationship Id="rId12" Type="http://schemas.openxmlformats.org/officeDocument/2006/relationships/slide" Target="slide14.xml"/><Relationship Id="rId13" Type="http://schemas.openxmlformats.org/officeDocument/2006/relationships/slide" Target="slide15.xml"/><Relationship Id="rId14" Type="http://schemas.openxmlformats.org/officeDocument/2006/relationships/slide" Target="slide16.xml"/><Relationship Id="rId15" Type="http://schemas.openxmlformats.org/officeDocument/2006/relationships/slide" Target="slide1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7D2B42"/>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FFFFFF"/>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FFFFFF"/>
                </a:solidFill>
                <a:latin typeface="Montserrat"/>
              </a:defRPr>
            </a:pPr>
            <a:r>
              <a:t>01</a:t>
            </a:r>
          </a:p>
        </p:txBody>
      </p:sp>
      <p:cxnSp>
        <p:nvCxnSpPr>
          <p:cNvPr id="32" name="Connector 31"/>
          <p:cNvCxnSpPr/>
          <p:nvPr/>
        </p:nvCxnSpPr>
        <p:spPr>
          <a:xfrm>
            <a:off x="594360" y="841248"/>
            <a:ext cx="13441680" cy="0"/>
          </a:xfrm>
          <a:prstGeom prst="line">
            <a:avLst/>
          </a:prstGeom>
          <a:ln w="10160">
            <a:solidFill>
              <a:srgbClr val="FFFFFF"/>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FFFFFF"/>
                </a:solidFill>
                <a:latin typeface="Montserrat"/>
              </a:defRPr>
            </a:pPr>
            <a:r>
              <a:t>YOUR GROWTH IS OUR PULSE</a:t>
            </a:r>
          </a:p>
        </p:txBody>
      </p:sp>
      <p:sp>
        <p:nvSpPr>
          <p:cNvPr id="34" name="TextBox 33"/>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FFFFFF"/>
                </a:solidFill>
                <a:latin typeface="Montserrat"/>
              </a:defRPr>
            </a:pPr>
            <a:r>
              <a:t>EDITABLE WORKING DRAFT · OTHER REPORTING &amp; POLICIES PROPOSED</a:t>
            </a:r>
          </a:p>
        </p:txBody>
      </p:sp>
      <p:sp>
        <p:nvSpPr>
          <p:cNvPr id="35" name="Freeform 34"/>
          <p:cNvSpPr/>
          <p:nvPr/>
        </p:nvSpPr>
        <p:spPr>
          <a:xfrm>
            <a:off x="9418320" y="1463040"/>
            <a:ext cx="4654296" cy="5212080"/>
          </a:xfrm>
          <a:custGeom>
            <a:avLst/>
            <a:gdLst/>
            <a:ahLst/>
            <a:cxnLst/>
            <a:rect l="l" t="t" r="r" b="b"/>
            <a:pathLst>
              <a:path w="509" h="570">
                <a:moveTo>
                  <a:pt x="0" y="28"/>
                </a:moveTo>
                <a:lnTo>
                  <a:pt x="44" y="0"/>
                </a:lnTo>
                <a:lnTo>
                  <a:pt x="89" y="22"/>
                </a:lnTo>
                <a:lnTo>
                  <a:pt x="140" y="0"/>
                </a:lnTo>
                <a:lnTo>
                  <a:pt x="191" y="19"/>
                </a:lnTo>
                <a:lnTo>
                  <a:pt x="254" y="0"/>
                </a:lnTo>
                <a:lnTo>
                  <a:pt x="306" y="22"/>
                </a:lnTo>
                <a:lnTo>
                  <a:pt x="357" y="0"/>
                </a:lnTo>
                <a:lnTo>
                  <a:pt x="408" y="22"/>
                </a:lnTo>
                <a:lnTo>
                  <a:pt x="446" y="0"/>
                </a:lnTo>
                <a:lnTo>
                  <a:pt x="509" y="28"/>
                </a:lnTo>
                <a:lnTo>
                  <a:pt x="502" y="128"/>
                </a:lnTo>
                <a:lnTo>
                  <a:pt x="509" y="256"/>
                </a:lnTo>
                <a:lnTo>
                  <a:pt x="501" y="370"/>
                </a:lnTo>
                <a:lnTo>
                  <a:pt x="509" y="484"/>
                </a:lnTo>
                <a:lnTo>
                  <a:pt x="499" y="570"/>
                </a:lnTo>
                <a:lnTo>
                  <a:pt x="446" y="558"/>
                </a:lnTo>
                <a:lnTo>
                  <a:pt x="382" y="570"/>
                </a:lnTo>
                <a:lnTo>
                  <a:pt x="318" y="552"/>
                </a:lnTo>
                <a:lnTo>
                  <a:pt x="254" y="570"/>
                </a:lnTo>
                <a:lnTo>
                  <a:pt x="191" y="552"/>
                </a:lnTo>
                <a:lnTo>
                  <a:pt x="127" y="570"/>
                </a:lnTo>
                <a:lnTo>
                  <a:pt x="63" y="552"/>
                </a:lnTo>
                <a:lnTo>
                  <a:pt x="0" y="570"/>
                </a:lnTo>
                <a:lnTo>
                  <a:pt x="8" y="427"/>
                </a:lnTo>
                <a:lnTo>
                  <a:pt x="0" y="313"/>
                </a:lnTo>
                <a:lnTo>
                  <a:pt x="7" y="171"/>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1520" y="1508760"/>
            <a:ext cx="8229600" cy="3017520"/>
          </a:xfrm>
          <a:prstGeom prst="rect">
            <a:avLst/>
          </a:prstGeom>
          <a:noFill/>
        </p:spPr>
        <p:txBody>
          <a:bodyPr wrap="square" lIns="27432" rIns="27432" tIns="0" bIns="0">
            <a:spAutoFit/>
          </a:bodyPr>
          <a:lstStyle/>
          <a:p>
            <a:pPr>
              <a:spcAft>
                <a:spcPts val="800"/>
              </a:spcAft>
              <a:defRPr sz="10400" b="1">
                <a:solidFill>
                  <a:srgbClr val="FFFFFF"/>
                </a:solidFill>
                <a:latin typeface="Bebas Neue"/>
              </a:defRPr>
            </a:pPr>
            <a:r>
              <a:t>GROWTH</a:t>
            </a:r>
          </a:p>
          <a:p>
            <a:pPr>
              <a:spcAft>
                <a:spcPts val="800"/>
              </a:spcAft>
              <a:defRPr sz="10400" b="1">
                <a:solidFill>
                  <a:srgbClr val="FFFFFF"/>
                </a:solidFill>
                <a:latin typeface="Bebas Neue"/>
              </a:defRPr>
            </a:pPr>
            <a:r>
              <a:t>OS</a:t>
            </a:r>
          </a:p>
        </p:txBody>
      </p:sp>
      <p:sp>
        <p:nvSpPr>
          <p:cNvPr id="37" name="Rectangle 36"/>
          <p:cNvSpPr/>
          <p:nvPr/>
        </p:nvSpPr>
        <p:spPr>
          <a:xfrm>
            <a:off x="777240" y="4983480"/>
            <a:ext cx="7132320" cy="50292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4400" y="5074920"/>
            <a:ext cx="6858000" cy="274320"/>
          </a:xfrm>
          <a:prstGeom prst="rect">
            <a:avLst/>
          </a:prstGeom>
          <a:noFill/>
        </p:spPr>
        <p:txBody>
          <a:bodyPr wrap="square" lIns="27432" rIns="27432" tIns="0" bIns="0">
            <a:spAutoFit/>
          </a:bodyPr>
          <a:lstStyle/>
          <a:p>
            <a:pPr>
              <a:spcAft>
                <a:spcPts val="800"/>
              </a:spcAft>
              <a:defRPr sz="1600" b="1">
                <a:solidFill>
                  <a:srgbClr val="7D2B42"/>
                </a:solidFill>
                <a:latin typeface="Montserrat"/>
              </a:defRPr>
            </a:pPr>
            <a:r>
              <a:t>EVERY ROLE. EVERY HANDOFF. CONNECTED.</a:t>
            </a:r>
          </a:p>
        </p:txBody>
      </p:sp>
      <p:sp>
        <p:nvSpPr>
          <p:cNvPr id="39" name="TextBox 38"/>
          <p:cNvSpPr txBox="1"/>
          <p:nvPr/>
        </p:nvSpPr>
        <p:spPr>
          <a:xfrm>
            <a:off x="822960" y="5897880"/>
            <a:ext cx="8046720" cy="1051560"/>
          </a:xfrm>
          <a:prstGeom prst="rect">
            <a:avLst/>
          </a:prstGeom>
          <a:noFill/>
        </p:spPr>
        <p:txBody>
          <a:bodyPr wrap="square" lIns="27432" rIns="27432" tIns="0" bIns="0">
            <a:spAutoFit/>
          </a:bodyPr>
          <a:lstStyle/>
          <a:p>
            <a:pPr>
              <a:spcAft>
                <a:spcPts val="800"/>
              </a:spcAft>
              <a:defRPr sz="2300" b="0">
                <a:solidFill>
                  <a:srgbClr val="FFFFFF"/>
                </a:solidFill>
                <a:latin typeface="Montserrat"/>
              </a:defRPr>
            </a:pPr>
            <a:r>
              <a:t>The six-stage growth system
Strategy · People · Delivery · Learning</a:t>
            </a:r>
          </a:p>
          <a:p>
            <a:pPr>
              <a:spcAft>
                <a:spcPts val="800"/>
              </a:spcAft>
              <a:defRPr sz="2300" b="0">
                <a:solidFill>
                  <a:srgbClr val="FFFFFF"/>
                </a:solidFill>
                <a:latin typeface="Montserrat"/>
              </a:defRPr>
            </a:pPr>
            <a:r>
              <a:t>Organization · Workflows · Approval gates</a:t>
            </a:r>
          </a:p>
        </p:txBody>
      </p:sp>
      <p:sp>
        <p:nvSpPr>
          <p:cNvPr id="40" name="TextBox 39"/>
          <p:cNvSpPr txBox="1"/>
          <p:nvPr/>
        </p:nvSpPr>
        <p:spPr>
          <a:xfrm>
            <a:off x="10058400" y="2011680"/>
            <a:ext cx="3200400" cy="1280160"/>
          </a:xfrm>
          <a:prstGeom prst="rect">
            <a:avLst/>
          </a:prstGeom>
          <a:noFill/>
        </p:spPr>
        <p:txBody>
          <a:bodyPr wrap="square" lIns="27432" rIns="27432" tIns="0" bIns="0">
            <a:spAutoFit/>
          </a:bodyPr>
          <a:lstStyle/>
          <a:p>
            <a:pPr>
              <a:spcAft>
                <a:spcPts val="800"/>
              </a:spcAft>
              <a:defRPr sz="9000" b="1">
                <a:solidFill>
                  <a:srgbClr val="7D2B42"/>
                </a:solidFill>
                <a:latin typeface="Bebas Neue"/>
              </a:defRPr>
            </a:pPr>
            <a:r>
              <a:t>14</a:t>
            </a:r>
          </a:p>
        </p:txBody>
      </p:sp>
      <p:sp>
        <p:nvSpPr>
          <p:cNvPr id="41" name="TextBox 40"/>
          <p:cNvSpPr txBox="1"/>
          <p:nvPr/>
        </p:nvSpPr>
        <p:spPr>
          <a:xfrm>
            <a:off x="10058400" y="3474720"/>
            <a:ext cx="3108960" cy="457200"/>
          </a:xfrm>
          <a:prstGeom prst="rect">
            <a:avLst/>
          </a:prstGeom>
          <a:noFill/>
        </p:spPr>
        <p:txBody>
          <a:bodyPr wrap="square" lIns="27432" rIns="27432" tIns="0" bIns="0">
            <a:spAutoFit/>
          </a:bodyPr>
          <a:lstStyle/>
          <a:p>
            <a:pPr>
              <a:spcAft>
                <a:spcPts val="800"/>
              </a:spcAft>
              <a:defRPr sz="1800" b="1">
                <a:solidFill>
                  <a:srgbClr val="7D2B42"/>
                </a:solidFill>
                <a:latin typeface="Montserrat"/>
              </a:defRPr>
            </a:pPr>
            <a:r>
              <a:t>DISTINCT POSITIONS</a:t>
            </a:r>
          </a:p>
        </p:txBody>
      </p:sp>
      <p:sp>
        <p:nvSpPr>
          <p:cNvPr id="42" name="TextBox 41"/>
          <p:cNvSpPr txBox="1"/>
          <p:nvPr/>
        </p:nvSpPr>
        <p:spPr>
          <a:xfrm>
            <a:off x="10058400" y="4297680"/>
            <a:ext cx="3017520" cy="1645920"/>
          </a:xfrm>
          <a:prstGeom prst="rect">
            <a:avLst/>
          </a:prstGeom>
          <a:noFill/>
        </p:spPr>
        <p:txBody>
          <a:bodyPr wrap="square" lIns="27432" rIns="27432" tIns="0" bIns="0">
            <a:spAutoFit/>
          </a:bodyPr>
          <a:lstStyle/>
          <a:p>
            <a:pPr>
              <a:spcAft>
                <a:spcPts val="800"/>
              </a:spcAft>
              <a:defRPr sz="2900" b="1">
                <a:solidFill>
                  <a:srgbClr val="7D2B42"/>
                </a:solidFill>
                <a:latin typeface="Montserrat"/>
              </a:defRPr>
            </a:pPr>
            <a:r>
              <a:t>ONE</a:t>
            </a:r>
          </a:p>
          <a:p>
            <a:pPr>
              <a:spcAft>
                <a:spcPts val="800"/>
              </a:spcAft>
              <a:defRPr sz="2900" b="1">
                <a:solidFill>
                  <a:srgbClr val="7D2B42"/>
                </a:solidFill>
                <a:latin typeface="Montserrat"/>
              </a:defRPr>
            </a:pPr>
            <a:r>
              <a:t>CONNECTED</a:t>
            </a:r>
          </a:p>
          <a:p>
            <a:pPr>
              <a:spcAft>
                <a:spcPts val="800"/>
              </a:spcAft>
              <a:defRPr sz="2900" b="1">
                <a:solidFill>
                  <a:srgbClr val="7D2B42"/>
                </a:solidFill>
                <a:latin typeface="Montserrat"/>
              </a:defRPr>
            </a:pPr>
            <a:r>
              <a:t>TEAM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02</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A WORKING MAP, NOT A FIXED POLICY</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28600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31520" y="228600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6112" y="2468880"/>
            <a:ext cx="607161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01 / Start with the Growth OS™</a:t>
            </a:r>
          </a:p>
        </p:txBody>
      </p:sp>
      <p:sp>
        <p:nvSpPr>
          <p:cNvPr id="39" name="TextBox 38"/>
          <p:cNvSpPr txBox="1"/>
          <p:nvPr/>
        </p:nvSpPr>
        <p:spPr>
          <a:xfrm>
            <a:off x="896112" y="3364991"/>
            <a:ext cx="6071616" cy="82296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Discover, Diagnose, Design, Deploy, Optimise and Scale.</a:t>
            </a:r>
          </a:p>
        </p:txBody>
      </p:sp>
      <p:sp>
        <p:nvSpPr>
          <p:cNvPr id="40" name="Rectangle 39"/>
          <p:cNvSpPr/>
          <p:nvPr/>
        </p:nvSpPr>
        <p:spPr>
          <a:xfrm>
            <a:off x="7543800" y="228600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543800" y="228600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708392" y="2468880"/>
            <a:ext cx="607161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02 / Connect the team</a:t>
            </a:r>
          </a:p>
        </p:txBody>
      </p:sp>
      <p:sp>
        <p:nvSpPr>
          <p:cNvPr id="43" name="TextBox 42"/>
          <p:cNvSpPr txBox="1"/>
          <p:nvPr/>
        </p:nvSpPr>
        <p:spPr>
          <a:xfrm>
            <a:off x="7708392" y="3364991"/>
            <a:ext cx="6071616" cy="82296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14 editable roles mapped to the stage where each contributes.</a:t>
            </a:r>
          </a:p>
        </p:txBody>
      </p:sp>
      <p:sp>
        <p:nvSpPr>
          <p:cNvPr id="44" name="Rectangle 43"/>
          <p:cNvSpPr/>
          <p:nvPr/>
        </p:nvSpPr>
        <p:spPr>
          <a:xfrm>
            <a:off x="731520" y="461772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31520" y="461772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6112" y="4800600"/>
            <a:ext cx="607161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03 / Follow the delivery workflows</a:t>
            </a:r>
          </a:p>
        </p:txBody>
      </p:sp>
      <p:sp>
        <p:nvSpPr>
          <p:cNvPr id="47" name="TextBox 46"/>
          <p:cNvSpPr txBox="1"/>
          <p:nvPr/>
        </p:nvSpPr>
        <p:spPr>
          <a:xfrm>
            <a:off x="896112" y="5696712"/>
            <a:ext cx="6071616" cy="82296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Nine nested task workflows, handoffs, modules and approval gates.</a:t>
            </a:r>
          </a:p>
        </p:txBody>
      </p:sp>
      <p:sp>
        <p:nvSpPr>
          <p:cNvPr id="48" name="Rectangle 47"/>
          <p:cNvSpPr/>
          <p:nvPr/>
        </p:nvSpPr>
        <p:spPr>
          <a:xfrm>
            <a:off x="7543800" y="461772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543800" y="461772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708392" y="4800600"/>
            <a:ext cx="607161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04 / Make it yours</a:t>
            </a:r>
          </a:p>
        </p:txBody>
      </p:sp>
      <p:sp>
        <p:nvSpPr>
          <p:cNvPr id="51" name="TextBox 50"/>
          <p:cNvSpPr txBox="1"/>
          <p:nvPr/>
        </p:nvSpPr>
        <p:spPr>
          <a:xfrm>
            <a:off x="7708392" y="5696712"/>
            <a:ext cx="6071616" cy="82296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Edit text, move cards, reconnect lines and confirm policies.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13</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THE TEAM / PROPOSED REPORTING MAP</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TextBox 35"/>
          <p:cNvSpPr txBox="1"/>
          <p:nvPr/>
        </p:nvSpPr>
        <p:spPr>
          <a:xfrm>
            <a:off x="685800" y="1874519"/>
            <a:ext cx="13350240" cy="457200"/>
          </a:xfrm>
          <a:prstGeom prst="rect">
            <a:avLst/>
          </a:prstGeom>
          <a:noFill/>
        </p:spPr>
        <p:txBody>
          <a:bodyPr wrap="square" lIns="27432" rIns="27432" tIns="0" bIns="0">
            <a:spAutoFit/>
          </a:bodyPr>
          <a:lstStyle/>
          <a:p>
            <a:pPr>
              <a:spcAft>
                <a:spcPts val="800"/>
              </a:spcAft>
              <a:defRPr sz="1300" b="0">
                <a:solidFill>
                  <a:srgbClr val="555555"/>
                </a:solidFill>
                <a:latin typeface="Montserrat"/>
              </a:defRPr>
            </a:pPr>
            <a:r>
              <a:t>Solid = confirmed; dashed = proposed line management. Video Editors 1 &amp; 2 → Marketing Manager (confirmed by user). Click a position to open its role card.</a:t>
            </a:r>
          </a:p>
        </p:txBody>
      </p:sp>
      <p:cxnSp>
        <p:nvCxnSpPr>
          <p:cNvPr id="37" name="Connector 36"/>
          <p:cNvCxnSpPr/>
          <p:nvPr/>
        </p:nvCxnSpPr>
        <p:spPr>
          <a:xfrm flipH="1">
            <a:off x="1143000" y="3337560"/>
            <a:ext cx="5623560" cy="45720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143000" y="4663440"/>
            <a:ext cx="0" cy="54864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2926079" y="3337560"/>
            <a:ext cx="3840481" cy="45720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4709160" y="3337560"/>
            <a:ext cx="2057400" cy="45720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4709160" y="4663440"/>
            <a:ext cx="0" cy="54864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709160" y="4663440"/>
            <a:ext cx="0" cy="164592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6492240" y="3337560"/>
            <a:ext cx="274320" cy="45720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6492240" y="4663440"/>
            <a:ext cx="0" cy="54864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6492240" y="4663440"/>
            <a:ext cx="0" cy="164592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6766560" y="3337560"/>
            <a:ext cx="5074920" cy="457200"/>
          </a:xfrm>
          <a:prstGeom prst="line">
            <a:avLst/>
          </a:prstGeom>
          <a:ln w="15240">
            <a:solidFill>
              <a:srgbClr val="7D2B42"/>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6766560" y="3337560"/>
            <a:ext cx="6858000" cy="457200"/>
          </a:xfrm>
          <a:prstGeom prst="line">
            <a:avLst/>
          </a:prstGeom>
          <a:ln w="15240">
            <a:solidFill>
              <a:srgbClr val="7D2B42"/>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6766560" y="3337560"/>
            <a:ext cx="1508760" cy="45720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6766560" y="3337560"/>
            <a:ext cx="3291840" cy="45720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sp>
        <p:nvSpPr>
          <p:cNvPr id="50" name="Rectangle 49">
            <a:hlinkClick action="ppaction://hlinksldjump" r:id="rId2"/>
          </p:cNvPr>
          <p:cNvSpPr/>
          <p:nvPr/>
        </p:nvSpPr>
        <p:spPr>
          <a:xfrm>
            <a:off x="5943600" y="2468880"/>
            <a:ext cx="1645920" cy="868680"/>
          </a:xfrm>
          <a:prstGeom prst="rect">
            <a:avLst/>
          </a:prstGeom>
          <a:solidFill>
            <a:srgbClr val="7D2B42"/>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a:hlinkClick action="ppaction://hlinksldjump" r:id="rId2"/>
          </p:cNvPr>
          <p:cNvSpPr txBox="1"/>
          <p:nvPr/>
        </p:nvSpPr>
        <p:spPr>
          <a:xfrm>
            <a:off x="6035040" y="2542032"/>
            <a:ext cx="1463040" cy="182880"/>
          </a:xfrm>
          <a:prstGeom prst="rect">
            <a:avLst/>
          </a:prstGeom>
          <a:noFill/>
        </p:spPr>
        <p:txBody>
          <a:bodyPr wrap="square" lIns="27432" rIns="27432" tIns="0" bIns="0">
            <a:spAutoFit/>
          </a:bodyPr>
          <a:lstStyle/>
          <a:p>
            <a:pPr>
              <a:spcAft>
                <a:spcPts val="800"/>
              </a:spcAft>
              <a:defRPr sz="900" b="1">
                <a:solidFill>
                  <a:srgbClr val="FFCC00"/>
                </a:solidFill>
                <a:latin typeface="Montserrat"/>
              </a:defRPr>
            </a:pPr>
            <a:r>
              <a:t>MM-01</a:t>
            </a:r>
          </a:p>
        </p:txBody>
      </p:sp>
      <p:sp>
        <p:nvSpPr>
          <p:cNvPr id="52" name="TextBox 51">
            <a:hlinkClick action="ppaction://hlinksldjump" r:id="rId2"/>
          </p:cNvPr>
          <p:cNvSpPr txBox="1"/>
          <p:nvPr/>
        </p:nvSpPr>
        <p:spPr>
          <a:xfrm>
            <a:off x="6035040" y="2788920"/>
            <a:ext cx="1463040" cy="502920"/>
          </a:xfrm>
          <a:prstGeom prst="rect">
            <a:avLst/>
          </a:prstGeom>
          <a:noFill/>
        </p:spPr>
        <p:txBody>
          <a:bodyPr wrap="square" lIns="27432" rIns="27432" tIns="0" bIns="0">
            <a:spAutoFit/>
          </a:bodyPr>
          <a:lstStyle/>
          <a:p>
            <a:pPr>
              <a:spcAft>
                <a:spcPts val="800"/>
              </a:spcAft>
              <a:defRPr sz="1200" b="1">
                <a:solidFill>
                  <a:srgbClr val="FFFFFF"/>
                </a:solidFill>
                <a:latin typeface="Montserrat"/>
              </a:defRPr>
            </a:pPr>
            <a:r>
              <a:t>Marketing Manager</a:t>
            </a:r>
          </a:p>
        </p:txBody>
      </p:sp>
      <p:sp>
        <p:nvSpPr>
          <p:cNvPr id="53" name="Rectangle 52">
            <a:hlinkClick action="ppaction://hlinksldjump" r:id="rId3"/>
          </p:cNvPr>
          <p:cNvSpPr/>
          <p:nvPr/>
        </p:nvSpPr>
        <p:spPr>
          <a:xfrm>
            <a:off x="320040" y="37947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a:hlinkClick action="ppaction://hlinksldjump" r:id="rId3"/>
          </p:cNvPr>
          <p:cNvSpPr txBox="1"/>
          <p:nvPr/>
        </p:nvSpPr>
        <p:spPr>
          <a:xfrm>
            <a:off x="411479" y="3867912"/>
            <a:ext cx="1463040" cy="182880"/>
          </a:xfrm>
          <a:prstGeom prst="rect">
            <a:avLst/>
          </a:prstGeom>
          <a:noFill/>
        </p:spPr>
        <p:txBody>
          <a:bodyPr wrap="square" lIns="27432" rIns="27432" tIns="0" bIns="0">
            <a:spAutoFit/>
          </a:bodyPr>
          <a:lstStyle/>
          <a:p>
            <a:pPr>
              <a:spcAft>
                <a:spcPts val="800"/>
              </a:spcAft>
              <a:defRPr sz="900" b="1">
                <a:solidFill>
                  <a:srgbClr val="7D2B42"/>
                </a:solidFill>
                <a:latin typeface="Montserrat"/>
              </a:defRPr>
            </a:pPr>
            <a:r>
              <a:t>BD-01</a:t>
            </a:r>
          </a:p>
        </p:txBody>
      </p:sp>
      <p:sp>
        <p:nvSpPr>
          <p:cNvPr id="55" name="TextBox 54">
            <a:hlinkClick action="ppaction://hlinksldjump" r:id="rId3"/>
          </p:cNvPr>
          <p:cNvSpPr txBox="1"/>
          <p:nvPr/>
        </p:nvSpPr>
        <p:spPr>
          <a:xfrm>
            <a:off x="411479" y="4114800"/>
            <a:ext cx="1463040" cy="502920"/>
          </a:xfrm>
          <a:prstGeom prst="rect">
            <a:avLst/>
          </a:prstGeom>
          <a:noFill/>
        </p:spPr>
        <p:txBody>
          <a:bodyPr wrap="square" lIns="27432" rIns="27432" tIns="0" bIns="0">
            <a:spAutoFit/>
          </a:bodyPr>
          <a:lstStyle/>
          <a:p>
            <a:pPr>
              <a:spcAft>
                <a:spcPts val="800"/>
              </a:spcAft>
              <a:defRPr sz="1200" b="1">
                <a:solidFill>
                  <a:srgbClr val="202020"/>
                </a:solidFill>
                <a:latin typeface="Montserrat"/>
              </a:defRPr>
            </a:pPr>
            <a:r>
              <a:t>Business Developer</a:t>
            </a:r>
          </a:p>
        </p:txBody>
      </p:sp>
      <p:sp>
        <p:nvSpPr>
          <p:cNvPr id="56" name="Rectangle 55">
            <a:hlinkClick action="ppaction://hlinksldjump" r:id="rId4"/>
          </p:cNvPr>
          <p:cNvSpPr/>
          <p:nvPr/>
        </p:nvSpPr>
        <p:spPr>
          <a:xfrm>
            <a:off x="320040" y="521208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a:hlinkClick action="ppaction://hlinksldjump" r:id="rId4"/>
          </p:cNvPr>
          <p:cNvSpPr txBox="1"/>
          <p:nvPr/>
        </p:nvSpPr>
        <p:spPr>
          <a:xfrm>
            <a:off x="411479" y="5285232"/>
            <a:ext cx="1463040" cy="182880"/>
          </a:xfrm>
          <a:prstGeom prst="rect">
            <a:avLst/>
          </a:prstGeom>
          <a:noFill/>
        </p:spPr>
        <p:txBody>
          <a:bodyPr wrap="square" lIns="27432" rIns="27432" tIns="0" bIns="0">
            <a:spAutoFit/>
          </a:bodyPr>
          <a:lstStyle/>
          <a:p>
            <a:pPr>
              <a:spcAft>
                <a:spcPts val="800"/>
              </a:spcAft>
              <a:defRPr sz="900" b="1">
                <a:solidFill>
                  <a:srgbClr val="7D2B42"/>
                </a:solidFill>
                <a:latin typeface="Montserrat"/>
              </a:defRPr>
            </a:pPr>
            <a:r>
              <a:t>SA-01</a:t>
            </a:r>
          </a:p>
        </p:txBody>
      </p:sp>
      <p:sp>
        <p:nvSpPr>
          <p:cNvPr id="58" name="TextBox 57">
            <a:hlinkClick action="ppaction://hlinksldjump" r:id="rId4"/>
          </p:cNvPr>
          <p:cNvSpPr txBox="1"/>
          <p:nvPr/>
        </p:nvSpPr>
        <p:spPr>
          <a:xfrm>
            <a:off x="411479" y="5532120"/>
            <a:ext cx="1463040" cy="502920"/>
          </a:xfrm>
          <a:prstGeom prst="rect">
            <a:avLst/>
          </a:prstGeom>
          <a:noFill/>
        </p:spPr>
        <p:txBody>
          <a:bodyPr wrap="square" lIns="27432" rIns="27432" tIns="0" bIns="0">
            <a:spAutoFit/>
          </a:bodyPr>
          <a:lstStyle/>
          <a:p>
            <a:pPr>
              <a:spcAft>
                <a:spcPts val="800"/>
              </a:spcAft>
              <a:defRPr sz="1200" b="1">
                <a:solidFill>
                  <a:srgbClr val="202020"/>
                </a:solidFill>
                <a:latin typeface="Montserrat"/>
              </a:defRPr>
            </a:pPr>
            <a:r>
              <a:t>Sales</a:t>
            </a:r>
          </a:p>
        </p:txBody>
      </p:sp>
      <p:sp>
        <p:nvSpPr>
          <p:cNvPr id="59" name="Rectangle 58">
            <a:hlinkClick action="ppaction://hlinksldjump" r:id="rId5"/>
          </p:cNvPr>
          <p:cNvSpPr/>
          <p:nvPr/>
        </p:nvSpPr>
        <p:spPr>
          <a:xfrm>
            <a:off x="2103120" y="37947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a:hlinkClick action="ppaction://hlinksldjump" r:id="rId5"/>
          </p:cNvPr>
          <p:cNvSpPr txBox="1"/>
          <p:nvPr/>
        </p:nvSpPr>
        <p:spPr>
          <a:xfrm>
            <a:off x="2194560" y="3867912"/>
            <a:ext cx="1463040" cy="182880"/>
          </a:xfrm>
          <a:prstGeom prst="rect">
            <a:avLst/>
          </a:prstGeom>
          <a:noFill/>
        </p:spPr>
        <p:txBody>
          <a:bodyPr wrap="square" lIns="27432" rIns="27432" tIns="0" bIns="0">
            <a:spAutoFit/>
          </a:bodyPr>
          <a:lstStyle/>
          <a:p>
            <a:pPr>
              <a:spcAft>
                <a:spcPts val="800"/>
              </a:spcAft>
              <a:defRPr sz="900" b="1">
                <a:solidFill>
                  <a:srgbClr val="7D2B42"/>
                </a:solidFill>
                <a:latin typeface="Montserrat"/>
              </a:defRPr>
            </a:pPr>
            <a:r>
              <a:t>AM-01</a:t>
            </a:r>
          </a:p>
        </p:txBody>
      </p:sp>
      <p:sp>
        <p:nvSpPr>
          <p:cNvPr id="61" name="TextBox 60">
            <a:hlinkClick action="ppaction://hlinksldjump" r:id="rId5"/>
          </p:cNvPr>
          <p:cNvSpPr txBox="1"/>
          <p:nvPr/>
        </p:nvSpPr>
        <p:spPr>
          <a:xfrm>
            <a:off x="2194560" y="4114800"/>
            <a:ext cx="1463040" cy="502920"/>
          </a:xfrm>
          <a:prstGeom prst="rect">
            <a:avLst/>
          </a:prstGeom>
          <a:noFill/>
        </p:spPr>
        <p:txBody>
          <a:bodyPr wrap="square" lIns="27432" rIns="27432" tIns="0" bIns="0">
            <a:spAutoFit/>
          </a:bodyPr>
          <a:lstStyle/>
          <a:p>
            <a:pPr>
              <a:spcAft>
                <a:spcPts val="800"/>
              </a:spcAft>
              <a:defRPr sz="1200" b="1">
                <a:solidFill>
                  <a:srgbClr val="202020"/>
                </a:solidFill>
                <a:latin typeface="Montserrat"/>
              </a:defRPr>
            </a:pPr>
            <a:r>
              <a:t>Account Manager</a:t>
            </a:r>
          </a:p>
        </p:txBody>
      </p:sp>
      <p:sp>
        <p:nvSpPr>
          <p:cNvPr id="62" name="Rectangle 61">
            <a:hlinkClick action="ppaction://hlinksldjump" r:id="rId6"/>
          </p:cNvPr>
          <p:cNvSpPr/>
          <p:nvPr/>
        </p:nvSpPr>
        <p:spPr>
          <a:xfrm>
            <a:off x="3886200" y="37947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a:hlinkClick action="ppaction://hlinksldjump" r:id="rId6"/>
          </p:cNvPr>
          <p:cNvSpPr txBox="1"/>
          <p:nvPr/>
        </p:nvSpPr>
        <p:spPr>
          <a:xfrm>
            <a:off x="3977639" y="3867912"/>
            <a:ext cx="1463040" cy="182880"/>
          </a:xfrm>
          <a:prstGeom prst="rect">
            <a:avLst/>
          </a:prstGeom>
          <a:noFill/>
        </p:spPr>
        <p:txBody>
          <a:bodyPr wrap="square" lIns="27432" rIns="27432" tIns="0" bIns="0">
            <a:spAutoFit/>
          </a:bodyPr>
          <a:lstStyle/>
          <a:p>
            <a:pPr>
              <a:spcAft>
                <a:spcPts val="800"/>
              </a:spcAft>
              <a:defRPr sz="900" b="1">
                <a:solidFill>
                  <a:srgbClr val="7D2B42"/>
                </a:solidFill>
                <a:latin typeface="Montserrat"/>
              </a:defRPr>
            </a:pPr>
            <a:r>
              <a:t>HC-01</a:t>
            </a:r>
          </a:p>
        </p:txBody>
      </p:sp>
      <p:sp>
        <p:nvSpPr>
          <p:cNvPr id="64" name="TextBox 63">
            <a:hlinkClick action="ppaction://hlinksldjump" r:id="rId6"/>
          </p:cNvPr>
          <p:cNvSpPr txBox="1"/>
          <p:nvPr/>
        </p:nvSpPr>
        <p:spPr>
          <a:xfrm>
            <a:off x="3977639" y="4114800"/>
            <a:ext cx="1463040" cy="502920"/>
          </a:xfrm>
          <a:prstGeom prst="rect">
            <a:avLst/>
          </a:prstGeom>
          <a:noFill/>
        </p:spPr>
        <p:txBody>
          <a:bodyPr wrap="square" lIns="27432" rIns="27432" tIns="0" bIns="0">
            <a:spAutoFit/>
          </a:bodyPr>
          <a:lstStyle/>
          <a:p>
            <a:pPr>
              <a:spcAft>
                <a:spcPts val="800"/>
              </a:spcAft>
              <a:defRPr sz="1200" b="1">
                <a:solidFill>
                  <a:srgbClr val="202020"/>
                </a:solidFill>
                <a:latin typeface="Montserrat"/>
              </a:defRPr>
            </a:pPr>
            <a:r>
              <a:t>Head of Content</a:t>
            </a:r>
          </a:p>
        </p:txBody>
      </p:sp>
      <p:sp>
        <p:nvSpPr>
          <p:cNvPr id="65" name="Rectangle 64">
            <a:hlinkClick action="ppaction://hlinksldjump" r:id="rId7"/>
          </p:cNvPr>
          <p:cNvSpPr/>
          <p:nvPr/>
        </p:nvSpPr>
        <p:spPr>
          <a:xfrm>
            <a:off x="3886200" y="521208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a:hlinkClick action="ppaction://hlinksldjump" r:id="rId7"/>
          </p:cNvPr>
          <p:cNvSpPr txBox="1"/>
          <p:nvPr/>
        </p:nvSpPr>
        <p:spPr>
          <a:xfrm>
            <a:off x="3977639" y="5285232"/>
            <a:ext cx="1463040" cy="182880"/>
          </a:xfrm>
          <a:prstGeom prst="rect">
            <a:avLst/>
          </a:prstGeom>
          <a:noFill/>
        </p:spPr>
        <p:txBody>
          <a:bodyPr wrap="square" lIns="27432" rIns="27432" tIns="0" bIns="0">
            <a:spAutoFit/>
          </a:bodyPr>
          <a:lstStyle/>
          <a:p>
            <a:pPr>
              <a:spcAft>
                <a:spcPts val="800"/>
              </a:spcAft>
              <a:defRPr sz="900" b="1">
                <a:solidFill>
                  <a:srgbClr val="7D2B42"/>
                </a:solidFill>
                <a:latin typeface="Montserrat"/>
              </a:defRPr>
            </a:pPr>
            <a:r>
              <a:t>CW-S01</a:t>
            </a:r>
          </a:p>
        </p:txBody>
      </p:sp>
      <p:sp>
        <p:nvSpPr>
          <p:cNvPr id="67" name="TextBox 66">
            <a:hlinkClick action="ppaction://hlinksldjump" r:id="rId7"/>
          </p:cNvPr>
          <p:cNvSpPr txBox="1"/>
          <p:nvPr/>
        </p:nvSpPr>
        <p:spPr>
          <a:xfrm>
            <a:off x="3977639" y="5532120"/>
            <a:ext cx="1463040" cy="502920"/>
          </a:xfrm>
          <a:prstGeom prst="rect">
            <a:avLst/>
          </a:prstGeom>
          <a:noFill/>
        </p:spPr>
        <p:txBody>
          <a:bodyPr wrap="square" lIns="27432" rIns="27432" tIns="0" bIns="0">
            <a:spAutoFit/>
          </a:bodyPr>
          <a:lstStyle/>
          <a:p>
            <a:pPr>
              <a:spcAft>
                <a:spcPts val="800"/>
              </a:spcAft>
              <a:defRPr sz="1200" b="1">
                <a:solidFill>
                  <a:srgbClr val="202020"/>
                </a:solidFill>
                <a:latin typeface="Montserrat"/>
              </a:defRPr>
            </a:pPr>
            <a:r>
              <a:t>Senior Content Writer</a:t>
            </a:r>
          </a:p>
        </p:txBody>
      </p:sp>
      <p:sp>
        <p:nvSpPr>
          <p:cNvPr id="68" name="Rectangle 67">
            <a:hlinkClick action="ppaction://hlinksldjump" r:id="rId8"/>
          </p:cNvPr>
          <p:cNvSpPr/>
          <p:nvPr/>
        </p:nvSpPr>
        <p:spPr>
          <a:xfrm>
            <a:off x="3886200" y="63093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a:hlinkClick action="ppaction://hlinksldjump" r:id="rId8"/>
          </p:cNvPr>
          <p:cNvSpPr txBox="1"/>
          <p:nvPr/>
        </p:nvSpPr>
        <p:spPr>
          <a:xfrm>
            <a:off x="3977639" y="6382512"/>
            <a:ext cx="1463040" cy="182880"/>
          </a:xfrm>
          <a:prstGeom prst="rect">
            <a:avLst/>
          </a:prstGeom>
          <a:noFill/>
        </p:spPr>
        <p:txBody>
          <a:bodyPr wrap="square" lIns="27432" rIns="27432" tIns="0" bIns="0">
            <a:spAutoFit/>
          </a:bodyPr>
          <a:lstStyle/>
          <a:p>
            <a:pPr>
              <a:spcAft>
                <a:spcPts val="800"/>
              </a:spcAft>
              <a:defRPr sz="900" b="1">
                <a:solidFill>
                  <a:srgbClr val="7D2B42"/>
                </a:solidFill>
                <a:latin typeface="Montserrat"/>
              </a:defRPr>
            </a:pPr>
            <a:r>
              <a:t>CW-J01</a:t>
            </a:r>
          </a:p>
        </p:txBody>
      </p:sp>
      <p:sp>
        <p:nvSpPr>
          <p:cNvPr id="70" name="TextBox 69">
            <a:hlinkClick action="ppaction://hlinksldjump" r:id="rId8"/>
          </p:cNvPr>
          <p:cNvSpPr txBox="1"/>
          <p:nvPr/>
        </p:nvSpPr>
        <p:spPr>
          <a:xfrm>
            <a:off x="3977639" y="6629400"/>
            <a:ext cx="1463040" cy="502920"/>
          </a:xfrm>
          <a:prstGeom prst="rect">
            <a:avLst/>
          </a:prstGeom>
          <a:noFill/>
        </p:spPr>
        <p:txBody>
          <a:bodyPr wrap="square" lIns="27432" rIns="27432" tIns="0" bIns="0">
            <a:spAutoFit/>
          </a:bodyPr>
          <a:lstStyle/>
          <a:p>
            <a:pPr>
              <a:spcAft>
                <a:spcPts val="800"/>
              </a:spcAft>
              <a:defRPr sz="1200" b="1">
                <a:solidFill>
                  <a:srgbClr val="202020"/>
                </a:solidFill>
                <a:latin typeface="Montserrat"/>
              </a:defRPr>
            </a:pPr>
            <a:r>
              <a:t>Junior Content Writer</a:t>
            </a:r>
          </a:p>
        </p:txBody>
      </p:sp>
      <p:sp>
        <p:nvSpPr>
          <p:cNvPr id="71" name="Rectangle 70">
            <a:hlinkClick action="ppaction://hlinksldjump" r:id="rId9"/>
          </p:cNvPr>
          <p:cNvSpPr/>
          <p:nvPr/>
        </p:nvSpPr>
        <p:spPr>
          <a:xfrm>
            <a:off x="5669279" y="37947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a:hlinkClick action="ppaction://hlinksldjump" r:id="rId9"/>
          </p:cNvPr>
          <p:cNvSpPr txBox="1"/>
          <p:nvPr/>
        </p:nvSpPr>
        <p:spPr>
          <a:xfrm>
            <a:off x="5760719" y="3867912"/>
            <a:ext cx="1463040" cy="182880"/>
          </a:xfrm>
          <a:prstGeom prst="rect">
            <a:avLst/>
          </a:prstGeom>
          <a:noFill/>
        </p:spPr>
        <p:txBody>
          <a:bodyPr wrap="square" lIns="27432" rIns="27432" tIns="0" bIns="0">
            <a:spAutoFit/>
          </a:bodyPr>
          <a:lstStyle/>
          <a:p>
            <a:pPr>
              <a:spcAft>
                <a:spcPts val="800"/>
              </a:spcAft>
              <a:defRPr sz="900" b="1">
                <a:solidFill>
                  <a:srgbClr val="7D2B42"/>
                </a:solidFill>
                <a:latin typeface="Montserrat"/>
              </a:defRPr>
            </a:pPr>
            <a:r>
              <a:t>HD-01</a:t>
            </a:r>
          </a:p>
        </p:txBody>
      </p:sp>
      <p:sp>
        <p:nvSpPr>
          <p:cNvPr id="73" name="TextBox 72">
            <a:hlinkClick action="ppaction://hlinksldjump" r:id="rId9"/>
          </p:cNvPr>
          <p:cNvSpPr txBox="1"/>
          <p:nvPr/>
        </p:nvSpPr>
        <p:spPr>
          <a:xfrm>
            <a:off x="5760719" y="4114800"/>
            <a:ext cx="1463040" cy="502920"/>
          </a:xfrm>
          <a:prstGeom prst="rect">
            <a:avLst/>
          </a:prstGeom>
          <a:noFill/>
        </p:spPr>
        <p:txBody>
          <a:bodyPr wrap="square" lIns="27432" rIns="27432" tIns="0" bIns="0">
            <a:spAutoFit/>
          </a:bodyPr>
          <a:lstStyle/>
          <a:p>
            <a:pPr>
              <a:spcAft>
                <a:spcPts val="800"/>
              </a:spcAft>
              <a:defRPr sz="1200" b="1">
                <a:solidFill>
                  <a:srgbClr val="202020"/>
                </a:solidFill>
                <a:latin typeface="Montserrat"/>
              </a:defRPr>
            </a:pPr>
            <a:r>
              <a:t>Head of Graphic Design Team</a:t>
            </a:r>
          </a:p>
        </p:txBody>
      </p:sp>
      <p:sp>
        <p:nvSpPr>
          <p:cNvPr id="74" name="Rectangle 73">
            <a:hlinkClick action="ppaction://hlinksldjump" r:id="rId10"/>
          </p:cNvPr>
          <p:cNvSpPr/>
          <p:nvPr/>
        </p:nvSpPr>
        <p:spPr>
          <a:xfrm>
            <a:off x="5669280" y="521208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a:hlinkClick action="ppaction://hlinksldjump" r:id="rId10"/>
          </p:cNvPr>
          <p:cNvSpPr txBox="1"/>
          <p:nvPr/>
        </p:nvSpPr>
        <p:spPr>
          <a:xfrm>
            <a:off x="5760720" y="5285232"/>
            <a:ext cx="1463040" cy="182880"/>
          </a:xfrm>
          <a:prstGeom prst="rect">
            <a:avLst/>
          </a:prstGeom>
          <a:noFill/>
        </p:spPr>
        <p:txBody>
          <a:bodyPr wrap="square" lIns="27432" rIns="27432" tIns="0" bIns="0">
            <a:spAutoFit/>
          </a:bodyPr>
          <a:lstStyle/>
          <a:p>
            <a:pPr>
              <a:spcAft>
                <a:spcPts val="800"/>
              </a:spcAft>
              <a:defRPr sz="900" b="1">
                <a:solidFill>
                  <a:srgbClr val="7D2B42"/>
                </a:solidFill>
                <a:latin typeface="Montserrat"/>
              </a:defRPr>
            </a:pPr>
            <a:r>
              <a:t>GD-01</a:t>
            </a:r>
          </a:p>
        </p:txBody>
      </p:sp>
      <p:sp>
        <p:nvSpPr>
          <p:cNvPr id="76" name="TextBox 75">
            <a:hlinkClick action="ppaction://hlinksldjump" r:id="rId10"/>
          </p:cNvPr>
          <p:cNvSpPr txBox="1"/>
          <p:nvPr/>
        </p:nvSpPr>
        <p:spPr>
          <a:xfrm>
            <a:off x="5760720" y="5532120"/>
            <a:ext cx="1463040" cy="502920"/>
          </a:xfrm>
          <a:prstGeom prst="rect">
            <a:avLst/>
          </a:prstGeom>
          <a:noFill/>
        </p:spPr>
        <p:txBody>
          <a:bodyPr wrap="square" lIns="27432" rIns="27432" tIns="0" bIns="0">
            <a:spAutoFit/>
          </a:bodyPr>
          <a:lstStyle/>
          <a:p>
            <a:pPr>
              <a:spcAft>
                <a:spcPts val="800"/>
              </a:spcAft>
              <a:defRPr sz="1200" b="1">
                <a:solidFill>
                  <a:srgbClr val="202020"/>
                </a:solidFill>
                <a:latin typeface="Montserrat"/>
              </a:defRPr>
            </a:pPr>
            <a:r>
              <a:t>Graphic Designer 1</a:t>
            </a:r>
          </a:p>
        </p:txBody>
      </p:sp>
      <p:sp>
        <p:nvSpPr>
          <p:cNvPr id="77" name="Rectangle 76">
            <a:hlinkClick action="ppaction://hlinksldjump" r:id="rId11"/>
          </p:cNvPr>
          <p:cNvSpPr/>
          <p:nvPr/>
        </p:nvSpPr>
        <p:spPr>
          <a:xfrm>
            <a:off x="5669280" y="63093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a:hlinkClick action="ppaction://hlinksldjump" r:id="rId11"/>
          </p:cNvPr>
          <p:cNvSpPr txBox="1"/>
          <p:nvPr/>
        </p:nvSpPr>
        <p:spPr>
          <a:xfrm>
            <a:off x="5760720" y="6382512"/>
            <a:ext cx="1463040" cy="182880"/>
          </a:xfrm>
          <a:prstGeom prst="rect">
            <a:avLst/>
          </a:prstGeom>
          <a:noFill/>
        </p:spPr>
        <p:txBody>
          <a:bodyPr wrap="square" lIns="27432" rIns="27432" tIns="0" bIns="0">
            <a:spAutoFit/>
          </a:bodyPr>
          <a:lstStyle/>
          <a:p>
            <a:pPr>
              <a:spcAft>
                <a:spcPts val="800"/>
              </a:spcAft>
              <a:defRPr sz="900" b="1">
                <a:solidFill>
                  <a:srgbClr val="7D2B42"/>
                </a:solidFill>
                <a:latin typeface="Montserrat"/>
              </a:defRPr>
            </a:pPr>
            <a:r>
              <a:t>GD-02</a:t>
            </a:r>
          </a:p>
        </p:txBody>
      </p:sp>
      <p:sp>
        <p:nvSpPr>
          <p:cNvPr id="79" name="TextBox 78">
            <a:hlinkClick action="ppaction://hlinksldjump" r:id="rId11"/>
          </p:cNvPr>
          <p:cNvSpPr txBox="1"/>
          <p:nvPr/>
        </p:nvSpPr>
        <p:spPr>
          <a:xfrm>
            <a:off x="5760720" y="6629400"/>
            <a:ext cx="1463040" cy="502920"/>
          </a:xfrm>
          <a:prstGeom prst="rect">
            <a:avLst/>
          </a:prstGeom>
          <a:noFill/>
        </p:spPr>
        <p:txBody>
          <a:bodyPr wrap="square" lIns="27432" rIns="27432" tIns="0" bIns="0">
            <a:spAutoFit/>
          </a:bodyPr>
          <a:lstStyle/>
          <a:p>
            <a:pPr>
              <a:spcAft>
                <a:spcPts val="800"/>
              </a:spcAft>
              <a:defRPr sz="1200" b="1">
                <a:solidFill>
                  <a:srgbClr val="202020"/>
                </a:solidFill>
                <a:latin typeface="Montserrat"/>
              </a:defRPr>
            </a:pPr>
            <a:r>
              <a:t>Graphic Designer 2</a:t>
            </a:r>
          </a:p>
        </p:txBody>
      </p:sp>
      <p:sp>
        <p:nvSpPr>
          <p:cNvPr id="80" name="Rectangle 79">
            <a:hlinkClick action="ppaction://hlinksldjump" r:id="rId12"/>
          </p:cNvPr>
          <p:cNvSpPr/>
          <p:nvPr/>
        </p:nvSpPr>
        <p:spPr>
          <a:xfrm>
            <a:off x="11018519" y="37947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a:hlinkClick action="ppaction://hlinksldjump" r:id="rId12"/>
          </p:cNvPr>
          <p:cNvSpPr txBox="1"/>
          <p:nvPr/>
        </p:nvSpPr>
        <p:spPr>
          <a:xfrm>
            <a:off x="11109959" y="3867912"/>
            <a:ext cx="1463040" cy="182880"/>
          </a:xfrm>
          <a:prstGeom prst="rect">
            <a:avLst/>
          </a:prstGeom>
          <a:noFill/>
        </p:spPr>
        <p:txBody>
          <a:bodyPr wrap="square" lIns="27432" rIns="27432" tIns="0" bIns="0">
            <a:spAutoFit/>
          </a:bodyPr>
          <a:lstStyle/>
          <a:p>
            <a:pPr>
              <a:spcAft>
                <a:spcPts val="800"/>
              </a:spcAft>
              <a:defRPr sz="900" b="1">
                <a:solidFill>
                  <a:srgbClr val="7D2B42"/>
                </a:solidFill>
                <a:latin typeface="Montserrat"/>
              </a:defRPr>
            </a:pPr>
            <a:r>
              <a:t>VE-01</a:t>
            </a:r>
          </a:p>
        </p:txBody>
      </p:sp>
      <p:sp>
        <p:nvSpPr>
          <p:cNvPr id="82" name="TextBox 81">
            <a:hlinkClick action="ppaction://hlinksldjump" r:id="rId12"/>
          </p:cNvPr>
          <p:cNvSpPr txBox="1"/>
          <p:nvPr/>
        </p:nvSpPr>
        <p:spPr>
          <a:xfrm>
            <a:off x="11109959" y="4114800"/>
            <a:ext cx="1463040" cy="502920"/>
          </a:xfrm>
          <a:prstGeom prst="rect">
            <a:avLst/>
          </a:prstGeom>
          <a:noFill/>
        </p:spPr>
        <p:txBody>
          <a:bodyPr wrap="square" lIns="27432" rIns="27432" tIns="0" bIns="0">
            <a:spAutoFit/>
          </a:bodyPr>
          <a:lstStyle/>
          <a:p>
            <a:pPr>
              <a:spcAft>
                <a:spcPts val="800"/>
              </a:spcAft>
              <a:defRPr sz="1200" b="1">
                <a:solidFill>
                  <a:srgbClr val="202020"/>
                </a:solidFill>
                <a:latin typeface="Montserrat"/>
              </a:defRPr>
            </a:pPr>
            <a:r>
              <a:t>Video Editor 1</a:t>
            </a:r>
          </a:p>
        </p:txBody>
      </p:sp>
      <p:sp>
        <p:nvSpPr>
          <p:cNvPr id="83" name="Rectangle 82">
            <a:hlinkClick action="ppaction://hlinksldjump" r:id="rId13"/>
          </p:cNvPr>
          <p:cNvSpPr/>
          <p:nvPr/>
        </p:nvSpPr>
        <p:spPr>
          <a:xfrm>
            <a:off x="12801600" y="37947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a:hlinkClick action="ppaction://hlinksldjump" r:id="rId13"/>
          </p:cNvPr>
          <p:cNvSpPr txBox="1"/>
          <p:nvPr/>
        </p:nvSpPr>
        <p:spPr>
          <a:xfrm>
            <a:off x="12893040" y="3867912"/>
            <a:ext cx="1463040" cy="182880"/>
          </a:xfrm>
          <a:prstGeom prst="rect">
            <a:avLst/>
          </a:prstGeom>
          <a:noFill/>
        </p:spPr>
        <p:txBody>
          <a:bodyPr wrap="square" lIns="27432" rIns="27432" tIns="0" bIns="0">
            <a:spAutoFit/>
          </a:bodyPr>
          <a:lstStyle/>
          <a:p>
            <a:pPr>
              <a:spcAft>
                <a:spcPts val="800"/>
              </a:spcAft>
              <a:defRPr sz="900" b="1">
                <a:solidFill>
                  <a:srgbClr val="7D2B42"/>
                </a:solidFill>
                <a:latin typeface="Montserrat"/>
              </a:defRPr>
            </a:pPr>
            <a:r>
              <a:t>VE-02</a:t>
            </a:r>
          </a:p>
        </p:txBody>
      </p:sp>
      <p:sp>
        <p:nvSpPr>
          <p:cNvPr id="85" name="TextBox 84">
            <a:hlinkClick action="ppaction://hlinksldjump" r:id="rId13"/>
          </p:cNvPr>
          <p:cNvSpPr txBox="1"/>
          <p:nvPr/>
        </p:nvSpPr>
        <p:spPr>
          <a:xfrm>
            <a:off x="12893040" y="4114800"/>
            <a:ext cx="1463040" cy="502920"/>
          </a:xfrm>
          <a:prstGeom prst="rect">
            <a:avLst/>
          </a:prstGeom>
          <a:noFill/>
        </p:spPr>
        <p:txBody>
          <a:bodyPr wrap="square" lIns="27432" rIns="27432" tIns="0" bIns="0">
            <a:spAutoFit/>
          </a:bodyPr>
          <a:lstStyle/>
          <a:p>
            <a:pPr>
              <a:spcAft>
                <a:spcPts val="800"/>
              </a:spcAft>
              <a:defRPr sz="1200" b="1">
                <a:solidFill>
                  <a:srgbClr val="202020"/>
                </a:solidFill>
                <a:latin typeface="Montserrat"/>
              </a:defRPr>
            </a:pPr>
            <a:r>
              <a:t>Video Editor 2</a:t>
            </a:r>
          </a:p>
        </p:txBody>
      </p:sp>
      <p:sp>
        <p:nvSpPr>
          <p:cNvPr id="86" name="Rectangle 85">
            <a:hlinkClick action="ppaction://hlinksldjump" r:id="rId14"/>
          </p:cNvPr>
          <p:cNvSpPr/>
          <p:nvPr/>
        </p:nvSpPr>
        <p:spPr>
          <a:xfrm>
            <a:off x="7452360" y="37947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a:hlinkClick action="ppaction://hlinksldjump" r:id="rId14"/>
          </p:cNvPr>
          <p:cNvSpPr txBox="1"/>
          <p:nvPr/>
        </p:nvSpPr>
        <p:spPr>
          <a:xfrm>
            <a:off x="7543800" y="3867912"/>
            <a:ext cx="1463040" cy="182880"/>
          </a:xfrm>
          <a:prstGeom prst="rect">
            <a:avLst/>
          </a:prstGeom>
          <a:noFill/>
        </p:spPr>
        <p:txBody>
          <a:bodyPr wrap="square" lIns="27432" rIns="27432" tIns="0" bIns="0">
            <a:spAutoFit/>
          </a:bodyPr>
          <a:lstStyle/>
          <a:p>
            <a:pPr>
              <a:spcAft>
                <a:spcPts val="800"/>
              </a:spcAft>
              <a:defRPr sz="900" b="1">
                <a:solidFill>
                  <a:srgbClr val="7D2B42"/>
                </a:solidFill>
                <a:latin typeface="Montserrat"/>
              </a:defRPr>
            </a:pPr>
            <a:r>
              <a:t>SM-01</a:t>
            </a:r>
          </a:p>
        </p:txBody>
      </p:sp>
      <p:sp>
        <p:nvSpPr>
          <p:cNvPr id="88" name="TextBox 87">
            <a:hlinkClick action="ppaction://hlinksldjump" r:id="rId14"/>
          </p:cNvPr>
          <p:cNvSpPr txBox="1"/>
          <p:nvPr/>
        </p:nvSpPr>
        <p:spPr>
          <a:xfrm>
            <a:off x="7543800" y="4114800"/>
            <a:ext cx="1463040" cy="502920"/>
          </a:xfrm>
          <a:prstGeom prst="rect">
            <a:avLst/>
          </a:prstGeom>
          <a:noFill/>
        </p:spPr>
        <p:txBody>
          <a:bodyPr wrap="square" lIns="27432" rIns="27432" tIns="0" bIns="0">
            <a:spAutoFit/>
          </a:bodyPr>
          <a:lstStyle/>
          <a:p>
            <a:pPr>
              <a:spcAft>
                <a:spcPts val="800"/>
              </a:spcAft>
              <a:defRPr sz="1200" b="1">
                <a:solidFill>
                  <a:srgbClr val="202020"/>
                </a:solidFill>
                <a:latin typeface="Montserrat"/>
              </a:defRPr>
            </a:pPr>
            <a:r>
              <a:t>Social Media Specialist</a:t>
            </a:r>
          </a:p>
        </p:txBody>
      </p:sp>
      <p:sp>
        <p:nvSpPr>
          <p:cNvPr id="89" name="Rectangle 88">
            <a:hlinkClick action="ppaction://hlinksldjump" r:id="rId15"/>
          </p:cNvPr>
          <p:cNvSpPr/>
          <p:nvPr/>
        </p:nvSpPr>
        <p:spPr>
          <a:xfrm>
            <a:off x="9235440" y="37947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a:hlinkClick action="ppaction://hlinksldjump" r:id="rId15"/>
          </p:cNvPr>
          <p:cNvSpPr txBox="1"/>
          <p:nvPr/>
        </p:nvSpPr>
        <p:spPr>
          <a:xfrm>
            <a:off x="9326880" y="3867912"/>
            <a:ext cx="1463040" cy="182880"/>
          </a:xfrm>
          <a:prstGeom prst="rect">
            <a:avLst/>
          </a:prstGeom>
          <a:noFill/>
        </p:spPr>
        <p:txBody>
          <a:bodyPr wrap="square" lIns="27432" rIns="27432" tIns="0" bIns="0">
            <a:spAutoFit/>
          </a:bodyPr>
          <a:lstStyle/>
          <a:p>
            <a:pPr>
              <a:spcAft>
                <a:spcPts val="800"/>
              </a:spcAft>
              <a:defRPr sz="900" b="1">
                <a:solidFill>
                  <a:srgbClr val="7D2B42"/>
                </a:solidFill>
                <a:latin typeface="Montserrat"/>
              </a:defRPr>
            </a:pPr>
            <a:r>
              <a:t>MB-01</a:t>
            </a:r>
          </a:p>
        </p:txBody>
      </p:sp>
      <p:sp>
        <p:nvSpPr>
          <p:cNvPr id="91" name="TextBox 90">
            <a:hlinkClick action="ppaction://hlinksldjump" r:id="rId15"/>
          </p:cNvPr>
          <p:cNvSpPr txBox="1"/>
          <p:nvPr/>
        </p:nvSpPr>
        <p:spPr>
          <a:xfrm>
            <a:off x="9326880" y="4114800"/>
            <a:ext cx="1463040" cy="502920"/>
          </a:xfrm>
          <a:prstGeom prst="rect">
            <a:avLst/>
          </a:prstGeom>
          <a:noFill/>
        </p:spPr>
        <p:txBody>
          <a:bodyPr wrap="square" lIns="27432" rIns="27432" tIns="0" bIns="0">
            <a:spAutoFit/>
          </a:bodyPr>
          <a:lstStyle/>
          <a:p>
            <a:pPr>
              <a:spcAft>
                <a:spcPts val="800"/>
              </a:spcAft>
              <a:defRPr sz="1200" b="1">
                <a:solidFill>
                  <a:srgbClr val="202020"/>
                </a:solidFill>
                <a:latin typeface="Montserrat"/>
              </a:defRPr>
            </a:pPr>
            <a:r>
              <a:t>Media Buyer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MM-01 / LEADERSHIP</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14</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MARKETING MANAGER</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MM-01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LEADERSHIP</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No manager / overall strategic leadership</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BD-01, AM-01, HC-01, HD-01, VE-01, VE-02, SM-01, MB-01</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Strategy, budgets, priorities and resource allocation</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Business goals, resource requests</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Strategic direction, budget decisions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Campaign outcomes, team capacity</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BD-01 / GROWTH</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15</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BUSINESS DEVELOPER</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BD-01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GROWTH</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Marketing Manager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SA-01</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Prospecting, qualification and partnerships</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Lead sources, opportunities</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Qualified leads, discovery notes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Qualified opportunities</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SA-01 / GROWTH</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16</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SALES</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SA-01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GROWTH</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Business Developer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Proposals, negotiation and commercial close</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Qualified leads, requirements</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Signed scope, contract summary</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Conversion rate</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AM-01 / ACCOUNTS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17</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ACCOUNT MANAGER</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AM-01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ACCOUNTS</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Marketing Manager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Client onboarding, briefs, timelines and communication</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Signed scope, client feedback</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Complete brief, client approvals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Client satisfaction, turnaround</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HC-01 / CONTENT</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18</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HEAD OF CONTENT</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HC-01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CONTENT</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Marketing Manager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CW-S01, CW-J01</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Editorial strategy, assignment and copy quality</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Approved brief, positioning</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Editorial plan, approved scripts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Revision rate, editorial quality</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CW-S01 / CONTENT</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19</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SENIOR CONTENT WRITER</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CW-S01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CONTENT</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Head of Content</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Concepts, advanced copy, scripts and mentoring</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Complex briefs, references</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Concepts, scripts, advanced copy</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Copy quality, turnaround</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CW-J01 / CONTENT</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20</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JUNIOR CONTENT WRITER</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CW-J01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CONTENT</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Head of Content</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Research, captions and adaptations</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Brief, content assignment</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Draft captions, research</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Draft quality, completion</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HD-01 / CREATIVE</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21</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HEAD OF GRAPHIC DESIGN TEAM</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HD-01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CREATIVE</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Marketing Manager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GD-01, GD-02</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Art direction, assignments and creative QC</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Approved creative brief and copy</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QC-approved creative assets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Creative quality, revision rate</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GD-01 / CREATIVE</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22</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GRAPHIC DESIGNER 1</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GD-01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CREATIVE</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Head of Graphic Design Team</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Static posts, carousels and ad creatives</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Approved copy, specifications</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Design files and source exports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Quality, delivery time</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GD-02 / CREATIVE</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23</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GRAPHIC DESIGNER 2</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GD-02</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CREATIVE</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Head of Graphic Design Team</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Static posts, resizing and amendments</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Approved copy, specifications</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Design files and source exports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Quality, delivery time</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VE-01 / CREATIVE</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24</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VIDEO EDITOR 1</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VE-01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CREATIVE</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(CONFIRMED)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Marketing Manager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Reels, subtitles, exports and revisions</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Approved script, footage</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Reviewable cuts, final exports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Revision rate, turnaround</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VE-02 / CREATIVE</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25</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VIDEO EDITOR 2</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VE-02</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CREATIVE</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(CONFIRMED)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Marketing Manager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Reels, subtitles, exports and revisions</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Approved script, footage</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Reviewable cuts, final exports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Revision rate, turnaround</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SM-01 / DISTRIBUTION</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26</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SOCIAL MEDIA SPECIALIST</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SM-01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DISTRIBUTION</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Marketing Manager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Scheduling, publishing and community management</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Approved content, calendar</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Published posts, organic insights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Engagement, schedule adherence</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MB-01 / DISTRIBUTION</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27</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MEDIA BUYER</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MB-01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DISTRIBUTION</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Marketing Manager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Paid strategy, setup, optimization and reporting</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Approved plan, budget, creatives</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Campaign setup, performance reports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Campaign performance, pacing</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28</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FIVE CONNECTIONS. FIVE DIFFERENT MEANINGS.</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cxnSp>
        <p:nvCxnSpPr>
          <p:cNvPr id="36" name="Connector 35"/>
          <p:cNvCxnSpPr/>
          <p:nvPr/>
        </p:nvCxnSpPr>
        <p:spPr>
          <a:xfrm>
            <a:off x="822960" y="2468880"/>
            <a:ext cx="1371600" cy="0"/>
          </a:xfrm>
          <a:prstGeom prst="line">
            <a:avLst/>
          </a:prstGeom>
          <a:ln w="38100">
            <a:solidFill>
              <a:srgbClr val="7D2B42"/>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2514600" y="2240280"/>
            <a:ext cx="3657600" cy="365760"/>
          </a:xfrm>
          <a:prstGeom prst="rect">
            <a:avLst/>
          </a:prstGeom>
          <a:noFill/>
        </p:spPr>
        <p:txBody>
          <a:bodyPr wrap="square" lIns="27432" rIns="27432" tIns="0" bIns="0">
            <a:spAutoFit/>
          </a:bodyPr>
          <a:lstStyle/>
          <a:p>
            <a:pPr>
              <a:spcAft>
                <a:spcPts val="800"/>
              </a:spcAft>
              <a:defRPr sz="1900" b="1">
                <a:solidFill>
                  <a:srgbClr val="7D2B42"/>
                </a:solidFill>
                <a:latin typeface="Montserrat"/>
              </a:defRPr>
            </a:pPr>
            <a:r>
              <a:t>REPORTS TO</a:t>
            </a:r>
          </a:p>
        </p:txBody>
      </p:sp>
      <p:sp>
        <p:nvSpPr>
          <p:cNvPr id="38" name="TextBox 37"/>
          <p:cNvSpPr txBox="1"/>
          <p:nvPr/>
        </p:nvSpPr>
        <p:spPr>
          <a:xfrm>
            <a:off x="6400800" y="2240280"/>
            <a:ext cx="7315200" cy="594360"/>
          </a:xfrm>
          <a:prstGeom prst="rect">
            <a:avLst/>
          </a:prstGeom>
          <a:noFill/>
        </p:spPr>
        <p:txBody>
          <a:bodyPr wrap="square" lIns="27432" rIns="27432" tIns="0" bIns="0">
            <a:spAutoFit/>
          </a:bodyPr>
          <a:lstStyle/>
          <a:p>
            <a:pPr>
              <a:spcAft>
                <a:spcPts val="800"/>
              </a:spcAft>
              <a:defRPr sz="1700" b="0">
                <a:solidFill>
                  <a:srgbClr val="202020"/>
                </a:solidFill>
                <a:latin typeface="Montserrat"/>
              </a:defRPr>
            </a:pPr>
            <a:r>
              <a:t>Formal line management. Coordination does not imply authority.</a:t>
            </a:r>
          </a:p>
        </p:txBody>
      </p:sp>
      <p:cxnSp>
        <p:nvCxnSpPr>
          <p:cNvPr id="39" name="Connector 38"/>
          <p:cNvCxnSpPr/>
          <p:nvPr/>
        </p:nvCxnSpPr>
        <p:spPr>
          <a:xfrm>
            <a:off x="822960" y="3456432"/>
            <a:ext cx="1371600" cy="0"/>
          </a:xfrm>
          <a:prstGeom prst="line">
            <a:avLst/>
          </a:prstGeom>
          <a:ln w="38100">
            <a:solidFill>
              <a:srgbClr val="20202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2514600" y="3227832"/>
            <a:ext cx="3657600" cy="365760"/>
          </a:xfrm>
          <a:prstGeom prst="rect">
            <a:avLst/>
          </a:prstGeom>
          <a:noFill/>
        </p:spPr>
        <p:txBody>
          <a:bodyPr wrap="square" lIns="27432" rIns="27432" tIns="0" bIns="0">
            <a:spAutoFit/>
          </a:bodyPr>
          <a:lstStyle/>
          <a:p>
            <a:pPr>
              <a:spcAft>
                <a:spcPts val="800"/>
              </a:spcAft>
              <a:defRPr sz="1900" b="1">
                <a:solidFill>
                  <a:srgbClr val="7D2B42"/>
                </a:solidFill>
                <a:latin typeface="Montserrat"/>
              </a:defRPr>
            </a:pPr>
            <a:r>
              <a:t>HANDOFF TO</a:t>
            </a:r>
          </a:p>
        </p:txBody>
      </p:sp>
      <p:sp>
        <p:nvSpPr>
          <p:cNvPr id="41" name="TextBox 40"/>
          <p:cNvSpPr txBox="1"/>
          <p:nvPr/>
        </p:nvSpPr>
        <p:spPr>
          <a:xfrm>
            <a:off x="6400800" y="3227832"/>
            <a:ext cx="7315200" cy="594360"/>
          </a:xfrm>
          <a:prstGeom prst="rect">
            <a:avLst/>
          </a:prstGeom>
          <a:noFill/>
        </p:spPr>
        <p:txBody>
          <a:bodyPr wrap="square" lIns="27432" rIns="27432" tIns="0" bIns="0">
            <a:spAutoFit/>
          </a:bodyPr>
          <a:lstStyle/>
          <a:p>
            <a:pPr>
              <a:spcAft>
                <a:spcPts val="800"/>
              </a:spcAft>
              <a:defRPr sz="1700" b="0">
                <a:solidFill>
                  <a:srgbClr val="202020"/>
                </a:solidFill>
                <a:latin typeface="Montserrat"/>
              </a:defRPr>
            </a:pPr>
            <a:r>
              <a:t>Accepted output moves from one accountable owner to the next.</a:t>
            </a:r>
          </a:p>
        </p:txBody>
      </p:sp>
      <p:cxnSp>
        <p:nvCxnSpPr>
          <p:cNvPr id="42" name="Connector 41"/>
          <p:cNvCxnSpPr/>
          <p:nvPr/>
        </p:nvCxnSpPr>
        <p:spPr>
          <a:xfrm>
            <a:off x="822960" y="4443984"/>
            <a:ext cx="1371600" cy="0"/>
          </a:xfrm>
          <a:prstGeom prst="line">
            <a:avLst/>
          </a:prstGeom>
          <a:ln w="38100">
            <a:solidFill>
              <a:srgbClr val="555555"/>
            </a:solidFill>
            <a:prstDash val="dash"/>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2514600" y="4215384"/>
            <a:ext cx="3657600" cy="365760"/>
          </a:xfrm>
          <a:prstGeom prst="rect">
            <a:avLst/>
          </a:prstGeom>
          <a:noFill/>
        </p:spPr>
        <p:txBody>
          <a:bodyPr wrap="square" lIns="27432" rIns="27432" tIns="0" bIns="0">
            <a:spAutoFit/>
          </a:bodyPr>
          <a:lstStyle/>
          <a:p>
            <a:pPr>
              <a:spcAft>
                <a:spcPts val="800"/>
              </a:spcAft>
              <a:defRPr sz="1900" b="1">
                <a:solidFill>
                  <a:srgbClr val="7D2B42"/>
                </a:solidFill>
                <a:latin typeface="Montserrat"/>
              </a:defRPr>
            </a:pPr>
            <a:r>
              <a:t>COLLABORATES WITH</a:t>
            </a:r>
          </a:p>
        </p:txBody>
      </p:sp>
      <p:sp>
        <p:nvSpPr>
          <p:cNvPr id="44" name="TextBox 43"/>
          <p:cNvSpPr txBox="1"/>
          <p:nvPr/>
        </p:nvSpPr>
        <p:spPr>
          <a:xfrm>
            <a:off x="6400800" y="4215384"/>
            <a:ext cx="7315200" cy="594360"/>
          </a:xfrm>
          <a:prstGeom prst="rect">
            <a:avLst/>
          </a:prstGeom>
          <a:noFill/>
        </p:spPr>
        <p:txBody>
          <a:bodyPr wrap="square" lIns="27432" rIns="27432" tIns="0" bIns="0">
            <a:spAutoFit/>
          </a:bodyPr>
          <a:lstStyle/>
          <a:p>
            <a:pPr>
              <a:spcAft>
                <a:spcPts val="800"/>
              </a:spcAft>
              <a:defRPr sz="1700" b="0">
                <a:solidFill>
                  <a:srgbClr val="202020"/>
                </a:solidFill>
                <a:latin typeface="Montserrat"/>
              </a:defRPr>
            </a:pPr>
            <a:r>
              <a:t>Peer cooperation without implied managerial power.</a:t>
            </a:r>
          </a:p>
        </p:txBody>
      </p:sp>
      <p:cxnSp>
        <p:nvCxnSpPr>
          <p:cNvPr id="45" name="Connector 44"/>
          <p:cNvCxnSpPr/>
          <p:nvPr/>
        </p:nvCxnSpPr>
        <p:spPr>
          <a:xfrm>
            <a:off x="822960" y="5431536"/>
            <a:ext cx="1371600" cy="0"/>
          </a:xfrm>
          <a:prstGeom prst="line">
            <a:avLst/>
          </a:prstGeom>
          <a:ln w="38100">
            <a:solidFill>
              <a:srgbClr val="7D2B42"/>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2514600" y="5202936"/>
            <a:ext cx="3657600" cy="365760"/>
          </a:xfrm>
          <a:prstGeom prst="rect">
            <a:avLst/>
          </a:prstGeom>
          <a:noFill/>
        </p:spPr>
        <p:txBody>
          <a:bodyPr wrap="square" lIns="27432" rIns="27432" tIns="0" bIns="0">
            <a:spAutoFit/>
          </a:bodyPr>
          <a:lstStyle/>
          <a:p>
            <a:pPr>
              <a:spcAft>
                <a:spcPts val="800"/>
              </a:spcAft>
              <a:defRPr sz="1900" b="1">
                <a:solidFill>
                  <a:srgbClr val="7D2B42"/>
                </a:solidFill>
                <a:latin typeface="Montserrat"/>
              </a:defRPr>
            </a:pPr>
            <a:r>
              <a:t>APPROVAL BY</a:t>
            </a:r>
          </a:p>
        </p:txBody>
      </p:sp>
      <p:sp>
        <p:nvSpPr>
          <p:cNvPr id="47" name="TextBox 46"/>
          <p:cNvSpPr txBox="1"/>
          <p:nvPr/>
        </p:nvSpPr>
        <p:spPr>
          <a:xfrm>
            <a:off x="6400800" y="5202936"/>
            <a:ext cx="7315200" cy="594360"/>
          </a:xfrm>
          <a:prstGeom prst="rect">
            <a:avLst/>
          </a:prstGeom>
          <a:noFill/>
        </p:spPr>
        <p:txBody>
          <a:bodyPr wrap="square" lIns="27432" rIns="27432" tIns="0" bIns="0">
            <a:spAutoFit/>
          </a:bodyPr>
          <a:lstStyle/>
          <a:p>
            <a:pPr>
              <a:spcAft>
                <a:spcPts val="800"/>
              </a:spcAft>
              <a:defRPr sz="1700" b="0">
                <a:solidFill>
                  <a:srgbClr val="202020"/>
                </a:solidFill>
                <a:latin typeface="Montserrat"/>
              </a:defRPr>
            </a:pPr>
            <a:r>
              <a:t>Independent review before the next execution gate.</a:t>
            </a:r>
          </a:p>
        </p:txBody>
      </p:sp>
      <p:cxnSp>
        <p:nvCxnSpPr>
          <p:cNvPr id="48" name="Connector 47"/>
          <p:cNvCxnSpPr/>
          <p:nvPr/>
        </p:nvCxnSpPr>
        <p:spPr>
          <a:xfrm>
            <a:off x="822960" y="6419088"/>
            <a:ext cx="1371600" cy="0"/>
          </a:xfrm>
          <a:prstGeom prst="line">
            <a:avLst/>
          </a:prstGeom>
          <a:ln w="38100">
            <a:solidFill>
              <a:srgbClr val="555555"/>
            </a:solidFill>
            <a:prstDash val="dash"/>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2514600" y="6190488"/>
            <a:ext cx="3657600" cy="365760"/>
          </a:xfrm>
          <a:prstGeom prst="rect">
            <a:avLst/>
          </a:prstGeom>
          <a:noFill/>
        </p:spPr>
        <p:txBody>
          <a:bodyPr wrap="square" lIns="27432" rIns="27432" tIns="0" bIns="0">
            <a:spAutoFit/>
          </a:bodyPr>
          <a:lstStyle/>
          <a:p>
            <a:pPr>
              <a:spcAft>
                <a:spcPts val="800"/>
              </a:spcAft>
              <a:defRPr sz="1900" b="1">
                <a:solidFill>
                  <a:srgbClr val="7D2B42"/>
                </a:solidFill>
                <a:latin typeface="Montserrat"/>
              </a:defRPr>
            </a:pPr>
            <a:r>
              <a:t>ESCALATES TO</a:t>
            </a:r>
          </a:p>
        </p:txBody>
      </p:sp>
      <p:sp>
        <p:nvSpPr>
          <p:cNvPr id="50" name="TextBox 49"/>
          <p:cNvSpPr txBox="1"/>
          <p:nvPr/>
        </p:nvSpPr>
        <p:spPr>
          <a:xfrm>
            <a:off x="6400800" y="6190488"/>
            <a:ext cx="7315200" cy="594360"/>
          </a:xfrm>
          <a:prstGeom prst="rect">
            <a:avLst/>
          </a:prstGeom>
          <a:noFill/>
        </p:spPr>
        <p:txBody>
          <a:bodyPr wrap="square" lIns="27432" rIns="27432" tIns="0" bIns="0">
            <a:spAutoFit/>
          </a:bodyPr>
          <a:lstStyle/>
          <a:p>
            <a:pPr>
              <a:spcAft>
                <a:spcPts val="800"/>
              </a:spcAft>
              <a:defRPr sz="1700" b="0">
                <a:solidFill>
                  <a:srgbClr val="202020"/>
                </a:solidFill>
                <a:latin typeface="Montserrat"/>
              </a:defRPr>
            </a:pPr>
            <a:r>
              <a:t>Proposed resolution path; automatic escalation is off.</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29</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DELIVERY DETAIL / WITHIN THE SIX-STAGE OS</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377440"/>
            <a:ext cx="3246120" cy="1965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2514600"/>
            <a:ext cx="731520" cy="502920"/>
          </a:xfrm>
          <a:prstGeom prst="rect">
            <a:avLst/>
          </a:prstGeom>
          <a:noFill/>
        </p:spPr>
        <p:txBody>
          <a:bodyPr wrap="square" lIns="27432" rIns="27432" tIns="0" bIns="0">
            <a:spAutoFit/>
          </a:bodyPr>
          <a:lstStyle/>
          <a:p>
            <a:pPr>
              <a:spcAft>
                <a:spcPts val="800"/>
              </a:spcAft>
              <a:defRPr sz="2700" b="1">
                <a:solidFill>
                  <a:srgbClr val="7D2B42"/>
                </a:solidFill>
                <a:latin typeface="Bebas Neue"/>
              </a:defRPr>
            </a:pPr>
            <a:r>
              <a:t>01</a:t>
            </a:r>
          </a:p>
        </p:txBody>
      </p:sp>
      <p:sp>
        <p:nvSpPr>
          <p:cNvPr id="38" name="TextBox 37"/>
          <p:cNvSpPr txBox="1"/>
          <p:nvPr/>
        </p:nvSpPr>
        <p:spPr>
          <a:xfrm>
            <a:off x="914400" y="3154680"/>
            <a:ext cx="2880360" cy="36576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QUALIFY</a:t>
            </a:r>
          </a:p>
        </p:txBody>
      </p:sp>
      <p:sp>
        <p:nvSpPr>
          <p:cNvPr id="39" name="TextBox 38"/>
          <p:cNvSpPr txBox="1"/>
          <p:nvPr/>
        </p:nvSpPr>
        <p:spPr>
          <a:xfrm>
            <a:off x="914400" y="3657600"/>
            <a:ext cx="2880360" cy="45720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Business Developer</a:t>
            </a:r>
          </a:p>
        </p:txBody>
      </p:sp>
      <p:cxnSp>
        <p:nvCxnSpPr>
          <p:cNvPr id="40" name="Connector 39"/>
          <p:cNvCxnSpPr/>
          <p:nvPr/>
        </p:nvCxnSpPr>
        <p:spPr>
          <a:xfrm>
            <a:off x="3977639" y="3337560"/>
            <a:ext cx="274321" cy="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4251960" y="2377440"/>
            <a:ext cx="3246120" cy="1965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434840" y="2514600"/>
            <a:ext cx="731520" cy="502920"/>
          </a:xfrm>
          <a:prstGeom prst="rect">
            <a:avLst/>
          </a:prstGeom>
          <a:noFill/>
        </p:spPr>
        <p:txBody>
          <a:bodyPr wrap="square" lIns="27432" rIns="27432" tIns="0" bIns="0">
            <a:spAutoFit/>
          </a:bodyPr>
          <a:lstStyle/>
          <a:p>
            <a:pPr>
              <a:spcAft>
                <a:spcPts val="800"/>
              </a:spcAft>
              <a:defRPr sz="2700" b="1">
                <a:solidFill>
                  <a:srgbClr val="7D2B42"/>
                </a:solidFill>
                <a:latin typeface="Bebas Neue"/>
              </a:defRPr>
            </a:pPr>
            <a:r>
              <a:t>02</a:t>
            </a:r>
          </a:p>
        </p:txBody>
      </p:sp>
      <p:sp>
        <p:nvSpPr>
          <p:cNvPr id="43" name="TextBox 42"/>
          <p:cNvSpPr txBox="1"/>
          <p:nvPr/>
        </p:nvSpPr>
        <p:spPr>
          <a:xfrm>
            <a:off x="4434840" y="3154680"/>
            <a:ext cx="2880360" cy="36576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CLOSE</a:t>
            </a:r>
          </a:p>
        </p:txBody>
      </p:sp>
      <p:sp>
        <p:nvSpPr>
          <p:cNvPr id="44" name="TextBox 43"/>
          <p:cNvSpPr txBox="1"/>
          <p:nvPr/>
        </p:nvSpPr>
        <p:spPr>
          <a:xfrm>
            <a:off x="4434840" y="3657600"/>
            <a:ext cx="2880360" cy="45720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Sales</a:t>
            </a:r>
          </a:p>
        </p:txBody>
      </p:sp>
      <p:cxnSp>
        <p:nvCxnSpPr>
          <p:cNvPr id="45" name="Connector 44"/>
          <p:cNvCxnSpPr/>
          <p:nvPr/>
        </p:nvCxnSpPr>
        <p:spPr>
          <a:xfrm>
            <a:off x="7498079" y="3337560"/>
            <a:ext cx="274321" cy="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sp>
        <p:nvSpPr>
          <p:cNvPr id="46" name="Rectangle 45"/>
          <p:cNvSpPr/>
          <p:nvPr/>
        </p:nvSpPr>
        <p:spPr>
          <a:xfrm>
            <a:off x="7772400" y="2377440"/>
            <a:ext cx="3246120" cy="1965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955279" y="2514600"/>
            <a:ext cx="731520" cy="502920"/>
          </a:xfrm>
          <a:prstGeom prst="rect">
            <a:avLst/>
          </a:prstGeom>
          <a:noFill/>
        </p:spPr>
        <p:txBody>
          <a:bodyPr wrap="square" lIns="27432" rIns="27432" tIns="0" bIns="0">
            <a:spAutoFit/>
          </a:bodyPr>
          <a:lstStyle/>
          <a:p>
            <a:pPr>
              <a:spcAft>
                <a:spcPts val="800"/>
              </a:spcAft>
              <a:defRPr sz="2700" b="1">
                <a:solidFill>
                  <a:srgbClr val="7D2B42"/>
                </a:solidFill>
                <a:latin typeface="Bebas Neue"/>
              </a:defRPr>
            </a:pPr>
            <a:r>
              <a:t>03</a:t>
            </a:r>
          </a:p>
        </p:txBody>
      </p:sp>
      <p:sp>
        <p:nvSpPr>
          <p:cNvPr id="48" name="TextBox 47"/>
          <p:cNvSpPr txBox="1"/>
          <p:nvPr/>
        </p:nvSpPr>
        <p:spPr>
          <a:xfrm>
            <a:off x="7955279" y="3154680"/>
            <a:ext cx="2880360" cy="36576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BRIEF</a:t>
            </a:r>
          </a:p>
        </p:txBody>
      </p:sp>
      <p:sp>
        <p:nvSpPr>
          <p:cNvPr id="49" name="TextBox 48"/>
          <p:cNvSpPr txBox="1"/>
          <p:nvPr/>
        </p:nvSpPr>
        <p:spPr>
          <a:xfrm>
            <a:off x="7955279" y="3657600"/>
            <a:ext cx="2880360" cy="45720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Account Manager</a:t>
            </a:r>
          </a:p>
        </p:txBody>
      </p:sp>
      <p:cxnSp>
        <p:nvCxnSpPr>
          <p:cNvPr id="50" name="Connector 49"/>
          <p:cNvCxnSpPr/>
          <p:nvPr/>
        </p:nvCxnSpPr>
        <p:spPr>
          <a:xfrm>
            <a:off x="11018520" y="3337560"/>
            <a:ext cx="274320" cy="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sp>
        <p:nvSpPr>
          <p:cNvPr id="51" name="Rectangle 50"/>
          <p:cNvSpPr/>
          <p:nvPr/>
        </p:nvSpPr>
        <p:spPr>
          <a:xfrm>
            <a:off x="11292840" y="2377440"/>
            <a:ext cx="3246120" cy="1965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1475720" y="2514600"/>
            <a:ext cx="731520" cy="502920"/>
          </a:xfrm>
          <a:prstGeom prst="rect">
            <a:avLst/>
          </a:prstGeom>
          <a:noFill/>
        </p:spPr>
        <p:txBody>
          <a:bodyPr wrap="square" lIns="27432" rIns="27432" tIns="0" bIns="0">
            <a:spAutoFit/>
          </a:bodyPr>
          <a:lstStyle/>
          <a:p>
            <a:pPr>
              <a:spcAft>
                <a:spcPts val="800"/>
              </a:spcAft>
              <a:defRPr sz="2700" b="1">
                <a:solidFill>
                  <a:srgbClr val="7D2B42"/>
                </a:solidFill>
                <a:latin typeface="Bebas Neue"/>
              </a:defRPr>
            </a:pPr>
            <a:r>
              <a:t>04</a:t>
            </a:r>
          </a:p>
        </p:txBody>
      </p:sp>
      <p:sp>
        <p:nvSpPr>
          <p:cNvPr id="53" name="TextBox 52"/>
          <p:cNvSpPr txBox="1"/>
          <p:nvPr/>
        </p:nvSpPr>
        <p:spPr>
          <a:xfrm>
            <a:off x="11475720" y="3154680"/>
            <a:ext cx="2880360" cy="36576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ALIGN</a:t>
            </a:r>
          </a:p>
        </p:txBody>
      </p:sp>
      <p:sp>
        <p:nvSpPr>
          <p:cNvPr id="54" name="TextBox 53"/>
          <p:cNvSpPr txBox="1"/>
          <p:nvPr/>
        </p:nvSpPr>
        <p:spPr>
          <a:xfrm>
            <a:off x="11475720" y="3657600"/>
            <a:ext cx="2880360" cy="45720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Marketing Manager</a:t>
            </a:r>
          </a:p>
        </p:txBody>
      </p:sp>
      <p:sp>
        <p:nvSpPr>
          <p:cNvPr id="55" name="Rectangle 54"/>
          <p:cNvSpPr/>
          <p:nvPr/>
        </p:nvSpPr>
        <p:spPr>
          <a:xfrm>
            <a:off x="731520" y="4663440"/>
            <a:ext cx="3246120" cy="1965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14400" y="4800600"/>
            <a:ext cx="731520" cy="502920"/>
          </a:xfrm>
          <a:prstGeom prst="rect">
            <a:avLst/>
          </a:prstGeom>
          <a:noFill/>
        </p:spPr>
        <p:txBody>
          <a:bodyPr wrap="square" lIns="27432" rIns="27432" tIns="0" bIns="0">
            <a:spAutoFit/>
          </a:bodyPr>
          <a:lstStyle/>
          <a:p>
            <a:pPr>
              <a:spcAft>
                <a:spcPts val="800"/>
              </a:spcAft>
              <a:defRPr sz="2700" b="1">
                <a:solidFill>
                  <a:srgbClr val="7D2B42"/>
                </a:solidFill>
                <a:latin typeface="Bebas Neue"/>
              </a:defRPr>
            </a:pPr>
            <a:r>
              <a:t>05</a:t>
            </a:r>
          </a:p>
        </p:txBody>
      </p:sp>
      <p:sp>
        <p:nvSpPr>
          <p:cNvPr id="57" name="TextBox 56"/>
          <p:cNvSpPr txBox="1"/>
          <p:nvPr/>
        </p:nvSpPr>
        <p:spPr>
          <a:xfrm>
            <a:off x="914400" y="5440679"/>
            <a:ext cx="2880360" cy="36576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CREATE</a:t>
            </a:r>
          </a:p>
        </p:txBody>
      </p:sp>
      <p:sp>
        <p:nvSpPr>
          <p:cNvPr id="58" name="TextBox 57"/>
          <p:cNvSpPr txBox="1"/>
          <p:nvPr/>
        </p:nvSpPr>
        <p:spPr>
          <a:xfrm>
            <a:off x="914400" y="5943600"/>
            <a:ext cx="2880360" cy="45720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Content + Creative</a:t>
            </a:r>
          </a:p>
        </p:txBody>
      </p:sp>
      <p:cxnSp>
        <p:nvCxnSpPr>
          <p:cNvPr id="59" name="Connector 58"/>
          <p:cNvCxnSpPr/>
          <p:nvPr/>
        </p:nvCxnSpPr>
        <p:spPr>
          <a:xfrm>
            <a:off x="3977639" y="5623559"/>
            <a:ext cx="274321" cy="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sp>
        <p:nvSpPr>
          <p:cNvPr id="60" name="Rectangle 59"/>
          <p:cNvSpPr/>
          <p:nvPr/>
        </p:nvSpPr>
        <p:spPr>
          <a:xfrm>
            <a:off x="4251960" y="4663440"/>
            <a:ext cx="3246120" cy="1965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434840" y="4800600"/>
            <a:ext cx="731520" cy="502920"/>
          </a:xfrm>
          <a:prstGeom prst="rect">
            <a:avLst/>
          </a:prstGeom>
          <a:noFill/>
        </p:spPr>
        <p:txBody>
          <a:bodyPr wrap="square" lIns="27432" rIns="27432" tIns="0" bIns="0">
            <a:spAutoFit/>
          </a:bodyPr>
          <a:lstStyle/>
          <a:p>
            <a:pPr>
              <a:spcAft>
                <a:spcPts val="800"/>
              </a:spcAft>
              <a:defRPr sz="2700" b="1">
                <a:solidFill>
                  <a:srgbClr val="7D2B42"/>
                </a:solidFill>
                <a:latin typeface="Bebas Neue"/>
              </a:defRPr>
            </a:pPr>
            <a:r>
              <a:t>06</a:t>
            </a:r>
          </a:p>
        </p:txBody>
      </p:sp>
      <p:sp>
        <p:nvSpPr>
          <p:cNvPr id="62" name="TextBox 61"/>
          <p:cNvSpPr txBox="1"/>
          <p:nvPr/>
        </p:nvSpPr>
        <p:spPr>
          <a:xfrm>
            <a:off x="4434840" y="5440679"/>
            <a:ext cx="2880360" cy="36576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REVIEW</a:t>
            </a:r>
          </a:p>
        </p:txBody>
      </p:sp>
      <p:sp>
        <p:nvSpPr>
          <p:cNvPr id="63" name="TextBox 62"/>
          <p:cNvSpPr txBox="1"/>
          <p:nvPr/>
        </p:nvSpPr>
        <p:spPr>
          <a:xfrm>
            <a:off x="4434840" y="5943600"/>
            <a:ext cx="2880360" cy="45720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Internal QC + Client</a:t>
            </a:r>
          </a:p>
        </p:txBody>
      </p:sp>
      <p:cxnSp>
        <p:nvCxnSpPr>
          <p:cNvPr id="64" name="Connector 63"/>
          <p:cNvCxnSpPr/>
          <p:nvPr/>
        </p:nvCxnSpPr>
        <p:spPr>
          <a:xfrm>
            <a:off x="7498079" y="5623559"/>
            <a:ext cx="274321" cy="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sp>
        <p:nvSpPr>
          <p:cNvPr id="65" name="Rectangle 64"/>
          <p:cNvSpPr/>
          <p:nvPr/>
        </p:nvSpPr>
        <p:spPr>
          <a:xfrm>
            <a:off x="7772400" y="4663440"/>
            <a:ext cx="3246120" cy="1965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955279" y="4800600"/>
            <a:ext cx="731520" cy="502920"/>
          </a:xfrm>
          <a:prstGeom prst="rect">
            <a:avLst/>
          </a:prstGeom>
          <a:noFill/>
        </p:spPr>
        <p:txBody>
          <a:bodyPr wrap="square" lIns="27432" rIns="27432" tIns="0" bIns="0">
            <a:spAutoFit/>
          </a:bodyPr>
          <a:lstStyle/>
          <a:p>
            <a:pPr>
              <a:spcAft>
                <a:spcPts val="800"/>
              </a:spcAft>
              <a:defRPr sz="2700" b="1">
                <a:solidFill>
                  <a:srgbClr val="7D2B42"/>
                </a:solidFill>
                <a:latin typeface="Bebas Neue"/>
              </a:defRPr>
            </a:pPr>
            <a:r>
              <a:t>07</a:t>
            </a:r>
          </a:p>
        </p:txBody>
      </p:sp>
      <p:sp>
        <p:nvSpPr>
          <p:cNvPr id="67" name="TextBox 66"/>
          <p:cNvSpPr txBox="1"/>
          <p:nvPr/>
        </p:nvSpPr>
        <p:spPr>
          <a:xfrm>
            <a:off x="7955279" y="5440679"/>
            <a:ext cx="2880360" cy="36576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EXECUTE</a:t>
            </a:r>
          </a:p>
        </p:txBody>
      </p:sp>
      <p:sp>
        <p:nvSpPr>
          <p:cNvPr id="68" name="TextBox 67"/>
          <p:cNvSpPr txBox="1"/>
          <p:nvPr/>
        </p:nvSpPr>
        <p:spPr>
          <a:xfrm>
            <a:off x="7955279" y="5943600"/>
            <a:ext cx="2880360" cy="45720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Social + Paid</a:t>
            </a:r>
          </a:p>
        </p:txBody>
      </p:sp>
      <p:cxnSp>
        <p:nvCxnSpPr>
          <p:cNvPr id="69" name="Connector 68"/>
          <p:cNvCxnSpPr/>
          <p:nvPr/>
        </p:nvCxnSpPr>
        <p:spPr>
          <a:xfrm>
            <a:off x="11018520" y="5623559"/>
            <a:ext cx="274320" cy="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sp>
        <p:nvSpPr>
          <p:cNvPr id="70" name="Rectangle 69"/>
          <p:cNvSpPr/>
          <p:nvPr/>
        </p:nvSpPr>
        <p:spPr>
          <a:xfrm>
            <a:off x="11292840" y="4663440"/>
            <a:ext cx="3246120" cy="1965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11475720" y="4800600"/>
            <a:ext cx="731520" cy="502920"/>
          </a:xfrm>
          <a:prstGeom prst="rect">
            <a:avLst/>
          </a:prstGeom>
          <a:noFill/>
        </p:spPr>
        <p:txBody>
          <a:bodyPr wrap="square" lIns="27432" rIns="27432" tIns="0" bIns="0">
            <a:spAutoFit/>
          </a:bodyPr>
          <a:lstStyle/>
          <a:p>
            <a:pPr>
              <a:spcAft>
                <a:spcPts val="800"/>
              </a:spcAft>
              <a:defRPr sz="2700" b="1">
                <a:solidFill>
                  <a:srgbClr val="7D2B42"/>
                </a:solidFill>
                <a:latin typeface="Bebas Neue"/>
              </a:defRPr>
            </a:pPr>
            <a:r>
              <a:t>08</a:t>
            </a:r>
          </a:p>
        </p:txBody>
      </p:sp>
      <p:sp>
        <p:nvSpPr>
          <p:cNvPr id="72" name="TextBox 71"/>
          <p:cNvSpPr txBox="1"/>
          <p:nvPr/>
        </p:nvSpPr>
        <p:spPr>
          <a:xfrm>
            <a:off x="11475720" y="5440679"/>
            <a:ext cx="2880360" cy="36576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REPORT</a:t>
            </a:r>
          </a:p>
        </p:txBody>
      </p:sp>
      <p:sp>
        <p:nvSpPr>
          <p:cNvPr id="73" name="TextBox 72"/>
          <p:cNvSpPr txBox="1"/>
          <p:nvPr/>
        </p:nvSpPr>
        <p:spPr>
          <a:xfrm>
            <a:off x="11475720" y="5943600"/>
            <a:ext cx="2880360" cy="45720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Account + Marketing</a:t>
            </a:r>
          </a:p>
        </p:txBody>
      </p:sp>
      <p:sp>
        <p:nvSpPr>
          <p:cNvPr id="74" name="TextBox 73"/>
          <p:cNvSpPr txBox="1"/>
          <p:nvPr/>
        </p:nvSpPr>
        <p:spPr>
          <a:xfrm>
            <a:off x="822960" y="7178040"/>
            <a:ext cx="12801600" cy="320040"/>
          </a:xfrm>
          <a:prstGeom prst="rect">
            <a:avLst/>
          </a:prstGeom>
          <a:noFill/>
        </p:spPr>
        <p:txBody>
          <a:bodyPr wrap="square" lIns="27432" rIns="27432" tIns="0" bIns="0">
            <a:spAutoFit/>
          </a:bodyPr>
          <a:lstStyle/>
          <a:p>
            <a:pPr>
              <a:spcAft>
                <a:spcPts val="800"/>
              </a:spcAft>
              <a:defRPr sz="1300" b="0">
                <a:solidFill>
                  <a:srgbClr val="555555"/>
                </a:solidFill>
                <a:latin typeface="Montserrat"/>
              </a:defRPr>
            </a:pPr>
            <a:r>
              <a:t>Conditional journey: static, video and paid work branch as needed. Production may run in parallel after its required inputs are accepted.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30</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DEPLOY / PARALLEL PRODUCTION &amp; SHARED GATES</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3200400"/>
            <a:ext cx="2743200" cy="1828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96112" y="3383280"/>
            <a:ext cx="2414016" cy="640080"/>
          </a:xfrm>
          <a:prstGeom prst="rect">
            <a:avLst/>
          </a:prstGeom>
          <a:noFill/>
        </p:spPr>
        <p:txBody>
          <a:bodyPr wrap="square" lIns="27432" rIns="27432" tIns="0" bIns="0">
            <a:spAutoFit/>
          </a:bodyPr>
          <a:lstStyle/>
          <a:p>
            <a:pPr>
              <a:spcAft>
                <a:spcPts val="800"/>
              </a:spcAft>
              <a:defRPr sz="1800" b="1">
                <a:solidFill>
                  <a:srgbClr val="7D2B42"/>
                </a:solidFill>
                <a:latin typeface="Montserrat"/>
              </a:defRPr>
            </a:pPr>
            <a:r>
              <a:t>APPROVED BRIEF</a:t>
            </a:r>
          </a:p>
        </p:txBody>
      </p:sp>
      <p:sp>
        <p:nvSpPr>
          <p:cNvPr id="38" name="TextBox 37"/>
          <p:cNvSpPr txBox="1"/>
          <p:nvPr/>
        </p:nvSpPr>
        <p:spPr>
          <a:xfrm>
            <a:off x="896112" y="4096512"/>
            <a:ext cx="2414016" cy="731520"/>
          </a:xfrm>
          <a:prstGeom prst="rect">
            <a:avLst/>
          </a:prstGeom>
          <a:noFill/>
        </p:spPr>
        <p:txBody>
          <a:bodyPr wrap="square" lIns="27432" rIns="27432" tIns="0" bIns="0">
            <a:spAutoFit/>
          </a:bodyPr>
          <a:lstStyle/>
          <a:p>
            <a:pPr>
              <a:spcAft>
                <a:spcPts val="800"/>
              </a:spcAft>
              <a:defRPr sz="1400" b="0">
                <a:solidFill>
                  <a:srgbClr val="202020"/>
                </a:solidFill>
                <a:latin typeface="Montserrat"/>
              </a:defRPr>
            </a:pPr>
            <a:r>
              <a:t>Account Manager → Content lead</a:t>
            </a:r>
          </a:p>
        </p:txBody>
      </p:sp>
      <p:sp>
        <p:nvSpPr>
          <p:cNvPr id="39" name="Rectangle 38"/>
          <p:cNvSpPr/>
          <p:nvPr/>
        </p:nvSpPr>
        <p:spPr>
          <a:xfrm>
            <a:off x="4572000" y="2286000"/>
            <a:ext cx="3657600" cy="16916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736592" y="2468880"/>
            <a:ext cx="3328416" cy="640080"/>
          </a:xfrm>
          <a:prstGeom prst="rect">
            <a:avLst/>
          </a:prstGeom>
          <a:noFill/>
        </p:spPr>
        <p:txBody>
          <a:bodyPr wrap="square" lIns="27432" rIns="27432" tIns="0" bIns="0">
            <a:spAutoFit/>
          </a:bodyPr>
          <a:lstStyle/>
          <a:p>
            <a:pPr>
              <a:spcAft>
                <a:spcPts val="800"/>
              </a:spcAft>
              <a:defRPr sz="1800" b="1">
                <a:solidFill>
                  <a:srgbClr val="7D2B42"/>
                </a:solidFill>
                <a:latin typeface="Montserrat"/>
              </a:defRPr>
            </a:pPr>
            <a:r>
              <a:t>STATIC / CAROUSEL</a:t>
            </a:r>
          </a:p>
        </p:txBody>
      </p:sp>
      <p:sp>
        <p:nvSpPr>
          <p:cNvPr id="41" name="TextBox 40"/>
          <p:cNvSpPr txBox="1"/>
          <p:nvPr/>
        </p:nvSpPr>
        <p:spPr>
          <a:xfrm>
            <a:off x="4736592" y="3182112"/>
            <a:ext cx="3328416" cy="731520"/>
          </a:xfrm>
          <a:prstGeom prst="rect">
            <a:avLst/>
          </a:prstGeom>
          <a:noFill/>
        </p:spPr>
        <p:txBody>
          <a:bodyPr wrap="square" lIns="27432" rIns="27432" tIns="0" bIns="0">
            <a:spAutoFit/>
          </a:bodyPr>
          <a:lstStyle/>
          <a:p>
            <a:pPr>
              <a:spcAft>
                <a:spcPts val="800"/>
              </a:spcAft>
              <a:defRPr sz="1400" b="0">
                <a:solidFill>
                  <a:srgbClr val="202020"/>
                </a:solidFill>
                <a:latin typeface="Montserrat"/>
              </a:defRPr>
            </a:pPr>
            <a:r>
              <a:t>Writer → Content QC → Designer → Design QC</a:t>
            </a:r>
          </a:p>
        </p:txBody>
      </p:sp>
      <p:sp>
        <p:nvSpPr>
          <p:cNvPr id="42" name="Rectangle 41"/>
          <p:cNvSpPr/>
          <p:nvPr/>
        </p:nvSpPr>
        <p:spPr>
          <a:xfrm>
            <a:off x="4572000" y="4572000"/>
            <a:ext cx="3657600" cy="16916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736592" y="4754880"/>
            <a:ext cx="3328416" cy="640080"/>
          </a:xfrm>
          <a:prstGeom prst="rect">
            <a:avLst/>
          </a:prstGeom>
          <a:noFill/>
        </p:spPr>
        <p:txBody>
          <a:bodyPr wrap="square" lIns="27432" rIns="27432" tIns="0" bIns="0">
            <a:spAutoFit/>
          </a:bodyPr>
          <a:lstStyle/>
          <a:p>
            <a:pPr>
              <a:spcAft>
                <a:spcPts val="800"/>
              </a:spcAft>
              <a:defRPr sz="1800" b="1">
                <a:solidFill>
                  <a:srgbClr val="7D2B42"/>
                </a:solidFill>
                <a:latin typeface="Montserrat"/>
              </a:defRPr>
            </a:pPr>
            <a:r>
              <a:t>VIDEO / REEL</a:t>
            </a:r>
          </a:p>
        </p:txBody>
      </p:sp>
      <p:sp>
        <p:nvSpPr>
          <p:cNvPr id="44" name="TextBox 43"/>
          <p:cNvSpPr txBox="1"/>
          <p:nvPr/>
        </p:nvSpPr>
        <p:spPr>
          <a:xfrm>
            <a:off x="4736592" y="5468112"/>
            <a:ext cx="3328416" cy="731520"/>
          </a:xfrm>
          <a:prstGeom prst="rect">
            <a:avLst/>
          </a:prstGeom>
          <a:noFill/>
        </p:spPr>
        <p:txBody>
          <a:bodyPr wrap="square" lIns="27432" rIns="27432" tIns="0" bIns="0">
            <a:spAutoFit/>
          </a:bodyPr>
          <a:lstStyle/>
          <a:p>
            <a:pPr>
              <a:spcAft>
                <a:spcPts val="800"/>
              </a:spcAft>
              <a:defRPr sz="1400" b="0">
                <a:solidFill>
                  <a:srgbClr val="202020"/>
                </a:solidFill>
                <a:latin typeface="Montserrat"/>
              </a:defRPr>
            </a:pPr>
            <a:r>
              <a:t>Script approval → Footage → Editor → Creative QC</a:t>
            </a:r>
          </a:p>
        </p:txBody>
      </p:sp>
      <p:sp>
        <p:nvSpPr>
          <p:cNvPr id="45" name="Rectangle 44"/>
          <p:cNvSpPr/>
          <p:nvPr/>
        </p:nvSpPr>
        <p:spPr>
          <a:xfrm>
            <a:off x="10058400" y="3200400"/>
            <a:ext cx="3749039" cy="1828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222992" y="3383280"/>
            <a:ext cx="3419856" cy="640080"/>
          </a:xfrm>
          <a:prstGeom prst="rect">
            <a:avLst/>
          </a:prstGeom>
          <a:noFill/>
        </p:spPr>
        <p:txBody>
          <a:bodyPr wrap="square" lIns="27432" rIns="27432" tIns="0" bIns="0">
            <a:spAutoFit/>
          </a:bodyPr>
          <a:lstStyle/>
          <a:p>
            <a:pPr>
              <a:spcAft>
                <a:spcPts val="800"/>
              </a:spcAft>
              <a:defRPr sz="1800" b="1">
                <a:solidFill>
                  <a:srgbClr val="7D2B42"/>
                </a:solidFill>
                <a:latin typeface="Montserrat"/>
              </a:defRPr>
            </a:pPr>
            <a:r>
              <a:t>CLIENT AUTHORIZATION</a:t>
            </a:r>
          </a:p>
        </p:txBody>
      </p:sp>
      <p:sp>
        <p:nvSpPr>
          <p:cNvPr id="47" name="TextBox 46"/>
          <p:cNvSpPr txBox="1"/>
          <p:nvPr/>
        </p:nvSpPr>
        <p:spPr>
          <a:xfrm>
            <a:off x="10222992" y="4096512"/>
            <a:ext cx="3419856" cy="731520"/>
          </a:xfrm>
          <a:prstGeom prst="rect">
            <a:avLst/>
          </a:prstGeom>
          <a:noFill/>
        </p:spPr>
        <p:txBody>
          <a:bodyPr wrap="square" lIns="27432" rIns="27432" tIns="0" bIns="0">
            <a:spAutoFit/>
          </a:bodyPr>
          <a:lstStyle/>
          <a:p>
            <a:pPr>
              <a:spcAft>
                <a:spcPts val="800"/>
              </a:spcAft>
              <a:defRPr sz="1400" b="0">
                <a:solidFill>
                  <a:srgbClr val="202020"/>
                </a:solidFill>
                <a:latin typeface="Montserrat"/>
              </a:defRPr>
            </a:pPr>
            <a:r>
              <a:t>Account Manager records approval before organic / paid execution</a:t>
            </a:r>
          </a:p>
        </p:txBody>
      </p:sp>
      <p:cxnSp>
        <p:nvCxnSpPr>
          <p:cNvPr id="48" name="Connector 47"/>
          <p:cNvCxnSpPr/>
          <p:nvPr/>
        </p:nvCxnSpPr>
        <p:spPr>
          <a:xfrm flipV="1">
            <a:off x="3474720" y="3108960"/>
            <a:ext cx="1097280" cy="100584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3474720" y="4114800"/>
            <a:ext cx="1097280" cy="128016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229600" y="3108960"/>
            <a:ext cx="1828800" cy="100584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8229600" y="4114800"/>
            <a:ext cx="1828800" cy="128016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sp>
        <p:nvSpPr>
          <p:cNvPr id="52" name="Rectangle 51"/>
          <p:cNvSpPr/>
          <p:nvPr/>
        </p:nvSpPr>
        <p:spPr>
          <a:xfrm>
            <a:off x="822960" y="6675120"/>
            <a:ext cx="12984480" cy="59436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05840" y="6858000"/>
            <a:ext cx="12618720" cy="32004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MISSING INPUTS? Hold the handoff. Record the blocker, request assets, and forecast downstream impact.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31</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NESTED DELIVERY / NINE WORKFLOW TEMPLATES</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24028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68680" y="2359152"/>
            <a:ext cx="411480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01 / CLIENT ONBOARDING</a:t>
            </a:r>
          </a:p>
        </p:txBody>
      </p:sp>
      <p:sp>
        <p:nvSpPr>
          <p:cNvPr id="38" name="TextBox 37"/>
          <p:cNvSpPr txBox="1"/>
          <p:nvPr/>
        </p:nvSpPr>
        <p:spPr>
          <a:xfrm>
            <a:off x="868680" y="2898648"/>
            <a:ext cx="4114800" cy="640080"/>
          </a:xfrm>
          <a:prstGeom prst="rect">
            <a:avLst/>
          </a:prstGeom>
          <a:noFill/>
        </p:spPr>
        <p:txBody>
          <a:bodyPr wrap="square" lIns="27432" rIns="27432" tIns="0" bIns="0">
            <a:spAutoFit/>
          </a:bodyPr>
          <a:lstStyle/>
          <a:p>
            <a:pPr>
              <a:spcAft>
                <a:spcPts val="800"/>
              </a:spcAft>
              <a:defRPr sz="1100" b="0">
                <a:solidFill>
                  <a:srgbClr val="555555"/>
                </a:solidFill>
                <a:latin typeface="Montserrat"/>
              </a:defRPr>
            </a:pPr>
            <a:r>
              <a:t>BD-01 → SA-01 → AM-01 → MM-01 → HC-01 → HD-01 → AM-01 → SM-01</a:t>
            </a:r>
          </a:p>
        </p:txBody>
      </p:sp>
      <p:sp>
        <p:nvSpPr>
          <p:cNvPr id="39" name="Rectangle 38"/>
          <p:cNvSpPr/>
          <p:nvPr/>
        </p:nvSpPr>
        <p:spPr>
          <a:xfrm>
            <a:off x="5394959" y="224028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532120" y="2359152"/>
            <a:ext cx="411480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02 / SOCIAL MEDIA POST</a:t>
            </a:r>
          </a:p>
        </p:txBody>
      </p:sp>
      <p:sp>
        <p:nvSpPr>
          <p:cNvPr id="41" name="TextBox 40"/>
          <p:cNvSpPr txBox="1"/>
          <p:nvPr/>
        </p:nvSpPr>
        <p:spPr>
          <a:xfrm>
            <a:off x="5532120" y="2898648"/>
            <a:ext cx="4114800" cy="640080"/>
          </a:xfrm>
          <a:prstGeom prst="rect">
            <a:avLst/>
          </a:prstGeom>
          <a:noFill/>
        </p:spPr>
        <p:txBody>
          <a:bodyPr wrap="square" lIns="27432" rIns="27432" tIns="0" bIns="0">
            <a:spAutoFit/>
          </a:bodyPr>
          <a:lstStyle/>
          <a:p>
            <a:pPr>
              <a:spcAft>
                <a:spcPts val="800"/>
              </a:spcAft>
              <a:defRPr sz="1100" b="0">
                <a:solidFill>
                  <a:srgbClr val="555555"/>
                </a:solidFill>
                <a:latin typeface="Montserrat"/>
              </a:defRPr>
            </a:pPr>
            <a:r>
              <a:t>AM-01 → HC-01 → CW-J01 → HC-01 → HD-01 → GD-01 → HD-01 → AM-01 → SM-01</a:t>
            </a:r>
          </a:p>
        </p:txBody>
      </p:sp>
      <p:sp>
        <p:nvSpPr>
          <p:cNvPr id="42" name="Rectangle 41"/>
          <p:cNvSpPr/>
          <p:nvPr/>
        </p:nvSpPr>
        <p:spPr>
          <a:xfrm>
            <a:off x="10058400" y="224028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195560" y="2359152"/>
            <a:ext cx="411480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03 / VIDEO REEL</a:t>
            </a:r>
          </a:p>
        </p:txBody>
      </p:sp>
      <p:sp>
        <p:nvSpPr>
          <p:cNvPr id="44" name="TextBox 43"/>
          <p:cNvSpPr txBox="1"/>
          <p:nvPr/>
        </p:nvSpPr>
        <p:spPr>
          <a:xfrm>
            <a:off x="10195560" y="2898648"/>
            <a:ext cx="4114800" cy="640080"/>
          </a:xfrm>
          <a:prstGeom prst="rect">
            <a:avLst/>
          </a:prstGeom>
          <a:noFill/>
        </p:spPr>
        <p:txBody>
          <a:bodyPr wrap="square" lIns="27432" rIns="27432" tIns="0" bIns="0">
            <a:spAutoFit/>
          </a:bodyPr>
          <a:lstStyle/>
          <a:p>
            <a:pPr>
              <a:spcAft>
                <a:spcPts val="800"/>
              </a:spcAft>
              <a:defRPr sz="1100" b="0">
                <a:solidFill>
                  <a:srgbClr val="555555"/>
                </a:solidFill>
                <a:latin typeface="Montserrat"/>
              </a:defRPr>
            </a:pPr>
            <a:r>
              <a:t>AM-01 → HC-01 → CW-S01 → HC-01 → VE-01 → HD-01 → AM-01 → SM-01</a:t>
            </a:r>
          </a:p>
        </p:txBody>
      </p:sp>
      <p:sp>
        <p:nvSpPr>
          <p:cNvPr id="45" name="Rectangle 44"/>
          <p:cNvSpPr/>
          <p:nvPr/>
        </p:nvSpPr>
        <p:spPr>
          <a:xfrm>
            <a:off x="731520" y="388620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68680" y="4005072"/>
            <a:ext cx="411480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04 / PAID CAMPAIGN</a:t>
            </a:r>
          </a:p>
        </p:txBody>
      </p:sp>
      <p:sp>
        <p:nvSpPr>
          <p:cNvPr id="47" name="TextBox 46"/>
          <p:cNvSpPr txBox="1"/>
          <p:nvPr/>
        </p:nvSpPr>
        <p:spPr>
          <a:xfrm>
            <a:off x="868680" y="4544568"/>
            <a:ext cx="4114800" cy="640080"/>
          </a:xfrm>
          <a:prstGeom prst="rect">
            <a:avLst/>
          </a:prstGeom>
          <a:noFill/>
        </p:spPr>
        <p:txBody>
          <a:bodyPr wrap="square" lIns="27432" rIns="27432" tIns="0" bIns="0">
            <a:spAutoFit/>
          </a:bodyPr>
          <a:lstStyle/>
          <a:p>
            <a:pPr>
              <a:spcAft>
                <a:spcPts val="800"/>
              </a:spcAft>
              <a:defRPr sz="1100" b="0">
                <a:solidFill>
                  <a:srgbClr val="555555"/>
                </a:solidFill>
                <a:latin typeface="Montserrat"/>
              </a:defRPr>
            </a:pPr>
            <a:r>
              <a:t>AM-01 → MB-01 → MM-01 → HC-01 → HD-01 → AM-01 → MB-01</a:t>
            </a:r>
          </a:p>
        </p:txBody>
      </p:sp>
      <p:sp>
        <p:nvSpPr>
          <p:cNvPr id="48" name="Rectangle 47"/>
          <p:cNvSpPr/>
          <p:nvPr/>
        </p:nvSpPr>
        <p:spPr>
          <a:xfrm>
            <a:off x="5394959" y="388620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532120" y="4005072"/>
            <a:ext cx="411480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05 / MONTHLY CALENDAR</a:t>
            </a:r>
          </a:p>
        </p:txBody>
      </p:sp>
      <p:sp>
        <p:nvSpPr>
          <p:cNvPr id="50" name="TextBox 49"/>
          <p:cNvSpPr txBox="1"/>
          <p:nvPr/>
        </p:nvSpPr>
        <p:spPr>
          <a:xfrm>
            <a:off x="5532120" y="4544568"/>
            <a:ext cx="4114800" cy="640080"/>
          </a:xfrm>
          <a:prstGeom prst="rect">
            <a:avLst/>
          </a:prstGeom>
          <a:noFill/>
        </p:spPr>
        <p:txBody>
          <a:bodyPr wrap="square" lIns="27432" rIns="27432" tIns="0" bIns="0">
            <a:spAutoFit/>
          </a:bodyPr>
          <a:lstStyle/>
          <a:p>
            <a:pPr>
              <a:spcAft>
                <a:spcPts val="800"/>
              </a:spcAft>
              <a:defRPr sz="1100" b="0">
                <a:solidFill>
                  <a:srgbClr val="555555"/>
                </a:solidFill>
                <a:latin typeface="Montserrat"/>
              </a:defRPr>
            </a:pPr>
            <a:r>
              <a:t>AM-01 → HC-01 → CW-J01 → HC-01 → AM-01 → SM-01</a:t>
            </a:r>
          </a:p>
        </p:txBody>
      </p:sp>
      <p:sp>
        <p:nvSpPr>
          <p:cNvPr id="51" name="Rectangle 50"/>
          <p:cNvSpPr/>
          <p:nvPr/>
        </p:nvSpPr>
        <p:spPr>
          <a:xfrm>
            <a:off x="10058400" y="388620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195560" y="4005072"/>
            <a:ext cx="411480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06 / MULTI-SLIDE CAROUSEL</a:t>
            </a:r>
          </a:p>
        </p:txBody>
      </p:sp>
      <p:sp>
        <p:nvSpPr>
          <p:cNvPr id="53" name="TextBox 52"/>
          <p:cNvSpPr txBox="1"/>
          <p:nvPr/>
        </p:nvSpPr>
        <p:spPr>
          <a:xfrm>
            <a:off x="10195560" y="4544568"/>
            <a:ext cx="4114800" cy="640080"/>
          </a:xfrm>
          <a:prstGeom prst="rect">
            <a:avLst/>
          </a:prstGeom>
          <a:noFill/>
        </p:spPr>
        <p:txBody>
          <a:bodyPr wrap="square" lIns="27432" rIns="27432" tIns="0" bIns="0">
            <a:spAutoFit/>
          </a:bodyPr>
          <a:lstStyle/>
          <a:p>
            <a:pPr>
              <a:spcAft>
                <a:spcPts val="800"/>
              </a:spcAft>
              <a:defRPr sz="1100" b="0">
                <a:solidFill>
                  <a:srgbClr val="555555"/>
                </a:solidFill>
                <a:latin typeface="Montserrat"/>
              </a:defRPr>
            </a:pPr>
            <a:r>
              <a:t>AM-01 → CW-S01 → HC-01 → GD-02 → HD-01 → AM-01 → SM-01</a:t>
            </a:r>
          </a:p>
        </p:txBody>
      </p:sp>
      <p:sp>
        <p:nvSpPr>
          <p:cNvPr id="54" name="Rectangle 53"/>
          <p:cNvSpPr/>
          <p:nvPr/>
        </p:nvSpPr>
        <p:spPr>
          <a:xfrm>
            <a:off x="731520" y="553212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68680" y="5650992"/>
            <a:ext cx="411480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07 / CLIENT REVISION</a:t>
            </a:r>
          </a:p>
        </p:txBody>
      </p:sp>
      <p:sp>
        <p:nvSpPr>
          <p:cNvPr id="56" name="TextBox 55"/>
          <p:cNvSpPr txBox="1"/>
          <p:nvPr/>
        </p:nvSpPr>
        <p:spPr>
          <a:xfrm>
            <a:off x="868680" y="6190488"/>
            <a:ext cx="4114800" cy="640080"/>
          </a:xfrm>
          <a:prstGeom prst="rect">
            <a:avLst/>
          </a:prstGeom>
          <a:noFill/>
        </p:spPr>
        <p:txBody>
          <a:bodyPr wrap="square" lIns="27432" rIns="27432" tIns="0" bIns="0">
            <a:spAutoFit/>
          </a:bodyPr>
          <a:lstStyle/>
          <a:p>
            <a:pPr>
              <a:spcAft>
                <a:spcPts val="800"/>
              </a:spcAft>
              <a:defRPr sz="1100" b="0">
                <a:solidFill>
                  <a:srgbClr val="555555"/>
                </a:solidFill>
                <a:latin typeface="Montserrat"/>
              </a:defRPr>
            </a:pPr>
            <a:r>
              <a:t>AM-01 → HD-01 → GD-01 → HD-01 → AM-01</a:t>
            </a:r>
          </a:p>
        </p:txBody>
      </p:sp>
      <p:sp>
        <p:nvSpPr>
          <p:cNvPr id="57" name="Rectangle 56"/>
          <p:cNvSpPr/>
          <p:nvPr/>
        </p:nvSpPr>
        <p:spPr>
          <a:xfrm>
            <a:off x="5394959" y="553212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532120" y="5650992"/>
            <a:ext cx="411480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08 / PERFORMANCE REPORT</a:t>
            </a:r>
          </a:p>
        </p:txBody>
      </p:sp>
      <p:sp>
        <p:nvSpPr>
          <p:cNvPr id="59" name="TextBox 58"/>
          <p:cNvSpPr txBox="1"/>
          <p:nvPr/>
        </p:nvSpPr>
        <p:spPr>
          <a:xfrm>
            <a:off x="5532120" y="6190488"/>
            <a:ext cx="4114800" cy="640080"/>
          </a:xfrm>
          <a:prstGeom prst="rect">
            <a:avLst/>
          </a:prstGeom>
          <a:noFill/>
        </p:spPr>
        <p:txBody>
          <a:bodyPr wrap="square" lIns="27432" rIns="27432" tIns="0" bIns="0">
            <a:spAutoFit/>
          </a:bodyPr>
          <a:lstStyle/>
          <a:p>
            <a:pPr>
              <a:spcAft>
                <a:spcPts val="800"/>
              </a:spcAft>
              <a:defRPr sz="1100" b="0">
                <a:solidFill>
                  <a:srgbClr val="555555"/>
                </a:solidFill>
                <a:latin typeface="Montserrat"/>
              </a:defRPr>
            </a:pPr>
            <a:r>
              <a:t>SM-01 → MB-01 → AM-01 → MM-01</a:t>
            </a:r>
          </a:p>
        </p:txBody>
      </p:sp>
      <p:sp>
        <p:nvSpPr>
          <p:cNvPr id="60" name="Rectangle 59"/>
          <p:cNvSpPr/>
          <p:nvPr/>
        </p:nvSpPr>
        <p:spPr>
          <a:xfrm>
            <a:off x="10058400" y="553212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195560" y="5650992"/>
            <a:ext cx="411480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09 / URGENT CLIENT REQUEST</a:t>
            </a:r>
          </a:p>
        </p:txBody>
      </p:sp>
      <p:sp>
        <p:nvSpPr>
          <p:cNvPr id="62" name="TextBox 61"/>
          <p:cNvSpPr txBox="1"/>
          <p:nvPr/>
        </p:nvSpPr>
        <p:spPr>
          <a:xfrm>
            <a:off x="10195560" y="6190488"/>
            <a:ext cx="4114800" cy="640080"/>
          </a:xfrm>
          <a:prstGeom prst="rect">
            <a:avLst/>
          </a:prstGeom>
          <a:noFill/>
        </p:spPr>
        <p:txBody>
          <a:bodyPr wrap="square" lIns="27432" rIns="27432" tIns="0" bIns="0">
            <a:spAutoFit/>
          </a:bodyPr>
          <a:lstStyle/>
          <a:p>
            <a:pPr>
              <a:spcAft>
                <a:spcPts val="800"/>
              </a:spcAft>
              <a:defRPr sz="1100" b="0">
                <a:solidFill>
                  <a:srgbClr val="555555"/>
                </a:solidFill>
                <a:latin typeface="Montserrat"/>
              </a:defRPr>
            </a:pPr>
            <a:r>
              <a:t>AM-01 → MM-01 → HC-01 → HD-01 → AM-01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7D2B42"/>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FFFFFF"/>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FFFFFF"/>
                </a:solidFill>
                <a:latin typeface="Montserrat"/>
              </a:defRPr>
            </a:pPr>
            <a:r>
              <a:t>32</a:t>
            </a:r>
          </a:p>
        </p:txBody>
      </p:sp>
      <p:cxnSp>
        <p:nvCxnSpPr>
          <p:cNvPr id="32" name="Connector 31"/>
          <p:cNvCxnSpPr/>
          <p:nvPr/>
        </p:nvCxnSpPr>
        <p:spPr>
          <a:xfrm>
            <a:off x="594360" y="841248"/>
            <a:ext cx="13441680" cy="0"/>
          </a:xfrm>
          <a:prstGeom prst="line">
            <a:avLst/>
          </a:prstGeom>
          <a:ln w="10160">
            <a:solidFill>
              <a:srgbClr val="FFFFFF"/>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FFFFFF"/>
                </a:solidFill>
                <a:latin typeface="Bebas Neue"/>
              </a:defRPr>
            </a:pPr>
            <a:r>
              <a:t>APPROVALS ARE GATES. NOT DECORATION.</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FFFFFF"/>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FFFFFF"/>
                </a:solidFill>
                <a:latin typeface="Montserrat"/>
              </a:defRPr>
            </a:pPr>
            <a:r>
              <a:t>EDITABLE WORKING DRAFT · OTHER REPORTING &amp; POLICIES PROPOSED</a:t>
            </a:r>
          </a:p>
        </p:txBody>
      </p:sp>
      <p:sp>
        <p:nvSpPr>
          <p:cNvPr id="36" name="Freeform 35"/>
          <p:cNvSpPr/>
          <p:nvPr/>
        </p:nvSpPr>
        <p:spPr>
          <a:xfrm>
            <a:off x="731520" y="2286000"/>
            <a:ext cx="6400800" cy="1920240"/>
          </a:xfrm>
          <a:custGeom>
            <a:avLst/>
            <a:gdLst/>
            <a:ahLst/>
            <a:cxnLst/>
            <a:rect l="l" t="t" r="r" b="b"/>
            <a:pathLst>
              <a:path w="700" h="210">
                <a:moveTo>
                  <a:pt x="0" y="10"/>
                </a:moveTo>
                <a:lnTo>
                  <a:pt x="61" y="0"/>
                </a:lnTo>
                <a:lnTo>
                  <a:pt x="122" y="8"/>
                </a:lnTo>
                <a:lnTo>
                  <a:pt x="192" y="0"/>
                </a:lnTo>
                <a:lnTo>
                  <a:pt x="262" y="7"/>
                </a:lnTo>
                <a:lnTo>
                  <a:pt x="350" y="0"/>
                </a:lnTo>
                <a:lnTo>
                  <a:pt x="420" y="8"/>
                </a:lnTo>
                <a:lnTo>
                  <a:pt x="490" y="0"/>
                </a:lnTo>
                <a:lnTo>
                  <a:pt x="560" y="8"/>
                </a:lnTo>
                <a:lnTo>
                  <a:pt x="612" y="0"/>
                </a:lnTo>
                <a:lnTo>
                  <a:pt x="700" y="10"/>
                </a:lnTo>
                <a:lnTo>
                  <a:pt x="689" y="47"/>
                </a:lnTo>
                <a:lnTo>
                  <a:pt x="700" y="94"/>
                </a:lnTo>
                <a:lnTo>
                  <a:pt x="687" y="136"/>
                </a:lnTo>
                <a:lnTo>
                  <a:pt x="700" y="178"/>
                </a:lnTo>
                <a:lnTo>
                  <a:pt x="686" y="210"/>
                </a:lnTo>
                <a:lnTo>
                  <a:pt x="612" y="205"/>
                </a:lnTo>
                <a:lnTo>
                  <a:pt x="525" y="210"/>
                </a:lnTo>
                <a:lnTo>
                  <a:pt x="437" y="203"/>
                </a:lnTo>
                <a:lnTo>
                  <a:pt x="350" y="210"/>
                </a:lnTo>
                <a:lnTo>
                  <a:pt x="262" y="203"/>
                </a:lnTo>
                <a:lnTo>
                  <a:pt x="175" y="210"/>
                </a:lnTo>
                <a:lnTo>
                  <a:pt x="87" y="203"/>
                </a:lnTo>
                <a:lnTo>
                  <a:pt x="0" y="210"/>
                </a:lnTo>
                <a:lnTo>
                  <a:pt x="12" y="157"/>
                </a:lnTo>
                <a:lnTo>
                  <a:pt x="0" y="115"/>
                </a:lnTo>
                <a:lnTo>
                  <a:pt x="10" y="63"/>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60120" y="2514600"/>
            <a:ext cx="5943600" cy="36576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01 / INPUTS</a:t>
            </a:r>
          </a:p>
        </p:txBody>
      </p:sp>
      <p:sp>
        <p:nvSpPr>
          <p:cNvPr id="38" name="TextBox 37"/>
          <p:cNvSpPr txBox="1"/>
          <p:nvPr/>
        </p:nvSpPr>
        <p:spPr>
          <a:xfrm>
            <a:off x="960120" y="3154680"/>
            <a:ext cx="5943600" cy="868680"/>
          </a:xfrm>
          <a:prstGeom prst="rect">
            <a:avLst/>
          </a:prstGeom>
          <a:noFill/>
        </p:spPr>
        <p:txBody>
          <a:bodyPr wrap="square" lIns="27432" rIns="27432" tIns="0" bIns="0">
            <a:spAutoFit/>
          </a:bodyPr>
          <a:lstStyle/>
          <a:p>
            <a:pPr>
              <a:spcAft>
                <a:spcPts val="800"/>
              </a:spcAft>
              <a:defRPr sz="1800" b="0">
                <a:solidFill>
                  <a:srgbClr val="202020"/>
                </a:solidFill>
                <a:latin typeface="Montserrat"/>
              </a:defRPr>
            </a:pPr>
            <a:r>
              <a:t>Do not hand off incomplete inputs or unresolved dependencies.</a:t>
            </a:r>
          </a:p>
        </p:txBody>
      </p:sp>
      <p:sp>
        <p:nvSpPr>
          <p:cNvPr id="39" name="Freeform 38"/>
          <p:cNvSpPr/>
          <p:nvPr/>
        </p:nvSpPr>
        <p:spPr>
          <a:xfrm>
            <a:off x="7543800" y="2286000"/>
            <a:ext cx="6400800" cy="1920240"/>
          </a:xfrm>
          <a:custGeom>
            <a:avLst/>
            <a:gdLst/>
            <a:ahLst/>
            <a:cxnLst/>
            <a:rect l="l" t="t" r="r" b="b"/>
            <a:pathLst>
              <a:path w="700" h="210">
                <a:moveTo>
                  <a:pt x="0" y="10"/>
                </a:moveTo>
                <a:lnTo>
                  <a:pt x="61" y="0"/>
                </a:lnTo>
                <a:lnTo>
                  <a:pt x="122" y="8"/>
                </a:lnTo>
                <a:lnTo>
                  <a:pt x="192" y="0"/>
                </a:lnTo>
                <a:lnTo>
                  <a:pt x="262" y="7"/>
                </a:lnTo>
                <a:lnTo>
                  <a:pt x="350" y="0"/>
                </a:lnTo>
                <a:lnTo>
                  <a:pt x="420" y="8"/>
                </a:lnTo>
                <a:lnTo>
                  <a:pt x="490" y="0"/>
                </a:lnTo>
                <a:lnTo>
                  <a:pt x="560" y="8"/>
                </a:lnTo>
                <a:lnTo>
                  <a:pt x="612" y="0"/>
                </a:lnTo>
                <a:lnTo>
                  <a:pt x="700" y="10"/>
                </a:lnTo>
                <a:lnTo>
                  <a:pt x="689" y="47"/>
                </a:lnTo>
                <a:lnTo>
                  <a:pt x="700" y="94"/>
                </a:lnTo>
                <a:lnTo>
                  <a:pt x="687" y="136"/>
                </a:lnTo>
                <a:lnTo>
                  <a:pt x="700" y="178"/>
                </a:lnTo>
                <a:lnTo>
                  <a:pt x="686" y="210"/>
                </a:lnTo>
                <a:lnTo>
                  <a:pt x="612" y="205"/>
                </a:lnTo>
                <a:lnTo>
                  <a:pt x="525" y="210"/>
                </a:lnTo>
                <a:lnTo>
                  <a:pt x="437" y="203"/>
                </a:lnTo>
                <a:lnTo>
                  <a:pt x="350" y="210"/>
                </a:lnTo>
                <a:lnTo>
                  <a:pt x="262" y="203"/>
                </a:lnTo>
                <a:lnTo>
                  <a:pt x="175" y="210"/>
                </a:lnTo>
                <a:lnTo>
                  <a:pt x="87" y="203"/>
                </a:lnTo>
                <a:lnTo>
                  <a:pt x="0" y="210"/>
                </a:lnTo>
                <a:lnTo>
                  <a:pt x="12" y="157"/>
                </a:lnTo>
                <a:lnTo>
                  <a:pt x="0" y="115"/>
                </a:lnTo>
                <a:lnTo>
                  <a:pt x="10" y="63"/>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772400" y="2514600"/>
            <a:ext cx="5943600" cy="36576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02 / INTERNAL QC</a:t>
            </a:r>
          </a:p>
        </p:txBody>
      </p:sp>
      <p:sp>
        <p:nvSpPr>
          <p:cNvPr id="41" name="TextBox 40"/>
          <p:cNvSpPr txBox="1"/>
          <p:nvPr/>
        </p:nvSpPr>
        <p:spPr>
          <a:xfrm>
            <a:off x="7772400" y="3154680"/>
            <a:ext cx="5943600" cy="868680"/>
          </a:xfrm>
          <a:prstGeom prst="rect">
            <a:avLst/>
          </a:prstGeom>
          <a:noFill/>
        </p:spPr>
        <p:txBody>
          <a:bodyPr wrap="square" lIns="27432" rIns="27432" tIns="0" bIns="0">
            <a:spAutoFit/>
          </a:bodyPr>
          <a:lstStyle/>
          <a:p>
            <a:pPr>
              <a:spcAft>
                <a:spcPts val="800"/>
              </a:spcAft>
              <a:defRPr sz="1800" b="0">
                <a:solidFill>
                  <a:srgbClr val="202020"/>
                </a:solidFill>
                <a:latin typeface="Montserrat"/>
              </a:defRPr>
            </a:pPr>
            <a:r>
              <a:t>Writers → Head of Content. Designers / Editors → Creative reviewer.</a:t>
            </a:r>
          </a:p>
        </p:txBody>
      </p:sp>
      <p:sp>
        <p:nvSpPr>
          <p:cNvPr id="42" name="Freeform 41"/>
          <p:cNvSpPr/>
          <p:nvPr/>
        </p:nvSpPr>
        <p:spPr>
          <a:xfrm>
            <a:off x="731520" y="4526280"/>
            <a:ext cx="6400800" cy="1920240"/>
          </a:xfrm>
          <a:custGeom>
            <a:avLst/>
            <a:gdLst/>
            <a:ahLst/>
            <a:cxnLst/>
            <a:rect l="l" t="t" r="r" b="b"/>
            <a:pathLst>
              <a:path w="700" h="210">
                <a:moveTo>
                  <a:pt x="0" y="10"/>
                </a:moveTo>
                <a:lnTo>
                  <a:pt x="61" y="0"/>
                </a:lnTo>
                <a:lnTo>
                  <a:pt x="122" y="8"/>
                </a:lnTo>
                <a:lnTo>
                  <a:pt x="192" y="0"/>
                </a:lnTo>
                <a:lnTo>
                  <a:pt x="262" y="7"/>
                </a:lnTo>
                <a:lnTo>
                  <a:pt x="350" y="0"/>
                </a:lnTo>
                <a:lnTo>
                  <a:pt x="420" y="8"/>
                </a:lnTo>
                <a:lnTo>
                  <a:pt x="490" y="0"/>
                </a:lnTo>
                <a:lnTo>
                  <a:pt x="560" y="8"/>
                </a:lnTo>
                <a:lnTo>
                  <a:pt x="612" y="0"/>
                </a:lnTo>
                <a:lnTo>
                  <a:pt x="700" y="10"/>
                </a:lnTo>
                <a:lnTo>
                  <a:pt x="689" y="47"/>
                </a:lnTo>
                <a:lnTo>
                  <a:pt x="700" y="94"/>
                </a:lnTo>
                <a:lnTo>
                  <a:pt x="687" y="136"/>
                </a:lnTo>
                <a:lnTo>
                  <a:pt x="700" y="178"/>
                </a:lnTo>
                <a:lnTo>
                  <a:pt x="686" y="210"/>
                </a:lnTo>
                <a:lnTo>
                  <a:pt x="612" y="205"/>
                </a:lnTo>
                <a:lnTo>
                  <a:pt x="525" y="210"/>
                </a:lnTo>
                <a:lnTo>
                  <a:pt x="437" y="203"/>
                </a:lnTo>
                <a:lnTo>
                  <a:pt x="350" y="210"/>
                </a:lnTo>
                <a:lnTo>
                  <a:pt x="262" y="203"/>
                </a:lnTo>
                <a:lnTo>
                  <a:pt x="175" y="210"/>
                </a:lnTo>
                <a:lnTo>
                  <a:pt x="87" y="203"/>
                </a:lnTo>
                <a:lnTo>
                  <a:pt x="0" y="210"/>
                </a:lnTo>
                <a:lnTo>
                  <a:pt x="12" y="157"/>
                </a:lnTo>
                <a:lnTo>
                  <a:pt x="0" y="115"/>
                </a:lnTo>
                <a:lnTo>
                  <a:pt x="10" y="63"/>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60120" y="4754880"/>
            <a:ext cx="5943600" cy="36576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03 / CLIENT</a:t>
            </a:r>
          </a:p>
        </p:txBody>
      </p:sp>
      <p:sp>
        <p:nvSpPr>
          <p:cNvPr id="44" name="TextBox 43"/>
          <p:cNvSpPr txBox="1"/>
          <p:nvPr/>
        </p:nvSpPr>
        <p:spPr>
          <a:xfrm>
            <a:off x="960120" y="5394960"/>
            <a:ext cx="5943600" cy="868680"/>
          </a:xfrm>
          <a:prstGeom prst="rect">
            <a:avLst/>
          </a:prstGeom>
          <a:noFill/>
        </p:spPr>
        <p:txBody>
          <a:bodyPr wrap="square" lIns="27432" rIns="27432" tIns="0" bIns="0">
            <a:spAutoFit/>
          </a:bodyPr>
          <a:lstStyle/>
          <a:p>
            <a:pPr>
              <a:spcAft>
                <a:spcPts val="800"/>
              </a:spcAft>
              <a:defRPr sz="1800" b="0">
                <a:solidFill>
                  <a:srgbClr val="202020"/>
                </a:solidFill>
                <a:latin typeface="Montserrat"/>
              </a:defRPr>
            </a:pPr>
            <a:r>
              <a:t>Account Manager records required client authorization.</a:t>
            </a:r>
          </a:p>
        </p:txBody>
      </p:sp>
      <p:sp>
        <p:nvSpPr>
          <p:cNvPr id="45" name="Freeform 44"/>
          <p:cNvSpPr/>
          <p:nvPr/>
        </p:nvSpPr>
        <p:spPr>
          <a:xfrm>
            <a:off x="7543800" y="4526280"/>
            <a:ext cx="6400800" cy="1920240"/>
          </a:xfrm>
          <a:custGeom>
            <a:avLst/>
            <a:gdLst/>
            <a:ahLst/>
            <a:cxnLst/>
            <a:rect l="l" t="t" r="r" b="b"/>
            <a:pathLst>
              <a:path w="700" h="210">
                <a:moveTo>
                  <a:pt x="0" y="10"/>
                </a:moveTo>
                <a:lnTo>
                  <a:pt x="61" y="0"/>
                </a:lnTo>
                <a:lnTo>
                  <a:pt x="122" y="8"/>
                </a:lnTo>
                <a:lnTo>
                  <a:pt x="192" y="0"/>
                </a:lnTo>
                <a:lnTo>
                  <a:pt x="262" y="7"/>
                </a:lnTo>
                <a:lnTo>
                  <a:pt x="350" y="0"/>
                </a:lnTo>
                <a:lnTo>
                  <a:pt x="420" y="8"/>
                </a:lnTo>
                <a:lnTo>
                  <a:pt x="490" y="0"/>
                </a:lnTo>
                <a:lnTo>
                  <a:pt x="560" y="8"/>
                </a:lnTo>
                <a:lnTo>
                  <a:pt x="612" y="0"/>
                </a:lnTo>
                <a:lnTo>
                  <a:pt x="700" y="10"/>
                </a:lnTo>
                <a:lnTo>
                  <a:pt x="689" y="47"/>
                </a:lnTo>
                <a:lnTo>
                  <a:pt x="700" y="94"/>
                </a:lnTo>
                <a:lnTo>
                  <a:pt x="687" y="136"/>
                </a:lnTo>
                <a:lnTo>
                  <a:pt x="700" y="178"/>
                </a:lnTo>
                <a:lnTo>
                  <a:pt x="686" y="210"/>
                </a:lnTo>
                <a:lnTo>
                  <a:pt x="612" y="205"/>
                </a:lnTo>
                <a:lnTo>
                  <a:pt x="525" y="210"/>
                </a:lnTo>
                <a:lnTo>
                  <a:pt x="437" y="203"/>
                </a:lnTo>
                <a:lnTo>
                  <a:pt x="350" y="210"/>
                </a:lnTo>
                <a:lnTo>
                  <a:pt x="262" y="203"/>
                </a:lnTo>
                <a:lnTo>
                  <a:pt x="175" y="210"/>
                </a:lnTo>
                <a:lnTo>
                  <a:pt x="87" y="203"/>
                </a:lnTo>
                <a:lnTo>
                  <a:pt x="0" y="210"/>
                </a:lnTo>
                <a:lnTo>
                  <a:pt x="12" y="157"/>
                </a:lnTo>
                <a:lnTo>
                  <a:pt x="0" y="115"/>
                </a:lnTo>
                <a:lnTo>
                  <a:pt x="10" y="63"/>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772400" y="4754880"/>
            <a:ext cx="5943600" cy="36576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04 / EXECUTION</a:t>
            </a:r>
          </a:p>
        </p:txBody>
      </p:sp>
      <p:sp>
        <p:nvSpPr>
          <p:cNvPr id="47" name="TextBox 46"/>
          <p:cNvSpPr txBox="1"/>
          <p:nvPr/>
        </p:nvSpPr>
        <p:spPr>
          <a:xfrm>
            <a:off x="7772400" y="5394960"/>
            <a:ext cx="5943600" cy="868680"/>
          </a:xfrm>
          <a:prstGeom prst="rect">
            <a:avLst/>
          </a:prstGeom>
          <a:noFill/>
        </p:spPr>
        <p:txBody>
          <a:bodyPr wrap="square" lIns="27432" rIns="27432" tIns="0" bIns="0">
            <a:spAutoFit/>
          </a:bodyPr>
          <a:lstStyle/>
          <a:p>
            <a:pPr>
              <a:spcAft>
                <a:spcPts val="800"/>
              </a:spcAft>
              <a:defRPr sz="1800" b="0">
                <a:solidFill>
                  <a:srgbClr val="202020"/>
                </a:solidFill>
                <a:latin typeface="Montserrat"/>
              </a:defRPr>
            </a:pPr>
            <a:r>
              <a:t>Organic: publication authorization. Paid: budget approval + tracking QA.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33</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REJECT. EXPLAIN. RETURN. IMPROVE.</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423160"/>
            <a:ext cx="3246120" cy="4206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31520" y="2423160"/>
            <a:ext cx="54864" cy="420624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6112" y="2606040"/>
            <a:ext cx="291693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01 / SUBMIT</a:t>
            </a:r>
          </a:p>
        </p:txBody>
      </p:sp>
      <p:sp>
        <p:nvSpPr>
          <p:cNvPr id="39" name="TextBox 38"/>
          <p:cNvSpPr txBox="1"/>
          <p:nvPr/>
        </p:nvSpPr>
        <p:spPr>
          <a:xfrm>
            <a:off x="896112" y="3502152"/>
            <a:ext cx="2916936" cy="301752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Owner supplies the artifact, brief reference, files and acceptance checklist.</a:t>
            </a:r>
          </a:p>
        </p:txBody>
      </p:sp>
      <p:sp>
        <p:nvSpPr>
          <p:cNvPr id="40" name="Rectangle 39"/>
          <p:cNvSpPr/>
          <p:nvPr/>
        </p:nvSpPr>
        <p:spPr>
          <a:xfrm>
            <a:off x="4251960" y="2423160"/>
            <a:ext cx="3246120" cy="4206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251960" y="2423160"/>
            <a:ext cx="54864" cy="420624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416552" y="2606040"/>
            <a:ext cx="291693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02 / REVIEW</a:t>
            </a:r>
          </a:p>
        </p:txBody>
      </p:sp>
      <p:sp>
        <p:nvSpPr>
          <p:cNvPr id="43" name="TextBox 42"/>
          <p:cNvSpPr txBox="1"/>
          <p:nvPr/>
        </p:nvSpPr>
        <p:spPr>
          <a:xfrm>
            <a:off x="4416552" y="3502152"/>
            <a:ext cx="2916936" cy="301752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Independent reviewer checks accuracy, brand consistency and completeness.</a:t>
            </a:r>
          </a:p>
        </p:txBody>
      </p:sp>
      <p:sp>
        <p:nvSpPr>
          <p:cNvPr id="44" name="Rectangle 43"/>
          <p:cNvSpPr/>
          <p:nvPr/>
        </p:nvSpPr>
        <p:spPr>
          <a:xfrm>
            <a:off x="7772400" y="2423160"/>
            <a:ext cx="3246120" cy="4206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772400" y="2423160"/>
            <a:ext cx="54864" cy="420624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936992" y="2606040"/>
            <a:ext cx="291693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03 / REVISE</a:t>
            </a:r>
          </a:p>
        </p:txBody>
      </p:sp>
      <p:sp>
        <p:nvSpPr>
          <p:cNvPr id="47" name="TextBox 46"/>
          <p:cNvSpPr txBox="1"/>
          <p:nvPr/>
        </p:nvSpPr>
        <p:spPr>
          <a:xfrm>
            <a:off x="7936992" y="3502152"/>
            <a:ext cx="2916936" cy="301752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Actionable feedback returns work to its proper owner; record a revision event.</a:t>
            </a:r>
          </a:p>
        </p:txBody>
      </p:sp>
      <p:sp>
        <p:nvSpPr>
          <p:cNvPr id="48" name="Rectangle 47"/>
          <p:cNvSpPr/>
          <p:nvPr/>
        </p:nvSpPr>
        <p:spPr>
          <a:xfrm>
            <a:off x="11292840" y="2423160"/>
            <a:ext cx="3246120" cy="4206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11292840" y="2423160"/>
            <a:ext cx="54864" cy="420624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1457432" y="2606040"/>
            <a:ext cx="291693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04 / RESUBMIT</a:t>
            </a:r>
          </a:p>
        </p:txBody>
      </p:sp>
      <p:sp>
        <p:nvSpPr>
          <p:cNvPr id="51" name="TextBox 50"/>
          <p:cNvSpPr txBox="1"/>
          <p:nvPr/>
        </p:nvSpPr>
        <p:spPr>
          <a:xfrm>
            <a:off x="11457432" y="3502152"/>
            <a:ext cx="2916936" cy="301752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Corrected work returns for review; previous approval is not assumed.</a:t>
            </a:r>
          </a:p>
        </p:txBody>
      </p:sp>
      <p:sp>
        <p:nvSpPr>
          <p:cNvPr id="52" name="Rectangle 51"/>
          <p:cNvSpPr/>
          <p:nvPr/>
        </p:nvSpPr>
        <p:spPr>
          <a:xfrm>
            <a:off x="822960" y="6903720"/>
            <a:ext cx="12984480" cy="41148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05840" y="6986016"/>
            <a:ext cx="12618720" cy="274320"/>
          </a:xfrm>
          <a:prstGeom prst="rect">
            <a:avLst/>
          </a:prstGeom>
          <a:noFill/>
        </p:spPr>
        <p:txBody>
          <a:bodyPr wrap="square" lIns="27432" rIns="27432" tIns="0" bIns="0">
            <a:spAutoFit/>
          </a:bodyPr>
          <a:lstStyle/>
          <a:p>
            <a:pPr>
              <a:spcAft>
                <a:spcPts val="800"/>
              </a:spcAft>
              <a:defRPr sz="1300" b="1">
                <a:solidFill>
                  <a:srgbClr val="7D2B42"/>
                </a:solidFill>
                <a:latin typeface="Montserrat"/>
              </a:defRPr>
            </a:pPr>
            <a:r>
              <a:t>EXAMPLE: Correct the promotional price to match the approved brief, then resubmit to Design QC.</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34</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MAKE THIS DECK YOUR WORKING TOOL</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28600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31520" y="228600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6112" y="2468880"/>
            <a:ext cx="607161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EDIT THE CONTENT</a:t>
            </a:r>
          </a:p>
        </p:txBody>
      </p:sp>
      <p:sp>
        <p:nvSpPr>
          <p:cNvPr id="39" name="TextBox 38"/>
          <p:cNvSpPr txBox="1"/>
          <p:nvPr/>
        </p:nvSpPr>
        <p:spPr>
          <a:xfrm>
            <a:off x="896112" y="3364991"/>
            <a:ext cx="6071616" cy="82296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Click any title, role field or label and type. All core content is native PowerPoint text.</a:t>
            </a:r>
          </a:p>
        </p:txBody>
      </p:sp>
      <p:sp>
        <p:nvSpPr>
          <p:cNvPr id="40" name="Rectangle 39"/>
          <p:cNvSpPr/>
          <p:nvPr/>
        </p:nvSpPr>
        <p:spPr>
          <a:xfrm>
            <a:off x="7543800" y="228600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543800" y="228600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708392" y="2468880"/>
            <a:ext cx="607161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RESHAPE THE ORGANIZATION</a:t>
            </a:r>
          </a:p>
        </p:txBody>
      </p:sp>
      <p:sp>
        <p:nvSpPr>
          <p:cNvPr id="43" name="TextBox 42"/>
          <p:cNvSpPr txBox="1"/>
          <p:nvPr/>
        </p:nvSpPr>
        <p:spPr>
          <a:xfrm>
            <a:off x="7708392" y="3364991"/>
            <a:ext cx="6071616" cy="82296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Move role cards and adjust connectors. On the map, use Selection Pane to select overlapping objects.</a:t>
            </a:r>
          </a:p>
        </p:txBody>
      </p:sp>
      <p:sp>
        <p:nvSpPr>
          <p:cNvPr id="44" name="Rectangle 43"/>
          <p:cNvSpPr/>
          <p:nvPr/>
        </p:nvSpPr>
        <p:spPr>
          <a:xfrm>
            <a:off x="731520" y="457200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31520" y="457200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6112" y="4754880"/>
            <a:ext cx="607161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CONFIRM THE POLICY</a:t>
            </a:r>
          </a:p>
        </p:txBody>
      </p:sp>
      <p:sp>
        <p:nvSpPr>
          <p:cNvPr id="47" name="TextBox 46"/>
          <p:cNvSpPr txBox="1"/>
          <p:nvPr/>
        </p:nvSpPr>
        <p:spPr>
          <a:xfrm>
            <a:off x="896112" y="5650992"/>
            <a:ext cx="6071616" cy="82296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Reporting lines, approval authority, SLAs and other reporting remain proposed until PMP confirms them.</a:t>
            </a:r>
          </a:p>
        </p:txBody>
      </p:sp>
      <p:sp>
        <p:nvSpPr>
          <p:cNvPr id="48" name="Rectangle 47"/>
          <p:cNvSpPr/>
          <p:nvPr/>
        </p:nvSpPr>
        <p:spPr>
          <a:xfrm>
            <a:off x="7543800" y="457200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543800" y="457200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708392" y="4754880"/>
            <a:ext cx="607161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KEEP THE BRAND CONSISTENT</a:t>
            </a:r>
          </a:p>
        </p:txBody>
      </p:sp>
      <p:sp>
        <p:nvSpPr>
          <p:cNvPr id="51" name="TextBox 50"/>
          <p:cNvSpPr txBox="1"/>
          <p:nvPr/>
        </p:nvSpPr>
        <p:spPr>
          <a:xfrm>
            <a:off x="7708392" y="5650992"/>
            <a:ext cx="6071616" cy="82296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Use the six supplied palette colors. Install Montserrat and Bebas Neue for the intended typography.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35</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BRAND TOKENS / DIRECTION 01</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240280"/>
            <a:ext cx="4389120" cy="1051560"/>
          </a:xfrm>
          <a:prstGeom prst="rect">
            <a:avLst/>
          </a:prstGeom>
          <a:solidFill>
            <a:srgbClr val="7D2B42"/>
          </a:solidFill>
          <a:ln>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20" y="3429000"/>
            <a:ext cx="438912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Deep Burgundy / #7D2B42</a:t>
            </a:r>
          </a:p>
        </p:txBody>
      </p:sp>
      <p:sp>
        <p:nvSpPr>
          <p:cNvPr id="38" name="Rectangle 37"/>
          <p:cNvSpPr/>
          <p:nvPr/>
        </p:nvSpPr>
        <p:spPr>
          <a:xfrm>
            <a:off x="5394959" y="2240280"/>
            <a:ext cx="4389120" cy="1051560"/>
          </a:xfrm>
          <a:prstGeom prst="rect">
            <a:avLst/>
          </a:prstGeom>
          <a:solidFill>
            <a:srgbClr val="FFFFFF"/>
          </a:solidFill>
          <a:ln>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394959" y="3429000"/>
            <a:ext cx="438912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Pure White / #FFFFFF</a:t>
            </a:r>
          </a:p>
        </p:txBody>
      </p:sp>
      <p:sp>
        <p:nvSpPr>
          <p:cNvPr id="40" name="Rectangle 39"/>
          <p:cNvSpPr/>
          <p:nvPr/>
        </p:nvSpPr>
        <p:spPr>
          <a:xfrm>
            <a:off x="10058400" y="2240280"/>
            <a:ext cx="4389120" cy="1051560"/>
          </a:xfrm>
          <a:prstGeom prst="rect">
            <a:avLst/>
          </a:prstGeom>
          <a:solidFill>
            <a:srgbClr val="202020"/>
          </a:solidFill>
          <a:ln>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058400" y="3429000"/>
            <a:ext cx="438912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Rich Charcoal / #202020</a:t>
            </a:r>
          </a:p>
        </p:txBody>
      </p:sp>
      <p:sp>
        <p:nvSpPr>
          <p:cNvPr id="42" name="Rectangle 41"/>
          <p:cNvSpPr/>
          <p:nvPr/>
        </p:nvSpPr>
        <p:spPr>
          <a:xfrm>
            <a:off x="731520" y="4160520"/>
            <a:ext cx="4389120" cy="1051560"/>
          </a:xfrm>
          <a:prstGeom prst="rect">
            <a:avLst/>
          </a:prstGeom>
          <a:solidFill>
            <a:srgbClr val="FFCC00"/>
          </a:solidFill>
          <a:ln>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31520" y="5349240"/>
            <a:ext cx="438912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Mustard Yellow / #FFCC00</a:t>
            </a:r>
          </a:p>
        </p:txBody>
      </p:sp>
      <p:sp>
        <p:nvSpPr>
          <p:cNvPr id="44" name="Rectangle 43"/>
          <p:cNvSpPr/>
          <p:nvPr/>
        </p:nvSpPr>
        <p:spPr>
          <a:xfrm>
            <a:off x="5394959" y="4160520"/>
            <a:ext cx="4389120" cy="1051560"/>
          </a:xfrm>
          <a:prstGeom prst="rect">
            <a:avLst/>
          </a:prstGeom>
          <a:solidFill>
            <a:srgbClr val="D5D5D5"/>
          </a:solidFill>
          <a:ln>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394959" y="5349240"/>
            <a:ext cx="438912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Light Gray / #D5D5D5</a:t>
            </a:r>
          </a:p>
        </p:txBody>
      </p:sp>
      <p:sp>
        <p:nvSpPr>
          <p:cNvPr id="46" name="Rectangle 45"/>
          <p:cNvSpPr/>
          <p:nvPr/>
        </p:nvSpPr>
        <p:spPr>
          <a:xfrm>
            <a:off x="10058400" y="4160520"/>
            <a:ext cx="4389120" cy="1051560"/>
          </a:xfrm>
          <a:prstGeom prst="rect">
            <a:avLst/>
          </a:prstGeom>
          <a:solidFill>
            <a:srgbClr val="555555"/>
          </a:solidFill>
          <a:ln>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058400" y="5349240"/>
            <a:ext cx="438912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Slate Gray / #555555</a:t>
            </a:r>
          </a:p>
        </p:txBody>
      </p:sp>
      <p:sp>
        <p:nvSpPr>
          <p:cNvPr id="48" name="TextBox 47"/>
          <p:cNvSpPr txBox="1"/>
          <p:nvPr/>
        </p:nvSpPr>
        <p:spPr>
          <a:xfrm>
            <a:off x="822960" y="6949440"/>
            <a:ext cx="12984480" cy="548640"/>
          </a:xfrm>
          <a:prstGeom prst="rect">
            <a:avLst/>
          </a:prstGeom>
          <a:noFill/>
        </p:spPr>
        <p:txBody>
          <a:bodyPr wrap="square" lIns="27432" rIns="27432" tIns="0" bIns="0">
            <a:spAutoFit/>
          </a:bodyPr>
          <a:lstStyle/>
          <a:p>
            <a:pPr>
              <a:spcAft>
                <a:spcPts val="800"/>
              </a:spcAft>
              <a:defRPr sz="1300" b="0">
                <a:solidFill>
                  <a:srgbClr val="555555"/>
                </a:solidFill>
                <a:latin typeface="Montserrat"/>
              </a:defRPr>
            </a:pPr>
            <a:r>
              <a:t>Source: user-supplied Direction -01.pdf, page 13. Typography: page 10. Collage, grid and paper-cut direction: pages 2, 5 and 17.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PMP GROWTH OS / INTEGRATED PROCESS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03</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ONE SYSTEM. SIX CONNECTED STAGES.</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TextBox 35"/>
          <p:cNvSpPr txBox="1"/>
          <p:nvPr/>
        </p:nvSpPr>
        <p:spPr>
          <a:xfrm>
            <a:off x="777240" y="1920240"/>
            <a:ext cx="13167360" cy="548640"/>
          </a:xfrm>
          <a:prstGeom prst="rect">
            <a:avLst/>
          </a:prstGeom>
          <a:noFill/>
        </p:spPr>
        <p:txBody>
          <a:bodyPr wrap="square" lIns="27432" rIns="27432" tIns="0" bIns="0">
            <a:spAutoFit/>
          </a:bodyPr>
          <a:lstStyle/>
          <a:p>
            <a:pPr>
              <a:spcAft>
                <a:spcPts val="800"/>
              </a:spcAft>
              <a:defRPr sz="1800" b="0">
                <a:solidFill>
                  <a:srgbClr val="555555"/>
                </a:solidFill>
                <a:latin typeface="Montserrat"/>
              </a:defRPr>
            </a:pPr>
            <a:r>
              <a:t>The operating system stays constant. The industry module changes the journeys, funnels and KPI choices.</a:t>
            </a:r>
          </a:p>
        </p:txBody>
      </p:sp>
      <p:sp>
        <p:nvSpPr>
          <p:cNvPr id="37" name="Rectangle 36"/>
          <p:cNvSpPr/>
          <p:nvPr/>
        </p:nvSpPr>
        <p:spPr>
          <a:xfrm>
            <a:off x="731520" y="2743200"/>
            <a:ext cx="4389120" cy="1783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6112" y="2880360"/>
            <a:ext cx="594360" cy="502920"/>
          </a:xfrm>
          <a:prstGeom prst="rect">
            <a:avLst/>
          </a:prstGeom>
          <a:noFill/>
        </p:spPr>
        <p:txBody>
          <a:bodyPr wrap="square" lIns="27432" rIns="27432" tIns="0" bIns="0">
            <a:spAutoFit/>
          </a:bodyPr>
          <a:lstStyle/>
          <a:p>
            <a:pPr>
              <a:spcAft>
                <a:spcPts val="800"/>
              </a:spcAft>
              <a:defRPr sz="3000" b="1">
                <a:solidFill>
                  <a:srgbClr val="7D2B42"/>
                </a:solidFill>
                <a:latin typeface="Bebas Neue"/>
              </a:defRPr>
            </a:pPr>
            <a:r>
              <a:t>01</a:t>
            </a:r>
          </a:p>
        </p:txBody>
      </p:sp>
      <p:sp>
        <p:nvSpPr>
          <p:cNvPr id="39" name="TextBox 38"/>
          <p:cNvSpPr txBox="1"/>
          <p:nvPr/>
        </p:nvSpPr>
        <p:spPr>
          <a:xfrm>
            <a:off x="1645920" y="2926080"/>
            <a:ext cx="3200400" cy="457200"/>
          </a:xfrm>
          <a:prstGeom prst="rect">
            <a:avLst/>
          </a:prstGeom>
          <a:noFill/>
        </p:spPr>
        <p:txBody>
          <a:bodyPr wrap="square" lIns="27432" rIns="27432" tIns="0" bIns="0">
            <a:spAutoFit/>
          </a:bodyPr>
          <a:lstStyle/>
          <a:p>
            <a:pPr>
              <a:spcAft>
                <a:spcPts val="800"/>
              </a:spcAft>
              <a:defRPr sz="2200" b="1">
                <a:solidFill>
                  <a:srgbClr val="7D2B42"/>
                </a:solidFill>
                <a:latin typeface="Montserrat"/>
              </a:defRPr>
            </a:pPr>
            <a:r>
              <a:t>DISCOVER</a:t>
            </a:r>
          </a:p>
        </p:txBody>
      </p:sp>
      <p:sp>
        <p:nvSpPr>
          <p:cNvPr id="40" name="TextBox 39"/>
          <p:cNvSpPr txBox="1"/>
          <p:nvPr/>
        </p:nvSpPr>
        <p:spPr>
          <a:xfrm>
            <a:off x="896112" y="3611880"/>
            <a:ext cx="4023360" cy="731520"/>
          </a:xfrm>
          <a:prstGeom prst="rect">
            <a:avLst/>
          </a:prstGeom>
          <a:noFill/>
        </p:spPr>
        <p:txBody>
          <a:bodyPr wrap="square" lIns="27432" rIns="27432" tIns="0" bIns="0">
            <a:spAutoFit/>
          </a:bodyPr>
          <a:lstStyle/>
          <a:p>
            <a:pPr>
              <a:spcAft>
                <a:spcPts val="800"/>
              </a:spcAft>
              <a:defRPr sz="1700" b="0">
                <a:solidFill>
                  <a:srgbClr val="202020"/>
                </a:solidFill>
                <a:latin typeface="Montserrat"/>
              </a:defRPr>
            </a:pPr>
            <a:r>
              <a:t>Understand the business before acting.</a:t>
            </a:r>
          </a:p>
        </p:txBody>
      </p:sp>
      <p:sp>
        <p:nvSpPr>
          <p:cNvPr id="41" name="Rectangle 40"/>
          <p:cNvSpPr/>
          <p:nvPr/>
        </p:nvSpPr>
        <p:spPr>
          <a:xfrm>
            <a:off x="5394959" y="2743200"/>
            <a:ext cx="4389120" cy="1783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559551" y="2880360"/>
            <a:ext cx="594360" cy="502920"/>
          </a:xfrm>
          <a:prstGeom prst="rect">
            <a:avLst/>
          </a:prstGeom>
          <a:noFill/>
        </p:spPr>
        <p:txBody>
          <a:bodyPr wrap="square" lIns="27432" rIns="27432" tIns="0" bIns="0">
            <a:spAutoFit/>
          </a:bodyPr>
          <a:lstStyle/>
          <a:p>
            <a:pPr>
              <a:spcAft>
                <a:spcPts val="800"/>
              </a:spcAft>
              <a:defRPr sz="3000" b="1">
                <a:solidFill>
                  <a:srgbClr val="7D2B42"/>
                </a:solidFill>
                <a:latin typeface="Bebas Neue"/>
              </a:defRPr>
            </a:pPr>
            <a:r>
              <a:t>02</a:t>
            </a:r>
          </a:p>
        </p:txBody>
      </p:sp>
      <p:sp>
        <p:nvSpPr>
          <p:cNvPr id="43" name="TextBox 42"/>
          <p:cNvSpPr txBox="1"/>
          <p:nvPr/>
        </p:nvSpPr>
        <p:spPr>
          <a:xfrm>
            <a:off x="6309359" y="2926080"/>
            <a:ext cx="3200400" cy="457200"/>
          </a:xfrm>
          <a:prstGeom prst="rect">
            <a:avLst/>
          </a:prstGeom>
          <a:noFill/>
        </p:spPr>
        <p:txBody>
          <a:bodyPr wrap="square" lIns="27432" rIns="27432" tIns="0" bIns="0">
            <a:spAutoFit/>
          </a:bodyPr>
          <a:lstStyle/>
          <a:p>
            <a:pPr>
              <a:spcAft>
                <a:spcPts val="800"/>
              </a:spcAft>
              <a:defRPr sz="2200" b="1">
                <a:solidFill>
                  <a:srgbClr val="7D2B42"/>
                </a:solidFill>
                <a:latin typeface="Montserrat"/>
              </a:defRPr>
            </a:pPr>
            <a:r>
              <a:t>DIAGNOSE</a:t>
            </a:r>
          </a:p>
        </p:txBody>
      </p:sp>
      <p:sp>
        <p:nvSpPr>
          <p:cNvPr id="44" name="TextBox 43"/>
          <p:cNvSpPr txBox="1"/>
          <p:nvPr/>
        </p:nvSpPr>
        <p:spPr>
          <a:xfrm>
            <a:off x="5559551" y="3611880"/>
            <a:ext cx="4023360" cy="731520"/>
          </a:xfrm>
          <a:prstGeom prst="rect">
            <a:avLst/>
          </a:prstGeom>
          <a:noFill/>
        </p:spPr>
        <p:txBody>
          <a:bodyPr wrap="square" lIns="27432" rIns="27432" tIns="0" bIns="0">
            <a:spAutoFit/>
          </a:bodyPr>
          <a:lstStyle/>
          <a:p>
            <a:pPr>
              <a:spcAft>
                <a:spcPts val="800"/>
              </a:spcAft>
              <a:defRPr sz="1700" b="0">
                <a:solidFill>
                  <a:srgbClr val="202020"/>
                </a:solidFill>
                <a:latin typeface="Montserrat"/>
              </a:defRPr>
            </a:pPr>
            <a:r>
              <a:t>Find out exactly why growth stalls.</a:t>
            </a:r>
          </a:p>
        </p:txBody>
      </p:sp>
      <p:sp>
        <p:nvSpPr>
          <p:cNvPr id="45" name="Rectangle 44"/>
          <p:cNvSpPr/>
          <p:nvPr/>
        </p:nvSpPr>
        <p:spPr>
          <a:xfrm>
            <a:off x="10058400" y="2743200"/>
            <a:ext cx="4389120" cy="1783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222992" y="2880360"/>
            <a:ext cx="594360" cy="502920"/>
          </a:xfrm>
          <a:prstGeom prst="rect">
            <a:avLst/>
          </a:prstGeom>
          <a:noFill/>
        </p:spPr>
        <p:txBody>
          <a:bodyPr wrap="square" lIns="27432" rIns="27432" tIns="0" bIns="0">
            <a:spAutoFit/>
          </a:bodyPr>
          <a:lstStyle/>
          <a:p>
            <a:pPr>
              <a:spcAft>
                <a:spcPts val="800"/>
              </a:spcAft>
              <a:defRPr sz="3000" b="1">
                <a:solidFill>
                  <a:srgbClr val="7D2B42"/>
                </a:solidFill>
                <a:latin typeface="Bebas Neue"/>
              </a:defRPr>
            </a:pPr>
            <a:r>
              <a:t>03</a:t>
            </a:r>
          </a:p>
        </p:txBody>
      </p:sp>
      <p:sp>
        <p:nvSpPr>
          <p:cNvPr id="47" name="TextBox 46"/>
          <p:cNvSpPr txBox="1"/>
          <p:nvPr/>
        </p:nvSpPr>
        <p:spPr>
          <a:xfrm>
            <a:off x="10972800" y="2926080"/>
            <a:ext cx="3200400" cy="457200"/>
          </a:xfrm>
          <a:prstGeom prst="rect">
            <a:avLst/>
          </a:prstGeom>
          <a:noFill/>
        </p:spPr>
        <p:txBody>
          <a:bodyPr wrap="square" lIns="27432" rIns="27432" tIns="0" bIns="0">
            <a:spAutoFit/>
          </a:bodyPr>
          <a:lstStyle/>
          <a:p>
            <a:pPr>
              <a:spcAft>
                <a:spcPts val="800"/>
              </a:spcAft>
              <a:defRPr sz="2200" b="1">
                <a:solidFill>
                  <a:srgbClr val="7D2B42"/>
                </a:solidFill>
                <a:latin typeface="Montserrat"/>
              </a:defRPr>
            </a:pPr>
            <a:r>
              <a:t>DESIGN</a:t>
            </a:r>
          </a:p>
        </p:txBody>
      </p:sp>
      <p:sp>
        <p:nvSpPr>
          <p:cNvPr id="48" name="TextBox 47"/>
          <p:cNvSpPr txBox="1"/>
          <p:nvPr/>
        </p:nvSpPr>
        <p:spPr>
          <a:xfrm>
            <a:off x="10222992" y="3611880"/>
            <a:ext cx="4023360" cy="731520"/>
          </a:xfrm>
          <a:prstGeom prst="rect">
            <a:avLst/>
          </a:prstGeom>
          <a:noFill/>
        </p:spPr>
        <p:txBody>
          <a:bodyPr wrap="square" lIns="27432" rIns="27432" tIns="0" bIns="0">
            <a:spAutoFit/>
          </a:bodyPr>
          <a:lstStyle/>
          <a:p>
            <a:pPr>
              <a:spcAft>
                <a:spcPts val="800"/>
              </a:spcAft>
              <a:defRPr sz="1700" b="0">
                <a:solidFill>
                  <a:srgbClr val="202020"/>
                </a:solidFill>
                <a:latin typeface="Montserrat"/>
              </a:defRPr>
            </a:pPr>
            <a:r>
              <a:t>Design the growth plan before building.</a:t>
            </a:r>
          </a:p>
        </p:txBody>
      </p:sp>
      <p:sp>
        <p:nvSpPr>
          <p:cNvPr id="49" name="Rectangle 48"/>
          <p:cNvSpPr/>
          <p:nvPr/>
        </p:nvSpPr>
        <p:spPr>
          <a:xfrm>
            <a:off x="731520" y="4800600"/>
            <a:ext cx="4389120" cy="1783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96112" y="4937760"/>
            <a:ext cx="594360" cy="502920"/>
          </a:xfrm>
          <a:prstGeom prst="rect">
            <a:avLst/>
          </a:prstGeom>
          <a:noFill/>
        </p:spPr>
        <p:txBody>
          <a:bodyPr wrap="square" lIns="27432" rIns="27432" tIns="0" bIns="0">
            <a:spAutoFit/>
          </a:bodyPr>
          <a:lstStyle/>
          <a:p>
            <a:pPr>
              <a:spcAft>
                <a:spcPts val="800"/>
              </a:spcAft>
              <a:defRPr sz="3000" b="1">
                <a:solidFill>
                  <a:srgbClr val="7D2B42"/>
                </a:solidFill>
                <a:latin typeface="Bebas Neue"/>
              </a:defRPr>
            </a:pPr>
            <a:r>
              <a:t>04</a:t>
            </a:r>
          </a:p>
        </p:txBody>
      </p:sp>
      <p:sp>
        <p:nvSpPr>
          <p:cNvPr id="51" name="TextBox 50"/>
          <p:cNvSpPr txBox="1"/>
          <p:nvPr/>
        </p:nvSpPr>
        <p:spPr>
          <a:xfrm>
            <a:off x="1645920" y="4983480"/>
            <a:ext cx="3200400" cy="457200"/>
          </a:xfrm>
          <a:prstGeom prst="rect">
            <a:avLst/>
          </a:prstGeom>
          <a:noFill/>
        </p:spPr>
        <p:txBody>
          <a:bodyPr wrap="square" lIns="27432" rIns="27432" tIns="0" bIns="0">
            <a:spAutoFit/>
          </a:bodyPr>
          <a:lstStyle/>
          <a:p>
            <a:pPr>
              <a:spcAft>
                <a:spcPts val="800"/>
              </a:spcAft>
              <a:defRPr sz="2200" b="1">
                <a:solidFill>
                  <a:srgbClr val="7D2B42"/>
                </a:solidFill>
                <a:latin typeface="Montserrat"/>
              </a:defRPr>
            </a:pPr>
            <a:r>
              <a:t>DEPLOY</a:t>
            </a:r>
          </a:p>
        </p:txBody>
      </p:sp>
      <p:sp>
        <p:nvSpPr>
          <p:cNvPr id="52" name="TextBox 51"/>
          <p:cNvSpPr txBox="1"/>
          <p:nvPr/>
        </p:nvSpPr>
        <p:spPr>
          <a:xfrm>
            <a:off x="896112" y="5669280"/>
            <a:ext cx="4023360" cy="731520"/>
          </a:xfrm>
          <a:prstGeom prst="rect">
            <a:avLst/>
          </a:prstGeom>
          <a:noFill/>
        </p:spPr>
        <p:txBody>
          <a:bodyPr wrap="square" lIns="27432" rIns="27432" tIns="0" bIns="0">
            <a:spAutoFit/>
          </a:bodyPr>
          <a:lstStyle/>
          <a:p>
            <a:pPr>
              <a:spcAft>
                <a:spcPts val="800"/>
              </a:spcAft>
              <a:defRPr sz="1700" b="0">
                <a:solidFill>
                  <a:srgbClr val="202020"/>
                </a:solidFill>
                <a:latin typeface="Montserrat"/>
              </a:defRPr>
            </a:pPr>
            <a:r>
              <a:t>Execute with precision across channels.</a:t>
            </a:r>
          </a:p>
        </p:txBody>
      </p:sp>
      <p:sp>
        <p:nvSpPr>
          <p:cNvPr id="53" name="Rectangle 52"/>
          <p:cNvSpPr/>
          <p:nvPr/>
        </p:nvSpPr>
        <p:spPr>
          <a:xfrm>
            <a:off x="5394959" y="4800600"/>
            <a:ext cx="4389120" cy="1783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559551" y="4937760"/>
            <a:ext cx="594360" cy="502920"/>
          </a:xfrm>
          <a:prstGeom prst="rect">
            <a:avLst/>
          </a:prstGeom>
          <a:noFill/>
        </p:spPr>
        <p:txBody>
          <a:bodyPr wrap="square" lIns="27432" rIns="27432" tIns="0" bIns="0">
            <a:spAutoFit/>
          </a:bodyPr>
          <a:lstStyle/>
          <a:p>
            <a:pPr>
              <a:spcAft>
                <a:spcPts val="800"/>
              </a:spcAft>
              <a:defRPr sz="3000" b="1">
                <a:solidFill>
                  <a:srgbClr val="7D2B42"/>
                </a:solidFill>
                <a:latin typeface="Bebas Neue"/>
              </a:defRPr>
            </a:pPr>
            <a:r>
              <a:t>05</a:t>
            </a:r>
          </a:p>
        </p:txBody>
      </p:sp>
      <p:sp>
        <p:nvSpPr>
          <p:cNvPr id="55" name="TextBox 54"/>
          <p:cNvSpPr txBox="1"/>
          <p:nvPr/>
        </p:nvSpPr>
        <p:spPr>
          <a:xfrm>
            <a:off x="6309359" y="4983480"/>
            <a:ext cx="3200400" cy="457200"/>
          </a:xfrm>
          <a:prstGeom prst="rect">
            <a:avLst/>
          </a:prstGeom>
          <a:noFill/>
        </p:spPr>
        <p:txBody>
          <a:bodyPr wrap="square" lIns="27432" rIns="27432" tIns="0" bIns="0">
            <a:spAutoFit/>
          </a:bodyPr>
          <a:lstStyle/>
          <a:p>
            <a:pPr>
              <a:spcAft>
                <a:spcPts val="800"/>
              </a:spcAft>
              <a:defRPr sz="2200" b="1">
                <a:solidFill>
                  <a:srgbClr val="7D2B42"/>
                </a:solidFill>
                <a:latin typeface="Montserrat"/>
              </a:defRPr>
            </a:pPr>
            <a:r>
              <a:t>OPTIMISE</a:t>
            </a:r>
          </a:p>
        </p:txBody>
      </p:sp>
      <p:sp>
        <p:nvSpPr>
          <p:cNvPr id="56" name="TextBox 55"/>
          <p:cNvSpPr txBox="1"/>
          <p:nvPr/>
        </p:nvSpPr>
        <p:spPr>
          <a:xfrm>
            <a:off x="5559551" y="5669280"/>
            <a:ext cx="4023360" cy="731520"/>
          </a:xfrm>
          <a:prstGeom prst="rect">
            <a:avLst/>
          </a:prstGeom>
          <a:noFill/>
        </p:spPr>
        <p:txBody>
          <a:bodyPr wrap="square" lIns="27432" rIns="27432" tIns="0" bIns="0">
            <a:spAutoFit/>
          </a:bodyPr>
          <a:lstStyle/>
          <a:p>
            <a:pPr>
              <a:spcAft>
                <a:spcPts val="800"/>
              </a:spcAft>
              <a:defRPr sz="1700" b="0">
                <a:solidFill>
                  <a:srgbClr val="202020"/>
                </a:solidFill>
                <a:latin typeface="Montserrat"/>
              </a:defRPr>
            </a:pPr>
            <a:r>
              <a:t>Improve with data, every week.</a:t>
            </a:r>
          </a:p>
        </p:txBody>
      </p:sp>
      <p:sp>
        <p:nvSpPr>
          <p:cNvPr id="57" name="Rectangle 56"/>
          <p:cNvSpPr/>
          <p:nvPr/>
        </p:nvSpPr>
        <p:spPr>
          <a:xfrm>
            <a:off x="10058400" y="4800600"/>
            <a:ext cx="4389120" cy="1783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0222992" y="4937760"/>
            <a:ext cx="594360" cy="502920"/>
          </a:xfrm>
          <a:prstGeom prst="rect">
            <a:avLst/>
          </a:prstGeom>
          <a:noFill/>
        </p:spPr>
        <p:txBody>
          <a:bodyPr wrap="square" lIns="27432" rIns="27432" tIns="0" bIns="0">
            <a:spAutoFit/>
          </a:bodyPr>
          <a:lstStyle/>
          <a:p>
            <a:pPr>
              <a:spcAft>
                <a:spcPts val="800"/>
              </a:spcAft>
              <a:defRPr sz="3000" b="1">
                <a:solidFill>
                  <a:srgbClr val="7D2B42"/>
                </a:solidFill>
                <a:latin typeface="Bebas Neue"/>
              </a:defRPr>
            </a:pPr>
            <a:r>
              <a:t>06</a:t>
            </a:r>
          </a:p>
        </p:txBody>
      </p:sp>
      <p:sp>
        <p:nvSpPr>
          <p:cNvPr id="59" name="TextBox 58"/>
          <p:cNvSpPr txBox="1"/>
          <p:nvPr/>
        </p:nvSpPr>
        <p:spPr>
          <a:xfrm>
            <a:off x="10972800" y="4983480"/>
            <a:ext cx="3200400" cy="457200"/>
          </a:xfrm>
          <a:prstGeom prst="rect">
            <a:avLst/>
          </a:prstGeom>
          <a:noFill/>
        </p:spPr>
        <p:txBody>
          <a:bodyPr wrap="square" lIns="27432" rIns="27432" tIns="0" bIns="0">
            <a:spAutoFit/>
          </a:bodyPr>
          <a:lstStyle/>
          <a:p>
            <a:pPr>
              <a:spcAft>
                <a:spcPts val="800"/>
              </a:spcAft>
              <a:defRPr sz="2200" b="1">
                <a:solidFill>
                  <a:srgbClr val="7D2B42"/>
                </a:solidFill>
                <a:latin typeface="Montserrat"/>
              </a:defRPr>
            </a:pPr>
            <a:r>
              <a:t>SCALE</a:t>
            </a:r>
          </a:p>
        </p:txBody>
      </p:sp>
      <p:sp>
        <p:nvSpPr>
          <p:cNvPr id="60" name="TextBox 59"/>
          <p:cNvSpPr txBox="1"/>
          <p:nvPr/>
        </p:nvSpPr>
        <p:spPr>
          <a:xfrm>
            <a:off x="10222992" y="5669280"/>
            <a:ext cx="4023360" cy="731520"/>
          </a:xfrm>
          <a:prstGeom prst="rect">
            <a:avLst/>
          </a:prstGeom>
          <a:noFill/>
        </p:spPr>
        <p:txBody>
          <a:bodyPr wrap="square" lIns="27432" rIns="27432" tIns="0" bIns="0">
            <a:spAutoFit/>
          </a:bodyPr>
          <a:lstStyle/>
          <a:p>
            <a:pPr>
              <a:spcAft>
                <a:spcPts val="800"/>
              </a:spcAft>
              <a:defRPr sz="1700" b="0">
                <a:solidFill>
                  <a:srgbClr val="202020"/>
                </a:solidFill>
                <a:latin typeface="Montserrat"/>
              </a:defRPr>
            </a:pPr>
            <a:r>
              <a:t>Scale what works into sustainable growth.</a:t>
            </a:r>
          </a:p>
        </p:txBody>
      </p:sp>
      <p:sp>
        <p:nvSpPr>
          <p:cNvPr id="61" name="TextBox 60"/>
          <p:cNvSpPr txBox="1"/>
          <p:nvPr/>
        </p:nvSpPr>
        <p:spPr>
          <a:xfrm>
            <a:off x="822960" y="7178040"/>
            <a:ext cx="12984480" cy="457200"/>
          </a:xfrm>
          <a:prstGeom prst="rect">
            <a:avLst/>
          </a:prstGeom>
          <a:noFill/>
        </p:spPr>
        <p:txBody>
          <a:bodyPr wrap="square" lIns="27432" rIns="27432" tIns="0" bIns="0">
            <a:spAutoFit/>
          </a:bodyPr>
          <a:lstStyle/>
          <a:p>
            <a:pPr>
              <a:spcAft>
                <a:spcPts val="800"/>
              </a:spcAft>
              <a:defRPr sz="1200" b="1">
                <a:solidFill>
                  <a:srgbClr val="7D2B42"/>
                </a:solidFill>
                <a:latin typeface="Montserrat"/>
              </a:defRPr>
            </a:pPr>
            <a:r>
              <a:t>Entry: Growth Score™ / Audit™ → Commercial scope → Discover. Optimise feeds new evidence into Diagnose and Design; Scale loops back into discovery.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SIX-STAGE OPERATING SYSTEM</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04</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01 / DISCOVER</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77240" y="2011680"/>
            <a:ext cx="13075920" cy="45720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2084831"/>
            <a:ext cx="12801600" cy="274320"/>
          </a:xfrm>
          <a:prstGeom prst="rect">
            <a:avLst/>
          </a:prstGeom>
          <a:noFill/>
        </p:spPr>
        <p:txBody>
          <a:bodyPr wrap="square" lIns="27432" rIns="27432" tIns="0" bIns="0">
            <a:spAutoFit/>
          </a:bodyPr>
          <a:lstStyle/>
          <a:p>
            <a:pPr>
              <a:spcAft>
                <a:spcPts val="800"/>
              </a:spcAft>
              <a:defRPr sz="1700" b="1">
                <a:solidFill>
                  <a:srgbClr val="7D2B42"/>
                </a:solidFill>
                <a:latin typeface="Montserrat"/>
              </a:defRPr>
            </a:pPr>
            <a:r>
              <a:t>Understand before you act.</a:t>
            </a:r>
          </a:p>
        </p:txBody>
      </p:sp>
      <p:sp>
        <p:nvSpPr>
          <p:cNvPr id="38" name="Rectangle 37"/>
          <p:cNvSpPr/>
          <p:nvPr/>
        </p:nvSpPr>
        <p:spPr>
          <a:xfrm>
            <a:off x="777240" y="2743200"/>
            <a:ext cx="4754880" cy="4297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05840" y="2953512"/>
            <a:ext cx="4297680" cy="320040"/>
          </a:xfrm>
          <a:prstGeom prst="rect">
            <a:avLst/>
          </a:prstGeom>
          <a:noFill/>
        </p:spPr>
        <p:txBody>
          <a:bodyPr wrap="square" lIns="27432" rIns="27432" tIns="0" bIns="0">
            <a:spAutoFit/>
          </a:bodyPr>
          <a:lstStyle/>
          <a:p>
            <a:pPr>
              <a:spcAft>
                <a:spcPts val="800"/>
              </a:spcAft>
              <a:defRPr sz="1300" b="1">
                <a:solidFill>
                  <a:srgbClr val="7D2B42"/>
                </a:solidFill>
                <a:latin typeface="Montserrat"/>
              </a:defRPr>
            </a:pPr>
            <a:r>
              <a:t>ACTIVITIES</a:t>
            </a:r>
          </a:p>
        </p:txBody>
      </p:sp>
      <p:sp>
        <p:nvSpPr>
          <p:cNvPr id="40" name="TextBox 39"/>
          <p:cNvSpPr txBox="1"/>
          <p:nvPr/>
        </p:nvSpPr>
        <p:spPr>
          <a:xfrm>
            <a:off x="1005840" y="3566160"/>
            <a:ext cx="4297680" cy="315468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Business discovery &amp; goals</a:t>
            </a:r>
          </a:p>
          <a:p>
            <a:pPr>
              <a:spcAft>
                <a:spcPts val="800"/>
              </a:spcAft>
              <a:defRPr sz="1900" b="0">
                <a:solidFill>
                  <a:srgbClr val="202020"/>
                </a:solidFill>
                <a:latin typeface="Montserrat"/>
              </a:defRPr>
            </a:pPr>
            <a:r>
              <a:t>Stakeholder interviews</a:t>
            </a:r>
          </a:p>
          <a:p>
            <a:pPr>
              <a:spcAft>
                <a:spcPts val="800"/>
              </a:spcAft>
              <a:defRPr sz="1900" b="0">
                <a:solidFill>
                  <a:srgbClr val="202020"/>
                </a:solidFill>
                <a:latin typeface="Montserrat"/>
              </a:defRPr>
            </a:pPr>
            <a:r>
              <a:t>Brand audit</a:t>
            </a:r>
          </a:p>
          <a:p>
            <a:pPr>
              <a:spcAft>
                <a:spcPts val="800"/>
              </a:spcAft>
              <a:defRPr sz="1900" b="0">
                <a:solidFill>
                  <a:srgbClr val="202020"/>
                </a:solidFill>
                <a:latin typeface="Montserrat"/>
              </a:defRPr>
            </a:pPr>
            <a:r>
              <a:t>Customer interviews</a:t>
            </a:r>
          </a:p>
          <a:p>
            <a:pPr>
              <a:spcAft>
                <a:spcPts val="800"/>
              </a:spcAft>
              <a:defRPr sz="1900" b="0">
                <a:solidFill>
                  <a:srgbClr val="202020"/>
                </a:solidFill>
                <a:latin typeface="Montserrat"/>
              </a:defRPr>
            </a:pPr>
            <a:r>
              <a:t>Competitor analysis</a:t>
            </a:r>
          </a:p>
          <a:p>
            <a:pPr>
              <a:spcAft>
                <a:spcPts val="800"/>
              </a:spcAft>
              <a:defRPr sz="1900" b="0">
                <a:solidFill>
                  <a:srgbClr val="202020"/>
                </a:solidFill>
                <a:latin typeface="Montserrat"/>
              </a:defRPr>
            </a:pPr>
            <a:r>
              <a:t>Market research</a:t>
            </a:r>
          </a:p>
        </p:txBody>
      </p:sp>
      <p:sp>
        <p:nvSpPr>
          <p:cNvPr id="41" name="Rectangle 40"/>
          <p:cNvSpPr/>
          <p:nvPr/>
        </p:nvSpPr>
        <p:spPr>
          <a:xfrm>
            <a:off x="5806440" y="2743200"/>
            <a:ext cx="8046720" cy="1737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035040" y="2944368"/>
            <a:ext cx="7543800" cy="320040"/>
          </a:xfrm>
          <a:prstGeom prst="rect">
            <a:avLst/>
          </a:prstGeom>
          <a:noFill/>
        </p:spPr>
        <p:txBody>
          <a:bodyPr wrap="square" lIns="27432" rIns="27432" tIns="0" bIns="0">
            <a:spAutoFit/>
          </a:bodyPr>
          <a:lstStyle/>
          <a:p>
            <a:pPr>
              <a:spcAft>
                <a:spcPts val="800"/>
              </a:spcAft>
              <a:defRPr sz="1200" b="1">
                <a:solidFill>
                  <a:srgbClr val="7D2B42"/>
                </a:solidFill>
                <a:latin typeface="Montserrat"/>
              </a:defRPr>
            </a:pPr>
            <a:r>
              <a:t>SOURCE DELIVERABLES</a:t>
            </a:r>
          </a:p>
        </p:txBody>
      </p:sp>
      <p:sp>
        <p:nvSpPr>
          <p:cNvPr id="43" name="TextBox 42"/>
          <p:cNvSpPr txBox="1"/>
          <p:nvPr/>
        </p:nvSpPr>
        <p:spPr>
          <a:xfrm>
            <a:off x="6035040" y="3429000"/>
            <a:ext cx="7498079" cy="987552"/>
          </a:xfrm>
          <a:prstGeom prst="rect">
            <a:avLst/>
          </a:prstGeom>
          <a:noFill/>
        </p:spPr>
        <p:txBody>
          <a:bodyPr wrap="square" lIns="27432" rIns="27432" tIns="0" bIns="0">
            <a:spAutoFit/>
          </a:bodyPr>
          <a:lstStyle/>
          <a:p>
            <a:pPr>
              <a:spcAft>
                <a:spcPts val="800"/>
              </a:spcAft>
              <a:defRPr sz="1600" b="0">
                <a:solidFill>
                  <a:srgbClr val="202020"/>
                </a:solidFill>
                <a:latin typeface="Montserrat"/>
              </a:defRPr>
            </a:pPr>
            <a:r>
              <a:t>Business Discovery Report</a:t>
            </a:r>
          </a:p>
          <a:p>
            <a:pPr>
              <a:spcAft>
                <a:spcPts val="800"/>
              </a:spcAft>
              <a:defRPr sz="1600" b="0">
                <a:solidFill>
                  <a:srgbClr val="202020"/>
                </a:solidFill>
                <a:latin typeface="Montserrat"/>
              </a:defRPr>
            </a:pPr>
            <a:r>
              <a:t>SWOT analysis</a:t>
            </a:r>
          </a:p>
          <a:p>
            <a:pPr>
              <a:spcAft>
                <a:spcPts val="800"/>
              </a:spcAft>
              <a:defRPr sz="1600" b="0">
                <a:solidFill>
                  <a:srgbClr val="202020"/>
                </a:solidFill>
                <a:latin typeface="Montserrat"/>
              </a:defRPr>
            </a:pPr>
            <a:r>
              <a:t>Growth opportunities map</a:t>
            </a:r>
          </a:p>
          <a:p>
            <a:pPr>
              <a:spcAft>
                <a:spcPts val="800"/>
              </a:spcAft>
              <a:defRPr sz="1600" b="0">
                <a:solidFill>
                  <a:srgbClr val="202020"/>
                </a:solidFill>
                <a:latin typeface="Montserrat"/>
              </a:defRPr>
            </a:pPr>
            <a:r>
              <a:t>Competitor landscape</a:t>
            </a:r>
          </a:p>
        </p:txBody>
      </p:sp>
      <p:sp>
        <p:nvSpPr>
          <p:cNvPr id="44" name="TextBox 43"/>
          <p:cNvSpPr txBox="1"/>
          <p:nvPr/>
        </p:nvSpPr>
        <p:spPr>
          <a:xfrm>
            <a:off x="5852160" y="4709160"/>
            <a:ext cx="7863840" cy="27432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PROPOSED POSITION OWNERSHIP</a:t>
            </a:r>
          </a:p>
        </p:txBody>
      </p:sp>
      <p:sp>
        <p:nvSpPr>
          <p:cNvPr id="45" name="TextBox 44"/>
          <p:cNvSpPr txBox="1"/>
          <p:nvPr/>
        </p:nvSpPr>
        <p:spPr>
          <a:xfrm>
            <a:off x="5852160" y="5166360"/>
            <a:ext cx="7863840" cy="1143000"/>
          </a:xfrm>
          <a:prstGeom prst="rect">
            <a:avLst/>
          </a:prstGeom>
          <a:noFill/>
        </p:spPr>
        <p:txBody>
          <a:bodyPr wrap="square" lIns="27432" rIns="27432" tIns="0" bIns="0">
            <a:spAutoFit/>
          </a:bodyPr>
          <a:lstStyle/>
          <a:p>
            <a:pPr>
              <a:spcAft>
                <a:spcPts val="800"/>
              </a:spcAft>
              <a:defRPr sz="1500" b="0">
                <a:solidFill>
                  <a:srgbClr val="202020"/>
                </a:solidFill>
                <a:latin typeface="Montserrat"/>
              </a:defRPr>
            </a:pPr>
            <a:r>
              <a:t>MM-01 leads discovery; AM-01 coordinates client inputs. BD-01 and SA-01 transfer discovery notes and agreed commercial scope. Content / design leads contribute audit evidence.</a:t>
            </a:r>
          </a:p>
        </p:txBody>
      </p:sp>
      <p:sp>
        <p:nvSpPr>
          <p:cNvPr id="46" name="TextBox 45"/>
          <p:cNvSpPr txBox="1"/>
          <p:nvPr/>
        </p:nvSpPr>
        <p:spPr>
          <a:xfrm>
            <a:off x="5852160" y="6400800"/>
            <a:ext cx="7863840" cy="27432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EXIT / NEXT HANDOFF</a:t>
            </a:r>
          </a:p>
        </p:txBody>
      </p:sp>
      <p:sp>
        <p:nvSpPr>
          <p:cNvPr id="47" name="TextBox 46"/>
          <p:cNvSpPr txBox="1"/>
          <p:nvPr/>
        </p:nvSpPr>
        <p:spPr>
          <a:xfrm>
            <a:off x="5852160" y="6784848"/>
            <a:ext cx="7863840" cy="777240"/>
          </a:xfrm>
          <a:prstGeom prst="rect">
            <a:avLst/>
          </a:prstGeom>
          <a:noFill/>
        </p:spPr>
        <p:txBody>
          <a:bodyPr wrap="square" lIns="27432" rIns="27432" tIns="0" bIns="0">
            <a:spAutoFit/>
          </a:bodyPr>
          <a:lstStyle/>
          <a:p>
            <a:pPr>
              <a:spcAft>
                <a:spcPts val="800"/>
              </a:spcAft>
              <a:defRPr sz="1200" b="0">
                <a:solidFill>
                  <a:srgbClr val="555555"/>
                </a:solidFill>
                <a:latin typeface="Montserrat"/>
              </a:defRPr>
            </a:pPr>
            <a:r>
              <a:t>Complete discovery pack, confirmed objectives and available source assets. Marketing Manager reviews the findings before diagnosis.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SIX-STAGE OPERATING SYSTEM</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05</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02 / DIAGNOSE</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77240" y="2011680"/>
            <a:ext cx="13075920" cy="45720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2084831"/>
            <a:ext cx="12801600" cy="274320"/>
          </a:xfrm>
          <a:prstGeom prst="rect">
            <a:avLst/>
          </a:prstGeom>
          <a:noFill/>
        </p:spPr>
        <p:txBody>
          <a:bodyPr wrap="square" lIns="27432" rIns="27432" tIns="0" bIns="0">
            <a:spAutoFit/>
          </a:bodyPr>
          <a:lstStyle/>
          <a:p>
            <a:pPr>
              <a:spcAft>
                <a:spcPts val="800"/>
              </a:spcAft>
              <a:defRPr sz="1700" b="1">
                <a:solidFill>
                  <a:srgbClr val="7D2B42"/>
                </a:solidFill>
                <a:latin typeface="Montserrat"/>
              </a:defRPr>
            </a:pPr>
            <a:r>
              <a:t>Find out why growth stalls.</a:t>
            </a:r>
          </a:p>
        </p:txBody>
      </p:sp>
      <p:sp>
        <p:nvSpPr>
          <p:cNvPr id="38" name="Rectangle 37"/>
          <p:cNvSpPr/>
          <p:nvPr/>
        </p:nvSpPr>
        <p:spPr>
          <a:xfrm>
            <a:off x="777240" y="2743200"/>
            <a:ext cx="4754880" cy="4297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05840" y="2953512"/>
            <a:ext cx="4297680" cy="320040"/>
          </a:xfrm>
          <a:prstGeom prst="rect">
            <a:avLst/>
          </a:prstGeom>
          <a:noFill/>
        </p:spPr>
        <p:txBody>
          <a:bodyPr wrap="square" lIns="27432" rIns="27432" tIns="0" bIns="0">
            <a:spAutoFit/>
          </a:bodyPr>
          <a:lstStyle/>
          <a:p>
            <a:pPr>
              <a:spcAft>
                <a:spcPts val="800"/>
              </a:spcAft>
              <a:defRPr sz="1300" b="1">
                <a:solidFill>
                  <a:srgbClr val="7D2B42"/>
                </a:solidFill>
                <a:latin typeface="Montserrat"/>
              </a:defRPr>
            </a:pPr>
            <a:r>
              <a:t>ACTIVITIES</a:t>
            </a:r>
          </a:p>
        </p:txBody>
      </p:sp>
      <p:sp>
        <p:nvSpPr>
          <p:cNvPr id="40" name="TextBox 39"/>
          <p:cNvSpPr txBox="1"/>
          <p:nvPr/>
        </p:nvSpPr>
        <p:spPr>
          <a:xfrm>
            <a:off x="1005840" y="3566160"/>
            <a:ext cx="4297680" cy="315468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Positioning &amp; brand</a:t>
            </a:r>
          </a:p>
          <a:p>
            <a:pPr>
              <a:spcAft>
                <a:spcPts val="800"/>
              </a:spcAft>
              <a:defRPr sz="1900" b="0">
                <a:solidFill>
                  <a:srgbClr val="202020"/>
                </a:solidFill>
                <a:latin typeface="Montserrat"/>
              </a:defRPr>
            </a:pPr>
            <a:r>
              <a:t>Product &amp; offer</a:t>
            </a:r>
          </a:p>
          <a:p>
            <a:pPr>
              <a:spcAft>
                <a:spcPts val="800"/>
              </a:spcAft>
              <a:defRPr sz="1900" b="0">
                <a:solidFill>
                  <a:srgbClr val="202020"/>
                </a:solidFill>
                <a:latin typeface="Montserrat"/>
              </a:defRPr>
            </a:pPr>
            <a:r>
              <a:t>Funnel &amp; website</a:t>
            </a:r>
          </a:p>
          <a:p>
            <a:pPr>
              <a:spcAft>
                <a:spcPts val="800"/>
              </a:spcAft>
              <a:defRPr sz="1900" b="0">
                <a:solidFill>
                  <a:srgbClr val="202020"/>
                </a:solidFill>
                <a:latin typeface="Montserrat"/>
              </a:defRPr>
            </a:pPr>
            <a:r>
              <a:t>CRM &amp; sales process</a:t>
            </a:r>
          </a:p>
          <a:p>
            <a:pPr>
              <a:spcAft>
                <a:spcPts val="800"/>
              </a:spcAft>
              <a:defRPr sz="1900" b="0">
                <a:solidFill>
                  <a:srgbClr val="202020"/>
                </a:solidFill>
                <a:latin typeface="Montserrat"/>
              </a:defRPr>
            </a:pPr>
            <a:r>
              <a:t>Marketing &amp; media efficiency</a:t>
            </a:r>
          </a:p>
        </p:txBody>
      </p:sp>
      <p:sp>
        <p:nvSpPr>
          <p:cNvPr id="41" name="Rectangle 40"/>
          <p:cNvSpPr/>
          <p:nvPr/>
        </p:nvSpPr>
        <p:spPr>
          <a:xfrm>
            <a:off x="5806440" y="2743200"/>
            <a:ext cx="8046720" cy="1737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035040" y="2944368"/>
            <a:ext cx="7543800" cy="320040"/>
          </a:xfrm>
          <a:prstGeom prst="rect">
            <a:avLst/>
          </a:prstGeom>
          <a:noFill/>
        </p:spPr>
        <p:txBody>
          <a:bodyPr wrap="square" lIns="27432" rIns="27432" tIns="0" bIns="0">
            <a:spAutoFit/>
          </a:bodyPr>
          <a:lstStyle/>
          <a:p>
            <a:pPr>
              <a:spcAft>
                <a:spcPts val="800"/>
              </a:spcAft>
              <a:defRPr sz="1200" b="1">
                <a:solidFill>
                  <a:srgbClr val="7D2B42"/>
                </a:solidFill>
                <a:latin typeface="Montserrat"/>
              </a:defRPr>
            </a:pPr>
            <a:r>
              <a:t>SOURCE DELIVERABLES</a:t>
            </a:r>
          </a:p>
        </p:txBody>
      </p:sp>
      <p:sp>
        <p:nvSpPr>
          <p:cNvPr id="43" name="TextBox 42"/>
          <p:cNvSpPr txBox="1"/>
          <p:nvPr/>
        </p:nvSpPr>
        <p:spPr>
          <a:xfrm>
            <a:off x="6035040" y="3429000"/>
            <a:ext cx="7498079" cy="987552"/>
          </a:xfrm>
          <a:prstGeom prst="rect">
            <a:avLst/>
          </a:prstGeom>
          <a:noFill/>
        </p:spPr>
        <p:txBody>
          <a:bodyPr wrap="square" lIns="27432" rIns="27432" tIns="0" bIns="0">
            <a:spAutoFit/>
          </a:bodyPr>
          <a:lstStyle/>
          <a:p>
            <a:pPr>
              <a:spcAft>
                <a:spcPts val="800"/>
              </a:spcAft>
              <a:defRPr sz="1600" b="0">
                <a:solidFill>
                  <a:srgbClr val="202020"/>
                </a:solidFill>
                <a:latin typeface="Montserrat"/>
              </a:defRPr>
            </a:pPr>
            <a:r>
              <a:t>Growth Diagnosis</a:t>
            </a:r>
          </a:p>
          <a:p>
            <a:pPr>
              <a:spcAft>
                <a:spcPts val="800"/>
              </a:spcAft>
              <a:defRPr sz="1600" b="0">
                <a:solidFill>
                  <a:srgbClr val="202020"/>
                </a:solidFill>
                <a:latin typeface="Montserrat"/>
              </a:defRPr>
            </a:pPr>
            <a:r>
              <a:t>Priority Matrix</a:t>
            </a:r>
          </a:p>
          <a:p>
            <a:pPr>
              <a:spcAft>
                <a:spcPts val="800"/>
              </a:spcAft>
              <a:defRPr sz="1600" b="0">
                <a:solidFill>
                  <a:srgbClr val="202020"/>
                </a:solidFill>
                <a:latin typeface="Montserrat"/>
              </a:defRPr>
            </a:pPr>
            <a:r>
              <a:t>Quick Wins list</a:t>
            </a:r>
          </a:p>
        </p:txBody>
      </p:sp>
      <p:sp>
        <p:nvSpPr>
          <p:cNvPr id="44" name="TextBox 43"/>
          <p:cNvSpPr txBox="1"/>
          <p:nvPr/>
        </p:nvSpPr>
        <p:spPr>
          <a:xfrm>
            <a:off x="5852160" y="4709160"/>
            <a:ext cx="7863840" cy="27432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PROPOSED POSITION OWNERSHIP</a:t>
            </a:r>
          </a:p>
        </p:txBody>
      </p:sp>
      <p:sp>
        <p:nvSpPr>
          <p:cNvPr id="45" name="TextBox 44"/>
          <p:cNvSpPr txBox="1"/>
          <p:nvPr/>
        </p:nvSpPr>
        <p:spPr>
          <a:xfrm>
            <a:off x="5852160" y="5166360"/>
            <a:ext cx="7863840" cy="1143000"/>
          </a:xfrm>
          <a:prstGeom prst="rect">
            <a:avLst/>
          </a:prstGeom>
          <a:noFill/>
        </p:spPr>
        <p:txBody>
          <a:bodyPr wrap="square" lIns="27432" rIns="27432" tIns="0" bIns="0">
            <a:spAutoFit/>
          </a:bodyPr>
          <a:lstStyle/>
          <a:p>
            <a:pPr>
              <a:spcAft>
                <a:spcPts val="800"/>
              </a:spcAft>
              <a:defRPr sz="1500" b="0">
                <a:solidFill>
                  <a:srgbClr val="202020"/>
                </a:solidFill>
                <a:latin typeface="Montserrat"/>
              </a:defRPr>
            </a:pPr>
            <a:r>
              <a:t>MM-01 leads diagnosis; MB-01 and SM-01 contribute channel evidence; SA-01 contributes sales-process insight; AM-01 resolves information gaps.</a:t>
            </a:r>
          </a:p>
        </p:txBody>
      </p:sp>
      <p:sp>
        <p:nvSpPr>
          <p:cNvPr id="46" name="TextBox 45"/>
          <p:cNvSpPr txBox="1"/>
          <p:nvPr/>
        </p:nvSpPr>
        <p:spPr>
          <a:xfrm>
            <a:off x="5852160" y="6400800"/>
            <a:ext cx="7863840" cy="27432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EXIT / NEXT HANDOFF</a:t>
            </a:r>
          </a:p>
        </p:txBody>
      </p:sp>
      <p:sp>
        <p:nvSpPr>
          <p:cNvPr id="47" name="TextBox 46"/>
          <p:cNvSpPr txBox="1"/>
          <p:nvPr/>
        </p:nvSpPr>
        <p:spPr>
          <a:xfrm>
            <a:off x="5852160" y="6784848"/>
            <a:ext cx="7863840" cy="777240"/>
          </a:xfrm>
          <a:prstGeom prst="rect">
            <a:avLst/>
          </a:prstGeom>
          <a:noFill/>
        </p:spPr>
        <p:txBody>
          <a:bodyPr wrap="square" lIns="27432" rIns="27432" tIns="0" bIns="0">
            <a:spAutoFit/>
          </a:bodyPr>
          <a:lstStyle/>
          <a:p>
            <a:pPr>
              <a:spcAft>
                <a:spcPts val="800"/>
              </a:spcAft>
              <a:defRPr sz="1200" b="0">
                <a:solidFill>
                  <a:srgbClr val="555555"/>
                </a:solidFill>
                <a:latin typeface="Montserrat"/>
              </a:defRPr>
            </a:pPr>
            <a:r>
              <a:t>Agree priority constraints and their supporting evidence. Missing website / CRM expertise is assigned explicitly rather than assumed.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SIX-STAGE OPERATING SYSTEM</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06</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03 / DESIGN</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77240" y="2011680"/>
            <a:ext cx="13075920" cy="45720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2084831"/>
            <a:ext cx="12801600" cy="274320"/>
          </a:xfrm>
          <a:prstGeom prst="rect">
            <a:avLst/>
          </a:prstGeom>
          <a:noFill/>
        </p:spPr>
        <p:txBody>
          <a:bodyPr wrap="square" lIns="27432" rIns="27432" tIns="0" bIns="0">
            <a:spAutoFit/>
          </a:bodyPr>
          <a:lstStyle/>
          <a:p>
            <a:pPr>
              <a:spcAft>
                <a:spcPts val="800"/>
              </a:spcAft>
              <a:defRPr sz="1700" b="1">
                <a:solidFill>
                  <a:srgbClr val="7D2B42"/>
                </a:solidFill>
                <a:latin typeface="Montserrat"/>
              </a:defRPr>
            </a:pPr>
            <a:r>
              <a:t>Design the solution before building it.</a:t>
            </a:r>
          </a:p>
        </p:txBody>
      </p:sp>
      <p:sp>
        <p:nvSpPr>
          <p:cNvPr id="38" name="Rectangle 37"/>
          <p:cNvSpPr/>
          <p:nvPr/>
        </p:nvSpPr>
        <p:spPr>
          <a:xfrm>
            <a:off x="777240" y="2743200"/>
            <a:ext cx="4754880" cy="4297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05840" y="2953512"/>
            <a:ext cx="4297680" cy="320040"/>
          </a:xfrm>
          <a:prstGeom prst="rect">
            <a:avLst/>
          </a:prstGeom>
          <a:noFill/>
        </p:spPr>
        <p:txBody>
          <a:bodyPr wrap="square" lIns="27432" rIns="27432" tIns="0" bIns="0">
            <a:spAutoFit/>
          </a:bodyPr>
          <a:lstStyle/>
          <a:p>
            <a:pPr>
              <a:spcAft>
                <a:spcPts val="800"/>
              </a:spcAft>
              <a:defRPr sz="1300" b="1">
                <a:solidFill>
                  <a:srgbClr val="7D2B42"/>
                </a:solidFill>
                <a:latin typeface="Montserrat"/>
              </a:defRPr>
            </a:pPr>
            <a:r>
              <a:t>ACTIVITIES</a:t>
            </a:r>
          </a:p>
        </p:txBody>
      </p:sp>
      <p:sp>
        <p:nvSpPr>
          <p:cNvPr id="40" name="TextBox 39"/>
          <p:cNvSpPr txBox="1"/>
          <p:nvPr/>
        </p:nvSpPr>
        <p:spPr>
          <a:xfrm>
            <a:off x="1005840" y="3566160"/>
            <a:ext cx="4297680" cy="315468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Brand strategy</a:t>
            </a:r>
          </a:p>
          <a:p>
            <a:pPr>
              <a:spcAft>
                <a:spcPts val="800"/>
              </a:spcAft>
              <a:defRPr sz="1900" b="0">
                <a:solidFill>
                  <a:srgbClr val="202020"/>
                </a:solidFill>
                <a:latin typeface="Montserrat"/>
              </a:defRPr>
            </a:pPr>
            <a:r>
              <a:t>Content strategy</a:t>
            </a:r>
          </a:p>
          <a:p>
            <a:pPr>
              <a:spcAft>
                <a:spcPts val="800"/>
              </a:spcAft>
              <a:defRPr sz="1900" b="0">
                <a:solidFill>
                  <a:srgbClr val="202020"/>
                </a:solidFill>
                <a:latin typeface="Montserrat"/>
              </a:defRPr>
            </a:pPr>
            <a:r>
              <a:t>Media strategy</a:t>
            </a:r>
          </a:p>
          <a:p>
            <a:pPr>
              <a:spcAft>
                <a:spcPts val="800"/>
              </a:spcAft>
              <a:defRPr sz="1900" b="0">
                <a:solidFill>
                  <a:srgbClr val="202020"/>
                </a:solidFill>
                <a:latin typeface="Montserrat"/>
              </a:defRPr>
            </a:pPr>
            <a:r>
              <a:t>Customer journey</a:t>
            </a:r>
          </a:p>
          <a:p>
            <a:pPr>
              <a:spcAft>
                <a:spcPts val="800"/>
              </a:spcAft>
              <a:defRPr sz="1900" b="0">
                <a:solidFill>
                  <a:srgbClr val="202020"/>
                </a:solidFill>
                <a:latin typeface="Montserrat"/>
              </a:defRPr>
            </a:pPr>
            <a:r>
              <a:t>KPI framework</a:t>
            </a:r>
          </a:p>
          <a:p>
            <a:pPr>
              <a:spcAft>
                <a:spcPts val="800"/>
              </a:spcAft>
              <a:defRPr sz="1900" b="0">
                <a:solidFill>
                  <a:srgbClr val="202020"/>
                </a:solidFill>
                <a:latin typeface="Montserrat"/>
              </a:defRPr>
            </a:pPr>
            <a:r>
              <a:t>Budget allocation</a:t>
            </a:r>
          </a:p>
        </p:txBody>
      </p:sp>
      <p:sp>
        <p:nvSpPr>
          <p:cNvPr id="41" name="Rectangle 40"/>
          <p:cNvSpPr/>
          <p:nvPr/>
        </p:nvSpPr>
        <p:spPr>
          <a:xfrm>
            <a:off x="5806440" y="2743200"/>
            <a:ext cx="8046720" cy="1737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035040" y="2944368"/>
            <a:ext cx="7543800" cy="320040"/>
          </a:xfrm>
          <a:prstGeom prst="rect">
            <a:avLst/>
          </a:prstGeom>
          <a:noFill/>
        </p:spPr>
        <p:txBody>
          <a:bodyPr wrap="square" lIns="27432" rIns="27432" tIns="0" bIns="0">
            <a:spAutoFit/>
          </a:bodyPr>
          <a:lstStyle/>
          <a:p>
            <a:pPr>
              <a:spcAft>
                <a:spcPts val="800"/>
              </a:spcAft>
              <a:defRPr sz="1200" b="1">
                <a:solidFill>
                  <a:srgbClr val="7D2B42"/>
                </a:solidFill>
                <a:latin typeface="Montserrat"/>
              </a:defRPr>
            </a:pPr>
            <a:r>
              <a:t>SOURCE DELIVERABLES</a:t>
            </a:r>
          </a:p>
        </p:txBody>
      </p:sp>
      <p:sp>
        <p:nvSpPr>
          <p:cNvPr id="43" name="TextBox 42"/>
          <p:cNvSpPr txBox="1"/>
          <p:nvPr/>
        </p:nvSpPr>
        <p:spPr>
          <a:xfrm>
            <a:off x="6035040" y="3429000"/>
            <a:ext cx="7498079" cy="987552"/>
          </a:xfrm>
          <a:prstGeom prst="rect">
            <a:avLst/>
          </a:prstGeom>
          <a:noFill/>
        </p:spPr>
        <p:txBody>
          <a:bodyPr wrap="square" lIns="27432" rIns="27432" tIns="0" bIns="0">
            <a:spAutoFit/>
          </a:bodyPr>
          <a:lstStyle/>
          <a:p>
            <a:pPr>
              <a:spcAft>
                <a:spcPts val="800"/>
              </a:spcAft>
              <a:defRPr sz="1600" b="0">
                <a:solidFill>
                  <a:srgbClr val="202020"/>
                </a:solidFill>
                <a:latin typeface="Montserrat"/>
              </a:defRPr>
            </a:pPr>
            <a:r>
              <a:t>The Growth Blueprint™</a:t>
            </a:r>
          </a:p>
          <a:p>
            <a:pPr>
              <a:spcAft>
                <a:spcPts val="800"/>
              </a:spcAft>
              <a:defRPr sz="1600" b="0">
                <a:solidFill>
                  <a:srgbClr val="202020"/>
                </a:solidFill>
                <a:latin typeface="Montserrat"/>
              </a:defRPr>
            </a:pPr>
            <a:r>
              <a:t>One agreed plan linking strategy, channels, KPIs and budget</a:t>
            </a:r>
          </a:p>
        </p:txBody>
      </p:sp>
      <p:sp>
        <p:nvSpPr>
          <p:cNvPr id="44" name="TextBox 43"/>
          <p:cNvSpPr txBox="1"/>
          <p:nvPr/>
        </p:nvSpPr>
        <p:spPr>
          <a:xfrm>
            <a:off x="5852160" y="4709160"/>
            <a:ext cx="7863840" cy="27432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PROPOSED POSITION OWNERSHIP</a:t>
            </a:r>
          </a:p>
        </p:txBody>
      </p:sp>
      <p:sp>
        <p:nvSpPr>
          <p:cNvPr id="45" name="TextBox 44"/>
          <p:cNvSpPr txBox="1"/>
          <p:nvPr/>
        </p:nvSpPr>
        <p:spPr>
          <a:xfrm>
            <a:off x="5852160" y="5166360"/>
            <a:ext cx="7863840" cy="1143000"/>
          </a:xfrm>
          <a:prstGeom prst="rect">
            <a:avLst/>
          </a:prstGeom>
          <a:noFill/>
        </p:spPr>
        <p:txBody>
          <a:bodyPr wrap="square" lIns="27432" rIns="27432" tIns="0" bIns="0">
            <a:spAutoFit/>
          </a:bodyPr>
          <a:lstStyle/>
          <a:p>
            <a:pPr>
              <a:spcAft>
                <a:spcPts val="800"/>
              </a:spcAft>
              <a:defRPr sz="1500" b="0">
                <a:solidFill>
                  <a:srgbClr val="202020"/>
                </a:solidFill>
                <a:latin typeface="Montserrat"/>
              </a:defRPr>
            </a:pPr>
            <a:r>
              <a:t>MM-01 owns strategic and budget decisions. HC-01 shapes content; HD-01 shapes creative; MB-01 shapes paid media. AM-01 coordinates client agreement.</a:t>
            </a:r>
          </a:p>
        </p:txBody>
      </p:sp>
      <p:sp>
        <p:nvSpPr>
          <p:cNvPr id="46" name="TextBox 45"/>
          <p:cNvSpPr txBox="1"/>
          <p:nvPr/>
        </p:nvSpPr>
        <p:spPr>
          <a:xfrm>
            <a:off x="5852160" y="6400800"/>
            <a:ext cx="7863840" cy="27432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EXIT / NEXT HANDOFF</a:t>
            </a:r>
          </a:p>
        </p:txBody>
      </p:sp>
      <p:sp>
        <p:nvSpPr>
          <p:cNvPr id="47" name="TextBox 46"/>
          <p:cNvSpPr txBox="1"/>
          <p:nvPr/>
        </p:nvSpPr>
        <p:spPr>
          <a:xfrm>
            <a:off x="5852160" y="6784848"/>
            <a:ext cx="7863840" cy="777240"/>
          </a:xfrm>
          <a:prstGeom prst="rect">
            <a:avLst/>
          </a:prstGeom>
          <a:noFill/>
        </p:spPr>
        <p:txBody>
          <a:bodyPr wrap="square" lIns="27432" rIns="27432" tIns="0" bIns="0">
            <a:spAutoFit/>
          </a:bodyPr>
          <a:lstStyle/>
          <a:p>
            <a:pPr>
              <a:spcAft>
                <a:spcPts val="800"/>
              </a:spcAft>
              <a:defRPr sz="1200" b="0">
                <a:solidFill>
                  <a:srgbClr val="555555"/>
                </a:solidFill>
                <a:latin typeface="Montserrat"/>
              </a:defRPr>
            </a:pPr>
            <a:r>
              <a:t>Blueprint accepted, scope and resource owners agreed, required client authorization recorded and budgets authorized. Design means planning; creative production belongs in Deploy.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SIX-STAGE OPERATING SYSTEM</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07</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04 / DEPLOY</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77240" y="2011680"/>
            <a:ext cx="13075920" cy="45720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2084831"/>
            <a:ext cx="12801600" cy="274320"/>
          </a:xfrm>
          <a:prstGeom prst="rect">
            <a:avLst/>
          </a:prstGeom>
          <a:noFill/>
        </p:spPr>
        <p:txBody>
          <a:bodyPr wrap="square" lIns="27432" rIns="27432" tIns="0" bIns="0">
            <a:spAutoFit/>
          </a:bodyPr>
          <a:lstStyle/>
          <a:p>
            <a:pPr>
              <a:spcAft>
                <a:spcPts val="800"/>
              </a:spcAft>
              <a:defRPr sz="1700" b="1">
                <a:solidFill>
                  <a:srgbClr val="7D2B42"/>
                </a:solidFill>
                <a:latin typeface="Montserrat"/>
              </a:defRPr>
            </a:pPr>
            <a:r>
              <a:t>Execution with precision.</a:t>
            </a:r>
          </a:p>
        </p:txBody>
      </p:sp>
      <p:sp>
        <p:nvSpPr>
          <p:cNvPr id="38" name="Rectangle 37"/>
          <p:cNvSpPr/>
          <p:nvPr/>
        </p:nvSpPr>
        <p:spPr>
          <a:xfrm>
            <a:off x="777240" y="2743200"/>
            <a:ext cx="4754880" cy="4297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05840" y="2953512"/>
            <a:ext cx="4297680" cy="320040"/>
          </a:xfrm>
          <a:prstGeom prst="rect">
            <a:avLst/>
          </a:prstGeom>
          <a:noFill/>
        </p:spPr>
        <p:txBody>
          <a:bodyPr wrap="square" lIns="27432" rIns="27432" tIns="0" bIns="0">
            <a:spAutoFit/>
          </a:bodyPr>
          <a:lstStyle/>
          <a:p>
            <a:pPr>
              <a:spcAft>
                <a:spcPts val="800"/>
              </a:spcAft>
              <a:defRPr sz="1300" b="1">
                <a:solidFill>
                  <a:srgbClr val="7D2B42"/>
                </a:solidFill>
                <a:latin typeface="Montserrat"/>
              </a:defRPr>
            </a:pPr>
            <a:r>
              <a:t>ACTIVITIES</a:t>
            </a:r>
          </a:p>
        </p:txBody>
      </p:sp>
      <p:sp>
        <p:nvSpPr>
          <p:cNvPr id="40" name="TextBox 39"/>
          <p:cNvSpPr txBox="1"/>
          <p:nvPr/>
        </p:nvSpPr>
        <p:spPr>
          <a:xfrm>
            <a:off x="1005840" y="3566160"/>
            <a:ext cx="4297680" cy="315468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Website &amp; landing pages</a:t>
            </a:r>
          </a:p>
          <a:p>
            <a:pPr>
              <a:spcAft>
                <a:spcPts val="800"/>
              </a:spcAft>
              <a:defRPr sz="1900" b="0">
                <a:solidFill>
                  <a:srgbClr val="202020"/>
                </a:solidFill>
                <a:latin typeface="Montserrat"/>
              </a:defRPr>
            </a:pPr>
            <a:r>
              <a:t>Branding &amp; creative</a:t>
            </a:r>
          </a:p>
          <a:p>
            <a:pPr>
              <a:spcAft>
                <a:spcPts val="800"/>
              </a:spcAft>
              <a:defRPr sz="1900" b="0">
                <a:solidFill>
                  <a:srgbClr val="202020"/>
                </a:solidFill>
                <a:latin typeface="Montserrat"/>
              </a:defRPr>
            </a:pPr>
            <a:r>
              <a:t>Paid campaigns</a:t>
            </a:r>
          </a:p>
          <a:p>
            <a:pPr>
              <a:spcAft>
                <a:spcPts val="800"/>
              </a:spcAft>
              <a:defRPr sz="1900" b="0">
                <a:solidFill>
                  <a:srgbClr val="202020"/>
                </a:solidFill>
                <a:latin typeface="Montserrat"/>
              </a:defRPr>
            </a:pPr>
            <a:r>
              <a:t>Social media &amp; content</a:t>
            </a:r>
          </a:p>
          <a:p>
            <a:pPr>
              <a:spcAft>
                <a:spcPts val="800"/>
              </a:spcAft>
              <a:defRPr sz="1900" b="0">
                <a:solidFill>
                  <a:srgbClr val="202020"/>
                </a:solidFill>
                <a:latin typeface="Montserrat"/>
              </a:defRPr>
            </a:pPr>
            <a:r>
              <a:t>CRM &amp; automation</a:t>
            </a:r>
          </a:p>
        </p:txBody>
      </p:sp>
      <p:sp>
        <p:nvSpPr>
          <p:cNvPr id="41" name="Rectangle 40"/>
          <p:cNvSpPr/>
          <p:nvPr/>
        </p:nvSpPr>
        <p:spPr>
          <a:xfrm>
            <a:off x="5806440" y="2743200"/>
            <a:ext cx="8046720" cy="1737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035040" y="2944368"/>
            <a:ext cx="7543800" cy="320040"/>
          </a:xfrm>
          <a:prstGeom prst="rect">
            <a:avLst/>
          </a:prstGeom>
          <a:noFill/>
        </p:spPr>
        <p:txBody>
          <a:bodyPr wrap="square" lIns="27432" rIns="27432" tIns="0" bIns="0">
            <a:spAutoFit/>
          </a:bodyPr>
          <a:lstStyle/>
          <a:p>
            <a:pPr>
              <a:spcAft>
                <a:spcPts val="800"/>
              </a:spcAft>
              <a:defRPr sz="1200" b="1">
                <a:solidFill>
                  <a:srgbClr val="7D2B42"/>
                </a:solidFill>
                <a:latin typeface="Montserrat"/>
              </a:defRPr>
            </a:pPr>
            <a:r>
              <a:t>SOURCE DELIVERABLES</a:t>
            </a:r>
          </a:p>
        </p:txBody>
      </p:sp>
      <p:sp>
        <p:nvSpPr>
          <p:cNvPr id="43" name="TextBox 42"/>
          <p:cNvSpPr txBox="1"/>
          <p:nvPr/>
        </p:nvSpPr>
        <p:spPr>
          <a:xfrm>
            <a:off x="6035040" y="3429000"/>
            <a:ext cx="7498079" cy="987552"/>
          </a:xfrm>
          <a:prstGeom prst="rect">
            <a:avLst/>
          </a:prstGeom>
          <a:noFill/>
        </p:spPr>
        <p:txBody>
          <a:bodyPr wrap="square" lIns="27432" rIns="27432" tIns="0" bIns="0">
            <a:spAutoFit/>
          </a:bodyPr>
          <a:lstStyle/>
          <a:p>
            <a:pPr>
              <a:spcAft>
                <a:spcPts val="800"/>
              </a:spcAft>
              <a:defRPr sz="1600" b="0">
                <a:solidFill>
                  <a:srgbClr val="202020"/>
                </a:solidFill>
                <a:latin typeface="Montserrat"/>
              </a:defRPr>
            </a:pPr>
            <a:r>
              <a:t>Live campaigns &amp; content calendar</a:t>
            </a:r>
          </a:p>
          <a:p>
            <a:pPr>
              <a:spcAft>
                <a:spcPts val="800"/>
              </a:spcAft>
              <a:defRPr sz="1600" b="0">
                <a:solidFill>
                  <a:srgbClr val="202020"/>
                </a:solidFill>
                <a:latin typeface="Montserrat"/>
              </a:defRPr>
            </a:pPr>
            <a:r>
              <a:t>Tracking &amp; analytics setup</a:t>
            </a:r>
          </a:p>
          <a:p>
            <a:pPr>
              <a:spcAft>
                <a:spcPts val="800"/>
              </a:spcAft>
              <a:defRPr sz="1600" b="0">
                <a:solidFill>
                  <a:srgbClr val="202020"/>
                </a:solidFill>
                <a:latin typeface="Montserrat"/>
              </a:defRPr>
            </a:pPr>
            <a:r>
              <a:t>Automation &amp; lead routing</a:t>
            </a:r>
          </a:p>
        </p:txBody>
      </p:sp>
      <p:sp>
        <p:nvSpPr>
          <p:cNvPr id="44" name="TextBox 43"/>
          <p:cNvSpPr txBox="1"/>
          <p:nvPr/>
        </p:nvSpPr>
        <p:spPr>
          <a:xfrm>
            <a:off x="5852160" y="4709160"/>
            <a:ext cx="7863840" cy="27432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PROPOSED POSITION OWNERSHIP</a:t>
            </a:r>
          </a:p>
        </p:txBody>
      </p:sp>
      <p:sp>
        <p:nvSpPr>
          <p:cNvPr id="45" name="TextBox 44"/>
          <p:cNvSpPr txBox="1"/>
          <p:nvPr/>
        </p:nvSpPr>
        <p:spPr>
          <a:xfrm>
            <a:off x="5852160" y="5166360"/>
            <a:ext cx="7863840" cy="1143000"/>
          </a:xfrm>
          <a:prstGeom prst="rect">
            <a:avLst/>
          </a:prstGeom>
          <a:noFill/>
        </p:spPr>
        <p:txBody>
          <a:bodyPr wrap="square" lIns="27432" rIns="27432" tIns="0" bIns="0">
            <a:spAutoFit/>
          </a:bodyPr>
          <a:lstStyle/>
          <a:p>
            <a:pPr>
              <a:spcAft>
                <a:spcPts val="800"/>
              </a:spcAft>
              <a:defRPr sz="1500" b="0">
                <a:solidFill>
                  <a:srgbClr val="202020"/>
                </a:solidFill>
                <a:latin typeface="Montserrat"/>
              </a:defRPr>
            </a:pPr>
            <a:r>
              <a:t>AM-01 coordinates delivery. HC-01 / writers produce content; HD-01 / GD-01 / GD-02 / VE-01 / VE-02 produce and review creative. SM-01 publishes; MB-01 activates paid media.</a:t>
            </a:r>
          </a:p>
        </p:txBody>
      </p:sp>
      <p:sp>
        <p:nvSpPr>
          <p:cNvPr id="46" name="TextBox 45"/>
          <p:cNvSpPr txBox="1"/>
          <p:nvPr/>
        </p:nvSpPr>
        <p:spPr>
          <a:xfrm>
            <a:off x="5852160" y="6400800"/>
            <a:ext cx="7863840" cy="27432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EXIT / NEXT HANDOFF</a:t>
            </a:r>
          </a:p>
        </p:txBody>
      </p:sp>
      <p:sp>
        <p:nvSpPr>
          <p:cNvPr id="47" name="TextBox 46"/>
          <p:cNvSpPr txBox="1"/>
          <p:nvPr/>
        </p:nvSpPr>
        <p:spPr>
          <a:xfrm>
            <a:off x="5852160" y="6784848"/>
            <a:ext cx="7863840" cy="777240"/>
          </a:xfrm>
          <a:prstGeom prst="rect">
            <a:avLst/>
          </a:prstGeom>
          <a:noFill/>
        </p:spPr>
        <p:txBody>
          <a:bodyPr wrap="square" lIns="27432" rIns="27432" tIns="0" bIns="0">
            <a:spAutoFit/>
          </a:bodyPr>
          <a:lstStyle/>
          <a:p>
            <a:pPr>
              <a:spcAft>
                <a:spcPts val="800"/>
              </a:spcAft>
              <a:defRPr sz="1200" b="0">
                <a:solidFill>
                  <a:srgbClr val="555555"/>
                </a:solidFill>
                <a:latin typeface="Montserrat"/>
              </a:defRPr>
            </a:pPr>
            <a:r>
              <a:t>Internal QC → required client approval → publication authorization. Paid activation also requires budget authorization and tracking QA. Website / CRM / automation owner must be assigned.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SIX-STAGE OPERATING SYSTEM</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08</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05 / OPTIMISE</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77240" y="2011680"/>
            <a:ext cx="13075920" cy="45720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2084831"/>
            <a:ext cx="12801600" cy="274320"/>
          </a:xfrm>
          <a:prstGeom prst="rect">
            <a:avLst/>
          </a:prstGeom>
          <a:noFill/>
        </p:spPr>
        <p:txBody>
          <a:bodyPr wrap="square" lIns="27432" rIns="27432" tIns="0" bIns="0">
            <a:spAutoFit/>
          </a:bodyPr>
          <a:lstStyle/>
          <a:p>
            <a:pPr>
              <a:spcAft>
                <a:spcPts val="800"/>
              </a:spcAft>
              <a:defRPr sz="1700" b="1">
                <a:solidFill>
                  <a:srgbClr val="7D2B42"/>
                </a:solidFill>
                <a:latin typeface="Montserrat"/>
              </a:defRPr>
            </a:pPr>
            <a:r>
              <a:t>Improve with data — every week.</a:t>
            </a:r>
          </a:p>
        </p:txBody>
      </p:sp>
      <p:sp>
        <p:nvSpPr>
          <p:cNvPr id="38" name="Rectangle 37"/>
          <p:cNvSpPr/>
          <p:nvPr/>
        </p:nvSpPr>
        <p:spPr>
          <a:xfrm>
            <a:off x="777240" y="2743200"/>
            <a:ext cx="4754880" cy="4297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05840" y="2953512"/>
            <a:ext cx="4297680" cy="320040"/>
          </a:xfrm>
          <a:prstGeom prst="rect">
            <a:avLst/>
          </a:prstGeom>
          <a:noFill/>
        </p:spPr>
        <p:txBody>
          <a:bodyPr wrap="square" lIns="27432" rIns="27432" tIns="0" bIns="0">
            <a:spAutoFit/>
          </a:bodyPr>
          <a:lstStyle/>
          <a:p>
            <a:pPr>
              <a:spcAft>
                <a:spcPts val="800"/>
              </a:spcAft>
              <a:defRPr sz="1300" b="1">
                <a:solidFill>
                  <a:srgbClr val="7D2B42"/>
                </a:solidFill>
                <a:latin typeface="Montserrat"/>
              </a:defRPr>
            </a:pPr>
            <a:r>
              <a:t>ACTIVITIES</a:t>
            </a:r>
          </a:p>
        </p:txBody>
      </p:sp>
      <p:sp>
        <p:nvSpPr>
          <p:cNvPr id="40" name="TextBox 39"/>
          <p:cNvSpPr txBox="1"/>
          <p:nvPr/>
        </p:nvSpPr>
        <p:spPr>
          <a:xfrm>
            <a:off x="1005840" y="3566160"/>
            <a:ext cx="4297680" cy="315468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Weekly &amp; monthly reporting</a:t>
            </a:r>
          </a:p>
          <a:p>
            <a:pPr>
              <a:spcAft>
                <a:spcPts val="800"/>
              </a:spcAft>
              <a:defRPr sz="1900" b="0">
                <a:solidFill>
                  <a:srgbClr val="202020"/>
                </a:solidFill>
                <a:latin typeface="Montserrat"/>
              </a:defRPr>
            </a:pPr>
            <a:r>
              <a:t>Live dashboards</a:t>
            </a:r>
          </a:p>
          <a:p>
            <a:pPr>
              <a:spcAft>
                <a:spcPts val="800"/>
              </a:spcAft>
              <a:defRPr sz="1900" b="0">
                <a:solidFill>
                  <a:srgbClr val="202020"/>
                </a:solidFill>
                <a:latin typeface="Montserrat"/>
              </a:defRPr>
            </a:pPr>
            <a:r>
              <a:t>Heatmaps &amp; behaviour analysis</a:t>
            </a:r>
          </a:p>
          <a:p>
            <a:pPr>
              <a:spcAft>
                <a:spcPts val="800"/>
              </a:spcAft>
              <a:defRPr sz="1900" b="0">
                <a:solidFill>
                  <a:srgbClr val="202020"/>
                </a:solidFill>
                <a:latin typeface="Montserrat"/>
              </a:defRPr>
            </a:pPr>
            <a:r>
              <a:t>A/B testing</a:t>
            </a:r>
          </a:p>
          <a:p>
            <a:pPr>
              <a:spcAft>
                <a:spcPts val="800"/>
              </a:spcAft>
              <a:defRPr sz="1900" b="0">
                <a:solidFill>
                  <a:srgbClr val="202020"/>
                </a:solidFill>
                <a:latin typeface="Montserrat"/>
              </a:defRPr>
            </a:pPr>
            <a:r>
              <a:t>Conversion rate optimisation (CRO)</a:t>
            </a:r>
          </a:p>
        </p:txBody>
      </p:sp>
      <p:sp>
        <p:nvSpPr>
          <p:cNvPr id="41" name="Rectangle 40"/>
          <p:cNvSpPr/>
          <p:nvPr/>
        </p:nvSpPr>
        <p:spPr>
          <a:xfrm>
            <a:off x="5806440" y="2743200"/>
            <a:ext cx="8046720" cy="1737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035040" y="2944368"/>
            <a:ext cx="7543800" cy="320040"/>
          </a:xfrm>
          <a:prstGeom prst="rect">
            <a:avLst/>
          </a:prstGeom>
          <a:noFill/>
        </p:spPr>
        <p:txBody>
          <a:bodyPr wrap="square" lIns="27432" rIns="27432" tIns="0" bIns="0">
            <a:spAutoFit/>
          </a:bodyPr>
          <a:lstStyle/>
          <a:p>
            <a:pPr>
              <a:spcAft>
                <a:spcPts val="800"/>
              </a:spcAft>
              <a:defRPr sz="1200" b="1">
                <a:solidFill>
                  <a:srgbClr val="7D2B42"/>
                </a:solidFill>
                <a:latin typeface="Montserrat"/>
              </a:defRPr>
            </a:pPr>
            <a:r>
              <a:t>SOURCE DELIVERABLES</a:t>
            </a:r>
          </a:p>
        </p:txBody>
      </p:sp>
      <p:sp>
        <p:nvSpPr>
          <p:cNvPr id="43" name="TextBox 42"/>
          <p:cNvSpPr txBox="1"/>
          <p:nvPr/>
        </p:nvSpPr>
        <p:spPr>
          <a:xfrm>
            <a:off x="6035040" y="3429000"/>
            <a:ext cx="7498079" cy="987552"/>
          </a:xfrm>
          <a:prstGeom prst="rect">
            <a:avLst/>
          </a:prstGeom>
          <a:noFill/>
        </p:spPr>
        <p:txBody>
          <a:bodyPr wrap="square" lIns="27432" rIns="27432" tIns="0" bIns="0">
            <a:spAutoFit/>
          </a:bodyPr>
          <a:lstStyle/>
          <a:p>
            <a:pPr>
              <a:spcAft>
                <a:spcPts val="800"/>
              </a:spcAft>
              <a:defRPr sz="1600" b="0">
                <a:solidFill>
                  <a:srgbClr val="202020"/>
                </a:solidFill>
                <a:latin typeface="Montserrat"/>
              </a:defRPr>
            </a:pPr>
            <a:r>
              <a:t>Performance reports with recommendations</a:t>
            </a:r>
          </a:p>
          <a:p>
            <a:pPr>
              <a:spcAft>
                <a:spcPts val="800"/>
              </a:spcAft>
              <a:defRPr sz="1600" b="0">
                <a:solidFill>
                  <a:srgbClr val="202020"/>
                </a:solidFill>
                <a:latin typeface="Montserrat"/>
              </a:defRPr>
            </a:pPr>
            <a:r>
              <a:t>Optimisation log</a:t>
            </a:r>
          </a:p>
          <a:p>
            <a:pPr>
              <a:spcAft>
                <a:spcPts val="800"/>
              </a:spcAft>
              <a:defRPr sz="1600" b="0">
                <a:solidFill>
                  <a:srgbClr val="202020"/>
                </a:solidFill>
                <a:latin typeface="Montserrat"/>
              </a:defRPr>
            </a:pPr>
            <a:r>
              <a:t>CPL, CPM &amp; ROAS improvement targets</a:t>
            </a:r>
          </a:p>
        </p:txBody>
      </p:sp>
      <p:sp>
        <p:nvSpPr>
          <p:cNvPr id="44" name="TextBox 43"/>
          <p:cNvSpPr txBox="1"/>
          <p:nvPr/>
        </p:nvSpPr>
        <p:spPr>
          <a:xfrm>
            <a:off x="5852160" y="4709160"/>
            <a:ext cx="7863840" cy="27432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PROPOSED POSITION OWNERSHIP</a:t>
            </a:r>
          </a:p>
        </p:txBody>
      </p:sp>
      <p:sp>
        <p:nvSpPr>
          <p:cNvPr id="45" name="TextBox 44"/>
          <p:cNvSpPr txBox="1"/>
          <p:nvPr/>
        </p:nvSpPr>
        <p:spPr>
          <a:xfrm>
            <a:off x="5852160" y="5166360"/>
            <a:ext cx="7863840" cy="1143000"/>
          </a:xfrm>
          <a:prstGeom prst="rect">
            <a:avLst/>
          </a:prstGeom>
          <a:noFill/>
        </p:spPr>
        <p:txBody>
          <a:bodyPr wrap="square" lIns="27432" rIns="27432" tIns="0" bIns="0">
            <a:spAutoFit/>
          </a:bodyPr>
          <a:lstStyle/>
          <a:p>
            <a:pPr>
              <a:spcAft>
                <a:spcPts val="800"/>
              </a:spcAft>
              <a:defRPr sz="1500" b="0">
                <a:solidFill>
                  <a:srgbClr val="202020"/>
                </a:solidFill>
                <a:latin typeface="Montserrat"/>
              </a:defRPr>
            </a:pPr>
            <a:r>
              <a:t>MB-01 analyzes and optimizes paid media; SM-01 reports organic performance; AM-01 delivers client reports; MM-01 reviews priorities and coordinates next actions.</a:t>
            </a:r>
          </a:p>
        </p:txBody>
      </p:sp>
      <p:sp>
        <p:nvSpPr>
          <p:cNvPr id="46" name="TextBox 45"/>
          <p:cNvSpPr txBox="1"/>
          <p:nvPr/>
        </p:nvSpPr>
        <p:spPr>
          <a:xfrm>
            <a:off x="5852160" y="6400800"/>
            <a:ext cx="7863840" cy="27432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EXIT / NEXT HANDOFF</a:t>
            </a:r>
          </a:p>
        </p:txBody>
      </p:sp>
      <p:sp>
        <p:nvSpPr>
          <p:cNvPr id="47" name="TextBox 46"/>
          <p:cNvSpPr txBox="1"/>
          <p:nvPr/>
        </p:nvSpPr>
        <p:spPr>
          <a:xfrm>
            <a:off x="5852160" y="6784848"/>
            <a:ext cx="7863840" cy="777240"/>
          </a:xfrm>
          <a:prstGeom prst="rect">
            <a:avLst/>
          </a:prstGeom>
          <a:noFill/>
        </p:spPr>
        <p:txBody>
          <a:bodyPr wrap="square" lIns="27432" rIns="27432" tIns="0" bIns="0">
            <a:spAutoFit/>
          </a:bodyPr>
          <a:lstStyle/>
          <a:p>
            <a:pPr>
              <a:spcAft>
                <a:spcPts val="800"/>
              </a:spcAft>
              <a:defRPr sz="1200" b="0">
                <a:solidFill>
                  <a:srgbClr val="555555"/>
                </a:solidFill>
                <a:latin typeface="Montserrat"/>
              </a:defRPr>
            </a:pPr>
            <a:r>
              <a:t>Validated reporting and a documented test / change log. Feed findings back to Diagnose / Design. Weekly cadence comes from the source deck; exact SLAs require confirmation.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SIX-STAGE OPERATING SYSTEM</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09</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06 / SCALE</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77240" y="2011680"/>
            <a:ext cx="13075920" cy="45720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2084831"/>
            <a:ext cx="12801600" cy="274320"/>
          </a:xfrm>
          <a:prstGeom prst="rect">
            <a:avLst/>
          </a:prstGeom>
          <a:noFill/>
        </p:spPr>
        <p:txBody>
          <a:bodyPr wrap="square" lIns="27432" rIns="27432" tIns="0" bIns="0">
            <a:spAutoFit/>
          </a:bodyPr>
          <a:lstStyle/>
          <a:p>
            <a:pPr>
              <a:spcAft>
                <a:spcPts val="800"/>
              </a:spcAft>
              <a:defRPr sz="1700" b="1">
                <a:solidFill>
                  <a:srgbClr val="7D2B42"/>
                </a:solidFill>
                <a:latin typeface="Montserrat"/>
              </a:defRPr>
            </a:pPr>
            <a:r>
              <a:t>Scale what works.</a:t>
            </a:r>
          </a:p>
        </p:txBody>
      </p:sp>
      <p:sp>
        <p:nvSpPr>
          <p:cNvPr id="38" name="Rectangle 37"/>
          <p:cNvSpPr/>
          <p:nvPr/>
        </p:nvSpPr>
        <p:spPr>
          <a:xfrm>
            <a:off x="777240" y="2743200"/>
            <a:ext cx="4754880" cy="4297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05840" y="2953512"/>
            <a:ext cx="4297680" cy="320040"/>
          </a:xfrm>
          <a:prstGeom prst="rect">
            <a:avLst/>
          </a:prstGeom>
          <a:noFill/>
        </p:spPr>
        <p:txBody>
          <a:bodyPr wrap="square" lIns="27432" rIns="27432" tIns="0" bIns="0">
            <a:spAutoFit/>
          </a:bodyPr>
          <a:lstStyle/>
          <a:p>
            <a:pPr>
              <a:spcAft>
                <a:spcPts val="800"/>
              </a:spcAft>
              <a:defRPr sz="1300" b="1">
                <a:solidFill>
                  <a:srgbClr val="7D2B42"/>
                </a:solidFill>
                <a:latin typeface="Montserrat"/>
              </a:defRPr>
            </a:pPr>
            <a:r>
              <a:t>ACTIVITIES</a:t>
            </a:r>
          </a:p>
        </p:txBody>
      </p:sp>
      <p:sp>
        <p:nvSpPr>
          <p:cNvPr id="40" name="TextBox 39"/>
          <p:cNvSpPr txBox="1"/>
          <p:nvPr/>
        </p:nvSpPr>
        <p:spPr>
          <a:xfrm>
            <a:off x="1005840" y="3566160"/>
            <a:ext cx="4297680" cy="315468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Scaling budget behind winners</a:t>
            </a:r>
          </a:p>
          <a:p>
            <a:pPr>
              <a:spcAft>
                <a:spcPts val="800"/>
              </a:spcAft>
              <a:defRPr sz="1900" b="0">
                <a:solidFill>
                  <a:srgbClr val="202020"/>
                </a:solidFill>
                <a:latin typeface="Montserrat"/>
              </a:defRPr>
            </a:pPr>
            <a:r>
              <a:t>Scaling into new markets</a:t>
            </a:r>
          </a:p>
          <a:p>
            <a:pPr>
              <a:spcAft>
                <a:spcPts val="800"/>
              </a:spcAft>
              <a:defRPr sz="1900" b="0">
                <a:solidFill>
                  <a:srgbClr val="202020"/>
                </a:solidFill>
                <a:latin typeface="Montserrat"/>
              </a:defRPr>
            </a:pPr>
            <a:r>
              <a:t>Scaling new channels</a:t>
            </a:r>
          </a:p>
          <a:p>
            <a:pPr>
              <a:spcAft>
                <a:spcPts val="800"/>
              </a:spcAft>
              <a:defRPr sz="1900" b="0">
                <a:solidFill>
                  <a:srgbClr val="202020"/>
                </a:solidFill>
                <a:latin typeface="Montserrat"/>
              </a:defRPr>
            </a:pPr>
            <a:r>
              <a:t>Retention &amp; loyalty</a:t>
            </a:r>
          </a:p>
          <a:p>
            <a:pPr>
              <a:spcAft>
                <a:spcPts val="800"/>
              </a:spcAft>
              <a:defRPr sz="1900" b="0">
                <a:solidFill>
                  <a:srgbClr val="202020"/>
                </a:solidFill>
                <a:latin typeface="Montserrat"/>
              </a:defRPr>
            </a:pPr>
            <a:r>
              <a:t>Expansion &amp; new revenue lines</a:t>
            </a:r>
          </a:p>
        </p:txBody>
      </p:sp>
      <p:sp>
        <p:nvSpPr>
          <p:cNvPr id="41" name="Rectangle 40"/>
          <p:cNvSpPr/>
          <p:nvPr/>
        </p:nvSpPr>
        <p:spPr>
          <a:xfrm>
            <a:off x="5806440" y="2743200"/>
            <a:ext cx="8046720" cy="1737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035040" y="2944368"/>
            <a:ext cx="7543800" cy="320040"/>
          </a:xfrm>
          <a:prstGeom prst="rect">
            <a:avLst/>
          </a:prstGeom>
          <a:noFill/>
        </p:spPr>
        <p:txBody>
          <a:bodyPr wrap="square" lIns="27432" rIns="27432" tIns="0" bIns="0">
            <a:spAutoFit/>
          </a:bodyPr>
          <a:lstStyle/>
          <a:p>
            <a:pPr>
              <a:spcAft>
                <a:spcPts val="800"/>
              </a:spcAft>
              <a:defRPr sz="1200" b="1">
                <a:solidFill>
                  <a:srgbClr val="7D2B42"/>
                </a:solidFill>
                <a:latin typeface="Montserrat"/>
              </a:defRPr>
            </a:pPr>
            <a:r>
              <a:t>SOURCE DELIVERABLES</a:t>
            </a:r>
          </a:p>
        </p:txBody>
      </p:sp>
      <p:sp>
        <p:nvSpPr>
          <p:cNvPr id="43" name="TextBox 42"/>
          <p:cNvSpPr txBox="1"/>
          <p:nvPr/>
        </p:nvSpPr>
        <p:spPr>
          <a:xfrm>
            <a:off x="6035040" y="3429000"/>
            <a:ext cx="7498079" cy="987552"/>
          </a:xfrm>
          <a:prstGeom prst="rect">
            <a:avLst/>
          </a:prstGeom>
          <a:noFill/>
        </p:spPr>
        <p:txBody>
          <a:bodyPr wrap="square" lIns="27432" rIns="27432" tIns="0" bIns="0">
            <a:spAutoFit/>
          </a:bodyPr>
          <a:lstStyle/>
          <a:p>
            <a:pPr>
              <a:spcAft>
                <a:spcPts val="800"/>
              </a:spcAft>
              <a:defRPr sz="1600" b="0">
                <a:solidFill>
                  <a:srgbClr val="202020"/>
                </a:solidFill>
                <a:latin typeface="Montserrat"/>
              </a:defRPr>
            </a:pPr>
            <a:r>
              <a:t>Scaling plan</a:t>
            </a:r>
          </a:p>
          <a:p>
            <a:pPr>
              <a:spcAft>
                <a:spcPts val="800"/>
              </a:spcAft>
              <a:defRPr sz="1600" b="0">
                <a:solidFill>
                  <a:srgbClr val="202020"/>
                </a:solidFill>
                <a:latin typeface="Montserrat"/>
              </a:defRPr>
            </a:pPr>
            <a:r>
              <a:t>Expansion roadmap</a:t>
            </a:r>
          </a:p>
          <a:p>
            <a:pPr>
              <a:spcAft>
                <a:spcPts val="800"/>
              </a:spcAft>
              <a:defRPr sz="1600" b="0">
                <a:solidFill>
                  <a:srgbClr val="202020"/>
                </a:solidFill>
                <a:latin typeface="Montserrat"/>
              </a:defRPr>
            </a:pPr>
            <a:r>
              <a:t>Sustainable growth objective</a:t>
            </a:r>
          </a:p>
        </p:txBody>
      </p:sp>
      <p:sp>
        <p:nvSpPr>
          <p:cNvPr id="44" name="TextBox 43"/>
          <p:cNvSpPr txBox="1"/>
          <p:nvPr/>
        </p:nvSpPr>
        <p:spPr>
          <a:xfrm>
            <a:off x="5852160" y="4709160"/>
            <a:ext cx="7863840" cy="27432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PROPOSED POSITION OWNERSHIP</a:t>
            </a:r>
          </a:p>
        </p:txBody>
      </p:sp>
      <p:sp>
        <p:nvSpPr>
          <p:cNvPr id="45" name="TextBox 44"/>
          <p:cNvSpPr txBox="1"/>
          <p:nvPr/>
        </p:nvSpPr>
        <p:spPr>
          <a:xfrm>
            <a:off x="5852160" y="5166360"/>
            <a:ext cx="7863840" cy="1143000"/>
          </a:xfrm>
          <a:prstGeom prst="rect">
            <a:avLst/>
          </a:prstGeom>
          <a:noFill/>
        </p:spPr>
        <p:txBody>
          <a:bodyPr wrap="square" lIns="27432" rIns="27432" tIns="0" bIns="0">
            <a:spAutoFit/>
          </a:bodyPr>
          <a:lstStyle/>
          <a:p>
            <a:pPr>
              <a:spcAft>
                <a:spcPts val="800"/>
              </a:spcAft>
              <a:defRPr sz="1500" b="0">
                <a:solidFill>
                  <a:srgbClr val="202020"/>
                </a:solidFill>
                <a:latin typeface="Montserrat"/>
              </a:defRPr>
            </a:pPr>
            <a:r>
              <a:t>MM-01 leads scaling decisions; MB-01 proposes channel expansion and budget changes; AM-01 coordinates scope and client agreement. BD-01 / SA-01 support new commercial opportunities.</a:t>
            </a:r>
          </a:p>
        </p:txBody>
      </p:sp>
      <p:sp>
        <p:nvSpPr>
          <p:cNvPr id="46" name="TextBox 45"/>
          <p:cNvSpPr txBox="1"/>
          <p:nvPr/>
        </p:nvSpPr>
        <p:spPr>
          <a:xfrm>
            <a:off x="5852160" y="6400800"/>
            <a:ext cx="7863840" cy="27432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EXIT / NEXT HANDOFF</a:t>
            </a:r>
          </a:p>
        </p:txBody>
      </p:sp>
      <p:sp>
        <p:nvSpPr>
          <p:cNvPr id="47" name="TextBox 46"/>
          <p:cNvSpPr txBox="1"/>
          <p:nvPr/>
        </p:nvSpPr>
        <p:spPr>
          <a:xfrm>
            <a:off x="5852160" y="6784848"/>
            <a:ext cx="7863840" cy="777240"/>
          </a:xfrm>
          <a:prstGeom prst="rect">
            <a:avLst/>
          </a:prstGeom>
          <a:noFill/>
        </p:spPr>
        <p:txBody>
          <a:bodyPr wrap="square" lIns="27432" rIns="27432" tIns="0" bIns="0">
            <a:spAutoFit/>
          </a:bodyPr>
          <a:lstStyle/>
          <a:p>
            <a:pPr>
              <a:spcAft>
                <a:spcPts val="800"/>
              </a:spcAft>
              <a:defRPr sz="1200" b="0">
                <a:solidFill>
                  <a:srgbClr val="555555"/>
                </a:solidFill>
                <a:latin typeface="Montserrat"/>
              </a:defRPr>
            </a:pPr>
            <a:r>
              <a:t>Evidence supports expansion; authorized budget and revised scope are recorded. New markets / channels re-enter Discover. Sustainable growth is an objective, not a guaranteed result.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PMP GROWTH OS / INTEGRATED PROCESS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10</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WHERE THE TASK WORKFLOWS FIT</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94560"/>
            <a:ext cx="2788920" cy="8229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68680" y="2377440"/>
            <a:ext cx="2514600" cy="548640"/>
          </a:xfrm>
          <a:prstGeom prst="rect">
            <a:avLst/>
          </a:prstGeom>
          <a:noFill/>
        </p:spPr>
        <p:txBody>
          <a:bodyPr wrap="square" lIns="27432" rIns="27432" tIns="0" bIns="0">
            <a:spAutoFit/>
          </a:bodyPr>
          <a:lstStyle/>
          <a:p>
            <a:pPr>
              <a:spcAft>
                <a:spcPts val="800"/>
              </a:spcAft>
              <a:defRPr sz="1200" b="1">
                <a:solidFill>
                  <a:srgbClr val="FFFFFF"/>
                </a:solidFill>
                <a:latin typeface="Montserrat"/>
              </a:defRPr>
            </a:pPr>
            <a:r>
              <a:t>PRE-ENGAGEMENT</a:t>
            </a:r>
          </a:p>
        </p:txBody>
      </p:sp>
      <p:sp>
        <p:nvSpPr>
          <p:cNvPr id="38" name="TextBox 37"/>
          <p:cNvSpPr txBox="1"/>
          <p:nvPr/>
        </p:nvSpPr>
        <p:spPr>
          <a:xfrm>
            <a:off x="3749039" y="2212848"/>
            <a:ext cx="9966960" cy="365760"/>
          </a:xfrm>
          <a:prstGeom prst="rect">
            <a:avLst/>
          </a:prstGeom>
          <a:noFill/>
        </p:spPr>
        <p:txBody>
          <a:bodyPr wrap="square" lIns="27432" rIns="27432" tIns="0" bIns="0">
            <a:spAutoFit/>
          </a:bodyPr>
          <a:lstStyle/>
          <a:p>
            <a:pPr>
              <a:spcAft>
                <a:spcPts val="800"/>
              </a:spcAft>
              <a:defRPr sz="1600" b="1">
                <a:solidFill>
                  <a:srgbClr val="7D2B42"/>
                </a:solidFill>
                <a:latin typeface="Montserrat"/>
              </a:defRPr>
            </a:pPr>
            <a:r>
              <a:t>Growth Score™ / Audit™ → scope and commercial close</a:t>
            </a:r>
          </a:p>
        </p:txBody>
      </p:sp>
      <p:sp>
        <p:nvSpPr>
          <p:cNvPr id="39" name="TextBox 38"/>
          <p:cNvSpPr txBox="1"/>
          <p:nvPr/>
        </p:nvSpPr>
        <p:spPr>
          <a:xfrm>
            <a:off x="3749039" y="2651760"/>
            <a:ext cx="9966960" cy="365760"/>
          </a:xfrm>
          <a:prstGeom prst="rect">
            <a:avLst/>
          </a:prstGeom>
          <a:noFill/>
        </p:spPr>
        <p:txBody>
          <a:bodyPr wrap="square" lIns="27432" rIns="27432" tIns="0" bIns="0">
            <a:spAutoFit/>
          </a:bodyPr>
          <a:lstStyle/>
          <a:p>
            <a:pPr>
              <a:spcAft>
                <a:spcPts val="800"/>
              </a:spcAft>
              <a:defRPr sz="1300" b="0">
                <a:solidFill>
                  <a:srgbClr val="555555"/>
                </a:solidFill>
                <a:latin typeface="Montserrat"/>
              </a:defRPr>
            </a:pPr>
            <a:r>
              <a:t>BD-01 / SA-01; strategic input MM-01</a:t>
            </a:r>
          </a:p>
        </p:txBody>
      </p:sp>
      <p:sp>
        <p:nvSpPr>
          <p:cNvPr id="40" name="Rectangle 39"/>
          <p:cNvSpPr/>
          <p:nvPr/>
        </p:nvSpPr>
        <p:spPr>
          <a:xfrm>
            <a:off x="731520" y="3200400"/>
            <a:ext cx="2788920" cy="8229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8680" y="3383280"/>
            <a:ext cx="2514600" cy="548640"/>
          </a:xfrm>
          <a:prstGeom prst="rect">
            <a:avLst/>
          </a:prstGeom>
          <a:noFill/>
        </p:spPr>
        <p:txBody>
          <a:bodyPr wrap="square" lIns="27432" rIns="27432" tIns="0" bIns="0">
            <a:spAutoFit/>
          </a:bodyPr>
          <a:lstStyle/>
          <a:p>
            <a:pPr>
              <a:spcAft>
                <a:spcPts val="800"/>
              </a:spcAft>
              <a:defRPr sz="1200" b="1">
                <a:solidFill>
                  <a:srgbClr val="FFFFFF"/>
                </a:solidFill>
                <a:latin typeface="Montserrat"/>
              </a:defRPr>
            </a:pPr>
            <a:r>
              <a:t>DISCOVER → DESIGN</a:t>
            </a:r>
          </a:p>
        </p:txBody>
      </p:sp>
      <p:sp>
        <p:nvSpPr>
          <p:cNvPr id="42" name="TextBox 41"/>
          <p:cNvSpPr txBox="1"/>
          <p:nvPr/>
        </p:nvSpPr>
        <p:spPr>
          <a:xfrm>
            <a:off x="3749039" y="3218688"/>
            <a:ext cx="9966960" cy="365760"/>
          </a:xfrm>
          <a:prstGeom prst="rect">
            <a:avLst/>
          </a:prstGeom>
          <a:noFill/>
        </p:spPr>
        <p:txBody>
          <a:bodyPr wrap="square" lIns="27432" rIns="27432" tIns="0" bIns="0">
            <a:spAutoFit/>
          </a:bodyPr>
          <a:lstStyle/>
          <a:p>
            <a:pPr>
              <a:spcAft>
                <a:spcPts val="800"/>
              </a:spcAft>
              <a:defRPr sz="1600" b="1">
                <a:solidFill>
                  <a:srgbClr val="7D2B42"/>
                </a:solidFill>
                <a:latin typeface="Montserrat"/>
              </a:defRPr>
            </a:pPr>
            <a:r>
              <a:t>Client onboarding, discovery, diagnosis and Growth Blueprint™</a:t>
            </a:r>
          </a:p>
        </p:txBody>
      </p:sp>
      <p:sp>
        <p:nvSpPr>
          <p:cNvPr id="43" name="TextBox 42"/>
          <p:cNvSpPr txBox="1"/>
          <p:nvPr/>
        </p:nvSpPr>
        <p:spPr>
          <a:xfrm>
            <a:off x="3749039" y="3657600"/>
            <a:ext cx="9966960" cy="365760"/>
          </a:xfrm>
          <a:prstGeom prst="rect">
            <a:avLst/>
          </a:prstGeom>
          <a:noFill/>
        </p:spPr>
        <p:txBody>
          <a:bodyPr wrap="square" lIns="27432" rIns="27432" tIns="0" bIns="0">
            <a:spAutoFit/>
          </a:bodyPr>
          <a:lstStyle/>
          <a:p>
            <a:pPr>
              <a:spcAft>
                <a:spcPts val="800"/>
              </a:spcAft>
              <a:defRPr sz="1300" b="0">
                <a:solidFill>
                  <a:srgbClr val="555555"/>
                </a:solidFill>
                <a:latin typeface="Montserrat"/>
              </a:defRPr>
            </a:pPr>
            <a:r>
              <a:t>AM-01 coordinates; MM-01 leads; specialist leads contribute</a:t>
            </a:r>
          </a:p>
        </p:txBody>
      </p:sp>
      <p:sp>
        <p:nvSpPr>
          <p:cNvPr id="44" name="Rectangle 43"/>
          <p:cNvSpPr/>
          <p:nvPr/>
        </p:nvSpPr>
        <p:spPr>
          <a:xfrm>
            <a:off x="731520" y="4206240"/>
            <a:ext cx="2788920" cy="8229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68680" y="4389120"/>
            <a:ext cx="2514600" cy="548640"/>
          </a:xfrm>
          <a:prstGeom prst="rect">
            <a:avLst/>
          </a:prstGeom>
          <a:noFill/>
        </p:spPr>
        <p:txBody>
          <a:bodyPr wrap="square" lIns="27432" rIns="27432" tIns="0" bIns="0">
            <a:spAutoFit/>
          </a:bodyPr>
          <a:lstStyle/>
          <a:p>
            <a:pPr>
              <a:spcAft>
                <a:spcPts val="800"/>
              </a:spcAft>
              <a:defRPr sz="1200" b="1">
                <a:solidFill>
                  <a:srgbClr val="FFFFFF"/>
                </a:solidFill>
                <a:latin typeface="Montserrat"/>
              </a:defRPr>
            </a:pPr>
            <a:r>
              <a:t>DEPLOY</a:t>
            </a:r>
          </a:p>
        </p:txBody>
      </p:sp>
      <p:sp>
        <p:nvSpPr>
          <p:cNvPr id="46" name="TextBox 45"/>
          <p:cNvSpPr txBox="1"/>
          <p:nvPr/>
        </p:nvSpPr>
        <p:spPr>
          <a:xfrm>
            <a:off x="3749039" y="4224527"/>
            <a:ext cx="9966960" cy="365760"/>
          </a:xfrm>
          <a:prstGeom prst="rect">
            <a:avLst/>
          </a:prstGeom>
          <a:noFill/>
        </p:spPr>
        <p:txBody>
          <a:bodyPr wrap="square" lIns="27432" rIns="27432" tIns="0" bIns="0">
            <a:spAutoFit/>
          </a:bodyPr>
          <a:lstStyle/>
          <a:p>
            <a:pPr>
              <a:spcAft>
                <a:spcPts val="800"/>
              </a:spcAft>
              <a:defRPr sz="1600" b="1">
                <a:solidFill>
                  <a:srgbClr val="7D2B42"/>
                </a:solidFill>
                <a:latin typeface="Montserrat"/>
              </a:defRPr>
            </a:pPr>
            <a:r>
              <a:t>Social post · Video reel · Monthly calendar · Carousel · Paid campaign</a:t>
            </a:r>
          </a:p>
        </p:txBody>
      </p:sp>
      <p:sp>
        <p:nvSpPr>
          <p:cNvPr id="47" name="TextBox 46"/>
          <p:cNvSpPr txBox="1"/>
          <p:nvPr/>
        </p:nvSpPr>
        <p:spPr>
          <a:xfrm>
            <a:off x="3749039" y="4663440"/>
            <a:ext cx="9966960" cy="365760"/>
          </a:xfrm>
          <a:prstGeom prst="rect">
            <a:avLst/>
          </a:prstGeom>
          <a:noFill/>
        </p:spPr>
        <p:txBody>
          <a:bodyPr wrap="square" lIns="27432" rIns="27432" tIns="0" bIns="0">
            <a:spAutoFit/>
          </a:bodyPr>
          <a:lstStyle/>
          <a:p>
            <a:pPr>
              <a:spcAft>
                <a:spcPts val="800"/>
              </a:spcAft>
              <a:defRPr sz="1300" b="0">
                <a:solidFill>
                  <a:srgbClr val="555555"/>
                </a:solidFill>
                <a:latin typeface="Montserrat"/>
              </a:defRPr>
            </a:pPr>
            <a:r>
              <a:t>Content / Creative QC → client authorization → SM-01 / MB-01</a:t>
            </a:r>
          </a:p>
        </p:txBody>
      </p:sp>
      <p:sp>
        <p:nvSpPr>
          <p:cNvPr id="48" name="Rectangle 47"/>
          <p:cNvSpPr/>
          <p:nvPr/>
        </p:nvSpPr>
        <p:spPr>
          <a:xfrm>
            <a:off x="731520" y="5212080"/>
            <a:ext cx="2788920" cy="8229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68680" y="5394960"/>
            <a:ext cx="2514600" cy="548640"/>
          </a:xfrm>
          <a:prstGeom prst="rect">
            <a:avLst/>
          </a:prstGeom>
          <a:noFill/>
        </p:spPr>
        <p:txBody>
          <a:bodyPr wrap="square" lIns="27432" rIns="27432" tIns="0" bIns="0">
            <a:spAutoFit/>
          </a:bodyPr>
          <a:lstStyle/>
          <a:p>
            <a:pPr>
              <a:spcAft>
                <a:spcPts val="800"/>
              </a:spcAft>
              <a:defRPr sz="1200" b="1">
                <a:solidFill>
                  <a:srgbClr val="FFFFFF"/>
                </a:solidFill>
                <a:latin typeface="Montserrat"/>
              </a:defRPr>
            </a:pPr>
            <a:r>
              <a:t>DEPLOY ↔ OPTIMISE</a:t>
            </a:r>
          </a:p>
        </p:txBody>
      </p:sp>
      <p:sp>
        <p:nvSpPr>
          <p:cNvPr id="50" name="TextBox 49"/>
          <p:cNvSpPr txBox="1"/>
          <p:nvPr/>
        </p:nvSpPr>
        <p:spPr>
          <a:xfrm>
            <a:off x="3749039" y="5230368"/>
            <a:ext cx="9966960" cy="365760"/>
          </a:xfrm>
          <a:prstGeom prst="rect">
            <a:avLst/>
          </a:prstGeom>
          <a:noFill/>
        </p:spPr>
        <p:txBody>
          <a:bodyPr wrap="square" lIns="27432" rIns="27432" tIns="0" bIns="0">
            <a:spAutoFit/>
          </a:bodyPr>
          <a:lstStyle/>
          <a:p>
            <a:pPr>
              <a:spcAft>
                <a:spcPts val="800"/>
              </a:spcAft>
              <a:defRPr sz="1600" b="1">
                <a:solidFill>
                  <a:srgbClr val="7D2B42"/>
                </a:solidFill>
                <a:latin typeface="Montserrat"/>
              </a:defRPr>
            </a:pPr>
            <a:r>
              <a:t>Client revision · Urgent request</a:t>
            </a:r>
          </a:p>
        </p:txBody>
      </p:sp>
      <p:sp>
        <p:nvSpPr>
          <p:cNvPr id="51" name="TextBox 50"/>
          <p:cNvSpPr txBox="1"/>
          <p:nvPr/>
        </p:nvSpPr>
        <p:spPr>
          <a:xfrm>
            <a:off x="3749039" y="5669280"/>
            <a:ext cx="9966960" cy="365760"/>
          </a:xfrm>
          <a:prstGeom prst="rect">
            <a:avLst/>
          </a:prstGeom>
          <a:noFill/>
        </p:spPr>
        <p:txBody>
          <a:bodyPr wrap="square" lIns="27432" rIns="27432" tIns="0" bIns="0">
            <a:spAutoFit/>
          </a:bodyPr>
          <a:lstStyle/>
          <a:p>
            <a:pPr>
              <a:spcAft>
                <a:spcPts val="800"/>
              </a:spcAft>
              <a:defRPr sz="1300" b="0">
                <a:solidFill>
                  <a:srgbClr val="555555"/>
                </a:solidFill>
                <a:latin typeface="Montserrat"/>
              </a:defRPr>
            </a:pPr>
            <a:r>
              <a:t>Route back to the correct stage; changed strategy returns to Design</a:t>
            </a:r>
          </a:p>
        </p:txBody>
      </p:sp>
      <p:sp>
        <p:nvSpPr>
          <p:cNvPr id="52" name="Rectangle 51"/>
          <p:cNvSpPr/>
          <p:nvPr/>
        </p:nvSpPr>
        <p:spPr>
          <a:xfrm>
            <a:off x="731520" y="6217920"/>
            <a:ext cx="2788920" cy="8229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68680" y="6400800"/>
            <a:ext cx="2514600" cy="548640"/>
          </a:xfrm>
          <a:prstGeom prst="rect">
            <a:avLst/>
          </a:prstGeom>
          <a:noFill/>
        </p:spPr>
        <p:txBody>
          <a:bodyPr wrap="square" lIns="27432" rIns="27432" tIns="0" bIns="0">
            <a:spAutoFit/>
          </a:bodyPr>
          <a:lstStyle/>
          <a:p>
            <a:pPr>
              <a:spcAft>
                <a:spcPts val="800"/>
              </a:spcAft>
              <a:defRPr sz="1200" b="1">
                <a:solidFill>
                  <a:srgbClr val="FFFFFF"/>
                </a:solidFill>
                <a:latin typeface="Montserrat"/>
              </a:defRPr>
            </a:pPr>
            <a:r>
              <a:t>OPTIMISE → SCALE</a:t>
            </a:r>
          </a:p>
        </p:txBody>
      </p:sp>
      <p:sp>
        <p:nvSpPr>
          <p:cNvPr id="54" name="TextBox 53"/>
          <p:cNvSpPr txBox="1"/>
          <p:nvPr/>
        </p:nvSpPr>
        <p:spPr>
          <a:xfrm>
            <a:off x="3749039" y="6236208"/>
            <a:ext cx="9966960" cy="365760"/>
          </a:xfrm>
          <a:prstGeom prst="rect">
            <a:avLst/>
          </a:prstGeom>
          <a:noFill/>
        </p:spPr>
        <p:txBody>
          <a:bodyPr wrap="square" lIns="27432" rIns="27432" tIns="0" bIns="0">
            <a:spAutoFit/>
          </a:bodyPr>
          <a:lstStyle/>
          <a:p>
            <a:pPr>
              <a:spcAft>
                <a:spcPts val="800"/>
              </a:spcAft>
              <a:defRPr sz="1600" b="1">
                <a:solidFill>
                  <a:srgbClr val="7D2B42"/>
                </a:solidFill>
                <a:latin typeface="Montserrat"/>
              </a:defRPr>
            </a:pPr>
            <a:r>
              <a:t>Performance report → evidence-led expansion decision</a:t>
            </a:r>
          </a:p>
        </p:txBody>
      </p:sp>
      <p:sp>
        <p:nvSpPr>
          <p:cNvPr id="55" name="TextBox 54"/>
          <p:cNvSpPr txBox="1"/>
          <p:nvPr/>
        </p:nvSpPr>
        <p:spPr>
          <a:xfrm>
            <a:off x="3749039" y="6675120"/>
            <a:ext cx="9966960" cy="365760"/>
          </a:xfrm>
          <a:prstGeom prst="rect">
            <a:avLst/>
          </a:prstGeom>
          <a:noFill/>
        </p:spPr>
        <p:txBody>
          <a:bodyPr wrap="square" lIns="27432" rIns="27432" tIns="0" bIns="0">
            <a:spAutoFit/>
          </a:bodyPr>
          <a:lstStyle/>
          <a:p>
            <a:pPr>
              <a:spcAft>
                <a:spcPts val="800"/>
              </a:spcAft>
              <a:defRPr sz="1300" b="0">
                <a:solidFill>
                  <a:srgbClr val="555555"/>
                </a:solidFill>
                <a:latin typeface="Montserrat"/>
              </a:defRPr>
            </a:pPr>
            <a:r>
              <a:t>Channel specialists → AM-01 → MM-01; budget and scope gates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PMP GROWTH OS / INTEGRATED PROCESS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11</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ONE SYSTEM. INDUSTRY-SPECIFIC MODULES.</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42316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31520" y="242316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6112" y="2606040"/>
            <a:ext cx="607161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HEALTHCARE GROWTH MODULE™</a:t>
            </a:r>
          </a:p>
        </p:txBody>
      </p:sp>
      <p:sp>
        <p:nvSpPr>
          <p:cNvPr id="39" name="TextBox 38"/>
          <p:cNvSpPr txBox="1"/>
          <p:nvPr/>
        </p:nvSpPr>
        <p:spPr>
          <a:xfrm>
            <a:off x="896112" y="3502152"/>
            <a:ext cx="6071616" cy="82296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Patient journey · Medical authority</a:t>
            </a:r>
          </a:p>
          <a:p>
            <a:pPr>
              <a:spcAft>
                <a:spcPts val="800"/>
              </a:spcAft>
              <a:defRPr sz="1400" b="0">
                <a:solidFill>
                  <a:srgbClr val="555555"/>
                </a:solidFill>
                <a:latin typeface="Montserrat"/>
              </a:defRPr>
            </a:pPr>
            <a:r>
              <a:t>Appointment funnel · Referral system</a:t>
            </a:r>
          </a:p>
        </p:txBody>
      </p:sp>
      <p:sp>
        <p:nvSpPr>
          <p:cNvPr id="40" name="Rectangle 39"/>
          <p:cNvSpPr/>
          <p:nvPr/>
        </p:nvSpPr>
        <p:spPr>
          <a:xfrm>
            <a:off x="7543800" y="242316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543800" y="242316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708392" y="2606040"/>
            <a:ext cx="607161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REAL ESTATE GROWTH MODULE™</a:t>
            </a:r>
          </a:p>
        </p:txBody>
      </p:sp>
      <p:sp>
        <p:nvSpPr>
          <p:cNvPr id="43" name="TextBox 42"/>
          <p:cNvSpPr txBox="1"/>
          <p:nvPr/>
        </p:nvSpPr>
        <p:spPr>
          <a:xfrm>
            <a:off x="7708392" y="3502152"/>
            <a:ext cx="6071616" cy="82296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Buyer journey · Lead scoring</a:t>
            </a:r>
          </a:p>
          <a:p>
            <a:pPr>
              <a:spcAft>
                <a:spcPts val="800"/>
              </a:spcAft>
              <a:defRPr sz="1400" b="0">
                <a:solidFill>
                  <a:srgbClr val="555555"/>
                </a:solidFill>
                <a:latin typeface="Montserrat"/>
              </a:defRPr>
            </a:pPr>
            <a:r>
              <a:t>CRM · Sales pipeline</a:t>
            </a:r>
          </a:p>
        </p:txBody>
      </p:sp>
      <p:sp>
        <p:nvSpPr>
          <p:cNvPr id="44" name="Rectangle 43"/>
          <p:cNvSpPr/>
          <p:nvPr/>
        </p:nvSpPr>
        <p:spPr>
          <a:xfrm>
            <a:off x="731520" y="470916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31520" y="470916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6112" y="4892040"/>
            <a:ext cx="607161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HOSPITALITY GROWTH MODULE™</a:t>
            </a:r>
          </a:p>
        </p:txBody>
      </p:sp>
      <p:sp>
        <p:nvSpPr>
          <p:cNvPr id="47" name="TextBox 46"/>
          <p:cNvSpPr txBox="1"/>
          <p:nvPr/>
        </p:nvSpPr>
        <p:spPr>
          <a:xfrm>
            <a:off x="896112" y="5788152"/>
            <a:ext cx="6071616" cy="82296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Reservation funnel · Reviews</a:t>
            </a:r>
          </a:p>
          <a:p>
            <a:pPr>
              <a:spcAft>
                <a:spcPts val="800"/>
              </a:spcAft>
              <a:defRPr sz="1400" b="0">
                <a:solidFill>
                  <a:srgbClr val="555555"/>
                </a:solidFill>
                <a:latin typeface="Montserrat"/>
              </a:defRPr>
            </a:pPr>
            <a:r>
              <a:t>Loyalty · Retention</a:t>
            </a:r>
          </a:p>
        </p:txBody>
      </p:sp>
      <p:sp>
        <p:nvSpPr>
          <p:cNvPr id="48" name="Rectangle 47"/>
          <p:cNvSpPr/>
          <p:nvPr/>
        </p:nvSpPr>
        <p:spPr>
          <a:xfrm>
            <a:off x="7543800" y="470916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543800" y="470916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708392" y="4892040"/>
            <a:ext cx="607161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LUXURY BRAND MODULE™</a:t>
            </a:r>
          </a:p>
        </p:txBody>
      </p:sp>
      <p:sp>
        <p:nvSpPr>
          <p:cNvPr id="51" name="TextBox 50"/>
          <p:cNvSpPr txBox="1"/>
          <p:nvPr/>
        </p:nvSpPr>
        <p:spPr>
          <a:xfrm>
            <a:off x="7708392" y="5788152"/>
            <a:ext cx="6071616" cy="82296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Brand experience · Storytelling</a:t>
            </a:r>
          </a:p>
          <a:p>
            <a:pPr>
              <a:spcAft>
                <a:spcPts val="800"/>
              </a:spcAft>
              <a:defRPr sz="1400" b="0">
                <a:solidFill>
                  <a:srgbClr val="555555"/>
                </a:solidFill>
                <a:latin typeface="Montserrat"/>
              </a:defRPr>
            </a:pPr>
            <a:r>
              <a:t>Community · Premium positioning</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7D2B42"/>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FFFFFF"/>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PMP GROWTH OS / INTEGRATED PROCESS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FFFFFF"/>
                </a:solidFill>
                <a:latin typeface="Montserrat"/>
              </a:defRPr>
            </a:pPr>
            <a:r>
              <a:t>12</a:t>
            </a:r>
          </a:p>
        </p:txBody>
      </p:sp>
      <p:cxnSp>
        <p:nvCxnSpPr>
          <p:cNvPr id="32" name="Connector 31"/>
          <p:cNvCxnSpPr/>
          <p:nvPr/>
        </p:nvCxnSpPr>
        <p:spPr>
          <a:xfrm>
            <a:off x="594360" y="841248"/>
            <a:ext cx="13441680" cy="0"/>
          </a:xfrm>
          <a:prstGeom prst="line">
            <a:avLst/>
          </a:prstGeom>
          <a:ln w="10160">
            <a:solidFill>
              <a:srgbClr val="FFFFFF"/>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FFFFFF"/>
                </a:solidFill>
                <a:latin typeface="Bebas Neue"/>
              </a:defRPr>
            </a:pPr>
            <a:r>
              <a:t>THE CONNECTED PMP GROWTH ARCHITECTURE</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FFFFFF"/>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FFFFFF"/>
                </a:solidFill>
                <a:latin typeface="Montserrat"/>
              </a:defRPr>
            </a:pPr>
            <a:r>
              <a:t>EDITABLE WORKING DRAFT · OTHER REPORTING &amp; POLICIES PROPOSED</a:t>
            </a:r>
          </a:p>
        </p:txBody>
      </p:sp>
      <p:sp>
        <p:nvSpPr>
          <p:cNvPr id="36" name="Freeform 35"/>
          <p:cNvSpPr/>
          <p:nvPr/>
        </p:nvSpPr>
        <p:spPr>
          <a:xfrm>
            <a:off x="777240" y="2286000"/>
            <a:ext cx="3840480" cy="1920240"/>
          </a:xfrm>
          <a:custGeom>
            <a:avLst/>
            <a:gdLst/>
            <a:ahLst/>
            <a:cxnLst/>
            <a:rect l="l" t="t" r="r" b="b"/>
            <a:pathLst>
              <a:path w="420" h="210">
                <a:moveTo>
                  <a:pt x="0" y="10"/>
                </a:moveTo>
                <a:lnTo>
                  <a:pt x="36" y="0"/>
                </a:lnTo>
                <a:lnTo>
                  <a:pt x="73" y="8"/>
                </a:lnTo>
                <a:lnTo>
                  <a:pt x="115" y="0"/>
                </a:lnTo>
                <a:lnTo>
                  <a:pt x="157" y="7"/>
                </a:lnTo>
                <a:lnTo>
                  <a:pt x="210" y="0"/>
                </a:lnTo>
                <a:lnTo>
                  <a:pt x="252" y="8"/>
                </a:lnTo>
                <a:lnTo>
                  <a:pt x="294" y="0"/>
                </a:lnTo>
                <a:lnTo>
                  <a:pt x="336" y="8"/>
                </a:lnTo>
                <a:lnTo>
                  <a:pt x="367" y="0"/>
                </a:lnTo>
                <a:lnTo>
                  <a:pt x="420" y="10"/>
                </a:lnTo>
                <a:lnTo>
                  <a:pt x="413" y="47"/>
                </a:lnTo>
                <a:lnTo>
                  <a:pt x="420" y="94"/>
                </a:lnTo>
                <a:lnTo>
                  <a:pt x="412" y="136"/>
                </a:lnTo>
                <a:lnTo>
                  <a:pt x="420" y="178"/>
                </a:lnTo>
                <a:lnTo>
                  <a:pt x="411" y="210"/>
                </a:lnTo>
                <a:lnTo>
                  <a:pt x="367" y="205"/>
                </a:lnTo>
                <a:lnTo>
                  <a:pt x="315" y="210"/>
                </a:lnTo>
                <a:lnTo>
                  <a:pt x="262" y="203"/>
                </a:lnTo>
                <a:lnTo>
                  <a:pt x="210" y="210"/>
                </a:lnTo>
                <a:lnTo>
                  <a:pt x="157" y="203"/>
                </a:lnTo>
                <a:lnTo>
                  <a:pt x="105" y="210"/>
                </a:lnTo>
                <a:lnTo>
                  <a:pt x="52" y="203"/>
                </a:lnTo>
                <a:lnTo>
                  <a:pt x="0" y="210"/>
                </a:lnTo>
                <a:lnTo>
                  <a:pt x="7" y="157"/>
                </a:lnTo>
                <a:lnTo>
                  <a:pt x="0" y="115"/>
                </a:lnTo>
                <a:lnTo>
                  <a:pt x="6" y="63"/>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60120" y="2468880"/>
            <a:ext cx="3474720" cy="502920"/>
          </a:xfrm>
          <a:prstGeom prst="rect">
            <a:avLst/>
          </a:prstGeom>
          <a:noFill/>
        </p:spPr>
        <p:txBody>
          <a:bodyPr wrap="square" lIns="27432" rIns="27432" tIns="0" bIns="0">
            <a:spAutoFit/>
          </a:bodyPr>
          <a:lstStyle/>
          <a:p>
            <a:pPr>
              <a:spcAft>
                <a:spcPts val="800"/>
              </a:spcAft>
              <a:defRPr sz="1600" b="1">
                <a:solidFill>
                  <a:srgbClr val="7D2B42"/>
                </a:solidFill>
                <a:latin typeface="Montserrat"/>
              </a:defRPr>
            </a:pPr>
            <a:r>
              <a:t>OPEN THE RELATIONSHIP</a:t>
            </a:r>
          </a:p>
        </p:txBody>
      </p:sp>
      <p:sp>
        <p:nvSpPr>
          <p:cNvPr id="38" name="TextBox 37"/>
          <p:cNvSpPr txBox="1"/>
          <p:nvPr/>
        </p:nvSpPr>
        <p:spPr>
          <a:xfrm>
            <a:off x="960120" y="3108960"/>
            <a:ext cx="3474720" cy="914400"/>
          </a:xfrm>
          <a:prstGeom prst="rect">
            <a:avLst/>
          </a:prstGeom>
          <a:noFill/>
        </p:spPr>
        <p:txBody>
          <a:bodyPr wrap="square" lIns="27432" rIns="27432" tIns="0" bIns="0">
            <a:spAutoFit/>
          </a:bodyPr>
          <a:lstStyle/>
          <a:p>
            <a:pPr>
              <a:spcAft>
                <a:spcPts val="800"/>
              </a:spcAft>
              <a:defRPr sz="1700" b="0">
                <a:solidFill>
                  <a:srgbClr val="202020"/>
                </a:solidFill>
                <a:latin typeface="Montserrat"/>
              </a:defRPr>
            </a:pPr>
            <a:r>
              <a:t>Growth Score™ + Audit™</a:t>
            </a:r>
          </a:p>
          <a:p>
            <a:pPr>
              <a:spcAft>
                <a:spcPts val="800"/>
              </a:spcAft>
              <a:defRPr sz="1700" b="0">
                <a:solidFill>
                  <a:srgbClr val="202020"/>
                </a:solidFill>
                <a:latin typeface="Montserrat"/>
              </a:defRPr>
            </a:pPr>
            <a:r>
              <a:t>Discover needs; qualify the opportunity.</a:t>
            </a:r>
          </a:p>
        </p:txBody>
      </p:sp>
      <p:sp>
        <p:nvSpPr>
          <p:cNvPr id="39" name="Freeform 38"/>
          <p:cNvSpPr/>
          <p:nvPr/>
        </p:nvSpPr>
        <p:spPr>
          <a:xfrm>
            <a:off x="5349240" y="2286000"/>
            <a:ext cx="3840480" cy="1920240"/>
          </a:xfrm>
          <a:custGeom>
            <a:avLst/>
            <a:gdLst/>
            <a:ahLst/>
            <a:cxnLst/>
            <a:rect l="l" t="t" r="r" b="b"/>
            <a:pathLst>
              <a:path w="420" h="210">
                <a:moveTo>
                  <a:pt x="0" y="10"/>
                </a:moveTo>
                <a:lnTo>
                  <a:pt x="36" y="0"/>
                </a:lnTo>
                <a:lnTo>
                  <a:pt x="73" y="8"/>
                </a:lnTo>
                <a:lnTo>
                  <a:pt x="115" y="0"/>
                </a:lnTo>
                <a:lnTo>
                  <a:pt x="157" y="7"/>
                </a:lnTo>
                <a:lnTo>
                  <a:pt x="210" y="0"/>
                </a:lnTo>
                <a:lnTo>
                  <a:pt x="252" y="8"/>
                </a:lnTo>
                <a:lnTo>
                  <a:pt x="294" y="0"/>
                </a:lnTo>
                <a:lnTo>
                  <a:pt x="336" y="8"/>
                </a:lnTo>
                <a:lnTo>
                  <a:pt x="367" y="0"/>
                </a:lnTo>
                <a:lnTo>
                  <a:pt x="420" y="10"/>
                </a:lnTo>
                <a:lnTo>
                  <a:pt x="413" y="47"/>
                </a:lnTo>
                <a:lnTo>
                  <a:pt x="420" y="94"/>
                </a:lnTo>
                <a:lnTo>
                  <a:pt x="412" y="136"/>
                </a:lnTo>
                <a:lnTo>
                  <a:pt x="420" y="178"/>
                </a:lnTo>
                <a:lnTo>
                  <a:pt x="411" y="210"/>
                </a:lnTo>
                <a:lnTo>
                  <a:pt x="367" y="205"/>
                </a:lnTo>
                <a:lnTo>
                  <a:pt x="315" y="210"/>
                </a:lnTo>
                <a:lnTo>
                  <a:pt x="262" y="203"/>
                </a:lnTo>
                <a:lnTo>
                  <a:pt x="210" y="210"/>
                </a:lnTo>
                <a:lnTo>
                  <a:pt x="157" y="203"/>
                </a:lnTo>
                <a:lnTo>
                  <a:pt x="105" y="210"/>
                </a:lnTo>
                <a:lnTo>
                  <a:pt x="52" y="203"/>
                </a:lnTo>
                <a:lnTo>
                  <a:pt x="0" y="210"/>
                </a:lnTo>
                <a:lnTo>
                  <a:pt x="7" y="157"/>
                </a:lnTo>
                <a:lnTo>
                  <a:pt x="0" y="115"/>
                </a:lnTo>
                <a:lnTo>
                  <a:pt x="6" y="63"/>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532120" y="2468880"/>
            <a:ext cx="3474720" cy="502920"/>
          </a:xfrm>
          <a:prstGeom prst="rect">
            <a:avLst/>
          </a:prstGeom>
          <a:noFill/>
        </p:spPr>
        <p:txBody>
          <a:bodyPr wrap="square" lIns="27432" rIns="27432" tIns="0" bIns="0">
            <a:spAutoFit/>
          </a:bodyPr>
          <a:lstStyle/>
          <a:p>
            <a:pPr>
              <a:spcAft>
                <a:spcPts val="800"/>
              </a:spcAft>
              <a:defRPr sz="1600" b="1">
                <a:solidFill>
                  <a:srgbClr val="7D2B42"/>
                </a:solidFill>
                <a:latin typeface="Montserrat"/>
              </a:defRPr>
            </a:pPr>
            <a:r>
              <a:t>PLAN THE ENGAGEMENT</a:t>
            </a:r>
          </a:p>
        </p:txBody>
      </p:sp>
      <p:sp>
        <p:nvSpPr>
          <p:cNvPr id="41" name="TextBox 40"/>
          <p:cNvSpPr txBox="1"/>
          <p:nvPr/>
        </p:nvSpPr>
        <p:spPr>
          <a:xfrm>
            <a:off x="5532120" y="3108960"/>
            <a:ext cx="3474720" cy="914400"/>
          </a:xfrm>
          <a:prstGeom prst="rect">
            <a:avLst/>
          </a:prstGeom>
          <a:noFill/>
        </p:spPr>
        <p:txBody>
          <a:bodyPr wrap="square" lIns="27432" rIns="27432" tIns="0" bIns="0">
            <a:spAutoFit/>
          </a:bodyPr>
          <a:lstStyle/>
          <a:p>
            <a:pPr>
              <a:spcAft>
                <a:spcPts val="800"/>
              </a:spcAft>
              <a:defRPr sz="1700" b="0">
                <a:solidFill>
                  <a:srgbClr val="202020"/>
                </a:solidFill>
                <a:latin typeface="Montserrat"/>
              </a:defRPr>
            </a:pPr>
            <a:r>
              <a:t>Growth Blueprint™</a:t>
            </a:r>
          </a:p>
          <a:p>
            <a:pPr>
              <a:spcAft>
                <a:spcPts val="800"/>
              </a:spcAft>
              <a:defRPr sz="1700" b="0">
                <a:solidFill>
                  <a:srgbClr val="202020"/>
                </a:solidFill>
                <a:latin typeface="Montserrat"/>
              </a:defRPr>
            </a:pPr>
            <a:r>
              <a:t>Align strategy, channels, KPIs and budget.</a:t>
            </a:r>
          </a:p>
        </p:txBody>
      </p:sp>
      <p:sp>
        <p:nvSpPr>
          <p:cNvPr id="42" name="Freeform 41"/>
          <p:cNvSpPr/>
          <p:nvPr/>
        </p:nvSpPr>
        <p:spPr>
          <a:xfrm>
            <a:off x="9921240" y="2286000"/>
            <a:ext cx="3840480" cy="1920240"/>
          </a:xfrm>
          <a:custGeom>
            <a:avLst/>
            <a:gdLst/>
            <a:ahLst/>
            <a:cxnLst/>
            <a:rect l="l" t="t" r="r" b="b"/>
            <a:pathLst>
              <a:path w="420" h="210">
                <a:moveTo>
                  <a:pt x="0" y="10"/>
                </a:moveTo>
                <a:lnTo>
                  <a:pt x="36" y="0"/>
                </a:lnTo>
                <a:lnTo>
                  <a:pt x="73" y="8"/>
                </a:lnTo>
                <a:lnTo>
                  <a:pt x="115" y="0"/>
                </a:lnTo>
                <a:lnTo>
                  <a:pt x="157" y="7"/>
                </a:lnTo>
                <a:lnTo>
                  <a:pt x="210" y="0"/>
                </a:lnTo>
                <a:lnTo>
                  <a:pt x="252" y="8"/>
                </a:lnTo>
                <a:lnTo>
                  <a:pt x="294" y="0"/>
                </a:lnTo>
                <a:lnTo>
                  <a:pt x="336" y="8"/>
                </a:lnTo>
                <a:lnTo>
                  <a:pt x="367" y="0"/>
                </a:lnTo>
                <a:lnTo>
                  <a:pt x="420" y="10"/>
                </a:lnTo>
                <a:lnTo>
                  <a:pt x="413" y="47"/>
                </a:lnTo>
                <a:lnTo>
                  <a:pt x="420" y="94"/>
                </a:lnTo>
                <a:lnTo>
                  <a:pt x="412" y="136"/>
                </a:lnTo>
                <a:lnTo>
                  <a:pt x="420" y="178"/>
                </a:lnTo>
                <a:lnTo>
                  <a:pt x="411" y="210"/>
                </a:lnTo>
                <a:lnTo>
                  <a:pt x="367" y="205"/>
                </a:lnTo>
                <a:lnTo>
                  <a:pt x="315" y="210"/>
                </a:lnTo>
                <a:lnTo>
                  <a:pt x="262" y="203"/>
                </a:lnTo>
                <a:lnTo>
                  <a:pt x="210" y="210"/>
                </a:lnTo>
                <a:lnTo>
                  <a:pt x="157" y="203"/>
                </a:lnTo>
                <a:lnTo>
                  <a:pt x="105" y="210"/>
                </a:lnTo>
                <a:lnTo>
                  <a:pt x="52" y="203"/>
                </a:lnTo>
                <a:lnTo>
                  <a:pt x="0" y="210"/>
                </a:lnTo>
                <a:lnTo>
                  <a:pt x="7" y="157"/>
                </a:lnTo>
                <a:lnTo>
                  <a:pt x="0" y="115"/>
                </a:lnTo>
                <a:lnTo>
                  <a:pt x="6" y="63"/>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104119" y="2468880"/>
            <a:ext cx="3474720" cy="502920"/>
          </a:xfrm>
          <a:prstGeom prst="rect">
            <a:avLst/>
          </a:prstGeom>
          <a:noFill/>
        </p:spPr>
        <p:txBody>
          <a:bodyPr wrap="square" lIns="27432" rIns="27432" tIns="0" bIns="0">
            <a:spAutoFit/>
          </a:bodyPr>
          <a:lstStyle/>
          <a:p>
            <a:pPr>
              <a:spcAft>
                <a:spcPts val="800"/>
              </a:spcAft>
              <a:defRPr sz="1600" b="1">
                <a:solidFill>
                  <a:srgbClr val="7D2B42"/>
                </a:solidFill>
                <a:latin typeface="Montserrat"/>
              </a:defRPr>
            </a:pPr>
            <a:r>
              <a:t>LEARN &amp; COMPOUND</a:t>
            </a:r>
          </a:p>
        </p:txBody>
      </p:sp>
      <p:sp>
        <p:nvSpPr>
          <p:cNvPr id="44" name="TextBox 43"/>
          <p:cNvSpPr txBox="1"/>
          <p:nvPr/>
        </p:nvSpPr>
        <p:spPr>
          <a:xfrm>
            <a:off x="10104119" y="3108960"/>
            <a:ext cx="3474720" cy="914400"/>
          </a:xfrm>
          <a:prstGeom prst="rect">
            <a:avLst/>
          </a:prstGeom>
          <a:noFill/>
        </p:spPr>
        <p:txBody>
          <a:bodyPr wrap="square" lIns="27432" rIns="27432" tIns="0" bIns="0">
            <a:spAutoFit/>
          </a:bodyPr>
          <a:lstStyle/>
          <a:p>
            <a:pPr>
              <a:spcAft>
                <a:spcPts val="800"/>
              </a:spcAft>
              <a:defRPr sz="1700" b="0">
                <a:solidFill>
                  <a:srgbClr val="202020"/>
                </a:solidFill>
                <a:latin typeface="Montserrat"/>
              </a:defRPr>
            </a:pPr>
            <a:r>
              <a:t>Dashboard™</a:t>
            </a:r>
          </a:p>
          <a:p>
            <a:pPr>
              <a:spcAft>
                <a:spcPts val="800"/>
              </a:spcAft>
              <a:defRPr sz="1700" b="0">
                <a:solidFill>
                  <a:srgbClr val="202020"/>
                </a:solidFill>
                <a:latin typeface="Montserrat"/>
              </a:defRPr>
            </a:pPr>
            <a:r>
              <a:t>Measure, optimise and inform scale.</a:t>
            </a:r>
          </a:p>
        </p:txBody>
      </p:sp>
      <p:cxnSp>
        <p:nvCxnSpPr>
          <p:cNvPr id="45" name="Connector 44"/>
          <p:cNvCxnSpPr/>
          <p:nvPr/>
        </p:nvCxnSpPr>
        <p:spPr>
          <a:xfrm>
            <a:off x="4617720" y="3200400"/>
            <a:ext cx="731520" cy="0"/>
          </a:xfrm>
          <a:prstGeom prst="line">
            <a:avLst/>
          </a:prstGeom>
          <a:ln w="38100">
            <a:solidFill>
              <a:srgbClr val="FFCC0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9189720" y="3200400"/>
            <a:ext cx="731520" cy="0"/>
          </a:xfrm>
          <a:prstGeom prst="line">
            <a:avLst/>
          </a:prstGeom>
          <a:ln w="38100">
            <a:solidFill>
              <a:srgbClr val="FFCC00"/>
            </a:solidFill>
          </a:ln>
        </p:spPr>
        <p:style>
          <a:lnRef idx="2">
            <a:schemeClr val="accent1"/>
          </a:lnRef>
          <a:fillRef idx="0">
            <a:schemeClr val="accent1"/>
          </a:fillRef>
          <a:effectRef idx="1">
            <a:schemeClr val="accent1"/>
          </a:effectRef>
          <a:fontRef idx="minor">
            <a:schemeClr val="tx1"/>
          </a:fontRef>
        </p:style>
      </p:cxnSp>
      <p:sp>
        <p:nvSpPr>
          <p:cNvPr id="47" name="Rectangle 46"/>
          <p:cNvSpPr/>
          <p:nvPr/>
        </p:nvSpPr>
        <p:spPr>
          <a:xfrm>
            <a:off x="822960" y="4846320"/>
            <a:ext cx="12984480" cy="64008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05840" y="5029200"/>
            <a:ext cx="12618720" cy="365760"/>
          </a:xfrm>
          <a:prstGeom prst="rect">
            <a:avLst/>
          </a:prstGeom>
          <a:noFill/>
        </p:spPr>
        <p:txBody>
          <a:bodyPr wrap="square" lIns="27432" rIns="27432" tIns="0" bIns="0">
            <a:spAutoFit/>
          </a:bodyPr>
          <a:lstStyle/>
          <a:p>
            <a:pPr>
              <a:spcAft>
                <a:spcPts val="800"/>
              </a:spcAft>
              <a:defRPr sz="1800" b="1">
                <a:solidFill>
                  <a:srgbClr val="7D2B42"/>
                </a:solidFill>
                <a:latin typeface="Montserrat"/>
              </a:defRPr>
            </a:pPr>
            <a:r>
              <a:t>GROWTH OS™ / Discover → Diagnose → Design → Deploy → Optimise → Scale</a:t>
            </a:r>
          </a:p>
        </p:txBody>
      </p:sp>
      <p:sp>
        <p:nvSpPr>
          <p:cNvPr id="49" name="TextBox 48"/>
          <p:cNvSpPr txBox="1"/>
          <p:nvPr/>
        </p:nvSpPr>
        <p:spPr>
          <a:xfrm>
            <a:off x="914400" y="5989320"/>
            <a:ext cx="12710160" cy="777240"/>
          </a:xfrm>
          <a:prstGeom prst="rect">
            <a:avLst/>
          </a:prstGeom>
          <a:noFill/>
        </p:spPr>
        <p:txBody>
          <a:bodyPr wrap="square" lIns="27432" rIns="27432" tIns="0" bIns="0">
            <a:spAutoFit/>
          </a:bodyPr>
          <a:lstStyle/>
          <a:p>
            <a:pPr>
              <a:spcAft>
                <a:spcPts val="800"/>
              </a:spcAft>
              <a:defRPr sz="2300" b="0">
                <a:solidFill>
                  <a:srgbClr val="FFFFFF"/>
                </a:solidFill>
                <a:latin typeface="Montserrat"/>
              </a:defRPr>
            </a:pPr>
            <a:r>
              <a:t>Playbooks™ make execution repeatable. Academy™ develops team capability across every stage.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