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ملاحظات مرجعية: تستند هذه الشريحة إلى تعليمات المستخدم وملفات PMP المرفقة. تظل القواعد المؤكدة منفصلة عن المقترحات والبنود التي تحتاج إلى تأكيد. لا تعني الشريحة أن التنفيذ أو الموافقات أو تسليم الصلاحيات قد اكتمل فعليًا. راجع الشريحة ذات الصلة في النسخة الإنجليزية للاطلاع على نص المصدر الحرفي.</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FFFFFF"/>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FFFFFF"/>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FFFFFF"/>
                </a:solidFill>
                <a:latin typeface="Bebas Neue"/>
              </a:defRPr>
            </a:pPr>
            <a:r>
              <a:rPr sz="1600">
                <a:latin typeface="IBM Plex Sans Arabic"/>
              </a:rPr>
              <a:t>مدير التسويق</a:t>
            </a:r>
          </a:p>
          <a:p>
            <a:pPr algn="r" rtl="1">
              <a:spcAft>
                <a:spcPts val="600"/>
              </a:spcAft>
              <a:defRPr sz="3500" b="1">
                <a:solidFill>
                  <a:srgbClr val="FFFFFF"/>
                </a:solidFill>
                <a:latin typeface="Bebas Neue"/>
              </a:defRPr>
            </a:pPr>
            <a:r>
              <a:rPr sz="1600">
                <a:latin typeface="IBM Plex Sans Arabic"/>
              </a:rPr>
              <a:t>دليل التأهيل والتشغيل</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FFFFFF"/>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FFFFFF"/>
                </a:solidFill>
                <a:latin typeface="Montserrat"/>
              </a:defRPr>
            </a:pPr>
            <a:r>
              <a:rPr sz="1100">
                <a:latin typeface="IBM Plex Sans Arabic"/>
              </a:rPr>
              <a:t>01</a:t>
            </a:r>
          </a:p>
        </p:txBody>
      </p:sp>
      <p:sp>
        <p:nvSpPr>
          <p:cNvPr id="8" name="TextBox 7"/>
          <p:cNvSpPr txBox="1"/>
          <p:nvPr/>
        </p:nvSpPr>
        <p:spPr>
          <a:xfrm>
            <a:off x="1005840" y="3474720"/>
            <a:ext cx="12801600" cy="2011680"/>
          </a:xfrm>
          <a:prstGeom prst="rect">
            <a:avLst/>
          </a:prstGeom>
          <a:noFill/>
        </p:spPr>
        <p:txBody>
          <a:bodyPr wrap="square" lIns="18288" rIns="18288" tIns="0" bIns="0">
            <a:spAutoFit/>
          </a:bodyPr>
          <a:lstStyle/>
          <a:p>
            <a:pPr algn="r" rtl="1">
              <a:spcAft>
                <a:spcPts val="600"/>
              </a:spcAft>
              <a:defRPr sz="3900" b="1">
                <a:solidFill>
                  <a:srgbClr val="FFCC00"/>
                </a:solidFill>
                <a:latin typeface="Montserrat"/>
              </a:defRPr>
            </a:pPr>
            <a:r>
              <a:rPr sz="1600">
                <a:latin typeface="IBM Plex Sans Arabic"/>
              </a:rPr>
              <a:t>تعلّم النظام. افحص الأدلة.</a:t>
            </a:r>
          </a:p>
          <a:p>
            <a:pPr algn="r" rtl="1">
              <a:spcAft>
                <a:spcPts val="600"/>
              </a:spcAft>
              <a:defRPr sz="3900" b="1">
                <a:solidFill>
                  <a:srgbClr val="FFCC00"/>
                </a:solidFill>
                <a:latin typeface="Montserrat"/>
              </a:defRPr>
            </a:pPr>
            <a:r>
              <a:rPr sz="1600">
                <a:latin typeface="IBM Plex Sans Arabic"/>
              </a:rPr>
              <a:t>وقُد التشغيل اليومي.</a:t>
            </a:r>
          </a:p>
        </p:txBody>
      </p:sp>
      <p:sp>
        <p:nvSpPr>
          <p:cNvPr id="9" name="TextBox 8"/>
          <p:cNvSpPr txBox="1"/>
          <p:nvPr/>
        </p:nvSpPr>
        <p:spPr>
          <a:xfrm>
            <a:off x="1005840" y="6309360"/>
            <a:ext cx="12801600" cy="914400"/>
          </a:xfrm>
          <a:prstGeom prst="rect">
            <a:avLst/>
          </a:prstGeom>
          <a:noFill/>
        </p:spPr>
        <p:txBody>
          <a:bodyPr wrap="square" lIns="18288" rIns="18288" tIns="0" bIns="0">
            <a:spAutoFit/>
          </a:bodyPr>
          <a:lstStyle/>
          <a:p>
            <a:pPr algn="r" rtl="1">
              <a:spcAft>
                <a:spcPts val="600"/>
              </a:spcAft>
              <a:defRPr sz="2000" b="0">
                <a:solidFill>
                  <a:srgbClr val="FFFFFF"/>
                </a:solidFill>
                <a:latin typeface="Montserrat"/>
              </a:defRPr>
            </a:pPr>
            <a:r>
              <a:rPr sz="1600">
                <a:latin typeface="IBM Plex Sans Arabic"/>
              </a:rPr>
              <a:t>دليل تدريب مفصل • إجراءات عملية • أمثلة تطبيقية • نماذج قابلة لإعادة الاستخدام</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كيفية استخدام الحزمة</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02</a:t>
            </a:r>
          </a:p>
        </p:txBody>
      </p:sp>
      <p:sp>
        <p:nvSpPr>
          <p:cNvPr id="8" name="Rectangle 7"/>
          <p:cNvSpPr/>
          <p:nvPr/>
        </p:nvSpPr>
        <p:spPr>
          <a:xfrm>
            <a:off x="745236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7680960" y="2743200"/>
            <a:ext cx="5943600" cy="822960"/>
          </a:xfrm>
          <a:prstGeom prst="rect">
            <a:avLst/>
          </a:prstGeom>
          <a:noFill/>
        </p:spPr>
        <p:txBody>
          <a:bodyPr wrap="square" lIns="18288" rIns="18288" tIns="0" bIns="0">
            <a:spAutoFit/>
          </a:bodyPr>
          <a:lstStyle/>
          <a:p>
            <a:pPr algn="r" rtl="1">
              <a:spcAft>
                <a:spcPts val="600"/>
              </a:spcAft>
              <a:defRPr sz="2200" b="1">
                <a:solidFill>
                  <a:srgbClr val="7D2B42"/>
                </a:solidFill>
                <a:latin typeface="Montserrat"/>
              </a:defRPr>
            </a:pPr>
            <a:r>
              <a:rPr sz="1600">
                <a:latin typeface="IBM Plex Sans Arabic"/>
              </a:rPr>
              <a:t>الدليل</a:t>
            </a:r>
          </a:p>
        </p:txBody>
      </p:sp>
      <p:sp>
        <p:nvSpPr>
          <p:cNvPr id="10" name="TextBox 9"/>
          <p:cNvSpPr txBox="1"/>
          <p:nvPr/>
        </p:nvSpPr>
        <p:spPr>
          <a:xfrm>
            <a:off x="7680960" y="3767328"/>
            <a:ext cx="5943600" cy="2926080"/>
          </a:xfrm>
          <a:prstGeom prst="rect">
            <a:avLst/>
          </a:prstGeom>
          <a:noFill/>
        </p:spPr>
        <p:txBody>
          <a:bodyPr wrap="square" lIns="18288" rIns="18288" tIns="0" bIns="0">
            <a:spAutoFit/>
          </a:bodyPr>
          <a:lstStyle/>
          <a:p>
            <a:pPr algn="r" rtl="1">
              <a:spcAft>
                <a:spcPts val="600"/>
              </a:spcAft>
              <a:defRPr sz="1900" b="0">
                <a:solidFill>
                  <a:srgbClr val="202020"/>
                </a:solidFill>
                <a:latin typeface="Montserrat"/>
              </a:defRPr>
            </a:pPr>
            <a:r>
              <a:rPr sz="1600">
                <a:latin typeface="IBM Plex Sans Arabic"/>
              </a:rPr>
              <a:t>DOCX/PDF مفصل: الإجراءات وفحوص المدير والأدوات ومعايير الجودة والسيناريوهات والنماذج والإجابات.</a:t>
            </a:r>
          </a:p>
        </p:txBody>
      </p:sp>
      <p:sp>
        <p:nvSpPr>
          <p:cNvPr id="11" name="Rectangle 10"/>
          <p:cNvSpPr/>
          <p:nvPr/>
        </p:nvSpPr>
        <p:spPr>
          <a:xfrm>
            <a:off x="68580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914400" y="2743200"/>
            <a:ext cx="5943600" cy="822960"/>
          </a:xfrm>
          <a:prstGeom prst="rect">
            <a:avLst/>
          </a:prstGeom>
          <a:noFill/>
        </p:spPr>
        <p:txBody>
          <a:bodyPr wrap="square" lIns="18288" rIns="18288" tIns="0" bIns="0">
            <a:spAutoFit/>
          </a:bodyPr>
          <a:lstStyle/>
          <a:p>
            <a:pPr algn="r" rtl="1">
              <a:spcAft>
                <a:spcPts val="600"/>
              </a:spcAft>
              <a:defRPr sz="2200" b="1">
                <a:solidFill>
                  <a:srgbClr val="7D2B42"/>
                </a:solidFill>
                <a:latin typeface="Montserrat"/>
              </a:defRPr>
            </a:pPr>
            <a:r>
              <a:rPr sz="1600">
                <a:latin typeface="IBM Plex Sans Arabic"/>
              </a:rPr>
              <a:t>عرض التدريب</a:t>
            </a:r>
          </a:p>
        </p:txBody>
      </p:sp>
      <p:sp>
        <p:nvSpPr>
          <p:cNvPr id="13" name="TextBox 12"/>
          <p:cNvSpPr txBox="1"/>
          <p:nvPr/>
        </p:nvSpPr>
        <p:spPr>
          <a:xfrm>
            <a:off x="914400" y="3767328"/>
            <a:ext cx="5943600" cy="2926080"/>
          </a:xfrm>
          <a:prstGeom prst="rect">
            <a:avLst/>
          </a:prstGeom>
          <a:noFill/>
        </p:spPr>
        <p:txBody>
          <a:bodyPr wrap="square" lIns="18288" rIns="18288" tIns="0" bIns="0">
            <a:spAutoFit/>
          </a:bodyPr>
          <a:lstStyle/>
          <a:p>
            <a:pPr algn="r" rtl="1">
              <a:spcAft>
                <a:spcPts val="600"/>
              </a:spcAft>
              <a:defRPr sz="1900" b="0">
                <a:solidFill>
                  <a:srgbClr val="202020"/>
                </a:solidFill>
                <a:latin typeface="Montserrat"/>
              </a:defRPr>
            </a:pPr>
            <a:r>
              <a:rPr sz="1600">
                <a:latin typeface="IBM Plex Sans Arabic"/>
              </a:rPr>
              <a:t>تتبع التسلسل مع المقيّم؛ أثبت كل شرط عبر سجلات حقيقية بصورة خاصة. التدريب وحده ليس تفويضًا.</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مهمتك وحدود صلاحياتك</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03</a:t>
            </a:r>
          </a:p>
        </p:txBody>
      </p:sp>
      <p:sp>
        <p:nvSpPr>
          <p:cNvPr id="8" name="Rectangle 7"/>
          <p:cNvSpPr/>
          <p:nvPr/>
        </p:nvSpPr>
        <p:spPr>
          <a:xfrm>
            <a:off x="1078992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927080" y="248716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مسؤولية مدير التسويق</a:t>
            </a:r>
          </a:p>
        </p:txBody>
      </p:sp>
      <p:sp>
        <p:nvSpPr>
          <p:cNvPr id="10" name="TextBox 9"/>
          <p:cNvSpPr txBox="1"/>
          <p:nvPr/>
        </p:nvSpPr>
        <p:spPr>
          <a:xfrm>
            <a:off x="868680" y="245059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قيادة الاستراتيجية والاعتماد الداخلي النهائي ومراجعة جودة الفيديو مباشرة.</a:t>
            </a:r>
          </a:p>
        </p:txBody>
      </p:sp>
      <p:sp>
        <p:nvSpPr>
          <p:cNvPr id="11" name="Rectangle 10"/>
          <p:cNvSpPr/>
          <p:nvPr/>
        </p:nvSpPr>
        <p:spPr>
          <a:xfrm>
            <a:off x="1078992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927080" y="349300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العمل مع مدير الحساب</a:t>
            </a:r>
          </a:p>
        </p:txBody>
      </p:sp>
      <p:sp>
        <p:nvSpPr>
          <p:cNvPr id="13" name="TextBox 12"/>
          <p:cNvSpPr txBox="1"/>
          <p:nvPr/>
        </p:nvSpPr>
        <p:spPr>
          <a:xfrm>
            <a:off x="868680" y="345643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يوزّع الحساب ويتابع ويجمع؛ حافظا على صورة تنفيذ واحدة.</a:t>
            </a:r>
          </a:p>
        </p:txBody>
      </p:sp>
      <p:sp>
        <p:nvSpPr>
          <p:cNvPr id="14" name="Rectangle 13"/>
          <p:cNvSpPr/>
          <p:nvPr/>
        </p:nvSpPr>
        <p:spPr>
          <a:xfrm>
            <a:off x="1078992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927080" y="449884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العمل مع الرؤساء</a:t>
            </a:r>
          </a:p>
        </p:txBody>
      </p:sp>
      <p:sp>
        <p:nvSpPr>
          <p:cNvPr id="16" name="TextBox 15"/>
          <p:cNvSpPr txBox="1"/>
          <p:nvPr/>
        </p:nvSpPr>
        <p:spPr>
          <a:xfrm>
            <a:off x="868680" y="446227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يراجع رؤساء المحتوى والتصميم فرقهم قبل اعتماد التسويق النهائي.</a:t>
            </a:r>
          </a:p>
        </p:txBody>
      </p:sp>
      <p:sp>
        <p:nvSpPr>
          <p:cNvPr id="17" name="Rectangle 16"/>
          <p:cNvSpPr/>
          <p:nvPr/>
        </p:nvSpPr>
        <p:spPr>
          <a:xfrm>
            <a:off x="1078992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927080" y="550468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لا تفترض</a:t>
            </a:r>
          </a:p>
        </p:txBody>
      </p:sp>
      <p:sp>
        <p:nvSpPr>
          <p:cNvPr id="19" name="TextBox 18"/>
          <p:cNvSpPr txBox="1"/>
          <p:nvPr/>
        </p:nvSpPr>
        <p:spPr>
          <a:xfrm>
            <a:off x="868680" y="546811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صلاحيات المال والمنصات أو البدلاء أو مدد الخدمة أو التبعيات غير المؤكدة.</a:t>
            </a:r>
          </a:p>
        </p:txBody>
      </p:sp>
      <p:sp>
        <p:nvSpPr>
          <p:cNvPr id="20" name="Rectangle 19"/>
          <p:cNvSpPr/>
          <p:nvPr/>
        </p:nvSpPr>
        <p:spPr>
          <a:xfrm>
            <a:off x="1078992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927080" y="651052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دون جاهزية صورية</a:t>
            </a:r>
          </a:p>
        </p:txBody>
      </p:sp>
      <p:sp>
        <p:nvSpPr>
          <p:cNvPr id="22" name="TextBox 21"/>
          <p:cNvSpPr txBox="1"/>
          <p:nvPr/>
        </p:nvSpPr>
        <p:spPr>
          <a:xfrm>
            <a:off x="868680" y="647395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يؤكد المالك/المقيّم الكفاءة والتفويض صراحة.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أول 30 يومًا / مقترح وليس اتفاق خدمة</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04</a:t>
            </a:r>
          </a:p>
        </p:txBody>
      </p:sp>
      <p:sp>
        <p:nvSpPr>
          <p:cNvPr id="8" name="Rectangle 7"/>
          <p:cNvSpPr/>
          <p:nvPr/>
        </p:nvSpPr>
        <p:spPr>
          <a:xfrm>
            <a:off x="1078992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927080" y="248716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اليومان 1–2</a:t>
            </a:r>
          </a:p>
        </p:txBody>
      </p:sp>
      <p:sp>
        <p:nvSpPr>
          <p:cNvPr id="10" name="TextBox 9"/>
          <p:cNvSpPr txBox="1"/>
          <p:nvPr/>
        </p:nvSpPr>
        <p:spPr>
          <a:xfrm>
            <a:off x="868680" y="245059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اقرأ الخريطة وأكّد الوصول المخول وتتبع حسابًا مع مدير الحساب.</a:t>
            </a:r>
          </a:p>
        </p:txBody>
      </p:sp>
      <p:sp>
        <p:nvSpPr>
          <p:cNvPr id="11" name="Rectangle 10"/>
          <p:cNvSpPr/>
          <p:nvPr/>
        </p:nvSpPr>
        <p:spPr>
          <a:xfrm>
            <a:off x="1078992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927080" y="349300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الأيام 3–5</a:t>
            </a:r>
          </a:p>
        </p:txBody>
      </p:sp>
      <p:sp>
        <p:nvSpPr>
          <p:cNvPr id="13" name="TextBox 12"/>
          <p:cNvSpPr txBox="1"/>
          <p:nvPr/>
        </p:nvSpPr>
        <p:spPr>
          <a:xfrm>
            <a:off x="868680" y="345643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راقب الجودة والتعديلات وتجميع عرض العميل.</a:t>
            </a:r>
          </a:p>
        </p:txBody>
      </p:sp>
      <p:sp>
        <p:nvSpPr>
          <p:cNvPr id="14" name="Rectangle 13"/>
          <p:cNvSpPr/>
          <p:nvPr/>
        </p:nvSpPr>
        <p:spPr>
          <a:xfrm>
            <a:off x="1078992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927080" y="449884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الأسبوع 2</a:t>
            </a:r>
          </a:p>
        </p:txBody>
      </p:sp>
      <p:sp>
        <p:nvSpPr>
          <p:cNvPr id="16" name="TextBox 15"/>
          <p:cNvSpPr txBox="1"/>
          <p:nvPr/>
        </p:nvSpPr>
        <p:spPr>
          <a:xfrm>
            <a:off x="868680" y="446227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نفذ المتابعة اليومية وقرارات مراجعة نموذجية بإشراف.</a:t>
            </a:r>
          </a:p>
        </p:txBody>
      </p:sp>
      <p:sp>
        <p:nvSpPr>
          <p:cNvPr id="17" name="Rectangle 16"/>
          <p:cNvSpPr/>
          <p:nvPr/>
        </p:nvSpPr>
        <p:spPr>
          <a:xfrm>
            <a:off x="1078992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927080" y="550468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الأسبوع 3</a:t>
            </a:r>
          </a:p>
        </p:txBody>
      </p:sp>
      <p:sp>
        <p:nvSpPr>
          <p:cNvPr id="19" name="TextBox 18"/>
          <p:cNvSpPr txBox="1"/>
          <p:nvPr/>
        </p:nvSpPr>
        <p:spPr>
          <a:xfrm>
            <a:off x="868680" y="546811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نسق نطاقًا صغيرًا معتمدًا، وقدّم إجراءات تستند إلى أدلة.</a:t>
            </a:r>
          </a:p>
        </p:txBody>
      </p:sp>
      <p:sp>
        <p:nvSpPr>
          <p:cNvPr id="20" name="Rectangle 19"/>
          <p:cNvSpPr/>
          <p:nvPr/>
        </p:nvSpPr>
        <p:spPr>
          <a:xfrm>
            <a:off x="1078992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927080" y="651052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الأسبوع 4</a:t>
            </a:r>
          </a:p>
        </p:txBody>
      </p:sp>
      <p:sp>
        <p:nvSpPr>
          <p:cNvPr id="22" name="TextBox 21"/>
          <p:cNvSpPr txBox="1"/>
          <p:nvPr/>
        </p:nvSpPr>
        <p:spPr>
          <a:xfrm>
            <a:off x="868680" y="647395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أثبت فهم الدورة والاستثناءات، وسجّل النواقص والتفويض.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محطات يجب الفصل بينها</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05</a:t>
            </a:r>
          </a:p>
        </p:txBody>
      </p:sp>
      <p:sp>
        <p:nvSpPr>
          <p:cNvPr id="8" name="Rectangle 7"/>
          <p:cNvSpPr/>
          <p:nvPr/>
        </p:nvSpPr>
        <p:spPr>
          <a:xfrm>
            <a:off x="1078992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927080" y="248716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الاستعداد للتوقيع</a:t>
            </a:r>
          </a:p>
        </p:txBody>
      </p:sp>
      <p:sp>
        <p:nvSpPr>
          <p:cNvPr id="10" name="TextBox 9"/>
          <p:cNvSpPr txBox="1"/>
          <p:nvPr/>
        </p:nvSpPr>
        <p:spPr>
          <a:xfrm>
            <a:off x="868680" y="245059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بعد الاجتماع الأول والاستعداد فقط: يبدأ الحساب الاستراتيجية مع الفريق الرباعي.</a:t>
            </a:r>
          </a:p>
        </p:txBody>
      </p:sp>
      <p:sp>
        <p:nvSpPr>
          <p:cNvPr id="11" name="Rectangle 10"/>
          <p:cNvSpPr/>
          <p:nvPr/>
        </p:nvSpPr>
        <p:spPr>
          <a:xfrm>
            <a:off x="1078992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927080" y="349300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العقد موقّع</a:t>
            </a:r>
          </a:p>
        </p:txBody>
      </p:sp>
      <p:sp>
        <p:nvSpPr>
          <p:cNvPr id="13" name="TextBox 12"/>
          <p:cNvSpPr txBox="1"/>
          <p:nvPr/>
        </p:nvSpPr>
        <p:spPr>
          <a:xfrm>
            <a:off x="868680" y="345643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نقل المجلد نفسه من عروض الأسعار؛ السداد شرط منفصل.</a:t>
            </a:r>
          </a:p>
        </p:txBody>
      </p:sp>
      <p:sp>
        <p:nvSpPr>
          <p:cNvPr id="14" name="Rectangle 13"/>
          <p:cNvSpPr/>
          <p:nvPr/>
        </p:nvSpPr>
        <p:spPr>
          <a:xfrm>
            <a:off x="1078992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927080" y="449884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الأموال متحقق منها</a:t>
            </a:r>
          </a:p>
        </p:txBody>
      </p:sp>
      <p:sp>
        <p:nvSpPr>
          <p:cNvPr id="16" name="TextBox 15"/>
          <p:cNvSpPr txBox="1"/>
          <p:nvPr/>
        </p:nvSpPr>
        <p:spPr>
          <a:xfrm>
            <a:off x="868680" y="446227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الحزمة الموقعة والدفعة المطلوبة تسمحان بالتنفيذ المتعاقد عليه.</a:t>
            </a:r>
          </a:p>
        </p:txBody>
      </p:sp>
      <p:sp>
        <p:nvSpPr>
          <p:cNvPr id="17" name="Rectangle 16"/>
          <p:cNvSpPr/>
          <p:nvPr/>
        </p:nvSpPr>
        <p:spPr>
          <a:xfrm>
            <a:off x="1078992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927080" y="550468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معتمد داخليًا</a:t>
            </a:r>
          </a:p>
        </p:txBody>
      </p:sp>
      <p:sp>
        <p:nvSpPr>
          <p:cNvPr id="19" name="TextBox 18"/>
          <p:cNvSpPr txBox="1"/>
          <p:nvPr/>
        </p:nvSpPr>
        <p:spPr>
          <a:xfrm>
            <a:off x="868680" y="546811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يمكن للحساب جمع العمل في عرض عميل واحد.</a:t>
            </a:r>
          </a:p>
        </p:txBody>
      </p:sp>
      <p:sp>
        <p:nvSpPr>
          <p:cNvPr id="20" name="Rectangle 19"/>
          <p:cNvSpPr/>
          <p:nvPr/>
        </p:nvSpPr>
        <p:spPr>
          <a:xfrm>
            <a:off x="1078992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927080" y="651052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معتمد من العميل</a:t>
            </a:r>
          </a:p>
        </p:txBody>
      </p:sp>
      <p:sp>
        <p:nvSpPr>
          <p:cNvPr id="22" name="TextBox 21"/>
          <p:cNvSpPr txBox="1"/>
          <p:nvPr/>
        </p:nvSpPr>
        <p:spPr>
          <a:xfrm>
            <a:off x="868680" y="647395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يتسلم التواصل النسخة المعتمدة وتُسمح الأرشفة النهائية للتصميم والفيديو.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الأفراد والعلاقات</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06</a:t>
            </a:r>
          </a:p>
        </p:txBody>
      </p:sp>
      <p:sp>
        <p:nvSpPr>
          <p:cNvPr id="8" name="Rectangle 7"/>
          <p:cNvSpPr/>
          <p:nvPr/>
        </p:nvSpPr>
        <p:spPr>
          <a:xfrm>
            <a:off x="1078992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927080" y="248716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14 وظيفة</a:t>
            </a:r>
          </a:p>
        </p:txBody>
      </p:sp>
      <p:sp>
        <p:nvSpPr>
          <p:cNvPr id="10" name="TextBox 9"/>
          <p:cNvSpPr txBox="1"/>
          <p:nvPr/>
        </p:nvSpPr>
        <p:spPr>
          <a:xfrm>
            <a:off x="868680" y="245059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أبقِ المصممين والمحررين 1 و2 منفصلين.</a:t>
            </a:r>
          </a:p>
        </p:txBody>
      </p:sp>
      <p:sp>
        <p:nvSpPr>
          <p:cNvPr id="11" name="Rectangle 10"/>
          <p:cNvSpPr/>
          <p:nvPr/>
        </p:nvSpPr>
        <p:spPr>
          <a:xfrm>
            <a:off x="1078992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927080" y="349300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التبعية الإدارية</a:t>
            </a:r>
          </a:p>
        </p:txBody>
      </p:sp>
      <p:sp>
        <p:nvSpPr>
          <p:cNvPr id="13" name="TextBox 12"/>
          <p:cNvSpPr txBox="1"/>
          <p:nvPr/>
        </p:nvSpPr>
        <p:spPr>
          <a:xfrm>
            <a:off x="868680" y="345643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يتبع المحرران التسويق مباشرة، وبقية العلاقات مقترحة حتى تأكيدها.</a:t>
            </a:r>
          </a:p>
        </p:txBody>
      </p:sp>
      <p:sp>
        <p:nvSpPr>
          <p:cNvPr id="14" name="Rectangle 13"/>
          <p:cNvSpPr/>
          <p:nvPr/>
        </p:nvSpPr>
        <p:spPr>
          <a:xfrm>
            <a:off x="1078992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927080" y="449884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التنسيق</a:t>
            </a:r>
          </a:p>
        </p:txBody>
      </p:sp>
      <p:sp>
        <p:nvSpPr>
          <p:cNvPr id="16" name="TextBox 15"/>
          <p:cNvSpPr txBox="1"/>
          <p:nvPr/>
        </p:nvSpPr>
        <p:spPr>
          <a:xfrm>
            <a:off x="868680" y="446227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ينسق الحساب العمل دون أن يدير الإنتاج مباشرة تلقائيًا.</a:t>
            </a:r>
          </a:p>
        </p:txBody>
      </p:sp>
      <p:sp>
        <p:nvSpPr>
          <p:cNvPr id="17" name="Rectangle 16"/>
          <p:cNvSpPr/>
          <p:nvPr/>
        </p:nvSpPr>
        <p:spPr>
          <a:xfrm>
            <a:off x="1078992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927080" y="550468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المساءلة</a:t>
            </a:r>
          </a:p>
        </p:txBody>
      </p:sp>
      <p:sp>
        <p:nvSpPr>
          <p:cNvPr id="19" name="TextBox 18"/>
          <p:cNvSpPr txBox="1"/>
          <p:nvPr/>
        </p:nvSpPr>
        <p:spPr>
          <a:xfrm>
            <a:off x="868680" y="546811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مسؤول واحد لكل مهمة؛ التعاون لا يلغي الملكية.</a:t>
            </a:r>
          </a:p>
        </p:txBody>
      </p:sp>
      <p:sp>
        <p:nvSpPr>
          <p:cNvPr id="20" name="Rectangle 19"/>
          <p:cNvSpPr/>
          <p:nvPr/>
        </p:nvSpPr>
        <p:spPr>
          <a:xfrm>
            <a:off x="1078992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927080" y="651052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الاعتماد</a:t>
            </a:r>
          </a:p>
        </p:txBody>
      </p:sp>
      <p:sp>
        <p:nvSpPr>
          <p:cNvPr id="22" name="TextBox 21"/>
          <p:cNvSpPr txBox="1"/>
          <p:nvPr/>
        </p:nvSpPr>
        <p:spPr>
          <a:xfrm>
            <a:off x="868680" y="647395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الجودة والتسويق والعميل قرارات منفصلة.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أين تجد الإجابة؟</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07</a:t>
            </a:r>
          </a:p>
        </p:txBody>
      </p:sp>
      <p:sp>
        <p:nvSpPr>
          <p:cNvPr id="8" name="Rectangle 7"/>
          <p:cNvSpPr/>
          <p:nvPr/>
        </p:nvSpPr>
        <p:spPr>
          <a:xfrm>
            <a:off x="1078992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927080" y="248716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الاحتياج الفعلي</a:t>
            </a:r>
          </a:p>
        </p:txBody>
      </p:sp>
      <p:sp>
        <p:nvSpPr>
          <p:cNvPr id="10" name="TextBox 9"/>
          <p:cNvSpPr txBox="1"/>
          <p:nvPr/>
        </p:nvSpPr>
        <p:spPr>
          <a:xfrm>
            <a:off x="868680" y="245059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موجز الاجتماع والاستراتيجية الفعلية والنطاق الموقّع، لا المقترح وحده.</a:t>
            </a:r>
          </a:p>
        </p:txBody>
      </p:sp>
      <p:sp>
        <p:nvSpPr>
          <p:cNvPr id="11" name="Rectangle 10"/>
          <p:cNvSpPr/>
          <p:nvPr/>
        </p:nvSpPr>
        <p:spPr>
          <a:xfrm>
            <a:off x="1078992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927080" y="349300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العمل الحالي</a:t>
            </a:r>
          </a:p>
        </p:txBody>
      </p:sp>
      <p:sp>
        <p:nvSpPr>
          <p:cNvPr id="13" name="TextBox 12"/>
          <p:cNvSpPr txBox="1"/>
          <p:nvPr/>
        </p:nvSpPr>
        <p:spPr>
          <a:xfrm>
            <a:off x="868680" y="345643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الشيت والمنفذ والمدخلات والاعتماديات والمواعيد والمخرج الحالي.</a:t>
            </a:r>
          </a:p>
        </p:txBody>
      </p:sp>
      <p:sp>
        <p:nvSpPr>
          <p:cNvPr id="14" name="Rectangle 13"/>
          <p:cNvSpPr/>
          <p:nvPr/>
        </p:nvSpPr>
        <p:spPr>
          <a:xfrm>
            <a:off x="1078992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927080" y="449884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المراجعة</a:t>
            </a:r>
          </a:p>
        </p:txBody>
      </p:sp>
      <p:sp>
        <p:nvSpPr>
          <p:cNvPr id="16" name="TextBox 15"/>
          <p:cNvSpPr txBox="1"/>
          <p:nvPr/>
        </p:nvSpPr>
        <p:spPr>
          <a:xfrm>
            <a:off x="868680" y="446227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كاتب الملاحظة ورد المنفذ وقرار المراجع والإصدار.</a:t>
            </a:r>
          </a:p>
        </p:txBody>
      </p:sp>
      <p:sp>
        <p:nvSpPr>
          <p:cNvPr id="17" name="Rectangle 16"/>
          <p:cNvSpPr/>
          <p:nvPr/>
        </p:nvSpPr>
        <p:spPr>
          <a:xfrm>
            <a:off x="1078992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927080" y="550468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السماح من العميل</a:t>
            </a:r>
          </a:p>
        </p:txBody>
      </p:sp>
      <p:sp>
        <p:nvSpPr>
          <p:cNvPr id="19" name="TextBox 18"/>
          <p:cNvSpPr txBox="1"/>
          <p:nvPr/>
        </p:nvSpPr>
        <p:spPr>
          <a:xfrm>
            <a:off x="868680" y="546811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عرض الحساب وإصداره وقرار العميل والمواد المعتمدة.</a:t>
            </a:r>
          </a:p>
        </p:txBody>
      </p:sp>
      <p:sp>
        <p:nvSpPr>
          <p:cNvPr id="20" name="Rectangle 19"/>
          <p:cNvSpPr/>
          <p:nvPr/>
        </p:nvSpPr>
        <p:spPr>
          <a:xfrm>
            <a:off x="1078992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927080" y="651052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النتائج / الإنفاق</a:t>
            </a:r>
          </a:p>
        </p:txBody>
      </p:sp>
      <p:sp>
        <p:nvSpPr>
          <p:cNvPr id="22" name="TextBox 21"/>
          <p:cNvSpPr txBox="1"/>
          <p:nvPr/>
        </p:nvSpPr>
        <p:spPr>
          <a:xfrm>
            <a:off x="868680" y="647395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مصادر الأداء والاستماع المؤرخة والمصروفات الفعلية المثبتة.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Drive والتسليم / الاستثناء المهم</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08</a:t>
            </a:r>
          </a:p>
        </p:txBody>
      </p:sp>
      <p:sp>
        <p:nvSpPr>
          <p:cNvPr id="8" name="Rectangle 7"/>
          <p:cNvSpPr/>
          <p:nvPr/>
        </p:nvSpPr>
        <p:spPr>
          <a:xfrm>
            <a:off x="745236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7680960" y="2743200"/>
            <a:ext cx="5943600" cy="822960"/>
          </a:xfrm>
          <a:prstGeom prst="rect">
            <a:avLst/>
          </a:prstGeom>
          <a:noFill/>
        </p:spPr>
        <p:txBody>
          <a:bodyPr wrap="square" lIns="18288" rIns="18288" tIns="0" bIns="0">
            <a:spAutoFit/>
          </a:bodyPr>
          <a:lstStyle/>
          <a:p>
            <a:pPr algn="r" rtl="1">
              <a:spcAft>
                <a:spcPts val="600"/>
              </a:spcAft>
              <a:defRPr sz="2200" b="1">
                <a:solidFill>
                  <a:srgbClr val="7D2B42"/>
                </a:solidFill>
                <a:latin typeface="Montserrat"/>
              </a:defRPr>
            </a:pPr>
            <a:r>
              <a:rPr sz="1600">
                <a:latin typeface="IBM Plex Sans Arabic"/>
              </a:rPr>
              <a:t>خطة المحتوى قيد العمل</a:t>
            </a:r>
          </a:p>
        </p:txBody>
      </p:sp>
      <p:sp>
        <p:nvSpPr>
          <p:cNvPr id="10" name="TextBox 9"/>
          <p:cNvSpPr txBox="1"/>
          <p:nvPr/>
        </p:nvSpPr>
        <p:spPr>
          <a:xfrm>
            <a:off x="7680960" y="3767328"/>
            <a:ext cx="5943600" cy="2926080"/>
          </a:xfrm>
          <a:prstGeom prst="rect">
            <a:avLst/>
          </a:prstGeom>
          <a:noFill/>
        </p:spPr>
        <p:txBody>
          <a:bodyPr wrap="square" lIns="18288" rIns="18288" tIns="0" bIns="0">
            <a:spAutoFit/>
          </a:bodyPr>
          <a:lstStyle/>
          <a:p>
            <a:pPr algn="r" rtl="1">
              <a:spcAft>
                <a:spcPts val="600"/>
              </a:spcAft>
              <a:defRPr sz="1900" b="0">
                <a:solidFill>
                  <a:srgbClr val="202020"/>
                </a:solidFill>
                <a:latin typeface="Montserrat"/>
              </a:defRPr>
            </a:pPr>
            <a:r>
              <a:rPr sz="1600">
                <a:latin typeface="IBM Plex Sans Arabic"/>
              </a:rPr>
              <a:t>التسليم على الشيت ورفع الخطة الشهرية؛ تبقى التعليقات على الخطة نفسها.</a:t>
            </a:r>
          </a:p>
        </p:txBody>
      </p:sp>
      <p:sp>
        <p:nvSpPr>
          <p:cNvPr id="11" name="Rectangle 10"/>
          <p:cNvSpPr/>
          <p:nvPr/>
        </p:nvSpPr>
        <p:spPr>
          <a:xfrm>
            <a:off x="68580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914400" y="2743200"/>
            <a:ext cx="5943600" cy="822960"/>
          </a:xfrm>
          <a:prstGeom prst="rect">
            <a:avLst/>
          </a:prstGeom>
          <a:noFill/>
        </p:spPr>
        <p:txBody>
          <a:bodyPr wrap="square" lIns="18288" rIns="18288" tIns="0" bIns="0">
            <a:spAutoFit/>
          </a:bodyPr>
          <a:lstStyle/>
          <a:p>
            <a:pPr algn="r" rtl="1">
              <a:spcAft>
                <a:spcPts val="600"/>
              </a:spcAft>
              <a:defRPr sz="2200" b="1">
                <a:solidFill>
                  <a:srgbClr val="7D2B42"/>
                </a:solidFill>
                <a:latin typeface="Montserrat"/>
              </a:defRPr>
            </a:pPr>
            <a:r>
              <a:rPr sz="1600">
                <a:latin typeface="IBM Plex Sans Arabic"/>
              </a:rPr>
              <a:t>الأرشيف النهائي للتصميم والفيديو</a:t>
            </a:r>
          </a:p>
        </p:txBody>
      </p:sp>
      <p:sp>
        <p:nvSpPr>
          <p:cNvPr id="13" name="TextBox 12"/>
          <p:cNvSpPr txBox="1"/>
          <p:nvPr/>
        </p:nvSpPr>
        <p:spPr>
          <a:xfrm>
            <a:off x="914400" y="3767328"/>
            <a:ext cx="5943600" cy="2926080"/>
          </a:xfrm>
          <a:prstGeom prst="rect">
            <a:avLst/>
          </a:prstGeom>
          <a:noFill/>
        </p:spPr>
        <p:txBody>
          <a:bodyPr wrap="square" lIns="18288" rIns="18288" tIns="0" bIns="0">
            <a:spAutoFit/>
          </a:bodyPr>
          <a:lstStyle/>
          <a:p>
            <a:pPr algn="r" rtl="1">
              <a:spcAft>
                <a:spcPts val="600"/>
              </a:spcAft>
              <a:defRPr sz="1900" b="0">
                <a:solidFill>
                  <a:srgbClr val="202020"/>
                </a:solidFill>
                <a:latin typeface="Montserrat"/>
              </a:defRPr>
            </a:pPr>
            <a:r>
              <a:rPr sz="1600">
                <a:latin typeface="IBM Plex Sans Arabic"/>
              </a:rPr>
              <a:t>النهائي فقط بعد الداخل والعميل؛ مكان مراجعة المسودات يحتاج تأكيدًا.</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الدورة اليومية / مقترحة للتأكيد</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09</a:t>
            </a:r>
          </a:p>
        </p:txBody>
      </p:sp>
      <p:sp>
        <p:nvSpPr>
          <p:cNvPr id="8" name="Rectangle 7"/>
          <p:cNvSpPr/>
          <p:nvPr/>
        </p:nvSpPr>
        <p:spPr>
          <a:xfrm>
            <a:off x="1078992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927080" y="248716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البداية</a:t>
            </a:r>
          </a:p>
        </p:txBody>
      </p:sp>
      <p:sp>
        <p:nvSpPr>
          <p:cNvPr id="10" name="TextBox 9"/>
          <p:cNvSpPr txBox="1"/>
          <p:nvPr/>
        </p:nvSpPr>
        <p:spPr>
          <a:xfrm>
            <a:off x="868680" y="245059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يتحقق الحساب والرؤساء والتسويق من المستحق والنواقص والمالكين والقرارات.</a:t>
            </a:r>
          </a:p>
        </p:txBody>
      </p:sp>
      <p:sp>
        <p:nvSpPr>
          <p:cNvPr id="11" name="Rectangle 10"/>
          <p:cNvSpPr/>
          <p:nvPr/>
        </p:nvSpPr>
        <p:spPr>
          <a:xfrm>
            <a:off x="1078992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927080" y="349300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التنفيذ</a:t>
            </a:r>
          </a:p>
        </p:txBody>
      </p:sp>
      <p:sp>
        <p:nvSpPr>
          <p:cNvPr id="13" name="TextBox 12"/>
          <p:cNvSpPr txBox="1"/>
          <p:nvPr/>
        </p:nvSpPr>
        <p:spPr>
          <a:xfrm>
            <a:off x="868680" y="345643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يحدث المنفذون المهام والمراجع، وينسق الحساب المعوقات والنطاق.</a:t>
            </a:r>
          </a:p>
        </p:txBody>
      </p:sp>
      <p:sp>
        <p:nvSpPr>
          <p:cNvPr id="14" name="Rectangle 13"/>
          <p:cNvSpPr/>
          <p:nvPr/>
        </p:nvSpPr>
        <p:spPr>
          <a:xfrm>
            <a:off x="1078992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927080" y="449884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المراجعة</a:t>
            </a:r>
          </a:p>
        </p:txBody>
      </p:sp>
      <p:sp>
        <p:nvSpPr>
          <p:cNvPr id="16" name="TextBox 15"/>
          <p:cNvSpPr txBox="1"/>
          <p:nvPr/>
        </p:nvSpPr>
        <p:spPr>
          <a:xfrm>
            <a:off x="868680" y="446227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يقدم الرؤساء والتسويق ملاحظات تنفيذية مرتبطة بالنسخة الحالية.</a:t>
            </a:r>
          </a:p>
        </p:txBody>
      </p:sp>
      <p:sp>
        <p:nvSpPr>
          <p:cNvPr id="17" name="Rectangle 16"/>
          <p:cNvSpPr/>
          <p:nvPr/>
        </p:nvSpPr>
        <p:spPr>
          <a:xfrm>
            <a:off x="1078992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927080" y="550468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السماح بالنشر</a:t>
            </a:r>
          </a:p>
        </p:txBody>
      </p:sp>
      <p:sp>
        <p:nvSpPr>
          <p:cNvPr id="19" name="TextBox 18"/>
          <p:cNvSpPr txBox="1"/>
          <p:nvPr/>
        </p:nvSpPr>
        <p:spPr>
          <a:xfrm>
            <a:off x="868680" y="546811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يفحص الحساب موافقة العميل، والتواصل الخطة والمواد والمجتمع.</a:t>
            </a:r>
          </a:p>
        </p:txBody>
      </p:sp>
      <p:sp>
        <p:nvSpPr>
          <p:cNvPr id="20" name="Rectangle 19"/>
          <p:cNvSpPr/>
          <p:nvPr/>
        </p:nvSpPr>
        <p:spPr>
          <a:xfrm>
            <a:off x="1078992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927080" y="651052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الختام</a:t>
            </a:r>
          </a:p>
        </p:txBody>
      </p:sp>
      <p:sp>
        <p:nvSpPr>
          <p:cNvPr id="22" name="TextBox 21"/>
          <p:cNvSpPr txBox="1"/>
          <p:nvPr/>
        </p:nvSpPr>
        <p:spPr>
          <a:xfrm>
            <a:off x="868680" y="647395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طابق الشيت والإنجاز اليومي، ورحّل الملاحظات المفتوحة ومسؤوليها.</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SOP-01 / استقطاب العملاء وتأهيل الفرص</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10</a:t>
            </a:r>
          </a:p>
        </p:txBody>
      </p:sp>
      <p:sp>
        <p:nvSpPr>
          <p:cNvPr id="8" name="Rectangle 7"/>
          <p:cNvSpPr/>
          <p:nvPr/>
        </p:nvSpPr>
        <p:spPr>
          <a:xfrm>
            <a:off x="1001268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241280" y="2697480"/>
            <a:ext cx="3383280" cy="548640"/>
          </a:xfrm>
          <a:prstGeom prst="rect">
            <a:avLst/>
          </a:prstGeom>
          <a:noFill/>
        </p:spPr>
        <p:txBody>
          <a:bodyPr wrap="square" lIns="18288" rIns="18288" tIns="0" bIns="0">
            <a:spAutoFit/>
          </a:bodyPr>
          <a:lstStyle/>
          <a:p>
            <a:pPr algn="r" rtl="1">
              <a:spcAft>
                <a:spcPts val="600"/>
              </a:spcAft>
              <a:defRPr sz="1700" b="1">
                <a:solidFill>
                  <a:srgbClr val="FFCC00"/>
                </a:solidFill>
                <a:latin typeface="Montserrat"/>
              </a:defRPr>
            </a:pPr>
            <a:r>
              <a:rPr sz="1600">
                <a:latin typeface="IBM Plex Sans Arabic"/>
              </a:rPr>
              <a:t>متى يبدأ؟</a:t>
            </a:r>
          </a:p>
        </p:txBody>
      </p:sp>
      <p:sp>
        <p:nvSpPr>
          <p:cNvPr id="10" name="TextBox 9"/>
          <p:cNvSpPr txBox="1"/>
          <p:nvPr/>
        </p:nvSpPr>
        <p:spPr>
          <a:xfrm>
            <a:off x="10241280" y="3429000"/>
            <a:ext cx="3383280" cy="2286000"/>
          </a:xfrm>
          <a:prstGeom prst="rect">
            <a:avLst/>
          </a:prstGeom>
          <a:noFill/>
        </p:spPr>
        <p:txBody>
          <a:bodyPr wrap="square" lIns="18288" rIns="18288" tIns="0" bIns="0">
            <a:spAutoFit/>
          </a:bodyPr>
          <a:lstStyle/>
          <a:p>
            <a:pPr algn="r" rtl="1">
              <a:spcAft>
                <a:spcPts val="600"/>
              </a:spcAft>
              <a:defRPr sz="1900" b="0">
                <a:solidFill>
                  <a:srgbClr val="FFFFFF"/>
                </a:solidFill>
                <a:latin typeface="Montserrat"/>
              </a:defRPr>
            </a:pPr>
            <a:r>
              <a:rPr sz="1600">
                <a:latin typeface="IBM Plex Sans Arabic"/>
              </a:rPr>
              <a:t>تحديد نشاط مناسب محتمل أو وصول عميل محتمل.</a:t>
            </a:r>
          </a:p>
        </p:txBody>
      </p:sp>
      <p:sp>
        <p:nvSpPr>
          <p:cNvPr id="11" name="TextBox 10"/>
          <p:cNvSpPr txBox="1"/>
          <p:nvPr/>
        </p:nvSpPr>
        <p:spPr>
          <a:xfrm>
            <a:off x="10241280" y="6355080"/>
            <a:ext cx="3383280" cy="320040"/>
          </a:xfrm>
          <a:prstGeom prst="rect">
            <a:avLst/>
          </a:prstGeom>
          <a:noFill/>
        </p:spPr>
        <p:txBody>
          <a:bodyPr wrap="square" lIns="18288" rIns="18288" tIns="0" bIns="0">
            <a:spAutoFit/>
          </a:bodyPr>
          <a:lstStyle/>
          <a:p>
            <a:pPr algn="r" rtl="1">
              <a:spcAft>
                <a:spcPts val="600"/>
              </a:spcAft>
              <a:defRPr sz="1000" b="1">
                <a:solidFill>
                  <a:srgbClr val="FFCC00"/>
                </a:solidFill>
                <a:latin typeface="Montserrat"/>
              </a:defRPr>
            </a:pPr>
            <a:r>
              <a:rPr sz="1350">
                <a:latin typeface="IBM Plex Sans Arabic"/>
              </a:rPr>
              <a:t>الخطوات الكاملة في الدليل</a:t>
            </a:r>
          </a:p>
        </p:txBody>
      </p:sp>
      <p:sp>
        <p:nvSpPr>
          <p:cNvPr id="12" name="TextBox 11"/>
          <p:cNvSpPr txBox="1"/>
          <p:nvPr/>
        </p:nvSpPr>
        <p:spPr>
          <a:xfrm>
            <a:off x="914400" y="2560320"/>
            <a:ext cx="8686800" cy="4526280"/>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1. استخدم الزيارات الميدانية، والاتصالات الباردة المبنية على بحث، والبحث في LinkedIn، وحملات البريد، والاتصال بالعملاء المحتملين الناتجين عن إعلانات PMP.</a:t>
            </a:r>
          </a:p>
          <a:p>
            <a:pPr algn="r" rtl="1">
              <a:spcAft>
                <a:spcPts val="600"/>
              </a:spcAft>
              <a:defRPr sz="1600" b="0">
                <a:solidFill>
                  <a:srgbClr val="202020"/>
                </a:solidFill>
                <a:latin typeface="Montserrat"/>
              </a:defRPr>
            </a:pPr>
            <a:r>
              <a:rPr sz="1600">
                <a:latin typeface="IBM Plex Sans Arabic"/>
              </a:rPr>
              <a:t>2. سجّل الفرصة وجهة الاتصال والاحتياج ونتيجة التواصل والخطوة التالية في سجل الفرص المتفق عليه. أداة السجل وحقوله مقترحان لحين تأكيد المالك.</a:t>
            </a:r>
          </a:p>
          <a:p>
            <a:pPr algn="r" rtl="1">
              <a:spcAft>
                <a:spcPts val="600"/>
              </a:spcAft>
              <a:defRPr sz="1600" b="0">
                <a:solidFill>
                  <a:srgbClr val="202020"/>
                </a:solidFill>
                <a:latin typeface="Montserrat"/>
              </a:defRPr>
            </a:pPr>
            <a:r>
              <a:rPr sz="1600">
                <a:latin typeface="IBM Plex Sans Arabic"/>
              </a:rPr>
              <a:t>3. احجز اجتماعًا أول عبر الإنترنت أو حضوريًا، مع استمرار مشاركة مدير الحساب.</a:t>
            </a:r>
          </a:p>
          <a:p>
            <a:pPr algn="r" rtl="1">
              <a:spcAft>
                <a:spcPts val="600"/>
              </a:spcAft>
              <a:defRPr sz="1600" b="0">
                <a:solidFill>
                  <a:srgbClr val="202020"/>
                </a:solidFill>
                <a:latin typeface="Montserrat"/>
              </a:defRPr>
            </a:pPr>
            <a:r>
              <a:rPr sz="1600">
                <a:latin typeface="IBM Plex Sans Arabic"/>
              </a:rPr>
              <a:t>4. جهّز مجلدًا باسم العميل المحتمل داخل PMP Drive / Quotations. يتولى المبيعات أو تطوير الأعمال مسؤولية إنشائه.</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SOP-01 / فحوص مدير التسويق</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11</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lgn="r" rtl="1">
              <a:spcAft>
                <a:spcPts val="600"/>
              </a:spcAft>
              <a:defRPr sz="2100" b="0">
                <a:solidFill>
                  <a:srgbClr val="202020"/>
                </a:solidFill>
                <a:latin typeface="Montserrat"/>
              </a:defRPr>
            </a:pPr>
            <a:r>
              <a:rPr sz="1600">
                <a:latin typeface="IBM Plex Sans Arabic"/>
              </a:rPr>
              <a:t>• تحقّق من سبب ملاءمة النشاط ومصدر الفرصة ومسؤول الخطوة التالية.</a:t>
            </a:r>
          </a:p>
          <a:p>
            <a:pPr algn="r" rtl="1">
              <a:spcAft>
                <a:spcPts val="600"/>
              </a:spcAft>
              <a:defRPr sz="2100" b="0">
                <a:solidFill>
                  <a:srgbClr val="202020"/>
                </a:solidFill>
                <a:latin typeface="Montserrat"/>
              </a:defRPr>
            </a:pPr>
            <a:r>
              <a:rPr sz="1600">
                <a:latin typeface="IBM Plex Sans Arabic"/>
              </a:rPr>
              <a:t>• اطلب من المبيعات/تطوير الأعمال الفصل بين الرد وحجز الاجتماع والاهتمام والاستعداد للتوقيع وتوقيع العقد.</a:t>
            </a:r>
          </a:p>
          <a:p>
            <a:pPr algn="r" rtl="1">
              <a:spcAft>
                <a:spcPts val="600"/>
              </a:spcAft>
              <a:defRPr sz="2100" b="0">
                <a:solidFill>
                  <a:srgbClr val="202020"/>
                </a:solidFill>
                <a:latin typeface="Montserrat"/>
              </a:defRPr>
            </a:pPr>
            <a:r>
              <a:rPr sz="1600">
                <a:latin typeface="IBM Plex Sans Arabic"/>
              </a:rPr>
              <a:t>• تأكد أن مدير الحساب يعرف السياق قبل الاجتماع، لا أن يتسلم الحساب بعد البيع فقط.</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lgn="r" rtl="1">
              <a:spcAft>
                <a:spcPts val="600"/>
              </a:spcAft>
              <a:defRPr sz="1600" b="1">
                <a:solidFill>
                  <a:srgbClr val="7D2B42"/>
                </a:solidFill>
                <a:latin typeface="Montserrat"/>
              </a:defRPr>
            </a:pPr>
            <a:r>
              <a:rPr sz="1600">
                <a:latin typeface="IBM Plex Sans Arabic"/>
              </a:rPr>
              <a:t>إيقاف/إعادة: غياب احتياج واضح أو مسؤول تالٍ يعني إعادة التأهيل، لا احتساب عميل مكتسب.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SOP-02 / إعداد التدقيق والمقترح الأولي</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12</a:t>
            </a:r>
          </a:p>
        </p:txBody>
      </p:sp>
      <p:sp>
        <p:nvSpPr>
          <p:cNvPr id="8" name="Rectangle 7"/>
          <p:cNvSpPr/>
          <p:nvPr/>
        </p:nvSpPr>
        <p:spPr>
          <a:xfrm>
            <a:off x="1001268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241280" y="2697480"/>
            <a:ext cx="3383280" cy="548640"/>
          </a:xfrm>
          <a:prstGeom prst="rect">
            <a:avLst/>
          </a:prstGeom>
          <a:noFill/>
        </p:spPr>
        <p:txBody>
          <a:bodyPr wrap="square" lIns="18288" rIns="18288" tIns="0" bIns="0">
            <a:spAutoFit/>
          </a:bodyPr>
          <a:lstStyle/>
          <a:p>
            <a:pPr algn="r" rtl="1">
              <a:spcAft>
                <a:spcPts val="600"/>
              </a:spcAft>
              <a:defRPr sz="1700" b="1">
                <a:solidFill>
                  <a:srgbClr val="FFCC00"/>
                </a:solidFill>
                <a:latin typeface="Montserrat"/>
              </a:defRPr>
            </a:pPr>
            <a:r>
              <a:rPr sz="1600">
                <a:latin typeface="IBM Plex Sans Arabic"/>
              </a:rPr>
              <a:t>متى يبدأ؟</a:t>
            </a:r>
          </a:p>
        </p:txBody>
      </p:sp>
      <p:sp>
        <p:nvSpPr>
          <p:cNvPr id="10" name="TextBox 9"/>
          <p:cNvSpPr txBox="1"/>
          <p:nvPr/>
        </p:nvSpPr>
        <p:spPr>
          <a:xfrm>
            <a:off x="10241280" y="3429000"/>
            <a:ext cx="3383280" cy="2286000"/>
          </a:xfrm>
          <a:prstGeom prst="rect">
            <a:avLst/>
          </a:prstGeom>
          <a:noFill/>
        </p:spPr>
        <p:txBody>
          <a:bodyPr wrap="square" lIns="18288" rIns="18288" tIns="0" bIns="0">
            <a:spAutoFit/>
          </a:bodyPr>
          <a:lstStyle/>
          <a:p>
            <a:pPr algn="r" rtl="1">
              <a:spcAft>
                <a:spcPts val="600"/>
              </a:spcAft>
              <a:defRPr sz="1900" b="0">
                <a:solidFill>
                  <a:srgbClr val="FFFFFF"/>
                </a:solidFill>
                <a:latin typeface="Montserrat"/>
              </a:defRPr>
            </a:pPr>
            <a:r>
              <a:rPr sz="1600">
                <a:latin typeface="IBM Plex Sans Arabic"/>
              </a:rPr>
              <a:t>حجز الاجتماع الأول.</a:t>
            </a:r>
          </a:p>
        </p:txBody>
      </p:sp>
      <p:sp>
        <p:nvSpPr>
          <p:cNvPr id="11" name="TextBox 10"/>
          <p:cNvSpPr txBox="1"/>
          <p:nvPr/>
        </p:nvSpPr>
        <p:spPr>
          <a:xfrm>
            <a:off x="10241280" y="6355080"/>
            <a:ext cx="3383280" cy="320040"/>
          </a:xfrm>
          <a:prstGeom prst="rect">
            <a:avLst/>
          </a:prstGeom>
          <a:noFill/>
        </p:spPr>
        <p:txBody>
          <a:bodyPr wrap="square" lIns="18288" rIns="18288" tIns="0" bIns="0">
            <a:spAutoFit/>
          </a:bodyPr>
          <a:lstStyle/>
          <a:p>
            <a:pPr algn="r" rtl="1">
              <a:spcAft>
                <a:spcPts val="600"/>
              </a:spcAft>
              <a:defRPr sz="1000" b="1">
                <a:solidFill>
                  <a:srgbClr val="FFCC00"/>
                </a:solidFill>
                <a:latin typeface="Montserrat"/>
              </a:defRPr>
            </a:pPr>
            <a:r>
              <a:rPr sz="1350">
                <a:latin typeface="IBM Plex Sans Arabic"/>
              </a:rPr>
              <a:t>الخطوات الكاملة في الدليل</a:t>
            </a:r>
          </a:p>
        </p:txBody>
      </p:sp>
      <p:sp>
        <p:nvSpPr>
          <p:cNvPr id="12" name="TextBox 11"/>
          <p:cNvSpPr txBox="1"/>
          <p:nvPr/>
        </p:nvSpPr>
        <p:spPr>
          <a:xfrm>
            <a:off x="914400" y="2560320"/>
            <a:ext cx="8686800" cy="4526280"/>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1. استخدم ملف SKILL-1.md المرفق لاستراتيجية التواصل الاجتماعي، وأكد النطاق والصيغة واللغة والصلاحيات المتاحة.</a:t>
            </a:r>
          </a:p>
          <a:p>
            <a:pPr algn="r" rtl="1">
              <a:spcAft>
                <a:spcPts val="600"/>
              </a:spcAft>
              <a:defRPr sz="1600" b="0">
                <a:solidFill>
                  <a:srgbClr val="202020"/>
                </a:solidFill>
                <a:latin typeface="Montserrat"/>
              </a:defRPr>
            </a:pPr>
            <a:r>
              <a:rPr sz="1600">
                <a:latin typeface="IBM Plex Sans Arabic"/>
              </a:rPr>
              <a:t>2. ابحث قبل تقديم الحلول: الموجز، والحسابات الاجتماعية، والموقع، والمواد المتاحة، والمنافسون، وسياق القطاع. سجّل المصادر المؤرخة وما تعذر التحقق منه.</a:t>
            </a:r>
          </a:p>
          <a:p>
            <a:pPr algn="r" rtl="1">
              <a:spcAft>
                <a:spcPts val="600"/>
              </a:spcAft>
              <a:defRPr sz="1600" b="0">
                <a:solidFill>
                  <a:srgbClr val="202020"/>
                </a:solidFill>
                <a:latin typeface="Montserrat"/>
              </a:defRPr>
            </a:pPr>
            <a:r>
              <a:rPr sz="1600">
                <a:latin typeface="IBM Plex Sans Arabic"/>
              </a:rPr>
              <a:t>3. افصل بوضوح بين الوقائع المرصودة والتفسير والتوصية. أرقام المشاهدات العامة وحدها لا تثبت الترويج المدفوع.</a:t>
            </a:r>
          </a:p>
          <a:p>
            <a:pPr algn="r" rtl="1">
              <a:spcAft>
                <a:spcPts val="600"/>
              </a:spcAft>
              <a:defRPr sz="1600" b="0">
                <a:solidFill>
                  <a:srgbClr val="202020"/>
                </a:solidFill>
                <a:latin typeface="Montserrat"/>
              </a:defRPr>
            </a:pPr>
            <a:r>
              <a:rPr sz="1600">
                <a:latin typeface="IBM Plex Sans Arabic"/>
              </a:rPr>
              <a:t>4. بعد التدقيق، أعدّ استراتيجية/مقترحًا أوليًا وثلاث باقات سعرية. استند إلى نطاقات السوق الفعلية وأسعار PMP السابقة وقطاع العميل وفئته ونطاق العمل المقترح.</a:t>
            </a:r>
          </a:p>
          <a:p>
            <a:pPr algn="r" rtl="1">
              <a:spcAft>
                <a:spcPts val="600"/>
              </a:spcAft>
              <a:defRPr sz="1600" b="0">
                <a:solidFill>
                  <a:srgbClr val="202020"/>
                </a:solidFill>
                <a:latin typeface="Montserrat"/>
              </a:defRPr>
            </a:pPr>
            <a:r>
              <a:rPr sz="1600">
                <a:latin typeface="IBM Plex Sans Arabic"/>
              </a:rPr>
              <a:t>5. ادرس المشكلات الفعلية والحلول المقترحة بعناية قبل الاجتماع الأول.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SOP-02 / فحوص مدير التسويق</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13</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lgn="r" rtl="1">
              <a:spcAft>
                <a:spcPts val="600"/>
              </a:spcAft>
              <a:defRPr sz="2100" b="0">
                <a:solidFill>
                  <a:srgbClr val="202020"/>
                </a:solidFill>
                <a:latin typeface="Montserrat"/>
              </a:defRPr>
            </a:pPr>
            <a:r>
              <a:rPr sz="1600">
                <a:latin typeface="IBM Plex Sans Arabic"/>
              </a:rPr>
              <a:t>• افتح المصادر الفعلية والمقترح؛ جمال العرض وحده لا يثبت البحث.</a:t>
            </a:r>
          </a:p>
          <a:p>
            <a:pPr algn="r" rtl="1">
              <a:spcAft>
                <a:spcPts val="600"/>
              </a:spcAft>
              <a:defRPr sz="2100" b="0">
                <a:solidFill>
                  <a:srgbClr val="202020"/>
                </a:solidFill>
                <a:latin typeface="Montserrat"/>
              </a:defRPr>
            </a:pPr>
            <a:r>
              <a:rPr sz="1600">
                <a:latin typeface="IBM Plex Sans Arabic"/>
              </a:rPr>
              <a:t>• تحقق من فصل كل ادعاء إلى مرصود أو تفسير أو توصية، ومن تواريخ المصادر والإفصاح عن تعذر الوصول.</a:t>
            </a:r>
          </a:p>
          <a:p>
            <a:pPr algn="r" rtl="1">
              <a:spcAft>
                <a:spcPts val="600"/>
              </a:spcAft>
              <a:defRPr sz="2100" b="0">
                <a:solidFill>
                  <a:srgbClr val="202020"/>
                </a:solidFill>
                <a:latin typeface="Montserrat"/>
              </a:defRPr>
            </a:pPr>
            <a:r>
              <a:rPr sz="1600">
                <a:latin typeface="IBM Plex Sans Arabic"/>
              </a:rPr>
              <a:t>• قارن المخرجات بالمواد والطاقة المتاحة. لا تعتمد خطة تفترض لقطات أو إمكانات غير موجودة.</a:t>
            </a:r>
          </a:p>
          <a:p>
            <a:pPr algn="r" rtl="1">
              <a:spcAft>
                <a:spcPts val="600"/>
              </a:spcAft>
              <a:defRPr sz="2100" b="0">
                <a:solidFill>
                  <a:srgbClr val="202020"/>
                </a:solidFill>
                <a:latin typeface="Montserrat"/>
              </a:defRPr>
            </a:pPr>
            <a:r>
              <a:rPr sz="1600">
                <a:latin typeface="IBM Plex Sans Arabic"/>
              </a:rPr>
              <a:t>• قارن الباقات بالنطاق وأدلة السوق والأسعار السابقة. لا تختلق أسعار السوق.</a:t>
            </a:r>
          </a:p>
          <a:p>
            <a:pPr algn="r" rtl="1">
              <a:spcAft>
                <a:spcPts val="600"/>
              </a:spcAft>
              <a:defRPr sz="2100" b="0">
                <a:solidFill>
                  <a:srgbClr val="202020"/>
                </a:solidFill>
                <a:latin typeface="Montserrat"/>
              </a:defRPr>
            </a:pPr>
            <a:r>
              <a:rPr sz="1600">
                <a:latin typeface="IBM Plex Sans Arabic"/>
              </a:rPr>
              <a:t>• تأكد أن المبيعات/تطوير الأعمال درس المشكلات والحلول، لا أعاد إرسال ناتج المهارة فقط.</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lgn="r" rtl="1">
              <a:spcAft>
                <a:spcPts val="600"/>
              </a:spcAft>
              <a:defRPr sz="1600" b="1">
                <a:solidFill>
                  <a:srgbClr val="7D2B42"/>
                </a:solidFill>
                <a:latin typeface="Montserrat"/>
              </a:defRPr>
            </a:pPr>
            <a:r>
              <a:rPr sz="1600">
                <a:latin typeface="IBM Plex Sans Arabic"/>
              </a:rPr>
              <a:t>إيقاف/إعادة: تحقّق من الادعاء أو أعد تصنيفه. لا تعرض سعرًا مختلقًا باعتباره مثبتًا بالسوق.</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SOP-03 / الاجتماع الأول والاستعداد للتوقيع</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14</a:t>
            </a:r>
          </a:p>
        </p:txBody>
      </p:sp>
      <p:sp>
        <p:nvSpPr>
          <p:cNvPr id="8" name="Rectangle 7"/>
          <p:cNvSpPr/>
          <p:nvPr/>
        </p:nvSpPr>
        <p:spPr>
          <a:xfrm>
            <a:off x="1001268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241280" y="2697480"/>
            <a:ext cx="3383280" cy="548640"/>
          </a:xfrm>
          <a:prstGeom prst="rect">
            <a:avLst/>
          </a:prstGeom>
          <a:noFill/>
        </p:spPr>
        <p:txBody>
          <a:bodyPr wrap="square" lIns="18288" rIns="18288" tIns="0" bIns="0">
            <a:spAutoFit/>
          </a:bodyPr>
          <a:lstStyle/>
          <a:p>
            <a:pPr algn="r" rtl="1">
              <a:spcAft>
                <a:spcPts val="600"/>
              </a:spcAft>
              <a:defRPr sz="1700" b="1">
                <a:solidFill>
                  <a:srgbClr val="FFCC00"/>
                </a:solidFill>
                <a:latin typeface="Montserrat"/>
              </a:defRPr>
            </a:pPr>
            <a:r>
              <a:rPr sz="1600">
                <a:latin typeface="IBM Plex Sans Arabic"/>
              </a:rPr>
              <a:t>متى يبدأ؟</a:t>
            </a:r>
          </a:p>
        </p:txBody>
      </p:sp>
      <p:sp>
        <p:nvSpPr>
          <p:cNvPr id="10" name="TextBox 9"/>
          <p:cNvSpPr txBox="1"/>
          <p:nvPr/>
        </p:nvSpPr>
        <p:spPr>
          <a:xfrm>
            <a:off x="10241280" y="3429000"/>
            <a:ext cx="3383280" cy="2286000"/>
          </a:xfrm>
          <a:prstGeom prst="rect">
            <a:avLst/>
          </a:prstGeom>
          <a:noFill/>
        </p:spPr>
        <p:txBody>
          <a:bodyPr wrap="square" lIns="18288" rIns="18288" tIns="0" bIns="0">
            <a:spAutoFit/>
          </a:bodyPr>
          <a:lstStyle/>
          <a:p>
            <a:pPr algn="r" rtl="1">
              <a:spcAft>
                <a:spcPts val="600"/>
              </a:spcAft>
              <a:defRPr sz="1900" b="0">
                <a:solidFill>
                  <a:srgbClr val="FFFFFF"/>
                </a:solidFill>
                <a:latin typeface="Montserrat"/>
              </a:defRPr>
            </a:pPr>
            <a:r>
              <a:rPr sz="1600">
                <a:latin typeface="IBM Plex Sans Arabic"/>
              </a:rPr>
              <a:t>انعقاد الاجتماع الأول المجهز عبر الإنترنت أو حضوريًا.</a:t>
            </a:r>
          </a:p>
        </p:txBody>
      </p:sp>
      <p:sp>
        <p:nvSpPr>
          <p:cNvPr id="11" name="TextBox 10"/>
          <p:cNvSpPr txBox="1"/>
          <p:nvPr/>
        </p:nvSpPr>
        <p:spPr>
          <a:xfrm>
            <a:off x="10241280" y="6355080"/>
            <a:ext cx="3383280" cy="320040"/>
          </a:xfrm>
          <a:prstGeom prst="rect">
            <a:avLst/>
          </a:prstGeom>
          <a:noFill/>
        </p:spPr>
        <p:txBody>
          <a:bodyPr wrap="square" lIns="18288" rIns="18288" tIns="0" bIns="0">
            <a:spAutoFit/>
          </a:bodyPr>
          <a:lstStyle/>
          <a:p>
            <a:pPr algn="r" rtl="1">
              <a:spcAft>
                <a:spcPts val="600"/>
              </a:spcAft>
              <a:defRPr sz="1000" b="1">
                <a:solidFill>
                  <a:srgbClr val="FFCC00"/>
                </a:solidFill>
                <a:latin typeface="Montserrat"/>
              </a:defRPr>
            </a:pPr>
            <a:r>
              <a:rPr sz="1350">
                <a:latin typeface="IBM Plex Sans Arabic"/>
              </a:rPr>
              <a:t>الخطوات الكاملة في الدليل</a:t>
            </a:r>
          </a:p>
        </p:txBody>
      </p:sp>
      <p:sp>
        <p:nvSpPr>
          <p:cNvPr id="12" name="TextBox 11"/>
          <p:cNvSpPr txBox="1"/>
          <p:nvPr/>
        </p:nvSpPr>
        <p:spPr>
          <a:xfrm>
            <a:off x="914400" y="2560320"/>
            <a:ext cx="8686800" cy="4526280"/>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1. اعرض المشكلات المرصودة والحلول المقترحة وخيارات نطاق العمل.</a:t>
            </a:r>
          </a:p>
          <a:p>
            <a:pPr algn="r" rtl="1">
              <a:spcAft>
                <a:spcPts val="600"/>
              </a:spcAft>
              <a:defRPr sz="1600" b="0">
                <a:solidFill>
                  <a:srgbClr val="202020"/>
                </a:solidFill>
                <a:latin typeface="Montserrat"/>
              </a:defRPr>
            </a:pPr>
            <a:r>
              <a:rPr sz="1600">
                <a:latin typeface="IBM Plex Sans Arabic"/>
              </a:rPr>
              <a:t>2. وثّق موجز العميل الفعلي: الأهداف والأولويات والقيود والخدمات المطلوبة وما يختلف عن الافتراضات الأولية.</a:t>
            </a:r>
          </a:p>
          <a:p>
            <a:pPr algn="r" rtl="1">
              <a:spcAft>
                <a:spcPts val="600"/>
              </a:spcAft>
              <a:defRPr sz="1600" b="0">
                <a:solidFill>
                  <a:srgbClr val="202020"/>
                </a:solidFill>
                <a:latin typeface="Montserrat"/>
              </a:defRPr>
            </a:pPr>
            <a:r>
              <a:rPr sz="1600">
                <a:latin typeface="IBM Plex Sans Arabic"/>
              </a:rPr>
              <a:t>3. تحقّق مما إذا كان العميل مستعدًا لتوقيع العقد، وسجّل ذلك منفصلًا عن التوقيع الفعلي.</a:t>
            </a:r>
          </a:p>
          <a:p>
            <a:pPr algn="r" rtl="1">
              <a:spcAft>
                <a:spcPts val="600"/>
              </a:spcAft>
              <a:defRPr sz="1600" b="0">
                <a:solidFill>
                  <a:srgbClr val="202020"/>
                </a:solidFill>
                <a:latin typeface="Montserrat"/>
              </a:defRPr>
            </a:pPr>
            <a:r>
              <a:rPr sz="1600">
                <a:latin typeface="IBM Plex Sans Arabic"/>
              </a:rPr>
              <a:t>4. إذا لم يكن مستعدًا، استمر في متابعة ما قبل البيع، ويظل تطوير الاستراتيجية الفعلية معلقًا.</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SOP-03 / فحوص مدير التسويق</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15</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lgn="r" rtl="1">
              <a:spcAft>
                <a:spcPts val="600"/>
              </a:spcAft>
              <a:defRPr sz="2100" b="0">
                <a:solidFill>
                  <a:srgbClr val="202020"/>
                </a:solidFill>
                <a:latin typeface="Montserrat"/>
              </a:defRPr>
            </a:pPr>
            <a:r>
              <a:rPr sz="1600">
                <a:latin typeface="IBM Plex Sans Arabic"/>
              </a:rPr>
              <a:t>• اقرأ موجز الاجتماع وحدد ما تغير عن الافتراضات الأولية.</a:t>
            </a:r>
          </a:p>
          <a:p>
            <a:pPr algn="r" rtl="1">
              <a:spcAft>
                <a:spcPts val="600"/>
              </a:spcAft>
              <a:defRPr sz="2100" b="0">
                <a:solidFill>
                  <a:srgbClr val="202020"/>
                </a:solidFill>
                <a:latin typeface="Montserrat"/>
              </a:defRPr>
            </a:pPr>
            <a:r>
              <a:rPr sz="1600">
                <a:latin typeface="IBM Plex Sans Arabic"/>
              </a:rPr>
              <a:t>• اطلب إثباتًا صريحًا للاستعداد للتوقيع؛ الاهتمام أو نجاح الاجتماع ليسا المحطة نفسها.</a:t>
            </a:r>
          </a:p>
          <a:p>
            <a:pPr algn="r" rtl="1">
              <a:spcAft>
                <a:spcPts val="600"/>
              </a:spcAft>
              <a:defRPr sz="2100" b="0">
                <a:solidFill>
                  <a:srgbClr val="202020"/>
                </a:solidFill>
                <a:latin typeface="Montserrat"/>
              </a:defRPr>
            </a:pPr>
            <a:r>
              <a:rPr sz="1600">
                <a:latin typeface="IBM Plex Sans Arabic"/>
              </a:rPr>
              <a:t>• دون تأكيد الاستعداد، يظل فريق الاستراتيجية الفعلية معلقًا، ويتولى المبيعات/تطوير الأعمال ومدير الحساب متابعة ما قبل البيع.</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lgn="r" rtl="1">
              <a:spcAft>
                <a:spcPts val="600"/>
              </a:spcAft>
              <a:defRPr sz="1600" b="1">
                <a:solidFill>
                  <a:srgbClr val="7D2B42"/>
                </a:solidFill>
                <a:latin typeface="Montserrat"/>
              </a:defRPr>
            </a:pPr>
            <a:r>
              <a:rPr sz="1600">
                <a:latin typeface="IBM Plex Sans Arabic"/>
              </a:rPr>
              <a:t>إيقاف/إعادة: عند غياب الاستعداد، استمر في ما قبل البيع؛ الاجتماع وحده لا يبدأ الاستراتيجية الفعلية.</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SOP-04 / تطوير الاستراتيجية الفعلية</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16</a:t>
            </a:r>
          </a:p>
        </p:txBody>
      </p:sp>
      <p:sp>
        <p:nvSpPr>
          <p:cNvPr id="8" name="Rectangle 7"/>
          <p:cNvSpPr/>
          <p:nvPr/>
        </p:nvSpPr>
        <p:spPr>
          <a:xfrm>
            <a:off x="1001268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241280" y="2697480"/>
            <a:ext cx="3383280" cy="548640"/>
          </a:xfrm>
          <a:prstGeom prst="rect">
            <a:avLst/>
          </a:prstGeom>
          <a:noFill/>
        </p:spPr>
        <p:txBody>
          <a:bodyPr wrap="square" lIns="18288" rIns="18288" tIns="0" bIns="0">
            <a:spAutoFit/>
          </a:bodyPr>
          <a:lstStyle/>
          <a:p>
            <a:pPr algn="r" rtl="1">
              <a:spcAft>
                <a:spcPts val="600"/>
              </a:spcAft>
              <a:defRPr sz="1700" b="1">
                <a:solidFill>
                  <a:srgbClr val="FFCC00"/>
                </a:solidFill>
                <a:latin typeface="Montserrat"/>
              </a:defRPr>
            </a:pPr>
            <a:r>
              <a:rPr sz="1600">
                <a:latin typeface="IBM Plex Sans Arabic"/>
              </a:rPr>
              <a:t>متى يبدأ؟</a:t>
            </a:r>
          </a:p>
        </p:txBody>
      </p:sp>
      <p:sp>
        <p:nvSpPr>
          <p:cNvPr id="10" name="TextBox 9"/>
          <p:cNvSpPr txBox="1"/>
          <p:nvPr/>
        </p:nvSpPr>
        <p:spPr>
          <a:xfrm>
            <a:off x="10241280" y="3429000"/>
            <a:ext cx="3383280" cy="2286000"/>
          </a:xfrm>
          <a:prstGeom prst="rect">
            <a:avLst/>
          </a:prstGeom>
          <a:noFill/>
        </p:spPr>
        <p:txBody>
          <a:bodyPr wrap="square" lIns="18288" rIns="18288" tIns="0" bIns="0">
            <a:spAutoFit/>
          </a:bodyPr>
          <a:lstStyle/>
          <a:p>
            <a:pPr algn="r" rtl="1">
              <a:spcAft>
                <a:spcPts val="600"/>
              </a:spcAft>
              <a:defRPr sz="1900" b="0">
                <a:solidFill>
                  <a:srgbClr val="FFFFFF"/>
                </a:solidFill>
                <a:latin typeface="Montserrat"/>
              </a:defRPr>
            </a:pPr>
            <a:r>
              <a:rPr sz="1600">
                <a:latin typeface="IBM Plex Sans Arabic"/>
              </a:rPr>
              <a:t>اكتمال الاجتماع الأول وتأكيد العميل استعداده للتوقيع.</a:t>
            </a:r>
          </a:p>
        </p:txBody>
      </p:sp>
      <p:sp>
        <p:nvSpPr>
          <p:cNvPr id="11" name="TextBox 10"/>
          <p:cNvSpPr txBox="1"/>
          <p:nvPr/>
        </p:nvSpPr>
        <p:spPr>
          <a:xfrm>
            <a:off x="10241280" y="6355080"/>
            <a:ext cx="3383280" cy="320040"/>
          </a:xfrm>
          <a:prstGeom prst="rect">
            <a:avLst/>
          </a:prstGeom>
          <a:noFill/>
        </p:spPr>
        <p:txBody>
          <a:bodyPr wrap="square" lIns="18288" rIns="18288" tIns="0" bIns="0">
            <a:spAutoFit/>
          </a:bodyPr>
          <a:lstStyle/>
          <a:p>
            <a:pPr algn="r" rtl="1">
              <a:spcAft>
                <a:spcPts val="600"/>
              </a:spcAft>
              <a:defRPr sz="1000" b="1">
                <a:solidFill>
                  <a:srgbClr val="FFCC00"/>
                </a:solidFill>
                <a:latin typeface="Montserrat"/>
              </a:defRPr>
            </a:pPr>
            <a:r>
              <a:rPr sz="1350">
                <a:latin typeface="IBM Plex Sans Arabic"/>
              </a:rPr>
              <a:t>الخطوات الكاملة في الدليل</a:t>
            </a:r>
          </a:p>
        </p:txBody>
      </p:sp>
      <p:sp>
        <p:nvSpPr>
          <p:cNvPr id="12" name="TextBox 11"/>
          <p:cNvSpPr txBox="1"/>
          <p:nvPr/>
        </p:nvSpPr>
        <p:spPr>
          <a:xfrm>
            <a:off x="914400" y="2560320"/>
            <a:ext cx="8686800" cy="4526280"/>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1. يقارن مدير الحساب المقترح الأولي بالموجز الفعلي، ويحدد الاختلافات والمتطلبات الجديدة والافتراضات التي تحتاج إلى تصحيح.</a:t>
            </a:r>
          </a:p>
          <a:p>
            <a:pPr algn="r" rtl="1">
              <a:spcAft>
                <a:spcPts val="600"/>
              </a:spcAft>
              <a:defRPr sz="1600" b="0">
                <a:solidFill>
                  <a:srgbClr val="202020"/>
                </a:solidFill>
                <a:latin typeface="Montserrat"/>
              </a:defRPr>
            </a:pPr>
            <a:r>
              <a:rPr sz="1600">
                <a:latin typeface="IBM Plex Sans Arabic"/>
              </a:rPr>
              <a:t>2. يطوّر مدير الحساب الاستراتيجية الفعلية مع أخصائي التواصل الاجتماعي ومدير التسويق ومسؤول شراء الإعلانات.</a:t>
            </a:r>
          </a:p>
          <a:p>
            <a:pPr algn="r" rtl="1">
              <a:spcAft>
                <a:spcPts val="600"/>
              </a:spcAft>
              <a:defRPr sz="1600" b="0">
                <a:solidFill>
                  <a:srgbClr val="202020"/>
                </a:solidFill>
                <a:latin typeface="Montserrat"/>
              </a:defRPr>
            </a:pPr>
            <a:r>
              <a:rPr sz="1600">
                <a:latin typeface="IBM Plex Sans Arabic"/>
              </a:rPr>
              <a:t>3. طبّق منهج الاستراتيجية على النطاق المتفق عليه؛ راجع الأدلة وأعلن الفجوات بدلًا من ترحيل افتراضات غير مدعومة.</a:t>
            </a:r>
          </a:p>
          <a:p>
            <a:pPr algn="r" rtl="1">
              <a:spcAft>
                <a:spcPts val="600"/>
              </a:spcAft>
              <a:defRPr sz="1600" b="0">
                <a:solidFill>
                  <a:srgbClr val="202020"/>
                </a:solidFill>
                <a:latin typeface="Montserrat"/>
              </a:defRPr>
            </a:pPr>
            <a:r>
              <a:rPr sz="1600">
                <a:latin typeface="IBM Plex Sans Arabic"/>
              </a:rPr>
              <a:t>4. طابق أي تغيير في النطاق ناتج عن الاستراتيجية مع عرض السعر المتفق عليه قبل طباعة حزمة الاجتماع الثاني.</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SOP-04 / فحوص مدير التسويق</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17</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lgn="r" rtl="1">
              <a:spcAft>
                <a:spcPts val="600"/>
              </a:spcAft>
              <a:defRPr sz="2100" b="0">
                <a:solidFill>
                  <a:srgbClr val="202020"/>
                </a:solidFill>
                <a:latin typeface="Montserrat"/>
              </a:defRPr>
            </a:pPr>
            <a:r>
              <a:rPr sz="1600">
                <a:latin typeface="IBM Plex Sans Arabic"/>
              </a:rPr>
              <a:t>• اطلب من مدير الحساب مقارنة المقترح بالموجز الفعلي قبل قبول الاستراتيجية الفعلية.</a:t>
            </a:r>
          </a:p>
          <a:p>
            <a:pPr algn="r" rtl="1">
              <a:spcAft>
                <a:spcPts val="600"/>
              </a:spcAft>
              <a:defRPr sz="2100" b="0">
                <a:solidFill>
                  <a:srgbClr val="202020"/>
                </a:solidFill>
                <a:latin typeface="Montserrat"/>
              </a:defRPr>
            </a:pPr>
            <a:r>
              <a:rPr sz="1600">
                <a:latin typeface="IBM Plex Sans Arabic"/>
              </a:rPr>
              <a:t>• عالج مع مدير الحساب والتواصل والإعلانات اختلافات الهدف والقنوات والجمهور والموارد والقياس وافتراضات الإعلان.</a:t>
            </a:r>
          </a:p>
          <a:p>
            <a:pPr algn="r" rtl="1">
              <a:spcAft>
                <a:spcPts val="600"/>
              </a:spcAft>
              <a:defRPr sz="2100" b="0">
                <a:solidFill>
                  <a:srgbClr val="202020"/>
                </a:solidFill>
                <a:latin typeface="Montserrat"/>
              </a:defRPr>
            </a:pPr>
            <a:r>
              <a:rPr sz="1600">
                <a:latin typeface="IBM Plex Sans Arabic"/>
              </a:rPr>
              <a:t>• تحقق من أثر التغييرات على الكميات والجهد والنطاق والسعر؛ لا تضف عملًا دون توثيق.</a:t>
            </a:r>
          </a:p>
          <a:p>
            <a:pPr algn="r" rtl="1">
              <a:spcAft>
                <a:spcPts val="600"/>
              </a:spcAft>
              <a:defRPr sz="2100" b="0">
                <a:solidFill>
                  <a:srgbClr val="202020"/>
                </a:solidFill>
                <a:latin typeface="Montserrat"/>
              </a:defRPr>
            </a:pPr>
            <a:r>
              <a:rPr sz="1600">
                <a:latin typeface="IBM Plex Sans Arabic"/>
              </a:rPr>
              <a:t>• ميّز المقترح عن الاستراتيجية الفعلية وعن السعر المتفق عليه. يجب أن تعكس استراتيجية التوقيع الموجز الفعلي.</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lgn="r" rtl="1">
              <a:spcAft>
                <a:spcPts val="600"/>
              </a:spcAft>
              <a:defRPr sz="1600" b="1">
                <a:solidFill>
                  <a:srgbClr val="7D2B42"/>
                </a:solidFill>
                <a:latin typeface="Montserrat"/>
              </a:defRPr>
            </a:pPr>
            <a:r>
              <a:rPr sz="1600">
                <a:latin typeface="IBM Plex Sans Arabic"/>
              </a:rPr>
              <a:t>إيقاف/إعادة: دون استعداد تتوقف الخطوة. يعالج الحساب تعارض المتطلبات قبل الوعد بالتنفيذ.</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SOP-05 / الاجتماع الثاني والتوقيع ونقل المجلد</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18</a:t>
            </a:r>
          </a:p>
        </p:txBody>
      </p:sp>
      <p:sp>
        <p:nvSpPr>
          <p:cNvPr id="8" name="Rectangle 7"/>
          <p:cNvSpPr/>
          <p:nvPr/>
        </p:nvSpPr>
        <p:spPr>
          <a:xfrm>
            <a:off x="1001268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241280" y="2697480"/>
            <a:ext cx="3383280" cy="548640"/>
          </a:xfrm>
          <a:prstGeom prst="rect">
            <a:avLst/>
          </a:prstGeom>
          <a:noFill/>
        </p:spPr>
        <p:txBody>
          <a:bodyPr wrap="square" lIns="18288" rIns="18288" tIns="0" bIns="0">
            <a:spAutoFit/>
          </a:bodyPr>
          <a:lstStyle/>
          <a:p>
            <a:pPr algn="r" rtl="1">
              <a:spcAft>
                <a:spcPts val="600"/>
              </a:spcAft>
              <a:defRPr sz="1700" b="1">
                <a:solidFill>
                  <a:srgbClr val="FFCC00"/>
                </a:solidFill>
                <a:latin typeface="Montserrat"/>
              </a:defRPr>
            </a:pPr>
            <a:r>
              <a:rPr sz="1600">
                <a:latin typeface="IBM Plex Sans Arabic"/>
              </a:rPr>
              <a:t>متى يبدأ؟</a:t>
            </a:r>
          </a:p>
        </p:txBody>
      </p:sp>
      <p:sp>
        <p:nvSpPr>
          <p:cNvPr id="10" name="TextBox 9"/>
          <p:cNvSpPr txBox="1"/>
          <p:nvPr/>
        </p:nvSpPr>
        <p:spPr>
          <a:xfrm>
            <a:off x="10241280" y="3429000"/>
            <a:ext cx="3383280" cy="2286000"/>
          </a:xfrm>
          <a:prstGeom prst="rect">
            <a:avLst/>
          </a:prstGeom>
          <a:noFill/>
        </p:spPr>
        <p:txBody>
          <a:bodyPr wrap="square" lIns="18288" rIns="18288" tIns="0" bIns="0">
            <a:spAutoFit/>
          </a:bodyPr>
          <a:lstStyle/>
          <a:p>
            <a:pPr algn="r" rtl="1">
              <a:spcAft>
                <a:spcPts val="600"/>
              </a:spcAft>
              <a:defRPr sz="1900" b="0">
                <a:solidFill>
                  <a:srgbClr val="FFFFFF"/>
                </a:solidFill>
                <a:latin typeface="Montserrat"/>
              </a:defRPr>
            </a:pPr>
            <a:r>
              <a:rPr sz="1600">
                <a:latin typeface="IBM Plex Sans Arabic"/>
              </a:rPr>
              <a:t>العميل مستعد للتوقيع، والاستراتيجية الفعلية والنطاق وعرض السعر جاهزة.</a:t>
            </a:r>
          </a:p>
        </p:txBody>
      </p:sp>
      <p:sp>
        <p:nvSpPr>
          <p:cNvPr id="11" name="TextBox 10"/>
          <p:cNvSpPr txBox="1"/>
          <p:nvPr/>
        </p:nvSpPr>
        <p:spPr>
          <a:xfrm>
            <a:off x="10241280" y="6355080"/>
            <a:ext cx="3383280" cy="320040"/>
          </a:xfrm>
          <a:prstGeom prst="rect">
            <a:avLst/>
          </a:prstGeom>
          <a:noFill/>
        </p:spPr>
        <p:txBody>
          <a:bodyPr wrap="square" lIns="18288" rIns="18288" tIns="0" bIns="0">
            <a:spAutoFit/>
          </a:bodyPr>
          <a:lstStyle/>
          <a:p>
            <a:pPr algn="r" rtl="1">
              <a:spcAft>
                <a:spcPts val="600"/>
              </a:spcAft>
              <a:defRPr sz="1000" b="1">
                <a:solidFill>
                  <a:srgbClr val="FFCC00"/>
                </a:solidFill>
                <a:latin typeface="Montserrat"/>
              </a:defRPr>
            </a:pPr>
            <a:r>
              <a:rPr sz="1350">
                <a:latin typeface="IBM Plex Sans Arabic"/>
              </a:rPr>
              <a:t>الخطوات الكاملة في الدليل</a:t>
            </a:r>
          </a:p>
        </p:txBody>
      </p:sp>
      <p:sp>
        <p:nvSpPr>
          <p:cNvPr id="12" name="TextBox 11"/>
          <p:cNvSpPr txBox="1"/>
          <p:nvPr/>
        </p:nvSpPr>
        <p:spPr>
          <a:xfrm>
            <a:off x="914400" y="2560320"/>
            <a:ext cx="8686800" cy="4526280"/>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1. اعرض المستندات الأربعة مطبوعة في الاجتماع الثاني.</a:t>
            </a:r>
          </a:p>
          <a:p>
            <a:pPr algn="r" rtl="1">
              <a:spcAft>
                <a:spcPts val="600"/>
              </a:spcAft>
              <a:defRPr sz="1600" b="0">
                <a:solidFill>
                  <a:srgbClr val="202020"/>
                </a:solidFill>
                <a:latin typeface="Montserrat"/>
              </a:defRPr>
            </a:pPr>
            <a:r>
              <a:rPr sz="1600">
                <a:latin typeface="IBM Plex Sans Arabic"/>
              </a:rPr>
              <a:t>2. يوقّع العميل موجز العمل والاستراتيجية الفعلية وعرض السعر المتفق عليه والعقد.</a:t>
            </a:r>
          </a:p>
          <a:p>
            <a:pPr algn="r" rtl="1">
              <a:spcAft>
                <a:spcPts val="600"/>
              </a:spcAft>
              <a:defRPr sz="1600" b="0">
                <a:solidFill>
                  <a:srgbClr val="202020"/>
                </a:solidFill>
                <a:latin typeface="Montserrat"/>
              </a:defRPr>
            </a:pPr>
            <a:r>
              <a:rPr sz="1600">
                <a:latin typeface="IBM Plex Sans Arabic"/>
              </a:rPr>
              <a:t>3. عند توقيع العقد، ينقل المبيعات أو تطوير الأعمال المجلد نفسه من PMP Drive / Quotations / [اسم العميل] إلى PMP Drive / [اسم العميل]، دون إنشاء نسخة مكررة.</a:t>
            </a:r>
          </a:p>
          <a:p>
            <a:pPr algn="r" rtl="1">
              <a:spcAft>
                <a:spcPts val="600"/>
              </a:spcAft>
              <a:defRPr sz="1600" b="0">
                <a:solidFill>
                  <a:srgbClr val="202020"/>
                </a:solidFill>
                <a:latin typeface="Montserrat"/>
              </a:defRPr>
            </a:pPr>
            <a:r>
              <a:rPr sz="1600">
                <a:latin typeface="IBM Plex Sans Arabic"/>
              </a:rPr>
              <a:t>4. احتفظ بمستندات الأسعار، ونظّم مجلدات الاستراتيجية الأولية وموجز العميل والمحتوى بخططه الشهرية والتصميمات النهائية الشهرية والفيديوهات النهائية الشهرية وما يتطلبه النطاق.</a:t>
            </a:r>
          </a:p>
          <a:p>
            <a:pPr algn="r" rtl="1">
              <a:spcAft>
                <a:spcPts val="600"/>
              </a:spcAft>
              <a:defRPr sz="1600" b="0">
                <a:solidFill>
                  <a:srgbClr val="202020"/>
                </a:solidFill>
                <a:latin typeface="Montserrat"/>
              </a:defRPr>
            </a:pPr>
            <a:r>
              <a:rPr sz="1600">
                <a:latin typeface="IBM Plex Sans Arabic"/>
              </a:rPr>
              <a:t>5. ينشئ مدير الحساب مجموعة WhatsApp تضم العميل ومالك PMP ومدير التسويق وأصحاب المصلحة المعنيين.</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SOP-05 / فحوص مدير التسويق</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19</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lgn="r" rtl="1">
              <a:spcAft>
                <a:spcPts val="600"/>
              </a:spcAft>
              <a:defRPr sz="2100" b="0">
                <a:solidFill>
                  <a:srgbClr val="202020"/>
                </a:solidFill>
                <a:latin typeface="Montserrat"/>
              </a:defRPr>
            </a:pPr>
            <a:r>
              <a:rPr sz="1600">
                <a:latin typeface="IBM Plex Sans Arabic"/>
              </a:rPr>
              <a:t>• تأكد من تطابق الحساب والنطاق في الموجز والاستراتيجية الفعلية والسعر والعقد المطبوعين، ومن توقيع الأربعة.</a:t>
            </a:r>
          </a:p>
          <a:p>
            <a:pPr algn="r" rtl="1">
              <a:spcAft>
                <a:spcPts val="600"/>
              </a:spcAft>
              <a:defRPr sz="2100" b="0">
                <a:solidFill>
                  <a:srgbClr val="202020"/>
                </a:solidFill>
                <a:latin typeface="Montserrat"/>
              </a:defRPr>
            </a:pPr>
            <a:r>
              <a:rPr sz="1600">
                <a:latin typeface="IBM Plex Sans Arabic"/>
              </a:rPr>
              <a:t>• تحقق من نقل المجلد لا نسخه: من PMP Drive / Quotations / [العميل] إلى PMP Drive / [العميل].</a:t>
            </a:r>
          </a:p>
          <a:p>
            <a:pPr algn="r" rtl="1">
              <a:spcAft>
                <a:spcPts val="600"/>
              </a:spcAft>
              <a:defRPr sz="2100" b="0">
                <a:solidFill>
                  <a:srgbClr val="202020"/>
                </a:solidFill>
                <a:latin typeface="Montserrat"/>
              </a:defRPr>
            </a:pPr>
            <a:r>
              <a:rPr sz="1600">
                <a:latin typeface="IBM Plex Sans Arabic"/>
              </a:rPr>
              <a:t>• تحقق من حفظ مستندات الأسعار وتنظيم الإنتاج للعميل والشهر الصحيحين.</a:t>
            </a:r>
          </a:p>
          <a:p>
            <a:pPr algn="r" rtl="1">
              <a:spcAft>
                <a:spcPts val="600"/>
              </a:spcAft>
              <a:defRPr sz="2100" b="0">
                <a:solidFill>
                  <a:srgbClr val="202020"/>
                </a:solidFill>
                <a:latin typeface="Montserrat"/>
              </a:defRPr>
            </a:pPr>
            <a:r>
              <a:rPr sz="1600">
                <a:latin typeface="IBM Plex Sans Arabic"/>
              </a:rPr>
              <a:t>• تحقق من إنشاء مدير الحساب مجموعة العميل وإضافة أصحاب المصلحة المناسبين.</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lgn="r" rtl="1">
              <a:spcAft>
                <a:spcPts val="600"/>
              </a:spcAft>
              <a:defRPr sz="1600" b="1">
                <a:solidFill>
                  <a:srgbClr val="7D2B42"/>
                </a:solidFill>
                <a:latin typeface="Montserrat"/>
              </a:defRPr>
            </a:pPr>
            <a:r>
              <a:rPr sz="1600">
                <a:latin typeface="IBM Plex Sans Arabic"/>
              </a:rPr>
              <a:t>إيقاف/إعادة: نقل المجلد دون توقيع/سداد لا يثبت جاهزية التنفيذ.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SOP-06 / التحقق من السداد قبل التنفيذ</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20</a:t>
            </a:r>
          </a:p>
        </p:txBody>
      </p:sp>
      <p:sp>
        <p:nvSpPr>
          <p:cNvPr id="8" name="Rectangle 7"/>
          <p:cNvSpPr/>
          <p:nvPr/>
        </p:nvSpPr>
        <p:spPr>
          <a:xfrm>
            <a:off x="1001268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241280" y="2697480"/>
            <a:ext cx="3383280" cy="548640"/>
          </a:xfrm>
          <a:prstGeom prst="rect">
            <a:avLst/>
          </a:prstGeom>
          <a:noFill/>
        </p:spPr>
        <p:txBody>
          <a:bodyPr wrap="square" lIns="18288" rIns="18288" tIns="0" bIns="0">
            <a:spAutoFit/>
          </a:bodyPr>
          <a:lstStyle/>
          <a:p>
            <a:pPr algn="r" rtl="1">
              <a:spcAft>
                <a:spcPts val="600"/>
              </a:spcAft>
              <a:defRPr sz="1700" b="1">
                <a:solidFill>
                  <a:srgbClr val="FFCC00"/>
                </a:solidFill>
                <a:latin typeface="Montserrat"/>
              </a:defRPr>
            </a:pPr>
            <a:r>
              <a:rPr sz="1600">
                <a:latin typeface="IBM Plex Sans Arabic"/>
              </a:rPr>
              <a:t>متى يبدأ؟</a:t>
            </a:r>
          </a:p>
        </p:txBody>
      </p:sp>
      <p:sp>
        <p:nvSpPr>
          <p:cNvPr id="10" name="TextBox 9"/>
          <p:cNvSpPr txBox="1"/>
          <p:nvPr/>
        </p:nvSpPr>
        <p:spPr>
          <a:xfrm>
            <a:off x="10241280" y="3429000"/>
            <a:ext cx="3383280" cy="2286000"/>
          </a:xfrm>
          <a:prstGeom prst="rect">
            <a:avLst/>
          </a:prstGeom>
          <a:noFill/>
        </p:spPr>
        <p:txBody>
          <a:bodyPr wrap="square" lIns="18288" rIns="18288" tIns="0" bIns="0">
            <a:spAutoFit/>
          </a:bodyPr>
          <a:lstStyle/>
          <a:p>
            <a:pPr algn="r" rtl="1">
              <a:spcAft>
                <a:spcPts val="600"/>
              </a:spcAft>
              <a:defRPr sz="1900" b="0">
                <a:solidFill>
                  <a:srgbClr val="FFFFFF"/>
                </a:solidFill>
                <a:latin typeface="Montserrat"/>
              </a:defRPr>
            </a:pPr>
            <a:r>
              <a:rPr sz="1600">
                <a:latin typeface="IBM Plex Sans Arabic"/>
              </a:rPr>
              <a:t>المستندات التجارية موقعة.</a:t>
            </a:r>
          </a:p>
        </p:txBody>
      </p:sp>
      <p:sp>
        <p:nvSpPr>
          <p:cNvPr id="11" name="TextBox 10"/>
          <p:cNvSpPr txBox="1"/>
          <p:nvPr/>
        </p:nvSpPr>
        <p:spPr>
          <a:xfrm>
            <a:off x="10241280" y="6355080"/>
            <a:ext cx="3383280" cy="320040"/>
          </a:xfrm>
          <a:prstGeom prst="rect">
            <a:avLst/>
          </a:prstGeom>
          <a:noFill/>
        </p:spPr>
        <p:txBody>
          <a:bodyPr wrap="square" lIns="18288" rIns="18288" tIns="0" bIns="0">
            <a:spAutoFit/>
          </a:bodyPr>
          <a:lstStyle/>
          <a:p>
            <a:pPr algn="r" rtl="1">
              <a:spcAft>
                <a:spcPts val="600"/>
              </a:spcAft>
              <a:defRPr sz="1000" b="1">
                <a:solidFill>
                  <a:srgbClr val="FFCC00"/>
                </a:solidFill>
                <a:latin typeface="Montserrat"/>
              </a:defRPr>
            </a:pPr>
            <a:r>
              <a:rPr sz="1350">
                <a:latin typeface="IBM Plex Sans Arabic"/>
              </a:rPr>
              <a:t>الخطوات الكاملة في الدليل</a:t>
            </a:r>
          </a:p>
        </p:txBody>
      </p:sp>
      <p:sp>
        <p:nvSpPr>
          <p:cNvPr id="12" name="TextBox 11"/>
          <p:cNvSpPr txBox="1"/>
          <p:nvPr/>
        </p:nvSpPr>
        <p:spPr>
          <a:xfrm>
            <a:off x="914400" y="2560320"/>
            <a:ext cx="8686800" cy="4526280"/>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1. في حالة إدارة التواصل الاجتماعي فقط: يجب سداد 100% من قيمة العقد المتفق عليها قبل بدء العمل المتعاقد عليه.</a:t>
            </a:r>
          </a:p>
          <a:p>
            <a:pPr algn="r" rtl="1">
              <a:spcAft>
                <a:spcPts val="600"/>
              </a:spcAft>
              <a:defRPr sz="1600" b="0">
                <a:solidFill>
                  <a:srgbClr val="202020"/>
                </a:solidFill>
                <a:latin typeface="Montserrat"/>
              </a:defRPr>
            </a:pPr>
            <a:r>
              <a:rPr sz="1600">
                <a:latin typeface="IBM Plex Sans Arabic"/>
              </a:rPr>
              <a:t>2. إذا تضمّن العقد خدمات أخرى: يجب سداد 50% على الأقل من قيمة العقد المتفق عليها قبل بدء التنفيذ.</a:t>
            </a:r>
          </a:p>
          <a:p>
            <a:pPr algn="r" rtl="1">
              <a:spcAft>
                <a:spcPts val="600"/>
              </a:spcAft>
              <a:defRPr sz="1600" b="0">
                <a:solidFill>
                  <a:srgbClr val="202020"/>
                </a:solidFill>
                <a:latin typeface="Montserrat"/>
              </a:defRPr>
            </a:pPr>
            <a:r>
              <a:rPr sz="1600">
                <a:latin typeface="IBM Plex Sans Arabic"/>
              </a:rPr>
              <a:t>3. سجّل إثبات السداد وتأكيد المسؤول المخوّل بالتحقق. الادعاء الشفهي أو الحاسبة التجريبية لا يثبتان استلام الأموال.</a:t>
            </a:r>
          </a:p>
          <a:p>
            <a:pPr algn="r" rtl="1">
              <a:spcAft>
                <a:spcPts val="600"/>
              </a:spcAft>
              <a:defRPr sz="1600" b="0">
                <a:solidFill>
                  <a:srgbClr val="202020"/>
                </a:solidFill>
                <a:latin typeface="Montserrat"/>
              </a:defRPr>
            </a:pPr>
            <a:r>
              <a:rPr sz="1600">
                <a:latin typeface="IBM Plex Sans Arabic"/>
              </a:rPr>
              <a:t>4. افصل أتعاب شراء الإعلانات: بعد تنفيذ الخطة، تُحسب النسبة التي وصفها المستخدم بأنها أتعاب 25% على المصروفات الفعلية المتحقق منها.</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SOP-06 / فحوص مدير التسويق</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21</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lgn="r" rtl="1">
              <a:spcAft>
                <a:spcPts val="600"/>
              </a:spcAft>
              <a:defRPr sz="2100" b="0">
                <a:solidFill>
                  <a:srgbClr val="202020"/>
                </a:solidFill>
                <a:latin typeface="Montserrat"/>
              </a:defRPr>
            </a:pPr>
            <a:r>
              <a:rPr sz="1600">
                <a:latin typeface="IBM Plex Sans Arabic"/>
              </a:rPr>
              <a:t>• حدّد فئة العقد من النطاق المتفق عليه، لا من افتراض عن العميل.</a:t>
            </a:r>
          </a:p>
          <a:p>
            <a:pPr algn="r" rtl="1">
              <a:spcAft>
                <a:spcPts val="600"/>
              </a:spcAft>
              <a:defRPr sz="2100" b="0">
                <a:solidFill>
                  <a:srgbClr val="202020"/>
                </a:solidFill>
                <a:latin typeface="Montserrat"/>
              </a:defRPr>
            </a:pPr>
            <a:r>
              <a:rPr sz="1600">
                <a:latin typeface="IBM Plex Sans Arabic"/>
              </a:rPr>
              <a:t>• إدارة التواصل فقط: كامل المبلغ قبل التنفيذ؛ مع خدمات أخرى: النصف على الأقل.</a:t>
            </a:r>
          </a:p>
          <a:p>
            <a:pPr algn="r" rtl="1">
              <a:spcAft>
                <a:spcPts val="600"/>
              </a:spcAft>
              <a:defRPr sz="2100" b="0">
                <a:solidFill>
                  <a:srgbClr val="202020"/>
                </a:solidFill>
                <a:latin typeface="Montserrat"/>
              </a:defRPr>
            </a:pPr>
            <a:r>
              <a:rPr sz="1600">
                <a:latin typeface="IBM Plex Sans Arabic"/>
              </a:rPr>
              <a:t>• حدّد مع المالك المسؤول المخوّل للتحقق من الأموال؛ لا يعيّن هذا الدليل مدير التسويق أو الحساب تلقائيًا لهذه السلطة.</a:t>
            </a:r>
          </a:p>
          <a:p>
            <a:pPr algn="r" rtl="1">
              <a:spcAft>
                <a:spcPts val="600"/>
              </a:spcAft>
              <a:defRPr sz="2100" b="0">
                <a:solidFill>
                  <a:srgbClr val="202020"/>
                </a:solidFill>
                <a:latin typeface="Montserrat"/>
              </a:defRPr>
            </a:pPr>
            <a:r>
              <a:rPr sz="1600">
                <a:latin typeface="IBM Plex Sans Arabic"/>
              </a:rPr>
              <a:t>• افصل أتعاب الإعلام 25% بعد التنفيذ عن دفعة العقد المقدمة وعن الميزانية الإعلانية.</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lgn="r" rtl="1">
              <a:spcAft>
                <a:spcPts val="600"/>
              </a:spcAft>
              <a:defRPr sz="1600" b="1">
                <a:solidFill>
                  <a:srgbClr val="7D2B42"/>
                </a:solidFill>
                <a:latin typeface="Montserrat"/>
              </a:defRPr>
            </a:pPr>
            <a:r>
              <a:rPr sz="1600">
                <a:latin typeface="IBM Plex Sans Arabic"/>
              </a:rPr>
              <a:t>إيقاف/إعادة: دون تحقق مالي يتوقف الإنتاج؛ لا تختلق الرصيد والضرائب والتمويل.</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SOP-07 / الموجز والتكليف ومتابعة الإنتاج</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22</a:t>
            </a:r>
          </a:p>
        </p:txBody>
      </p:sp>
      <p:sp>
        <p:nvSpPr>
          <p:cNvPr id="8" name="Rectangle 7"/>
          <p:cNvSpPr/>
          <p:nvPr/>
        </p:nvSpPr>
        <p:spPr>
          <a:xfrm>
            <a:off x="1001268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241280" y="2697480"/>
            <a:ext cx="3383280" cy="548640"/>
          </a:xfrm>
          <a:prstGeom prst="rect">
            <a:avLst/>
          </a:prstGeom>
          <a:noFill/>
        </p:spPr>
        <p:txBody>
          <a:bodyPr wrap="square" lIns="18288" rIns="18288" tIns="0" bIns="0">
            <a:spAutoFit/>
          </a:bodyPr>
          <a:lstStyle/>
          <a:p>
            <a:pPr algn="r" rtl="1">
              <a:spcAft>
                <a:spcPts val="600"/>
              </a:spcAft>
              <a:defRPr sz="1700" b="1">
                <a:solidFill>
                  <a:srgbClr val="FFCC00"/>
                </a:solidFill>
                <a:latin typeface="Montserrat"/>
              </a:defRPr>
            </a:pPr>
            <a:r>
              <a:rPr sz="1600">
                <a:latin typeface="IBM Plex Sans Arabic"/>
              </a:rPr>
              <a:t>متى يبدأ؟</a:t>
            </a:r>
          </a:p>
        </p:txBody>
      </p:sp>
      <p:sp>
        <p:nvSpPr>
          <p:cNvPr id="10" name="TextBox 9"/>
          <p:cNvSpPr txBox="1"/>
          <p:nvPr/>
        </p:nvSpPr>
        <p:spPr>
          <a:xfrm>
            <a:off x="10241280" y="3429000"/>
            <a:ext cx="3383280" cy="2286000"/>
          </a:xfrm>
          <a:prstGeom prst="rect">
            <a:avLst/>
          </a:prstGeom>
          <a:noFill/>
        </p:spPr>
        <p:txBody>
          <a:bodyPr wrap="square" lIns="18288" rIns="18288" tIns="0" bIns="0">
            <a:spAutoFit/>
          </a:bodyPr>
          <a:lstStyle/>
          <a:p>
            <a:pPr algn="r" rtl="1">
              <a:spcAft>
                <a:spcPts val="600"/>
              </a:spcAft>
              <a:defRPr sz="1900" b="0">
                <a:solidFill>
                  <a:srgbClr val="FFFFFF"/>
                </a:solidFill>
                <a:latin typeface="Montserrat"/>
              </a:defRPr>
            </a:pPr>
            <a:r>
              <a:rPr sz="1600">
                <a:latin typeface="IBM Plex Sans Arabic"/>
              </a:rPr>
              <a:t>تأكيد المستندات الموقعة والدفعة المقدمة المطلوبة.</a:t>
            </a:r>
          </a:p>
        </p:txBody>
      </p:sp>
      <p:sp>
        <p:nvSpPr>
          <p:cNvPr id="11" name="TextBox 10"/>
          <p:cNvSpPr txBox="1"/>
          <p:nvPr/>
        </p:nvSpPr>
        <p:spPr>
          <a:xfrm>
            <a:off x="10241280" y="6355080"/>
            <a:ext cx="3383280" cy="320040"/>
          </a:xfrm>
          <a:prstGeom prst="rect">
            <a:avLst/>
          </a:prstGeom>
          <a:noFill/>
        </p:spPr>
        <p:txBody>
          <a:bodyPr wrap="square" lIns="18288" rIns="18288" tIns="0" bIns="0">
            <a:spAutoFit/>
          </a:bodyPr>
          <a:lstStyle/>
          <a:p>
            <a:pPr algn="r" rtl="1">
              <a:spcAft>
                <a:spcPts val="600"/>
              </a:spcAft>
              <a:defRPr sz="1000" b="1">
                <a:solidFill>
                  <a:srgbClr val="FFCC00"/>
                </a:solidFill>
                <a:latin typeface="Montserrat"/>
              </a:defRPr>
            </a:pPr>
            <a:r>
              <a:rPr sz="1350">
                <a:latin typeface="IBM Plex Sans Arabic"/>
              </a:rPr>
              <a:t>الخطوات الكاملة في الدليل</a:t>
            </a:r>
          </a:p>
        </p:txBody>
      </p:sp>
      <p:sp>
        <p:nvSpPr>
          <p:cNvPr id="12" name="TextBox 11"/>
          <p:cNvSpPr txBox="1"/>
          <p:nvPr/>
        </p:nvSpPr>
        <p:spPr>
          <a:xfrm>
            <a:off x="914400" y="2560320"/>
            <a:ext cx="8686800" cy="4526280"/>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1. يكتب مدير الحساب موجز إنتاج قابلًا للتنفيذ، ويوزّع المهام على المحتوى والتصميم والمونتاج.</a:t>
            </a:r>
          </a:p>
          <a:p>
            <a:pPr algn="r" rtl="1">
              <a:spcAft>
                <a:spcPts val="600"/>
              </a:spcAft>
              <a:defRPr sz="1600" b="0">
                <a:solidFill>
                  <a:srgbClr val="202020"/>
                </a:solidFill>
                <a:latin typeface="Montserrat"/>
              </a:defRPr>
            </a:pPr>
            <a:r>
              <a:rPr sz="1600">
                <a:latin typeface="IBM Plex Sans Arabic"/>
              </a:rPr>
              <a:t>2. عيّن لكل مهمة مسؤول تنفيذ واحدًا. حدّد الحساب والأولوية والموعد والموجز والمدخلات والمخرج/مرجعه والمراجع المطلوب.</a:t>
            </a:r>
          </a:p>
          <a:p>
            <a:pPr algn="r" rtl="1">
              <a:spcAft>
                <a:spcPts val="600"/>
              </a:spcAft>
              <a:defRPr sz="1600" b="0">
                <a:solidFill>
                  <a:srgbClr val="202020"/>
                </a:solidFill>
                <a:latin typeface="Montserrat"/>
              </a:defRPr>
            </a:pPr>
            <a:r>
              <a:rPr sz="1600">
                <a:latin typeface="IBM Plex Sans Arabic"/>
              </a:rPr>
              <a:t>3. حدّث تواريخ البدء والانتهاء وروابط المهام وملاحظات المراجعين وملاحظات المنفذ مع تقدم العمل.</a:t>
            </a:r>
          </a:p>
          <a:p>
            <a:pPr algn="r" rtl="1">
              <a:spcAft>
                <a:spcPts val="600"/>
              </a:spcAft>
              <a:defRPr sz="1600" b="0">
                <a:solidFill>
                  <a:srgbClr val="202020"/>
                </a:solidFill>
                <a:latin typeface="Montserrat"/>
              </a:defRPr>
            </a:pPr>
            <a:r>
              <a:rPr sz="1600">
                <a:latin typeface="IBM Plex Sans Arabic"/>
              </a:rPr>
              <a:t>4. يراقب مدير الحساب التنفيذ، ويتابع المعوقات، ويحافظ على ارتباط العمل بسياق العميل.</a:t>
            </a:r>
          </a:p>
          <a:p>
            <a:pPr algn="r" rtl="1">
              <a:spcAft>
                <a:spcPts val="600"/>
              </a:spcAft>
              <a:defRPr sz="1600" b="0">
                <a:solidFill>
                  <a:srgbClr val="202020"/>
                </a:solidFill>
                <a:latin typeface="Montserrat"/>
              </a:defRPr>
            </a:pPr>
            <a:r>
              <a:rPr sz="1600">
                <a:latin typeface="IBM Plex Sans Arabic"/>
              </a:rPr>
              <a:t>5. عند تعدد المساهمين، حدّد مسؤولًا واحدًا عن المهمة؛ لا تعتبر السطر المشترك في الشيت مسؤولية جماعية غير محددة.</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SOP-07 / فحوص مدير التسويق</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23</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lgn="r" rtl="1">
              <a:spcAft>
                <a:spcPts val="600"/>
              </a:spcAft>
              <a:defRPr sz="2100" b="0">
                <a:solidFill>
                  <a:srgbClr val="202020"/>
                </a:solidFill>
                <a:latin typeface="Montserrat"/>
              </a:defRPr>
            </a:pPr>
            <a:r>
              <a:rPr sz="1600">
                <a:latin typeface="IBM Plex Sans Arabic"/>
              </a:rPr>
              <a:t>• تحقق من مسؤول واحد لكل مهمة وموجز فعلي ومخرج واضح وأولوية وموعد وروابط مدخلات ومراجع محدد.</a:t>
            </a:r>
          </a:p>
          <a:p>
            <a:pPr algn="r" rtl="1">
              <a:spcAft>
                <a:spcPts val="600"/>
              </a:spcAft>
              <a:defRPr sz="2100" b="0">
                <a:solidFill>
                  <a:srgbClr val="202020"/>
                </a:solidFill>
                <a:latin typeface="Montserrat"/>
              </a:defRPr>
            </a:pPr>
            <a:r>
              <a:rPr sz="1600">
                <a:latin typeface="IBM Plex Sans Arabic"/>
              </a:rPr>
              <a:t>• تحقق من الأعمال السابقة؛ يجب ألا يضطر المستلم لتخمين النص أو المقاس أو اللقطات أو الشروط أو تعليمات العميل.</a:t>
            </a:r>
          </a:p>
          <a:p>
            <a:pPr algn="r" rtl="1">
              <a:spcAft>
                <a:spcPts val="600"/>
              </a:spcAft>
              <a:defRPr sz="2100" b="0">
                <a:solidFill>
                  <a:srgbClr val="202020"/>
                </a:solidFill>
                <a:latin typeface="Montserrat"/>
              </a:defRPr>
            </a:pPr>
            <a:r>
              <a:rPr sz="1600">
                <a:latin typeface="IBM Plex Sans Arabic"/>
              </a:rPr>
              <a:t>• اعمل عبر مدير الحساب للحفاظ على صورة تنفيذ واحدة، مع إدارة الرؤساء للجودة.</a:t>
            </a:r>
          </a:p>
          <a:p>
            <a:pPr algn="r" rtl="1">
              <a:spcAft>
                <a:spcPts val="600"/>
              </a:spcAft>
              <a:defRPr sz="2100" b="0">
                <a:solidFill>
                  <a:srgbClr val="202020"/>
                </a:solidFill>
                <a:latin typeface="Montserrat"/>
              </a:defRPr>
            </a:pPr>
            <a:r>
              <a:rPr sz="1600">
                <a:latin typeface="IBM Plex Sans Arabic"/>
              </a:rPr>
              <a:t>• راجع الحمل قبل الوعد بموعد؛ لا تفترض رقمًا للطاقة أو مدة خدمة غير متفق عليها.</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lgn="r" rtl="1">
              <a:spcAft>
                <a:spcPts val="600"/>
              </a:spcAft>
              <a:defRPr sz="1600" b="1">
                <a:solidFill>
                  <a:srgbClr val="7D2B42"/>
                </a:solidFill>
                <a:latin typeface="Montserrat"/>
              </a:defRPr>
            </a:pPr>
            <a:r>
              <a:rPr sz="1600">
                <a:latin typeface="IBM Plex Sans Arabic"/>
              </a:rPr>
              <a:t>إيقاف/إعادة: سجّل نقص المدخلات ومسؤول المتابعة؛ وحدّد مسؤولًا واحدًا عند تعدد المساهمين.</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SOP-08 / تسليم العمل وتنفيذ الملاحظات</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24</a:t>
            </a:r>
          </a:p>
        </p:txBody>
      </p:sp>
      <p:sp>
        <p:nvSpPr>
          <p:cNvPr id="8" name="Rectangle 7"/>
          <p:cNvSpPr/>
          <p:nvPr/>
        </p:nvSpPr>
        <p:spPr>
          <a:xfrm>
            <a:off x="1001268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241280" y="2697480"/>
            <a:ext cx="3383280" cy="548640"/>
          </a:xfrm>
          <a:prstGeom prst="rect">
            <a:avLst/>
          </a:prstGeom>
          <a:noFill/>
        </p:spPr>
        <p:txBody>
          <a:bodyPr wrap="square" lIns="18288" rIns="18288" tIns="0" bIns="0">
            <a:spAutoFit/>
          </a:bodyPr>
          <a:lstStyle/>
          <a:p>
            <a:pPr algn="r" rtl="1">
              <a:spcAft>
                <a:spcPts val="600"/>
              </a:spcAft>
              <a:defRPr sz="1700" b="1">
                <a:solidFill>
                  <a:srgbClr val="FFCC00"/>
                </a:solidFill>
                <a:latin typeface="Montserrat"/>
              </a:defRPr>
            </a:pPr>
            <a:r>
              <a:rPr sz="1600">
                <a:latin typeface="IBM Plex Sans Arabic"/>
              </a:rPr>
              <a:t>متى يبدأ؟</a:t>
            </a:r>
          </a:p>
        </p:txBody>
      </p:sp>
      <p:sp>
        <p:nvSpPr>
          <p:cNvPr id="10" name="TextBox 9"/>
          <p:cNvSpPr txBox="1"/>
          <p:nvPr/>
        </p:nvSpPr>
        <p:spPr>
          <a:xfrm>
            <a:off x="10241280" y="3429000"/>
            <a:ext cx="3383280" cy="2286000"/>
          </a:xfrm>
          <a:prstGeom prst="rect">
            <a:avLst/>
          </a:prstGeom>
          <a:noFill/>
        </p:spPr>
        <p:txBody>
          <a:bodyPr wrap="square" lIns="18288" rIns="18288" tIns="0" bIns="0">
            <a:spAutoFit/>
          </a:bodyPr>
          <a:lstStyle/>
          <a:p>
            <a:pPr algn="r" rtl="1">
              <a:spcAft>
                <a:spcPts val="600"/>
              </a:spcAft>
              <a:defRPr sz="1900" b="0">
                <a:solidFill>
                  <a:srgbClr val="FFFFFF"/>
                </a:solidFill>
                <a:latin typeface="Montserrat"/>
              </a:defRPr>
            </a:pPr>
            <a:r>
              <a:rPr sz="1600">
                <a:latin typeface="IBM Plex Sans Arabic"/>
              </a:rPr>
              <a:t>المخرج المكلف به جاهز للمراجعة أو طلب المراجع تغييرات.</a:t>
            </a:r>
          </a:p>
        </p:txBody>
      </p:sp>
      <p:sp>
        <p:nvSpPr>
          <p:cNvPr id="11" name="TextBox 10"/>
          <p:cNvSpPr txBox="1"/>
          <p:nvPr/>
        </p:nvSpPr>
        <p:spPr>
          <a:xfrm>
            <a:off x="10241280" y="6355080"/>
            <a:ext cx="3383280" cy="320040"/>
          </a:xfrm>
          <a:prstGeom prst="rect">
            <a:avLst/>
          </a:prstGeom>
          <a:noFill/>
        </p:spPr>
        <p:txBody>
          <a:bodyPr wrap="square" lIns="18288" rIns="18288" tIns="0" bIns="0">
            <a:spAutoFit/>
          </a:bodyPr>
          <a:lstStyle/>
          <a:p>
            <a:pPr algn="r" rtl="1">
              <a:spcAft>
                <a:spcPts val="600"/>
              </a:spcAft>
              <a:defRPr sz="1000" b="1">
                <a:solidFill>
                  <a:srgbClr val="FFCC00"/>
                </a:solidFill>
                <a:latin typeface="Montserrat"/>
              </a:defRPr>
            </a:pPr>
            <a:r>
              <a:rPr sz="1350">
                <a:latin typeface="IBM Plex Sans Arabic"/>
              </a:rPr>
              <a:t>الخطوات الكاملة في الدليل</a:t>
            </a:r>
          </a:p>
        </p:txBody>
      </p:sp>
      <p:sp>
        <p:nvSpPr>
          <p:cNvPr id="12" name="TextBox 11"/>
          <p:cNvSpPr txBox="1"/>
          <p:nvPr/>
        </p:nvSpPr>
        <p:spPr>
          <a:xfrm>
            <a:off x="914400" y="2560320"/>
            <a:ext cx="8686800" cy="4526280"/>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1. يسلّم فريق المحتوى العمل على الشيت ويرفع ملف الخطة PPTX قيد المراجعة داخل شهره بمجلد المحتوى؛ وتظل الملاحظات والتعديلات على الملف نفسه.</a:t>
            </a:r>
          </a:p>
          <a:p>
            <a:pPr algn="r" rtl="1">
              <a:spcAft>
                <a:spcPts val="600"/>
              </a:spcAft>
              <a:defRPr sz="1600" b="0">
                <a:solidFill>
                  <a:srgbClr val="202020"/>
                </a:solidFill>
                <a:latin typeface="Montserrat"/>
              </a:defRPr>
            </a:pPr>
            <a:r>
              <a:rPr sz="1600">
                <a:latin typeface="IBM Plex Sans Arabic"/>
              </a:rPr>
              <a:t>2. يقدّم التصميم والفيديو العمل للمراجعة مع تحديث مراجع الشيت. مكان مراجعة المسودات غير محدد؛ لا تفرض مجلد مسودات غير معتمد على Drive.</a:t>
            </a:r>
          </a:p>
          <a:p>
            <a:pPr algn="r" rtl="1">
              <a:spcAft>
                <a:spcPts val="600"/>
              </a:spcAft>
              <a:defRPr sz="1600" b="0">
                <a:solidFill>
                  <a:srgbClr val="202020"/>
                </a:solidFill>
                <a:latin typeface="Montserrat"/>
              </a:defRPr>
            </a:pPr>
            <a:r>
              <a:rPr sz="1600">
                <a:latin typeface="IBM Plex Sans Arabic"/>
              </a:rPr>
              <a:t>3. يكتب مدير الحساب ومدير التسويق والرؤساء المعنيون ملاحظات قابلة للتنفيذ. سجّل الكاتب والسياق، وليس حالة رفض عامة فقط.</a:t>
            </a:r>
          </a:p>
          <a:p>
            <a:pPr algn="r" rtl="1">
              <a:spcAft>
                <a:spcPts val="600"/>
              </a:spcAft>
              <a:defRPr sz="1600" b="0">
                <a:solidFill>
                  <a:srgbClr val="202020"/>
                </a:solidFill>
                <a:latin typeface="Montserrat"/>
              </a:defRPr>
            </a:pPr>
            <a:r>
              <a:rPr sz="1600">
                <a:latin typeface="IBM Plex Sans Arabic"/>
              </a:rPr>
              <a:t>4. تظل المهمة مفتوحة حتى ينفذ المسؤول عنها جميع الملاحظات ويسجّل الرد على كل منها.</a:t>
            </a:r>
          </a:p>
          <a:p>
            <a:pPr algn="r" rtl="1">
              <a:spcAft>
                <a:spcPts val="600"/>
              </a:spcAft>
              <a:defRPr sz="1600" b="0">
                <a:solidFill>
                  <a:srgbClr val="202020"/>
                </a:solidFill>
                <a:latin typeface="Montserrat"/>
              </a:defRPr>
            </a:pPr>
            <a:r>
              <a:rPr sz="1600">
                <a:latin typeface="IBM Plex Sans Arabic"/>
              </a:rPr>
              <a:t>5. أعد تقديم النسخة المصححة للمراجعة؛ لا تفترض أن الاعتماد السابق يشمل النسخة المعدلة.</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SOP-08 / فحوص مدير التسويق</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25</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lgn="r" rtl="1">
              <a:spcAft>
                <a:spcPts val="600"/>
              </a:spcAft>
              <a:defRPr sz="2100" b="0">
                <a:solidFill>
                  <a:srgbClr val="202020"/>
                </a:solidFill>
                <a:latin typeface="Montserrat"/>
              </a:defRPr>
            </a:pPr>
            <a:r>
              <a:rPr sz="1600">
                <a:latin typeface="IBM Plex Sans Arabic"/>
              </a:rPr>
              <a:t>• للمحتوى، افتح الخطة الشهرية نفسها واربط التعليقات بالمهمة/العنصر الصحيح.</a:t>
            </a:r>
          </a:p>
          <a:p>
            <a:pPr algn="r" rtl="1">
              <a:spcAft>
                <a:spcPts val="600"/>
              </a:spcAft>
              <a:defRPr sz="2100" b="0">
                <a:solidFill>
                  <a:srgbClr val="202020"/>
                </a:solidFill>
                <a:latin typeface="Montserrat"/>
              </a:defRPr>
            </a:pPr>
            <a:r>
              <a:rPr sz="1600">
                <a:latin typeface="IBM Plex Sans Arabic"/>
              </a:rPr>
              <a:t>• للتصميم والفيديو، افحص المرجع وحالة التعديل؛ لا تطلب الأرشفة النهائية قبل موافقة العميل.</a:t>
            </a:r>
          </a:p>
          <a:p>
            <a:pPr algn="r" rtl="1">
              <a:spcAft>
                <a:spcPts val="600"/>
              </a:spcAft>
              <a:defRPr sz="2100" b="0">
                <a:solidFill>
                  <a:srgbClr val="202020"/>
                </a:solidFill>
                <a:latin typeface="Montserrat"/>
              </a:defRPr>
            </a:pPr>
            <a:r>
              <a:rPr sz="1600">
                <a:latin typeface="IBM Plex Sans Arabic"/>
              </a:rPr>
              <a:t>• اجعل الملاحظة قابلة للتنفيذ: العنصر والمشكلة والتغيير والسبب، مع المراجع ورد المنفذ.</a:t>
            </a:r>
          </a:p>
          <a:p>
            <a:pPr algn="r" rtl="1">
              <a:spcAft>
                <a:spcPts val="600"/>
              </a:spcAft>
              <a:defRPr sz="2100" b="0">
                <a:solidFill>
                  <a:srgbClr val="202020"/>
                </a:solidFill>
                <a:latin typeface="Montserrat"/>
              </a:defRPr>
            </a:pPr>
            <a:r>
              <a:rPr sz="1600">
                <a:latin typeface="IBM Plex Sans Arabic"/>
              </a:rPr>
              <a:t>• لا تغلق المهمة لأن المنفذ قال «تمت التعديلات»؛ تحقق من قرارات المراجعة المطلوبة.</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lgn="r" rtl="1">
              <a:spcAft>
                <a:spcPts val="600"/>
              </a:spcAft>
              <a:defRPr sz="1600" b="1">
                <a:solidFill>
                  <a:srgbClr val="7D2B42"/>
                </a:solidFill>
                <a:latin typeface="Montserrat"/>
              </a:defRPr>
            </a:pPr>
            <a:r>
              <a:rPr sz="1600">
                <a:latin typeface="IBM Plex Sans Arabic"/>
              </a:rPr>
              <a:t>إيقاف/إعادة: احسم تضارب التعليقات أولًا؛ الملاحظة المفتوحة تُبقي المهمة مفتوحة.</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SOP-09 / الجودة والاعتماد الداخلي النهائي</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26</a:t>
            </a:r>
          </a:p>
        </p:txBody>
      </p:sp>
      <p:sp>
        <p:nvSpPr>
          <p:cNvPr id="8" name="Rectangle 7"/>
          <p:cNvSpPr/>
          <p:nvPr/>
        </p:nvSpPr>
        <p:spPr>
          <a:xfrm>
            <a:off x="1001268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241280" y="2697480"/>
            <a:ext cx="3383280" cy="548640"/>
          </a:xfrm>
          <a:prstGeom prst="rect">
            <a:avLst/>
          </a:prstGeom>
          <a:noFill/>
        </p:spPr>
        <p:txBody>
          <a:bodyPr wrap="square" lIns="18288" rIns="18288" tIns="0" bIns="0">
            <a:spAutoFit/>
          </a:bodyPr>
          <a:lstStyle/>
          <a:p>
            <a:pPr algn="r" rtl="1">
              <a:spcAft>
                <a:spcPts val="600"/>
              </a:spcAft>
              <a:defRPr sz="1700" b="1">
                <a:solidFill>
                  <a:srgbClr val="FFCC00"/>
                </a:solidFill>
                <a:latin typeface="Montserrat"/>
              </a:defRPr>
            </a:pPr>
            <a:r>
              <a:rPr sz="1600">
                <a:latin typeface="IBM Plex Sans Arabic"/>
              </a:rPr>
              <a:t>متى يبدأ؟</a:t>
            </a:r>
          </a:p>
        </p:txBody>
      </p:sp>
      <p:sp>
        <p:nvSpPr>
          <p:cNvPr id="10" name="TextBox 9"/>
          <p:cNvSpPr txBox="1"/>
          <p:nvPr/>
        </p:nvSpPr>
        <p:spPr>
          <a:xfrm>
            <a:off x="10241280" y="3429000"/>
            <a:ext cx="3383280" cy="2286000"/>
          </a:xfrm>
          <a:prstGeom prst="rect">
            <a:avLst/>
          </a:prstGeom>
          <a:noFill/>
        </p:spPr>
        <p:txBody>
          <a:bodyPr wrap="square" lIns="18288" rIns="18288" tIns="0" bIns="0">
            <a:spAutoFit/>
          </a:bodyPr>
          <a:lstStyle/>
          <a:p>
            <a:pPr algn="r" rtl="1">
              <a:spcAft>
                <a:spcPts val="600"/>
              </a:spcAft>
              <a:defRPr sz="1900" b="0">
                <a:solidFill>
                  <a:srgbClr val="FFFFFF"/>
                </a:solidFill>
                <a:latin typeface="Montserrat"/>
              </a:defRPr>
            </a:pPr>
            <a:r>
              <a:rPr sz="1600">
                <a:latin typeface="IBM Plex Sans Arabic"/>
              </a:rPr>
              <a:t>تقديم العمل بعد تنفيذ الملاحظات.</a:t>
            </a:r>
          </a:p>
        </p:txBody>
      </p:sp>
      <p:sp>
        <p:nvSpPr>
          <p:cNvPr id="11" name="TextBox 10"/>
          <p:cNvSpPr txBox="1"/>
          <p:nvPr/>
        </p:nvSpPr>
        <p:spPr>
          <a:xfrm>
            <a:off x="10241280" y="6355080"/>
            <a:ext cx="3383280" cy="320040"/>
          </a:xfrm>
          <a:prstGeom prst="rect">
            <a:avLst/>
          </a:prstGeom>
          <a:noFill/>
        </p:spPr>
        <p:txBody>
          <a:bodyPr wrap="square" lIns="18288" rIns="18288" tIns="0" bIns="0">
            <a:spAutoFit/>
          </a:bodyPr>
          <a:lstStyle/>
          <a:p>
            <a:pPr algn="r" rtl="1">
              <a:spcAft>
                <a:spcPts val="600"/>
              </a:spcAft>
              <a:defRPr sz="1000" b="1">
                <a:solidFill>
                  <a:srgbClr val="FFCC00"/>
                </a:solidFill>
                <a:latin typeface="Montserrat"/>
              </a:defRPr>
            </a:pPr>
            <a:r>
              <a:rPr sz="1350">
                <a:latin typeface="IBM Plex Sans Arabic"/>
              </a:rPr>
              <a:t>الخطوات الكاملة في الدليل</a:t>
            </a:r>
          </a:p>
        </p:txBody>
      </p:sp>
      <p:sp>
        <p:nvSpPr>
          <p:cNvPr id="12" name="TextBox 11"/>
          <p:cNvSpPr txBox="1"/>
          <p:nvPr/>
        </p:nvSpPr>
        <p:spPr>
          <a:xfrm>
            <a:off x="914400" y="2560320"/>
            <a:ext cx="8686800" cy="4526280"/>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1. المحتوى: يراجع رئيس المحتوى الجودة، ثم يعتمد مدير التسويق.</a:t>
            </a:r>
          </a:p>
          <a:p>
            <a:pPr algn="r" rtl="1">
              <a:spcAft>
                <a:spcPts val="600"/>
              </a:spcAft>
              <a:defRPr sz="1600" b="0">
                <a:solidFill>
                  <a:srgbClr val="202020"/>
                </a:solidFill>
                <a:latin typeface="Montserrat"/>
              </a:defRPr>
            </a:pPr>
            <a:r>
              <a:rPr sz="1600">
                <a:latin typeface="IBM Plex Sans Arabic"/>
              </a:rPr>
              <a:t>2. التصميم: يراجع رئيس التصميم الجودة، ثم يعتمد مدير التسويق.</a:t>
            </a:r>
          </a:p>
          <a:p>
            <a:pPr algn="r" rtl="1">
              <a:spcAft>
                <a:spcPts val="600"/>
              </a:spcAft>
              <a:defRPr sz="1600" b="0">
                <a:solidFill>
                  <a:srgbClr val="202020"/>
                </a:solidFill>
                <a:latin typeface="Montserrat"/>
              </a:defRPr>
            </a:pPr>
            <a:r>
              <a:rPr sz="1600">
                <a:latin typeface="IBM Plex Sans Arabic"/>
              </a:rPr>
              <a:t>3. الفيديو: يتولى مدير التسويق مراجعة جودة الفيديو والاعتماد الداخلي النهائي. يتبع محررو الفيديو مدير التسويق مباشرة.</a:t>
            </a:r>
          </a:p>
          <a:p>
            <a:pPr algn="r" rtl="1">
              <a:spcAft>
                <a:spcPts val="600"/>
              </a:spcAft>
              <a:defRPr sz="1600" b="0">
                <a:solidFill>
                  <a:srgbClr val="202020"/>
                </a:solidFill>
                <a:latin typeface="Montserrat"/>
              </a:defRPr>
            </a:pPr>
            <a:r>
              <a:rPr sz="1600">
                <a:latin typeface="IBM Plex Sans Arabic"/>
              </a:rPr>
              <a:t>4. سجّل نتيجة مراجعة الجودة واعتماد مدير التسويق كقرارين منفصلين، حتى عندما ينفذ المدير نفسه فحصَي الفيديو.</a:t>
            </a:r>
          </a:p>
          <a:p>
            <a:pPr algn="r" rtl="1">
              <a:spcAft>
                <a:spcPts val="600"/>
              </a:spcAft>
              <a:defRPr sz="1600" b="0">
                <a:solidFill>
                  <a:srgbClr val="202020"/>
                </a:solidFill>
                <a:latin typeface="Montserrat"/>
              </a:defRPr>
            </a:pPr>
            <a:r>
              <a:rPr sz="1600">
                <a:latin typeface="IBM Plex Sans Arabic"/>
              </a:rPr>
              <a:t>5. عند رفض أي مراجع للمهمة، تُعاد إلى منفذها بملاحظات محددة، ثم تتكرر المراجعة المطلوبة بعد التصحيح.</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SOP-09 / فحوص مدير التسويق</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27</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lgn="r" rtl="1">
              <a:spcAft>
                <a:spcPts val="600"/>
              </a:spcAft>
              <a:defRPr sz="2100" b="0">
                <a:solidFill>
                  <a:srgbClr val="202020"/>
                </a:solidFill>
                <a:latin typeface="Montserrat"/>
              </a:defRPr>
            </a:pPr>
            <a:r>
              <a:rPr sz="1600">
                <a:latin typeface="IBM Plex Sans Arabic"/>
              </a:rPr>
              <a:t>• المحتوى: تحقق من مراجعة رئيس المحتوى أولًا. التصميم: رئيس التصميم أولًا.</a:t>
            </a:r>
          </a:p>
          <a:p>
            <a:pPr algn="r" rtl="1">
              <a:spcAft>
                <a:spcPts val="600"/>
              </a:spcAft>
              <a:defRPr sz="2100" b="0">
                <a:solidFill>
                  <a:srgbClr val="202020"/>
                </a:solidFill>
                <a:latin typeface="Montserrat"/>
              </a:defRPr>
            </a:pPr>
            <a:r>
              <a:rPr sz="1600">
                <a:latin typeface="IBM Plex Sans Arabic"/>
              </a:rPr>
              <a:t>• الفيديو: نفّذ بصفتك مدير التسويق مراجعة الجودة وسجّلها، ثم سجّل الاعتماد الداخلي النهائي كقرار مستقل.</a:t>
            </a:r>
          </a:p>
          <a:p>
            <a:pPr algn="r" rtl="1">
              <a:spcAft>
                <a:spcPts val="600"/>
              </a:spcAft>
              <a:defRPr sz="2100" b="0">
                <a:solidFill>
                  <a:srgbClr val="202020"/>
                </a:solidFill>
                <a:latin typeface="Montserrat"/>
              </a:defRPr>
            </a:pPr>
            <a:r>
              <a:rPr sz="1600">
                <a:latin typeface="IBM Plex Sans Arabic"/>
              </a:rPr>
              <a:t>• قارن النسخة الحالية بالموجز والاستراتيجية والدقة والهوية والاكتمال وسجل الملاحظات.</a:t>
            </a:r>
          </a:p>
          <a:p>
            <a:pPr algn="r" rtl="1">
              <a:spcAft>
                <a:spcPts val="600"/>
              </a:spcAft>
              <a:defRPr sz="2100" b="0">
                <a:solidFill>
                  <a:srgbClr val="202020"/>
                </a:solidFill>
                <a:latin typeface="Montserrat"/>
              </a:defRPr>
            </a:pPr>
            <a:r>
              <a:rPr sz="1600">
                <a:latin typeface="IBM Plex Sans Arabic"/>
              </a:rPr>
              <a:t>• لا تعتبر اعتماد الرئيس أو مدير التسويق موافقة خارجية من العميل.</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lgn="r" rtl="1">
              <a:spcAft>
                <a:spcPts val="600"/>
              </a:spcAft>
              <a:defRPr sz="1600" b="1">
                <a:solidFill>
                  <a:srgbClr val="7D2B42"/>
                </a:solidFill>
                <a:latin typeface="Montserrat"/>
              </a:defRPr>
            </a:pPr>
            <a:r>
              <a:rPr sz="1600">
                <a:latin typeface="IBM Plex Sans Arabic"/>
              </a:rPr>
              <a:t>إيقاف/إعادة: أعد فشل الجودة بملاحظات. عند الغياب استخدم مفوضًا مؤكدًا فقط.</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SOP-10 / تجميع العرض وموافقة العميل</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28</a:t>
            </a:r>
          </a:p>
        </p:txBody>
      </p:sp>
      <p:sp>
        <p:nvSpPr>
          <p:cNvPr id="8" name="Rectangle 7"/>
          <p:cNvSpPr/>
          <p:nvPr/>
        </p:nvSpPr>
        <p:spPr>
          <a:xfrm>
            <a:off x="1001268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241280" y="2697480"/>
            <a:ext cx="3383280" cy="548640"/>
          </a:xfrm>
          <a:prstGeom prst="rect">
            <a:avLst/>
          </a:prstGeom>
          <a:noFill/>
        </p:spPr>
        <p:txBody>
          <a:bodyPr wrap="square" lIns="18288" rIns="18288" tIns="0" bIns="0">
            <a:spAutoFit/>
          </a:bodyPr>
          <a:lstStyle/>
          <a:p>
            <a:pPr algn="r" rtl="1">
              <a:spcAft>
                <a:spcPts val="600"/>
              </a:spcAft>
              <a:defRPr sz="1700" b="1">
                <a:solidFill>
                  <a:srgbClr val="FFCC00"/>
                </a:solidFill>
                <a:latin typeface="Montserrat"/>
              </a:defRPr>
            </a:pPr>
            <a:r>
              <a:rPr sz="1600">
                <a:latin typeface="IBM Plex Sans Arabic"/>
              </a:rPr>
              <a:t>متى يبدأ؟</a:t>
            </a:r>
          </a:p>
        </p:txBody>
      </p:sp>
      <p:sp>
        <p:nvSpPr>
          <p:cNvPr id="10" name="TextBox 9"/>
          <p:cNvSpPr txBox="1"/>
          <p:nvPr/>
        </p:nvSpPr>
        <p:spPr>
          <a:xfrm>
            <a:off x="10241280" y="3429000"/>
            <a:ext cx="3383280" cy="2286000"/>
          </a:xfrm>
          <a:prstGeom prst="rect">
            <a:avLst/>
          </a:prstGeom>
          <a:noFill/>
        </p:spPr>
        <p:txBody>
          <a:bodyPr wrap="square" lIns="18288" rIns="18288" tIns="0" bIns="0">
            <a:spAutoFit/>
          </a:bodyPr>
          <a:lstStyle/>
          <a:p>
            <a:pPr algn="r" rtl="1">
              <a:spcAft>
                <a:spcPts val="600"/>
              </a:spcAft>
              <a:defRPr sz="1900" b="0">
                <a:solidFill>
                  <a:srgbClr val="FFFFFF"/>
                </a:solidFill>
                <a:latin typeface="Montserrat"/>
              </a:defRPr>
            </a:pPr>
            <a:r>
              <a:rPr sz="1600">
                <a:latin typeface="IBM Plex Sans Arabic"/>
              </a:rPr>
              <a:t>اجتياز جميع المواد المدرجة مراجعة الجودة واعتماد التسويق.</a:t>
            </a:r>
          </a:p>
        </p:txBody>
      </p:sp>
      <p:sp>
        <p:nvSpPr>
          <p:cNvPr id="11" name="TextBox 10"/>
          <p:cNvSpPr txBox="1"/>
          <p:nvPr/>
        </p:nvSpPr>
        <p:spPr>
          <a:xfrm>
            <a:off x="10241280" y="6355080"/>
            <a:ext cx="3383280" cy="320040"/>
          </a:xfrm>
          <a:prstGeom prst="rect">
            <a:avLst/>
          </a:prstGeom>
          <a:noFill/>
        </p:spPr>
        <p:txBody>
          <a:bodyPr wrap="square" lIns="18288" rIns="18288" tIns="0" bIns="0">
            <a:spAutoFit/>
          </a:bodyPr>
          <a:lstStyle/>
          <a:p>
            <a:pPr algn="r" rtl="1">
              <a:spcAft>
                <a:spcPts val="600"/>
              </a:spcAft>
              <a:defRPr sz="1000" b="1">
                <a:solidFill>
                  <a:srgbClr val="FFCC00"/>
                </a:solidFill>
                <a:latin typeface="Montserrat"/>
              </a:defRPr>
            </a:pPr>
            <a:r>
              <a:rPr sz="1350">
                <a:latin typeface="IBM Plex Sans Arabic"/>
              </a:rPr>
              <a:t>الخطوات الكاملة في الدليل</a:t>
            </a:r>
          </a:p>
        </p:txBody>
      </p:sp>
      <p:sp>
        <p:nvSpPr>
          <p:cNvPr id="12" name="TextBox 11"/>
          <p:cNvSpPr txBox="1"/>
          <p:nvPr/>
        </p:nvSpPr>
        <p:spPr>
          <a:xfrm>
            <a:off x="914400" y="2560320"/>
            <a:ext cx="8686800" cy="4526280"/>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1. يجمع مدير الحساب المخرجات المنتهية في عرض PPTX واحد للعميل، ويتحقق من مطابقته للموجز والنطاق المعتمدين.</a:t>
            </a:r>
          </a:p>
          <a:p>
            <a:pPr algn="r" rtl="1">
              <a:spcAft>
                <a:spcPts val="600"/>
              </a:spcAft>
              <a:defRPr sz="1600" b="0">
                <a:solidFill>
                  <a:srgbClr val="202020"/>
                </a:solidFill>
                <a:latin typeface="Montserrat"/>
              </a:defRPr>
            </a:pPr>
            <a:r>
              <a:rPr sz="1600">
                <a:latin typeface="IBM Plex Sans Arabic"/>
              </a:rPr>
              <a:t>2. يعرض مدير الحساب الملف على العميل ويوثّق موافقته النهائية على النسخة المعروضة.</a:t>
            </a:r>
          </a:p>
          <a:p>
            <a:pPr algn="r" rtl="1">
              <a:spcAft>
                <a:spcPts val="600"/>
              </a:spcAft>
              <a:defRPr sz="1600" b="0">
                <a:solidFill>
                  <a:srgbClr val="202020"/>
                </a:solidFill>
                <a:latin typeface="Montserrat"/>
              </a:defRPr>
            </a:pPr>
            <a:r>
              <a:rPr sz="1600">
                <a:latin typeface="IBM Plex Sans Arabic"/>
              </a:rPr>
              <a:t>3. إذا رفض العميل أو طلب تعديلات، يسجّل مدير الحساب ملاحظاته ويعيد المهام المتأثرة إلى منفذيها ويتابع التصحيح.</a:t>
            </a:r>
          </a:p>
          <a:p>
            <a:pPr algn="r" rtl="1">
              <a:spcAft>
                <a:spcPts val="600"/>
              </a:spcAft>
              <a:defRPr sz="1600" b="0">
                <a:solidFill>
                  <a:srgbClr val="202020"/>
                </a:solidFill>
                <a:latin typeface="Montserrat"/>
              </a:defRPr>
            </a:pPr>
            <a:r>
              <a:rPr sz="1600">
                <a:latin typeface="IBM Plex Sans Arabic"/>
              </a:rPr>
              <a:t>4. أعد المراجعات الداخلية اللازمة واجمع العرض المصحح للحصول على موافقة العميل مجددًا.</a:t>
            </a:r>
          </a:p>
          <a:p>
            <a:pPr algn="r" rtl="1">
              <a:spcAft>
                <a:spcPts val="600"/>
              </a:spcAft>
              <a:defRPr sz="1600" b="0">
                <a:solidFill>
                  <a:srgbClr val="202020"/>
                </a:solidFill>
                <a:latin typeface="Montserrat"/>
              </a:defRPr>
            </a:pPr>
            <a:r>
              <a:rPr sz="1600">
                <a:latin typeface="IBM Plex Sans Arabic"/>
              </a:rPr>
              <a:t>5. بعد الاعتماد الداخلي وموافقة العميل، أرشف نسخ التصميم والفيديو النهائية في مجلدات الأشهر الصحيحة. وتظل خطط المحتوى ملفات عمل ومراجعة.</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SOP-10 / فحوص مدير التسويق</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29</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lgn="r" rtl="1">
              <a:spcAft>
                <a:spcPts val="600"/>
              </a:spcAft>
              <a:defRPr sz="2100" b="0">
                <a:solidFill>
                  <a:srgbClr val="202020"/>
                </a:solidFill>
                <a:latin typeface="Montserrat"/>
              </a:defRPr>
            </a:pPr>
            <a:r>
              <a:rPr sz="1600">
                <a:latin typeface="IBM Plex Sans Arabic"/>
              </a:rPr>
              <a:t>• افحص كشف عرض مدير الحساب؛ يجب أن يجتاز كل مخرج المراجعات الداخلية المطلوبة.</a:t>
            </a:r>
          </a:p>
          <a:p>
            <a:pPr algn="r" rtl="1">
              <a:spcAft>
                <a:spcPts val="600"/>
              </a:spcAft>
              <a:defRPr sz="2100" b="0">
                <a:solidFill>
                  <a:srgbClr val="202020"/>
                </a:solidFill>
                <a:latin typeface="Montserrat"/>
              </a:defRPr>
            </a:pPr>
            <a:r>
              <a:rPr sz="1600">
                <a:latin typeface="IBM Plex Sans Arabic"/>
              </a:rPr>
              <a:t>• تحقّق من تحديد النسخة وربط موافقة العميل بها وبنطاقها.</a:t>
            </a:r>
          </a:p>
          <a:p>
            <a:pPr algn="r" rtl="1">
              <a:spcAft>
                <a:spcPts val="600"/>
              </a:spcAft>
              <a:defRPr sz="2100" b="0">
                <a:solidFill>
                  <a:srgbClr val="202020"/>
                </a:solidFill>
                <a:latin typeface="Montserrat"/>
              </a:defRPr>
            </a:pPr>
            <a:r>
              <a:rPr sz="1600">
                <a:latin typeface="IBM Plex Sans Arabic"/>
              </a:rPr>
              <a:t>• عند رفض عنصر، تأكد أن مدير الحساب يعيده إلى المنفذ الصحيح وينسق إعادة المراجعة وقرار العميل.</a:t>
            </a:r>
          </a:p>
          <a:p>
            <a:pPr algn="r" rtl="1">
              <a:spcAft>
                <a:spcPts val="600"/>
              </a:spcAft>
              <a:defRPr sz="2100" b="0">
                <a:solidFill>
                  <a:srgbClr val="202020"/>
                </a:solidFill>
                <a:latin typeface="Montserrat"/>
              </a:defRPr>
            </a:pPr>
            <a:r>
              <a:rPr sz="1600">
                <a:latin typeface="IBM Plex Sans Arabic"/>
              </a:rPr>
              <a:t>• بعد الموافقة، طابق الأرشيف النهائي المعتمد؛ وتظل خطة المحتوى ملف مراجعة مستثنى.</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lgn="r" rtl="1">
              <a:spcAft>
                <a:spcPts val="600"/>
              </a:spcAft>
              <a:defRPr sz="1600" b="1">
                <a:solidFill>
                  <a:srgbClr val="7D2B42"/>
                </a:solidFill>
                <a:latin typeface="Montserrat"/>
              </a:defRPr>
            </a:pPr>
            <a:r>
              <a:rPr sz="1600">
                <a:latin typeface="IBM Plex Sans Arabic"/>
              </a:rPr>
              <a:t>إيقاف/إعادة: لا نشر دون إثبات العميل؛ التغيير لا تشمله الموافقة القديمة تلقائيًا.</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SOP-11 / الجدولة والنشر وإدارة المجتمع</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30</a:t>
            </a:r>
          </a:p>
        </p:txBody>
      </p:sp>
      <p:sp>
        <p:nvSpPr>
          <p:cNvPr id="8" name="Rectangle 7"/>
          <p:cNvSpPr/>
          <p:nvPr/>
        </p:nvSpPr>
        <p:spPr>
          <a:xfrm>
            <a:off x="1001268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241280" y="2697480"/>
            <a:ext cx="3383280" cy="548640"/>
          </a:xfrm>
          <a:prstGeom prst="rect">
            <a:avLst/>
          </a:prstGeom>
          <a:noFill/>
        </p:spPr>
        <p:txBody>
          <a:bodyPr wrap="square" lIns="18288" rIns="18288" tIns="0" bIns="0">
            <a:spAutoFit/>
          </a:bodyPr>
          <a:lstStyle/>
          <a:p>
            <a:pPr algn="r" rtl="1">
              <a:spcAft>
                <a:spcPts val="600"/>
              </a:spcAft>
              <a:defRPr sz="1700" b="1">
                <a:solidFill>
                  <a:srgbClr val="FFCC00"/>
                </a:solidFill>
                <a:latin typeface="Montserrat"/>
              </a:defRPr>
            </a:pPr>
            <a:r>
              <a:rPr sz="1600">
                <a:latin typeface="IBM Plex Sans Arabic"/>
              </a:rPr>
              <a:t>متى يبدأ؟</a:t>
            </a:r>
          </a:p>
        </p:txBody>
      </p:sp>
      <p:sp>
        <p:nvSpPr>
          <p:cNvPr id="10" name="TextBox 9"/>
          <p:cNvSpPr txBox="1"/>
          <p:nvPr/>
        </p:nvSpPr>
        <p:spPr>
          <a:xfrm>
            <a:off x="10241280" y="3429000"/>
            <a:ext cx="3383280" cy="2286000"/>
          </a:xfrm>
          <a:prstGeom prst="rect">
            <a:avLst/>
          </a:prstGeom>
          <a:noFill/>
        </p:spPr>
        <p:txBody>
          <a:bodyPr wrap="square" lIns="18288" rIns="18288" tIns="0" bIns="0">
            <a:spAutoFit/>
          </a:bodyPr>
          <a:lstStyle/>
          <a:p>
            <a:pPr algn="r" rtl="1">
              <a:spcAft>
                <a:spcPts val="600"/>
              </a:spcAft>
              <a:defRPr sz="1900" b="0">
                <a:solidFill>
                  <a:srgbClr val="FFFFFF"/>
                </a:solidFill>
                <a:latin typeface="Montserrat"/>
              </a:defRPr>
            </a:pPr>
            <a:r>
              <a:rPr sz="1600">
                <a:latin typeface="IBM Plex Sans Arabic"/>
              </a:rPr>
              <a:t>يسلّم مدير الحساب العرض/الخطة المعتمدين من العميل.</a:t>
            </a:r>
          </a:p>
        </p:txBody>
      </p:sp>
      <p:sp>
        <p:nvSpPr>
          <p:cNvPr id="11" name="TextBox 10"/>
          <p:cNvSpPr txBox="1"/>
          <p:nvPr/>
        </p:nvSpPr>
        <p:spPr>
          <a:xfrm>
            <a:off x="10241280" y="6355080"/>
            <a:ext cx="3383280" cy="320040"/>
          </a:xfrm>
          <a:prstGeom prst="rect">
            <a:avLst/>
          </a:prstGeom>
          <a:noFill/>
        </p:spPr>
        <p:txBody>
          <a:bodyPr wrap="square" lIns="18288" rIns="18288" tIns="0" bIns="0">
            <a:spAutoFit/>
          </a:bodyPr>
          <a:lstStyle/>
          <a:p>
            <a:pPr algn="r" rtl="1">
              <a:spcAft>
                <a:spcPts val="600"/>
              </a:spcAft>
              <a:defRPr sz="1000" b="1">
                <a:solidFill>
                  <a:srgbClr val="FFCC00"/>
                </a:solidFill>
                <a:latin typeface="Montserrat"/>
              </a:defRPr>
            </a:pPr>
            <a:r>
              <a:rPr sz="1350">
                <a:latin typeface="IBM Plex Sans Arabic"/>
              </a:rPr>
              <a:t>الخطوات الكاملة في الدليل</a:t>
            </a:r>
          </a:p>
        </p:txBody>
      </p:sp>
      <p:sp>
        <p:nvSpPr>
          <p:cNvPr id="12" name="TextBox 11"/>
          <p:cNvSpPr txBox="1"/>
          <p:nvPr/>
        </p:nvSpPr>
        <p:spPr>
          <a:xfrm>
            <a:off x="914400" y="2560320"/>
            <a:ext cx="8686800" cy="4526280"/>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1. يجمع أخصائي التواصل الاجتماعي خطط العلامات الخاصة ويُنسّق متطلبات الجدولة.</a:t>
            </a:r>
          </a:p>
          <a:p>
            <a:pPr algn="r" rtl="1">
              <a:spcAft>
                <a:spcPts val="600"/>
              </a:spcAft>
              <a:defRPr sz="1600" b="0">
                <a:solidFill>
                  <a:srgbClr val="202020"/>
                </a:solidFill>
                <a:latin typeface="Montserrat"/>
              </a:defRPr>
            </a:pPr>
            <a:r>
              <a:rPr sz="1600">
                <a:latin typeface="IBM Plex Sans Arabic"/>
              </a:rPr>
              <a:t>2. جدوِل الخطط المعتمدة وانشرها، مع الاحتفاظ بمراجع النشر.</a:t>
            </a:r>
          </a:p>
          <a:p>
            <a:pPr algn="r" rtl="1">
              <a:spcAft>
                <a:spcPts val="600"/>
              </a:spcAft>
              <a:defRPr sz="1600" b="0">
                <a:solidFill>
                  <a:srgbClr val="202020"/>
                </a:solidFill>
                <a:latin typeface="Montserrat"/>
              </a:defRPr>
            </a:pPr>
            <a:r>
              <a:rPr sz="1600">
                <a:latin typeface="IBM Plex Sans Arabic"/>
              </a:rPr>
              <a:t>3. رُدّ على تعليقات صفحات العلامات الخاصة وفق صوت العلامة المتفق عليه، وارفع الحالات الخارجة عن الردود المعتمدة إلى مدير الحساب/التسويق. أزمنة الاستجابة لم تُحدد بعد.</a:t>
            </a:r>
          </a:p>
          <a:p>
            <a:pPr algn="r" rtl="1">
              <a:spcAft>
                <a:spcPts val="600"/>
              </a:spcAft>
              <a:defRPr sz="1600" b="0">
                <a:solidFill>
                  <a:srgbClr val="202020"/>
                </a:solidFill>
                <a:latin typeface="Montserrat"/>
              </a:defRPr>
            </a:pPr>
            <a:r>
              <a:rPr sz="1600">
                <a:latin typeface="IBM Plex Sans Arabic"/>
              </a:rPr>
              <a:t>4. افصل النشر العضوي عن تشغيل الإعلانات. العمل المدفوع يحتاج إلى خطته وصلاحياته وتمويله المتفق عليها؛ ومسؤول الاعتماد المالي يحتاج إلى تأكيد.</a:t>
            </a:r>
          </a:p>
          <a:p>
            <a:pPr algn="r" rtl="1">
              <a:spcAft>
                <a:spcPts val="600"/>
              </a:spcAft>
              <a:defRPr sz="1600" b="0">
                <a:solidFill>
                  <a:srgbClr val="202020"/>
                </a:solidFill>
                <a:latin typeface="Montserrat"/>
              </a:defRPr>
            </a:pPr>
            <a:r>
              <a:rPr sz="1600">
                <a:latin typeface="IBM Plex Sans Arabic"/>
              </a:rPr>
              <a:t>5. إذا تغيرت المادة بعد اعتمادها، أعدها إلى سلسلة المراجعة المناسبة قبل النشر.</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SOP-11 / فحوص مدير التسويق</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31</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lgn="r" rtl="1">
              <a:spcAft>
                <a:spcPts val="600"/>
              </a:spcAft>
              <a:defRPr sz="2100" b="0">
                <a:solidFill>
                  <a:srgbClr val="202020"/>
                </a:solidFill>
                <a:latin typeface="Montserrat"/>
              </a:defRPr>
            </a:pPr>
            <a:r>
              <a:rPr sz="1600">
                <a:latin typeface="IBM Plex Sans Arabic"/>
              </a:rPr>
              <a:t>• تحقق من وجود الخطة/العرض المعتمدين والملفات النهائية للحساب والمنصة الصحيحين لدى أخصائي التواصل.</a:t>
            </a:r>
          </a:p>
          <a:p>
            <a:pPr algn="r" rtl="1">
              <a:spcAft>
                <a:spcPts val="600"/>
              </a:spcAft>
              <a:defRPr sz="2100" b="0">
                <a:solidFill>
                  <a:srgbClr val="202020"/>
                </a:solidFill>
                <a:latin typeface="Montserrat"/>
              </a:defRPr>
            </a:pPr>
            <a:r>
              <a:rPr sz="1600">
                <a:latin typeface="IBM Plex Sans Arabic"/>
              </a:rPr>
              <a:t>• راجع الجدول وروابط الجدولة/النشر واستثناءات المجتمع؛ ويشمل الدور الرد على صفحات العلامات الخاصة.</a:t>
            </a:r>
          </a:p>
          <a:p>
            <a:pPr algn="r" rtl="1">
              <a:spcAft>
                <a:spcPts val="600"/>
              </a:spcAft>
              <a:defRPr sz="2100" b="0">
                <a:solidFill>
                  <a:srgbClr val="202020"/>
                </a:solidFill>
                <a:latin typeface="Montserrat"/>
              </a:defRPr>
            </a:pPr>
            <a:r>
              <a:rPr sz="1600">
                <a:latin typeface="IBM Plex Sans Arabic"/>
              </a:rPr>
              <a:t>• افصل الإعلانات عن النشر العضوي، وأكّد الخطة والصلاحيات والتمويل مع مسؤول الإعلانات.</a:t>
            </a:r>
          </a:p>
          <a:p>
            <a:pPr algn="r" rtl="1">
              <a:spcAft>
                <a:spcPts val="600"/>
              </a:spcAft>
              <a:defRPr sz="2100" b="0">
                <a:solidFill>
                  <a:srgbClr val="202020"/>
                </a:solidFill>
                <a:latin typeface="Montserrat"/>
              </a:defRPr>
            </a:pPr>
            <a:r>
              <a:rPr sz="1600">
                <a:latin typeface="IBM Plex Sans Arabic"/>
              </a:rPr>
              <a:t>• التغيير العاجل غير المعتمد يعود للمراجعات المطلوبة؛ الاستعجال ليس اعتمادًا.</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lgn="r" rtl="1">
              <a:spcAft>
                <a:spcPts val="600"/>
              </a:spcAft>
              <a:defRPr sz="1600" b="1">
                <a:solidFill>
                  <a:srgbClr val="7D2B42"/>
                </a:solidFill>
                <a:latin typeface="Montserrat"/>
              </a:defRPr>
            </a:pPr>
            <a:r>
              <a:rPr sz="1600">
                <a:latin typeface="IBM Plex Sans Arabic"/>
              </a:rPr>
              <a:t>إيقاف/إعادة: الخطأ في الحساب أو المادة أو النسخة أو الموافقة يوقف العمل. إن نُشر بالفعل، وثّق وصعّد حسب السلطة المتفق عليها، دون صلاحية حذف مطلقة مختلقة.</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SOP-12 / التقارير والتحسين ودعم التوسع</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32</a:t>
            </a:r>
          </a:p>
        </p:txBody>
      </p:sp>
      <p:sp>
        <p:nvSpPr>
          <p:cNvPr id="8" name="Rectangle 7"/>
          <p:cNvSpPr/>
          <p:nvPr/>
        </p:nvSpPr>
        <p:spPr>
          <a:xfrm>
            <a:off x="1001268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241280" y="2697480"/>
            <a:ext cx="3383280" cy="548640"/>
          </a:xfrm>
          <a:prstGeom prst="rect">
            <a:avLst/>
          </a:prstGeom>
          <a:noFill/>
        </p:spPr>
        <p:txBody>
          <a:bodyPr wrap="square" lIns="18288" rIns="18288" tIns="0" bIns="0">
            <a:spAutoFit/>
          </a:bodyPr>
          <a:lstStyle/>
          <a:p>
            <a:pPr algn="r" rtl="1">
              <a:spcAft>
                <a:spcPts val="600"/>
              </a:spcAft>
              <a:defRPr sz="1700" b="1">
                <a:solidFill>
                  <a:srgbClr val="FFCC00"/>
                </a:solidFill>
                <a:latin typeface="Montserrat"/>
              </a:defRPr>
            </a:pPr>
            <a:r>
              <a:rPr sz="1600">
                <a:latin typeface="IBM Plex Sans Arabic"/>
              </a:rPr>
              <a:t>متى يبدأ؟</a:t>
            </a:r>
          </a:p>
        </p:txBody>
      </p:sp>
      <p:sp>
        <p:nvSpPr>
          <p:cNvPr id="10" name="TextBox 9"/>
          <p:cNvSpPr txBox="1"/>
          <p:nvPr/>
        </p:nvSpPr>
        <p:spPr>
          <a:xfrm>
            <a:off x="10241280" y="3429000"/>
            <a:ext cx="3383280" cy="2286000"/>
          </a:xfrm>
          <a:prstGeom prst="rect">
            <a:avLst/>
          </a:prstGeom>
          <a:noFill/>
        </p:spPr>
        <p:txBody>
          <a:bodyPr wrap="square" lIns="18288" rIns="18288" tIns="0" bIns="0">
            <a:spAutoFit/>
          </a:bodyPr>
          <a:lstStyle/>
          <a:p>
            <a:pPr algn="r" rtl="1">
              <a:spcAft>
                <a:spcPts val="600"/>
              </a:spcAft>
              <a:defRPr sz="1900" b="0">
                <a:solidFill>
                  <a:srgbClr val="FFFFFF"/>
                </a:solidFill>
                <a:latin typeface="Montserrat"/>
              </a:defRPr>
            </a:pPr>
            <a:r>
              <a:rPr sz="1600">
                <a:latin typeface="IBM Plex Sans Arabic"/>
              </a:rPr>
              <a:t>العمل منشور وتوافرت أدلة الأداء والاستماع.</a:t>
            </a:r>
          </a:p>
        </p:txBody>
      </p:sp>
      <p:sp>
        <p:nvSpPr>
          <p:cNvPr id="11" name="TextBox 10"/>
          <p:cNvSpPr txBox="1"/>
          <p:nvPr/>
        </p:nvSpPr>
        <p:spPr>
          <a:xfrm>
            <a:off x="10241280" y="6355080"/>
            <a:ext cx="3383280" cy="320040"/>
          </a:xfrm>
          <a:prstGeom prst="rect">
            <a:avLst/>
          </a:prstGeom>
          <a:noFill/>
        </p:spPr>
        <p:txBody>
          <a:bodyPr wrap="square" lIns="18288" rIns="18288" tIns="0" bIns="0">
            <a:spAutoFit/>
          </a:bodyPr>
          <a:lstStyle/>
          <a:p>
            <a:pPr algn="r" rtl="1">
              <a:spcAft>
                <a:spcPts val="600"/>
              </a:spcAft>
              <a:defRPr sz="1000" b="1">
                <a:solidFill>
                  <a:srgbClr val="FFCC00"/>
                </a:solidFill>
                <a:latin typeface="Montserrat"/>
              </a:defRPr>
            </a:pPr>
            <a:r>
              <a:rPr sz="1350">
                <a:latin typeface="IBM Plex Sans Arabic"/>
              </a:rPr>
              <a:t>الخطوات الكاملة في الدليل</a:t>
            </a:r>
          </a:p>
        </p:txBody>
      </p:sp>
      <p:sp>
        <p:nvSpPr>
          <p:cNvPr id="12" name="TextBox 11"/>
          <p:cNvSpPr txBox="1"/>
          <p:nvPr/>
        </p:nvSpPr>
        <p:spPr>
          <a:xfrm>
            <a:off x="914400" y="2560320"/>
            <a:ext cx="8686800" cy="4526280"/>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1. يُعدّ أخصائي التواصل الاجتماعي تقارير الأداء والاستماع وتحديثات الاستراتيجية، إلى جانب مهام الخطط والمجتمع.</a:t>
            </a:r>
          </a:p>
          <a:p>
            <a:pPr algn="r" rtl="1">
              <a:spcAft>
                <a:spcPts val="600"/>
              </a:spcAft>
              <a:defRPr sz="1600" b="0">
                <a:solidFill>
                  <a:srgbClr val="202020"/>
                </a:solidFill>
                <a:latin typeface="Montserrat"/>
              </a:defRPr>
            </a:pPr>
            <a:r>
              <a:rPr sz="1600">
                <a:latin typeface="IBM Plex Sans Arabic"/>
              </a:rPr>
              <a:t>2. يقدّم مسؤول شراء الإعلانات نتائج الحملات والمصروفات الفعلية المتحقق منها؛ وتُحسب أتعاب 25% بعد التنفيذ وفق أساس المصروفات المتفق عليه.</a:t>
            </a:r>
          </a:p>
          <a:p>
            <a:pPr algn="r" rtl="1">
              <a:spcAft>
                <a:spcPts val="600"/>
              </a:spcAft>
              <a:defRPr sz="1600" b="0">
                <a:solidFill>
                  <a:srgbClr val="202020"/>
                </a:solidFill>
                <a:latin typeface="Montserrat"/>
              </a:defRPr>
            </a:pPr>
            <a:r>
              <a:rPr sz="1600">
                <a:latin typeface="IBM Plex Sans Arabic"/>
              </a:rPr>
              <a:t>3. يجمع مدير الحساب التقرير الموجّه للعميل، ويراجع مدير التسويق دلالاته الاستراتيجية وخطواته التالية.</a:t>
            </a:r>
          </a:p>
          <a:p>
            <a:pPr algn="r" rtl="1">
              <a:spcAft>
                <a:spcPts val="600"/>
              </a:spcAft>
              <a:defRPr sz="1600" b="0">
                <a:solidFill>
                  <a:srgbClr val="202020"/>
                </a:solidFill>
                <a:latin typeface="Montserrat"/>
              </a:defRPr>
            </a:pPr>
            <a:r>
              <a:rPr sz="1600">
                <a:latin typeface="IBM Plex Sans Arabic"/>
              </a:rPr>
              <a:t>4. أعد توظيف النتائج في التشخيص والتصميم والتحسين. لا توسّع دون دليل ونطاق متفق عليه، ولا تعد بنمو أو ROAS أو نتائج غير مثبتة.</a:t>
            </a:r>
          </a:p>
          <a:p>
            <a:pPr algn="r" rtl="1">
              <a:spcAft>
                <a:spcPts val="600"/>
              </a:spcAft>
              <a:defRPr sz="1600" b="0">
                <a:solidFill>
                  <a:srgbClr val="202020"/>
                </a:solidFill>
                <a:latin typeface="Montserrat"/>
              </a:defRPr>
            </a:pPr>
            <a:r>
              <a:rPr sz="1600">
                <a:latin typeface="IBM Plex Sans Arabic"/>
              </a:rPr>
              <a:t>5. سجّل فجوات البيانات والتوصيات والقرارات. يذكر إطار الاستراتيجية تقارير أسبوعية/شهرية، لكن مواعيد كل حساب يجب الاتفاق عليها.</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SOP-12 / فحوص مدير التسويق</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33</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lgn="r" rtl="1">
              <a:spcAft>
                <a:spcPts val="600"/>
              </a:spcAft>
              <a:defRPr sz="2100" b="0">
                <a:solidFill>
                  <a:srgbClr val="202020"/>
                </a:solidFill>
                <a:latin typeface="Montserrat"/>
              </a:defRPr>
            </a:pPr>
            <a:r>
              <a:rPr sz="1600">
                <a:latin typeface="IBM Plex Sans Arabic"/>
              </a:rPr>
              <a:t>• اطلب من التواصل تقارير الأداء والاستماع لا أعداد المنشورات فقط؛ ومن الإعلانات النتائج وإثبات المصروفات الفعلية.</a:t>
            </a:r>
          </a:p>
          <a:p>
            <a:pPr algn="r" rtl="1">
              <a:spcAft>
                <a:spcPts val="600"/>
              </a:spcAft>
              <a:defRPr sz="2100" b="0">
                <a:solidFill>
                  <a:srgbClr val="202020"/>
                </a:solidFill>
                <a:latin typeface="Montserrat"/>
              </a:defRPr>
            </a:pPr>
            <a:r>
              <a:rPr sz="1600">
                <a:latin typeface="IBM Plex Sans Arabic"/>
              </a:rPr>
              <a:t>• تحقق من تواريخ المصادر وفترة التقرير وتعريف المؤشرات والبيانات الناقصة قبل المناقشة.</a:t>
            </a:r>
          </a:p>
          <a:p>
            <a:pPr algn="r" rtl="1">
              <a:spcAft>
                <a:spcPts val="600"/>
              </a:spcAft>
              <a:defRPr sz="2100" b="0">
                <a:solidFill>
                  <a:srgbClr val="202020"/>
                </a:solidFill>
                <a:latin typeface="Montserrat"/>
              </a:defRPr>
            </a:pPr>
            <a:r>
              <a:rPr sz="1600">
                <a:latin typeface="IBM Plex Sans Arabic"/>
              </a:rPr>
              <a:t>• احسب الأتعاب بعد التنفيذ على المصروفات الفعلية المتفق عليها، لا الميزانية المقترحة أو غير المستخدمة.</a:t>
            </a:r>
          </a:p>
          <a:p>
            <a:pPr algn="r" rtl="1">
              <a:spcAft>
                <a:spcPts val="600"/>
              </a:spcAft>
              <a:defRPr sz="2100" b="0">
                <a:solidFill>
                  <a:srgbClr val="202020"/>
                </a:solidFill>
                <a:latin typeface="Montserrat"/>
              </a:defRPr>
            </a:pPr>
            <a:r>
              <a:rPr sz="1600">
                <a:latin typeface="IBM Plex Sans Arabic"/>
              </a:rPr>
              <a:t>• حوّل النتائج إلى إجراءات محددة المسؤولية وتوصية للدورة التالية، دون ضمان نمو أو اختلاق خط أساس.</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lgn="r" rtl="1">
              <a:spcAft>
                <a:spcPts val="600"/>
              </a:spcAft>
              <a:defRPr sz="1600" b="1">
                <a:solidFill>
                  <a:srgbClr val="7D2B42"/>
                </a:solidFill>
                <a:latin typeface="Montserrat"/>
              </a:defRPr>
            </a:pPr>
            <a:r>
              <a:rPr sz="1600">
                <a:latin typeface="IBM Plex Sans Arabic"/>
              </a:rPr>
              <a:t>إيقاف/إعادة: سمّ البيانات غير متحقق منها وحدّد متابعة الدليل. احسم أساس الأتعاب مع المخول قبل الفوترة.</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SOP-13 / تنسيق التصوير وجمع المواد وضبط المعدات</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34</a:t>
            </a:r>
          </a:p>
        </p:txBody>
      </p:sp>
      <p:sp>
        <p:nvSpPr>
          <p:cNvPr id="8" name="Rectangle 7"/>
          <p:cNvSpPr/>
          <p:nvPr/>
        </p:nvSpPr>
        <p:spPr>
          <a:xfrm>
            <a:off x="1001268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241280" y="2697480"/>
            <a:ext cx="3383280" cy="548640"/>
          </a:xfrm>
          <a:prstGeom prst="rect">
            <a:avLst/>
          </a:prstGeom>
          <a:noFill/>
        </p:spPr>
        <p:txBody>
          <a:bodyPr wrap="square" lIns="18288" rIns="18288" tIns="0" bIns="0">
            <a:spAutoFit/>
          </a:bodyPr>
          <a:lstStyle/>
          <a:p>
            <a:pPr algn="r" rtl="1">
              <a:spcAft>
                <a:spcPts val="600"/>
              </a:spcAft>
              <a:defRPr sz="1700" b="1">
                <a:solidFill>
                  <a:srgbClr val="FFCC00"/>
                </a:solidFill>
                <a:latin typeface="Montserrat"/>
              </a:defRPr>
            </a:pPr>
            <a:r>
              <a:rPr sz="1600">
                <a:latin typeface="IBM Plex Sans Arabic"/>
              </a:rPr>
              <a:t>متى يبدأ؟</a:t>
            </a:r>
          </a:p>
        </p:txBody>
      </p:sp>
      <p:sp>
        <p:nvSpPr>
          <p:cNvPr id="10" name="TextBox 9"/>
          <p:cNvSpPr txBox="1"/>
          <p:nvPr/>
        </p:nvSpPr>
        <p:spPr>
          <a:xfrm>
            <a:off x="10241280" y="3429000"/>
            <a:ext cx="3383280" cy="2286000"/>
          </a:xfrm>
          <a:prstGeom prst="rect">
            <a:avLst/>
          </a:prstGeom>
          <a:noFill/>
        </p:spPr>
        <p:txBody>
          <a:bodyPr wrap="square" lIns="18288" rIns="18288" tIns="0" bIns="0">
            <a:spAutoFit/>
          </a:bodyPr>
          <a:lstStyle/>
          <a:p>
            <a:pPr algn="r" rtl="1">
              <a:spcAft>
                <a:spcPts val="600"/>
              </a:spcAft>
              <a:defRPr sz="1900" b="0">
                <a:solidFill>
                  <a:srgbClr val="FFFFFF"/>
                </a:solidFill>
                <a:latin typeface="Montserrat"/>
              </a:defRPr>
            </a:pPr>
            <a:r>
              <a:rPr sz="1600">
                <a:latin typeface="IBM Plex Sans Arabic"/>
              </a:rPr>
              <a:t>جارٍ ترتيب تصوير أو جلسة فوتوغرافية أو بودكاست أو إنتاج ضمن نطاق محدد.</a:t>
            </a:r>
          </a:p>
        </p:txBody>
      </p:sp>
      <p:sp>
        <p:nvSpPr>
          <p:cNvPr id="11" name="TextBox 10"/>
          <p:cNvSpPr txBox="1"/>
          <p:nvPr/>
        </p:nvSpPr>
        <p:spPr>
          <a:xfrm>
            <a:off x="10241280" y="6355080"/>
            <a:ext cx="3383280" cy="320040"/>
          </a:xfrm>
          <a:prstGeom prst="rect">
            <a:avLst/>
          </a:prstGeom>
          <a:noFill/>
        </p:spPr>
        <p:txBody>
          <a:bodyPr wrap="square" lIns="18288" rIns="18288" tIns="0" bIns="0">
            <a:spAutoFit/>
          </a:bodyPr>
          <a:lstStyle/>
          <a:p>
            <a:pPr algn="r" rtl="1">
              <a:spcAft>
                <a:spcPts val="600"/>
              </a:spcAft>
              <a:defRPr sz="1000" b="1">
                <a:solidFill>
                  <a:srgbClr val="FFCC00"/>
                </a:solidFill>
                <a:latin typeface="Montserrat"/>
              </a:defRPr>
            </a:pPr>
            <a:r>
              <a:rPr sz="1350">
                <a:latin typeface="IBM Plex Sans Arabic"/>
              </a:rPr>
              <a:t>الخطوات الكاملة في الدليل</a:t>
            </a:r>
          </a:p>
        </p:txBody>
      </p:sp>
      <p:sp>
        <p:nvSpPr>
          <p:cNvPr id="12" name="TextBox 11"/>
          <p:cNvSpPr txBox="1"/>
          <p:nvPr/>
        </p:nvSpPr>
        <p:spPr>
          <a:xfrm>
            <a:off x="914400" y="2560320"/>
            <a:ext cx="8686800" cy="4526280"/>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1. ينسّق مدير الحساب الفريق الخارجي والضيوف والعلاقات العامة؛ تنسيق الموعد لا يمنح صلاحيات مالية أو تعاقدية مطلقة.</a:t>
            </a:r>
          </a:p>
          <a:p>
            <a:pPr algn="r" rtl="1">
              <a:spcAft>
                <a:spcPts val="600"/>
              </a:spcAft>
              <a:defRPr sz="1600" b="0">
                <a:solidFill>
                  <a:srgbClr val="202020"/>
                </a:solidFill>
                <a:latin typeface="Montserrat"/>
              </a:defRPr>
            </a:pPr>
            <a:r>
              <a:rPr sz="1600">
                <a:latin typeface="IBM Plex Sans Arabic"/>
              </a:rPr>
              <a:t>2. يخطط أخصائي التواصل للكواليس ويصورها ضمن النطاق المتفق عليه.</a:t>
            </a:r>
          </a:p>
          <a:p>
            <a:pPr algn="r" rtl="1">
              <a:spcAft>
                <a:spcPts val="600"/>
              </a:spcAft>
              <a:defRPr sz="1600" b="0">
                <a:solidFill>
                  <a:srgbClr val="202020"/>
                </a:solidFill>
                <a:latin typeface="Montserrat"/>
              </a:defRPr>
            </a:pPr>
            <a:r>
              <a:rPr sz="1600">
                <a:latin typeface="IBM Plex Sans Arabic"/>
              </a:rPr>
              <a:t>3. يجمع أخصائي التواصل مواد الصور والفيديو ويسلّم الملفات/المراجع للمحررين والمصممين المكلفين.</a:t>
            </a:r>
          </a:p>
          <a:p>
            <a:pPr algn="r" rtl="1">
              <a:spcAft>
                <a:spcPts val="600"/>
              </a:spcAft>
              <a:defRPr sz="1600" b="0">
                <a:solidFill>
                  <a:srgbClr val="202020"/>
                </a:solidFill>
                <a:latin typeface="Montserrat"/>
              </a:defRPr>
            </a:pPr>
            <a:r>
              <a:rPr sz="1600">
                <a:latin typeface="IBM Plex Sans Arabic"/>
              </a:rPr>
              <a:t>4. يتحمل أخصائي التواصل كامل مسؤولية البطاقات وأدوات الاستوديو؛ سجّل العهدة والمشكلات كي لا تضيع المسؤولية أثناء التسليم.</a:t>
            </a:r>
          </a:p>
          <a:p>
            <a:pPr algn="r" rtl="1">
              <a:spcAft>
                <a:spcPts val="600"/>
              </a:spcAft>
              <a:defRPr sz="1600" b="0">
                <a:solidFill>
                  <a:srgbClr val="202020"/>
                </a:solidFill>
                <a:latin typeface="Montserrat"/>
              </a:defRPr>
            </a:pPr>
            <a:r>
              <a:rPr sz="1600">
                <a:latin typeface="IBM Plex Sans Arabic"/>
              </a:rPr>
              <a:t>5. يؤكد المستلمون الاستلام عبر مرجع المهمة المتفق عليه. التحقق المفصل وسجل الصرف والإرجاع ضوابط مقترحة للاعتماد.</a:t>
            </a:r>
          </a:p>
          <a:p>
            <a:pPr algn="r" rtl="1">
              <a:spcAft>
                <a:spcPts val="600"/>
              </a:spcAft>
              <a:defRPr sz="1600" b="0">
                <a:solidFill>
                  <a:srgbClr val="202020"/>
                </a:solidFill>
                <a:latin typeface="Montserrat"/>
              </a:defRPr>
            </a:pPr>
            <a:r>
              <a:rPr sz="1600">
                <a:latin typeface="IBM Plex Sans Arabic"/>
              </a:rPr>
              <a:t>6. إذا استُخدمت أقراص الشركة، سجّل القرص والمكان وصاحب العهدة. توجد عدة أقراص، ومسؤوليتها وسياسة نسخها لم تؤكدا بعد.</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SOP-13 / فحوص مدير التسويق</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35</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lgn="r" rtl="1">
              <a:spcAft>
                <a:spcPts val="600"/>
              </a:spcAft>
              <a:defRPr sz="2100" b="0">
                <a:solidFill>
                  <a:srgbClr val="202020"/>
                </a:solidFill>
                <a:latin typeface="Montserrat"/>
              </a:defRPr>
            </a:pPr>
            <a:r>
              <a:rPr sz="1600">
                <a:latin typeface="IBM Plex Sans Arabic"/>
              </a:rPr>
              <a:t>• اطلب من مدير الحساب ترتيبات الفريق والضيوف والعلاقات العامة والموجز والمخرجات المتوقعة.</a:t>
            </a:r>
          </a:p>
          <a:p>
            <a:pPr algn="r" rtl="1">
              <a:spcAft>
                <a:spcPts val="600"/>
              </a:spcAft>
              <a:defRPr sz="2100" b="0">
                <a:solidFill>
                  <a:srgbClr val="202020"/>
                </a:solidFill>
                <a:latin typeface="Montserrat"/>
              </a:defRPr>
            </a:pPr>
            <a:r>
              <a:rPr sz="1600">
                <a:latin typeface="IBM Plex Sans Arabic"/>
              </a:rPr>
              <a:t>• اطلب من أخصائي التواصل مراجع المواد الأصلية وتسليمها للمستلم ومخرج الكواليس.</a:t>
            </a:r>
          </a:p>
          <a:p>
            <a:pPr algn="r" rtl="1">
              <a:spcAft>
                <a:spcPts val="600"/>
              </a:spcAft>
              <a:defRPr sz="2100" b="0">
                <a:solidFill>
                  <a:srgbClr val="202020"/>
                </a:solidFill>
                <a:latin typeface="Montserrat"/>
              </a:defRPr>
            </a:pPr>
            <a:r>
              <a:rPr sz="1600">
                <a:latin typeface="IBM Plex Sans Arabic"/>
              </a:rPr>
              <a:t>• تحقق من حصر البطاقات والأدوات المصروفة والمعادة؛ تسليم الملفات لا يلغي مسؤولية المعدات.</a:t>
            </a:r>
          </a:p>
          <a:p>
            <a:pPr algn="r" rtl="1">
              <a:spcAft>
                <a:spcPts val="600"/>
              </a:spcAft>
              <a:defRPr sz="2100" b="0">
                <a:solidFill>
                  <a:srgbClr val="202020"/>
                </a:solidFill>
                <a:latin typeface="Montserrat"/>
              </a:defRPr>
            </a:pPr>
            <a:r>
              <a:rPr sz="1600">
                <a:latin typeface="IBM Plex Sans Arabic"/>
              </a:rPr>
              <a:t>• عند استخدام الأقراص، حدّد القرص والعهدة؛ لا تفترض سياسة نسخ موحدة أو مسؤولية التواصل عن جميع الأقراص.</a:t>
            </a:r>
          </a:p>
          <a:p>
            <a:pPr algn="r" rtl="1">
              <a:spcAft>
                <a:spcPts val="600"/>
              </a:spcAft>
              <a:defRPr sz="2100" b="0">
                <a:solidFill>
                  <a:srgbClr val="202020"/>
                </a:solidFill>
                <a:latin typeface="Montserrat"/>
              </a:defRPr>
            </a:pPr>
            <a:r>
              <a:rPr sz="1600">
                <a:latin typeface="IBM Plex Sans Arabic"/>
              </a:rPr>
              <a:t>• طبّق قاعدة الدور الموثقة: حساب Higgsfield لمحرري الفيديو الاثنين فقط.</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lgn="r" rtl="1">
              <a:spcAft>
                <a:spcPts val="600"/>
              </a:spcAft>
              <a:defRPr sz="1600" b="1">
                <a:solidFill>
                  <a:srgbClr val="7D2B42"/>
                </a:solidFill>
                <a:latin typeface="Montserrat"/>
              </a:defRPr>
            </a:pPr>
            <a:r>
              <a:rPr sz="1600">
                <a:latin typeface="IBM Plex Sans Arabic"/>
              </a:rPr>
              <a:t>إيقاف/إعادة: وثّق الملفات أو المعدات المفقودة وأشرك الجهات المخولة؛ لا تهيئ ولا تستبدل كحل. قواعد النسخ والتهيئة تحتاج اعتمادًا.</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SOP-14 / إجراء تقييم أداء الفريق الشهري</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36</a:t>
            </a:r>
          </a:p>
        </p:txBody>
      </p:sp>
      <p:sp>
        <p:nvSpPr>
          <p:cNvPr id="8" name="Rectangle 7"/>
          <p:cNvSpPr/>
          <p:nvPr/>
        </p:nvSpPr>
        <p:spPr>
          <a:xfrm>
            <a:off x="10012680" y="2423160"/>
            <a:ext cx="3840480" cy="457200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241280" y="2697480"/>
            <a:ext cx="3383280" cy="548640"/>
          </a:xfrm>
          <a:prstGeom prst="rect">
            <a:avLst/>
          </a:prstGeom>
          <a:noFill/>
        </p:spPr>
        <p:txBody>
          <a:bodyPr wrap="square" lIns="18288" rIns="18288" tIns="0" bIns="0">
            <a:spAutoFit/>
          </a:bodyPr>
          <a:lstStyle/>
          <a:p>
            <a:pPr algn="r" rtl="1">
              <a:spcAft>
                <a:spcPts val="600"/>
              </a:spcAft>
              <a:defRPr sz="1700" b="1">
                <a:solidFill>
                  <a:srgbClr val="FFCC00"/>
                </a:solidFill>
                <a:latin typeface="Montserrat"/>
              </a:defRPr>
            </a:pPr>
            <a:r>
              <a:rPr sz="1600">
                <a:latin typeface="IBM Plex Sans Arabic"/>
              </a:rPr>
              <a:t>متى يبدأ؟</a:t>
            </a:r>
          </a:p>
        </p:txBody>
      </p:sp>
      <p:sp>
        <p:nvSpPr>
          <p:cNvPr id="10" name="TextBox 9"/>
          <p:cNvSpPr txBox="1"/>
          <p:nvPr/>
        </p:nvSpPr>
        <p:spPr>
          <a:xfrm>
            <a:off x="10241280" y="3429000"/>
            <a:ext cx="3383280" cy="2286000"/>
          </a:xfrm>
          <a:prstGeom prst="rect">
            <a:avLst/>
          </a:prstGeom>
          <a:noFill/>
        </p:spPr>
        <p:txBody>
          <a:bodyPr wrap="square" lIns="18288" rIns="18288" tIns="0" bIns="0">
            <a:spAutoFit/>
          </a:bodyPr>
          <a:lstStyle/>
          <a:p>
            <a:pPr algn="r" rtl="1">
              <a:spcAft>
                <a:spcPts val="600"/>
              </a:spcAft>
              <a:defRPr sz="1900" b="0">
                <a:solidFill>
                  <a:srgbClr val="FFFFFF"/>
                </a:solidFill>
                <a:latin typeface="Montserrat"/>
              </a:defRPr>
            </a:pPr>
            <a:r>
              <a:rPr sz="1600">
                <a:latin typeface="IBM Plex Sans Arabic"/>
              </a:rPr>
              <a:t>دورة تقييم كل موظف شهرياً؛ وتُحدد المواعيد الدقيقة بالاتفاق.</a:t>
            </a:r>
          </a:p>
        </p:txBody>
      </p:sp>
      <p:sp>
        <p:nvSpPr>
          <p:cNvPr id="11" name="TextBox 10"/>
          <p:cNvSpPr txBox="1"/>
          <p:nvPr/>
        </p:nvSpPr>
        <p:spPr>
          <a:xfrm>
            <a:off x="10241280" y="6355080"/>
            <a:ext cx="3383280" cy="320040"/>
          </a:xfrm>
          <a:prstGeom prst="rect">
            <a:avLst/>
          </a:prstGeom>
          <a:noFill/>
        </p:spPr>
        <p:txBody>
          <a:bodyPr wrap="square" lIns="18288" rIns="18288" tIns="0" bIns="0">
            <a:spAutoFit/>
          </a:bodyPr>
          <a:lstStyle/>
          <a:p>
            <a:pPr algn="r" rtl="1">
              <a:spcAft>
                <a:spcPts val="600"/>
              </a:spcAft>
              <a:defRPr sz="1000" b="1">
                <a:solidFill>
                  <a:srgbClr val="FFCC00"/>
                </a:solidFill>
                <a:latin typeface="Montserrat"/>
              </a:defRPr>
            </a:pPr>
            <a:r>
              <a:rPr sz="1350">
                <a:latin typeface="IBM Plex Sans Arabic"/>
              </a:rPr>
              <a:t>الخطوات الكاملة في الدليل</a:t>
            </a:r>
          </a:p>
        </p:txBody>
      </p:sp>
      <p:sp>
        <p:nvSpPr>
          <p:cNvPr id="12" name="TextBox 11"/>
          <p:cNvSpPr txBox="1"/>
          <p:nvPr/>
        </p:nvSpPr>
        <p:spPr>
          <a:xfrm>
            <a:off x="914400" y="2560320"/>
            <a:ext cx="8686800" cy="4526280"/>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450">
                <a:latin typeface="IBM Plex Sans Arabic"/>
              </a:rPr>
              <a:t>1. اختر النموذج الوظيفي المعتمد وسجّل الموظف وشهر التقييم الفعلي والمدير المقيّم المؤكد في سجل خاص. لا تستنتج سلطة التقييم من مسؤوليات التنسيق.</a:t>
            </a:r>
          </a:p>
          <a:p>
            <a:pPr algn="r" rtl="1">
              <a:spcAft>
                <a:spcPts val="600"/>
              </a:spcAft>
              <a:defRPr sz="1600" b="0">
                <a:solidFill>
                  <a:srgbClr val="202020"/>
                </a:solidFill>
                <a:latin typeface="Montserrat"/>
              </a:defRPr>
            </a:pPr>
            <a:r>
              <a:rPr sz="1450">
                <a:latin typeface="IBM Plex Sans Arabic"/>
              </a:rPr>
              <a:t>2. اجمع أدلة الشهر من المهام وسجلات الجودة والتعديلات والمخرجات والنتائج المناسبة للدور. ميّز بين نقص المدخلات أو تغير النطاق وبين أداء الفرد.</a:t>
            </a:r>
          </a:p>
          <a:p>
            <a:pPr algn="r" rtl="1">
              <a:spcAft>
                <a:spcPts val="600"/>
              </a:spcAft>
              <a:defRPr sz="1600" b="0">
                <a:solidFill>
                  <a:srgbClr val="202020"/>
                </a:solidFill>
                <a:latin typeface="Montserrat"/>
              </a:defRPr>
            </a:pPr>
            <a:r>
              <a:rPr sz="1450">
                <a:latin typeface="IBM Plex Sans Arabic"/>
              </a:rPr>
              <a:t>3. يكمل الموظف تقييمه الذاتي قبل اجتماع المراجعة. يضع المدير تقييمه، وتُناقش الفجوة بينهما دون افتراض الاتفاق.</a:t>
            </a:r>
          </a:p>
          <a:p>
            <a:pPr algn="r" rtl="1">
              <a:spcAft>
                <a:spcPts val="600"/>
              </a:spcAft>
              <a:defRPr sz="1600" b="0">
                <a:solidFill>
                  <a:srgbClr val="202020"/>
                </a:solidFill>
                <a:latin typeface="Montserrat"/>
              </a:defRPr>
            </a:pPr>
            <a:r>
              <a:rPr sz="1450">
                <a:latin typeface="IBM Plex Sans Arabic"/>
              </a:rPr>
              <a:t>4. استخدم مقياس 1–5 والأوصاف السلوكية المرفقة. تتطلب الدرجات 1 و2 و5 تبريراً موجزاً مدعوماً بالأدلة في خانة الملاحظات.</a:t>
            </a:r>
          </a:p>
          <a:p>
            <a:pPr algn="r" rtl="1">
              <a:spcAft>
                <a:spcPts val="600"/>
              </a:spcAft>
              <a:defRPr sz="1600" b="0">
                <a:solidFill>
                  <a:srgbClr val="202020"/>
                </a:solidFill>
                <a:latin typeface="Montserrat"/>
              </a:defRPr>
            </a:pPr>
            <a:r>
              <a:rPr sz="1450">
                <a:latin typeface="IBM Plex Sans Arabic"/>
              </a:rPr>
              <a:t>5. راجع الأوزان والحسابات الخاصة بالدور. تحسب ملفات Excel المرفقة الفجوة بطرح التقييم الذاتي من تقييم المدير، والمساهمة المرجحة = وزن المؤشر × تقييم المدير ÷ 5. تحقق من اكتمال التقييم قبل تفسير الإجمالي؛ فالصيغ تعامل خانات تقييم المدير الفارغة كصفر.</a:t>
            </a:r>
          </a:p>
          <a:p>
            <a:pPr algn="r" rtl="1">
              <a:spcAft>
                <a:spcPts val="600"/>
              </a:spcAft>
              <a:defRPr sz="1600" b="0">
                <a:solidFill>
                  <a:srgbClr val="202020"/>
                </a:solidFill>
                <a:latin typeface="Montserrat"/>
              </a:defRPr>
            </a:pPr>
            <a:r>
              <a:rPr sz="1450">
                <a:latin typeface="IBM Plex Sans Arabic"/>
              </a:rPr>
              <a:t>6. اعقد المراجعة الشهرية وسجّل الإنجازات والعوائق ونقاط القوة وفرص التحسين وملاحظات الموظف. تابع الأهداف والنتائج الرئيسية ربع السنوية ضمن النقاش الشهري، مع الحفاظ على اختلاف الدورتين.</a:t>
            </a:r>
          </a:p>
          <a:p>
            <a:pPr algn="r" rtl="1">
              <a:spcAft>
                <a:spcPts val="600"/>
              </a:spcAft>
              <a:defRPr sz="1600" b="0">
                <a:solidFill>
                  <a:srgbClr val="202020"/>
                </a:solidFill>
                <a:latin typeface="Montserrat"/>
              </a:defRPr>
            </a:pPr>
            <a:r>
              <a:rPr sz="1450">
                <a:latin typeface="IBM Plex Sans Arabic"/>
              </a:rPr>
              <a:t>7. اتفق على أهداف SMART وخطوات التطوير والتدريب للفترة التالية، وحدد مسؤول التنفيذ والمتابعة المتفق عليها. سجّل التوقيعات والقرارات المطلوبة وفق الإجراء المعتمد.</a:t>
            </a:r>
          </a:p>
          <a:p>
            <a:pPr algn="r" rtl="1">
              <a:spcAft>
                <a:spcPts val="600"/>
              </a:spcAft>
              <a:defRPr sz="1600" b="0">
                <a:solidFill>
                  <a:srgbClr val="202020"/>
                </a:solidFill>
                <a:latin typeface="Montserrat"/>
              </a:defRPr>
            </a:pPr>
            <a:r>
              <a:rPr sz="1450">
                <a:latin typeface="IBM Plex Sans Arabic"/>
              </a:rPr>
              <a:t>8. احفظ التقييمات المكتملة ومعلومات الرواتب والمسار الوظيفي في مكان خاص للمخولين، وتابع الأهداف في مراجعة الشهر التالي. حقول الترقية والراتب والتعاقب والموارد البشرية لا تمثل قرارات أو موافقات تلقائية.</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SOP-14 / ما الذي يتحقق منه المدير</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37</a:t>
            </a:r>
          </a:p>
        </p:txBody>
      </p:sp>
      <p:sp>
        <p:nvSpPr>
          <p:cNvPr id="8" name="TextBox 7"/>
          <p:cNvSpPr txBox="1"/>
          <p:nvPr/>
        </p:nvSpPr>
        <p:spPr>
          <a:xfrm>
            <a:off x="868680" y="2468880"/>
            <a:ext cx="12893040" cy="3337560"/>
          </a:xfrm>
          <a:prstGeom prst="rect">
            <a:avLst/>
          </a:prstGeom>
          <a:noFill/>
        </p:spPr>
        <p:txBody>
          <a:bodyPr wrap="square" lIns="18288" rIns="18288" tIns="0" bIns="0">
            <a:spAutoFit/>
          </a:bodyPr>
          <a:lstStyle/>
          <a:p>
            <a:pPr algn="r" rtl="1">
              <a:spcAft>
                <a:spcPts val="600"/>
              </a:spcAft>
              <a:defRPr sz="2100" b="0">
                <a:solidFill>
                  <a:srgbClr val="202020"/>
                </a:solidFill>
                <a:latin typeface="Montserrat"/>
              </a:defRPr>
            </a:pPr>
            <a:r>
              <a:rPr sz="1600">
                <a:latin typeface="IBM Plex Sans Arabic"/>
              </a:rPr>
              <a:t>• تحقق من شهر التقييم والنموذج الوظيفي المعتمد والمقيّم المؤكد؛ لا تفرض مطابقة لدور مدمج أو غير موجود.</a:t>
            </a:r>
          </a:p>
          <a:p>
            <a:pPr algn="r" rtl="1">
              <a:spcAft>
                <a:spcPts val="600"/>
              </a:spcAft>
              <a:defRPr sz="2100" b="0">
                <a:solidFill>
                  <a:srgbClr val="202020"/>
                </a:solidFill>
                <a:latin typeface="Montserrat"/>
              </a:defRPr>
            </a:pPr>
            <a:r>
              <a:rPr sz="1600">
                <a:latin typeface="IBM Plex Sans Arabic"/>
              </a:rPr>
              <a:t>• راجع التقييم الذاتي وتقييم المدير والأدلة. تتطلب الدرجات 1 و2 و5 تبريراً؛ استخدم الأوصاف السلوكية.</a:t>
            </a:r>
          </a:p>
          <a:p>
            <a:pPr algn="r" rtl="1">
              <a:spcAft>
                <a:spcPts val="600"/>
              </a:spcAft>
              <a:defRPr sz="2100" b="0">
                <a:solidFill>
                  <a:srgbClr val="202020"/>
                </a:solidFill>
                <a:latin typeface="Montserrat"/>
              </a:defRPr>
            </a:pPr>
            <a:r>
              <a:rPr sz="1600">
                <a:latin typeface="IBM Plex Sans Arabic"/>
              </a:rPr>
              <a:t>• راجع الأوزان والاكتمال قبل الإجمالي. الصيغ المرفقة تعامل خانات تقييم المدير الفارغة كصفر؛ لا تخلط بين النموذج غير المكتمل وضعف الأداء.</a:t>
            </a:r>
          </a:p>
          <a:p>
            <a:pPr algn="r" rtl="1">
              <a:spcAft>
                <a:spcPts val="600"/>
              </a:spcAft>
              <a:defRPr sz="2100" b="0">
                <a:solidFill>
                  <a:srgbClr val="202020"/>
                </a:solidFill>
                <a:latin typeface="Montserrat"/>
              </a:defRPr>
            </a:pPr>
            <a:r>
              <a:rPr sz="1600">
                <a:latin typeface="IBM Plex Sans Arabic"/>
              </a:rPr>
              <a:t>• ناقش الفجوات والعوائق وسجّل ملاحظات الموظف واتفق على أهداف SMART وخطوات التدريب التالية.</a:t>
            </a:r>
          </a:p>
          <a:p>
            <a:pPr algn="r" rtl="1">
              <a:spcAft>
                <a:spcPts val="600"/>
              </a:spcAft>
              <a:defRPr sz="2100" b="0">
                <a:solidFill>
                  <a:srgbClr val="202020"/>
                </a:solidFill>
                <a:latin typeface="Montserrat"/>
              </a:defRPr>
            </a:pPr>
            <a:r>
              <a:rPr sz="1600">
                <a:latin typeface="IBM Plex Sans Arabic"/>
              </a:rPr>
              <a:t>• حافظ على خصوصية الرواتب والمسار الوظيفي والتقييمات المكتملة. يلزم تأكيد صلاحيات المقيّم والموارد البشرية والمواعيد الشهرية.</a:t>
            </a:r>
          </a:p>
        </p:txBody>
      </p:sp>
      <p:sp>
        <p:nvSpPr>
          <p:cNvPr id="9" name="Rectangle 8"/>
          <p:cNvSpPr/>
          <p:nvPr/>
        </p:nvSpPr>
        <p:spPr>
          <a:xfrm>
            <a:off x="822960" y="6126480"/>
            <a:ext cx="12984480" cy="10058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0" name="TextBox 9"/>
          <p:cNvSpPr txBox="1"/>
          <p:nvPr/>
        </p:nvSpPr>
        <p:spPr>
          <a:xfrm>
            <a:off x="1024128" y="6309360"/>
            <a:ext cx="12582144" cy="731520"/>
          </a:xfrm>
          <a:prstGeom prst="rect">
            <a:avLst/>
          </a:prstGeom>
          <a:noFill/>
        </p:spPr>
        <p:txBody>
          <a:bodyPr wrap="square" lIns="18288" rIns="18288" tIns="0" bIns="0">
            <a:spAutoFit/>
          </a:bodyPr>
          <a:lstStyle/>
          <a:p>
            <a:pPr algn="r" rtl="1">
              <a:spcAft>
                <a:spcPts val="600"/>
              </a:spcAft>
              <a:defRPr sz="1600" b="1">
                <a:solidFill>
                  <a:srgbClr val="7D2B42"/>
                </a:solidFill>
                <a:latin typeface="Montserrat"/>
              </a:defRPr>
            </a:pPr>
            <a:r>
              <a:rPr sz="1600">
                <a:latin typeface="IBM Plex Sans Arabic"/>
              </a:rPr>
              <a:t>إيقاف / إعادة: عند نقص الدرجات أو غياب أدلة الدرجات المتطرفة أو عدم تأكيد المقيّم أو النموذج، لا تعتمد النتيجة النهائية. عالج النقص دون قرارات رواتب أو ترقية أو توظيف تلقائية.</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الجودة / المحتوى والتصميم</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38</a:t>
            </a:r>
          </a:p>
        </p:txBody>
      </p:sp>
      <p:sp>
        <p:nvSpPr>
          <p:cNvPr id="8" name="Rectangle 7"/>
          <p:cNvSpPr/>
          <p:nvPr/>
        </p:nvSpPr>
        <p:spPr>
          <a:xfrm>
            <a:off x="745236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7680960" y="2743200"/>
            <a:ext cx="5943600" cy="822960"/>
          </a:xfrm>
          <a:prstGeom prst="rect">
            <a:avLst/>
          </a:prstGeom>
          <a:noFill/>
        </p:spPr>
        <p:txBody>
          <a:bodyPr wrap="square" lIns="18288" rIns="18288" tIns="0" bIns="0">
            <a:spAutoFit/>
          </a:bodyPr>
          <a:lstStyle/>
          <a:p>
            <a:pPr algn="r" rtl="1">
              <a:spcAft>
                <a:spcPts val="600"/>
              </a:spcAft>
              <a:defRPr sz="2200" b="1">
                <a:solidFill>
                  <a:srgbClr val="7D2B42"/>
                </a:solidFill>
                <a:latin typeface="Montserrat"/>
              </a:defRPr>
            </a:pPr>
            <a:r>
              <a:rPr sz="1600">
                <a:latin typeface="IBM Plex Sans Arabic"/>
              </a:rPr>
              <a:t>المحتوى</a:t>
            </a:r>
          </a:p>
        </p:txBody>
      </p:sp>
      <p:sp>
        <p:nvSpPr>
          <p:cNvPr id="10" name="TextBox 9"/>
          <p:cNvSpPr txBox="1"/>
          <p:nvPr/>
        </p:nvSpPr>
        <p:spPr>
          <a:xfrm>
            <a:off x="7680960" y="3767328"/>
            <a:ext cx="5943600" cy="2926080"/>
          </a:xfrm>
          <a:prstGeom prst="rect">
            <a:avLst/>
          </a:prstGeom>
          <a:noFill/>
        </p:spPr>
        <p:txBody>
          <a:bodyPr wrap="square" lIns="18288" rIns="18288" tIns="0" bIns="0">
            <a:spAutoFit/>
          </a:bodyPr>
          <a:lstStyle/>
          <a:p>
            <a:pPr algn="r" rtl="1">
              <a:spcAft>
                <a:spcPts val="600"/>
              </a:spcAft>
              <a:defRPr sz="1900" b="0">
                <a:solidFill>
                  <a:srgbClr val="202020"/>
                </a:solidFill>
                <a:latin typeface="Montserrat"/>
              </a:defRPr>
            </a:pPr>
            <a:r>
              <a:rPr sz="1600">
                <a:latin typeface="IBM Plex Sans Arabic"/>
              </a:rPr>
              <a:t>مطابقة الموجز والاستراتيجية، ودقة الحقائق والصوت واكتمال النص وCTA وتنفيذ التعليقات؛ ثم الرئيس والتسويق.</a:t>
            </a:r>
          </a:p>
        </p:txBody>
      </p:sp>
      <p:sp>
        <p:nvSpPr>
          <p:cNvPr id="11" name="Rectangle 10"/>
          <p:cNvSpPr/>
          <p:nvPr/>
        </p:nvSpPr>
        <p:spPr>
          <a:xfrm>
            <a:off x="68580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914400" y="2743200"/>
            <a:ext cx="5943600" cy="822960"/>
          </a:xfrm>
          <a:prstGeom prst="rect">
            <a:avLst/>
          </a:prstGeom>
          <a:noFill/>
        </p:spPr>
        <p:txBody>
          <a:bodyPr wrap="square" lIns="18288" rIns="18288" tIns="0" bIns="0">
            <a:spAutoFit/>
          </a:bodyPr>
          <a:lstStyle/>
          <a:p>
            <a:pPr algn="r" rtl="1">
              <a:spcAft>
                <a:spcPts val="600"/>
              </a:spcAft>
              <a:defRPr sz="2200" b="1">
                <a:solidFill>
                  <a:srgbClr val="7D2B42"/>
                </a:solidFill>
                <a:latin typeface="Montserrat"/>
              </a:defRPr>
            </a:pPr>
            <a:r>
              <a:rPr sz="1600">
                <a:latin typeface="IBM Plex Sans Arabic"/>
              </a:rPr>
              <a:t>التصميم</a:t>
            </a:r>
          </a:p>
        </p:txBody>
      </p:sp>
      <p:sp>
        <p:nvSpPr>
          <p:cNvPr id="13" name="TextBox 12"/>
          <p:cNvSpPr txBox="1"/>
          <p:nvPr/>
        </p:nvSpPr>
        <p:spPr>
          <a:xfrm>
            <a:off x="914400" y="3767328"/>
            <a:ext cx="5943600" cy="2926080"/>
          </a:xfrm>
          <a:prstGeom prst="rect">
            <a:avLst/>
          </a:prstGeom>
          <a:noFill/>
        </p:spPr>
        <p:txBody>
          <a:bodyPr wrap="square" lIns="18288" rIns="18288" tIns="0" bIns="0">
            <a:spAutoFit/>
          </a:bodyPr>
          <a:lstStyle/>
          <a:p>
            <a:pPr algn="r" rtl="1">
              <a:spcAft>
                <a:spcPts val="600"/>
              </a:spcAft>
              <a:defRPr sz="1900" b="0">
                <a:solidFill>
                  <a:srgbClr val="202020"/>
                </a:solidFill>
                <a:latin typeface="Montserrat"/>
              </a:defRPr>
            </a:pPr>
            <a:r>
              <a:rPr sz="1600">
                <a:latin typeface="IBM Plex Sans Arabic"/>
              </a:rPr>
              <a:t>صحة النص والعرض والهوية والقراءة والمقاسات والمصادر؛ الرئيس ثم التسويق، دون أرشفة مبكرة.</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الجودة / الفيديو وعرض العميل</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39</a:t>
            </a:r>
          </a:p>
        </p:txBody>
      </p:sp>
      <p:sp>
        <p:nvSpPr>
          <p:cNvPr id="8" name="Rectangle 7"/>
          <p:cNvSpPr/>
          <p:nvPr/>
        </p:nvSpPr>
        <p:spPr>
          <a:xfrm>
            <a:off x="745236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7680960" y="2743200"/>
            <a:ext cx="5943600" cy="822960"/>
          </a:xfrm>
          <a:prstGeom prst="rect">
            <a:avLst/>
          </a:prstGeom>
          <a:noFill/>
        </p:spPr>
        <p:txBody>
          <a:bodyPr wrap="square" lIns="18288" rIns="18288" tIns="0" bIns="0">
            <a:spAutoFit/>
          </a:bodyPr>
          <a:lstStyle/>
          <a:p>
            <a:pPr algn="r" rtl="1">
              <a:spcAft>
                <a:spcPts val="600"/>
              </a:spcAft>
              <a:defRPr sz="2200" b="1">
                <a:solidFill>
                  <a:srgbClr val="7D2B42"/>
                </a:solidFill>
                <a:latin typeface="Montserrat"/>
              </a:defRPr>
            </a:pPr>
            <a:r>
              <a:rPr sz="1600">
                <a:latin typeface="IBM Plex Sans Arabic"/>
              </a:rPr>
              <a:t>الفيديو: مراجعة مباشرة من التسويق</a:t>
            </a:r>
          </a:p>
        </p:txBody>
      </p:sp>
      <p:sp>
        <p:nvSpPr>
          <p:cNvPr id="10" name="TextBox 9"/>
          <p:cNvSpPr txBox="1"/>
          <p:nvPr/>
        </p:nvSpPr>
        <p:spPr>
          <a:xfrm>
            <a:off x="7680960" y="3767328"/>
            <a:ext cx="5943600" cy="2926080"/>
          </a:xfrm>
          <a:prstGeom prst="rect">
            <a:avLst/>
          </a:prstGeom>
          <a:noFill/>
        </p:spPr>
        <p:txBody>
          <a:bodyPr wrap="square" lIns="18288" rIns="18288" tIns="0" bIns="0">
            <a:spAutoFit/>
          </a:bodyPr>
          <a:lstStyle/>
          <a:p>
            <a:pPr algn="r" rtl="1">
              <a:spcAft>
                <a:spcPts val="600"/>
              </a:spcAft>
              <a:defRPr sz="1900" b="0">
                <a:solidFill>
                  <a:srgbClr val="202020"/>
                </a:solidFill>
                <a:latin typeface="Montserrat"/>
              </a:defRPr>
            </a:pPr>
            <a:r>
              <a:rPr sz="1600">
                <a:latin typeface="IBM Plex Sans Arabic"/>
              </a:rPr>
              <a:t>راجع السيناريو واللقطات والإيقاع والصوت والترجمة والأسعار والتصدير. افصل الجودة عن الاعتماد الداخلي.</a:t>
            </a:r>
          </a:p>
        </p:txBody>
      </p:sp>
      <p:sp>
        <p:nvSpPr>
          <p:cNvPr id="11" name="Rectangle 10"/>
          <p:cNvSpPr/>
          <p:nvPr/>
        </p:nvSpPr>
        <p:spPr>
          <a:xfrm>
            <a:off x="68580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914400" y="2743200"/>
            <a:ext cx="5943600" cy="822960"/>
          </a:xfrm>
          <a:prstGeom prst="rect">
            <a:avLst/>
          </a:prstGeom>
          <a:noFill/>
        </p:spPr>
        <p:txBody>
          <a:bodyPr wrap="square" lIns="18288" rIns="18288" tIns="0" bIns="0">
            <a:spAutoFit/>
          </a:bodyPr>
          <a:lstStyle/>
          <a:p>
            <a:pPr algn="r" rtl="1">
              <a:spcAft>
                <a:spcPts val="600"/>
              </a:spcAft>
              <a:defRPr sz="2200" b="1">
                <a:solidFill>
                  <a:srgbClr val="7D2B42"/>
                </a:solidFill>
                <a:latin typeface="Montserrat"/>
              </a:defRPr>
            </a:pPr>
            <a:r>
              <a:rPr sz="1600">
                <a:latin typeface="IBM Plex Sans Arabic"/>
              </a:rPr>
              <a:t>عرض العميل: تنسيق مدير الحساب</a:t>
            </a:r>
          </a:p>
        </p:txBody>
      </p:sp>
      <p:sp>
        <p:nvSpPr>
          <p:cNvPr id="13" name="TextBox 12"/>
          <p:cNvSpPr txBox="1"/>
          <p:nvPr/>
        </p:nvSpPr>
        <p:spPr>
          <a:xfrm>
            <a:off x="914400" y="3767328"/>
            <a:ext cx="5943600" cy="2926080"/>
          </a:xfrm>
          <a:prstGeom prst="rect">
            <a:avLst/>
          </a:prstGeom>
          <a:noFill/>
        </p:spPr>
        <p:txBody>
          <a:bodyPr wrap="square" lIns="18288" rIns="18288" tIns="0" bIns="0">
            <a:spAutoFit/>
          </a:bodyPr>
          <a:lstStyle/>
          <a:p>
            <a:pPr algn="r" rtl="1">
              <a:spcAft>
                <a:spcPts val="600"/>
              </a:spcAft>
              <a:defRPr sz="1900" b="0">
                <a:solidFill>
                  <a:srgbClr val="202020"/>
                </a:solidFill>
                <a:latin typeface="Montserrat"/>
              </a:defRPr>
            </a:pPr>
            <a:r>
              <a:rPr sz="1600">
                <a:latin typeface="IBM Plex Sans Arabic"/>
              </a:rPr>
              <a:t>يطابق الكشف العمل المعتمد داخليًا. موافقة العميل على النسخة المعروضة؛ والمعدل يعود للمراجعة.</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التعديلات / أبقِ المهمة مفتوحة</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40</a:t>
            </a:r>
          </a:p>
        </p:txBody>
      </p:sp>
      <p:sp>
        <p:nvSpPr>
          <p:cNvPr id="8" name="Rectangle 7"/>
          <p:cNvSpPr/>
          <p:nvPr/>
        </p:nvSpPr>
        <p:spPr>
          <a:xfrm>
            <a:off x="1078992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927080" y="248716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التعليق</a:t>
            </a:r>
          </a:p>
        </p:txBody>
      </p:sp>
      <p:sp>
        <p:nvSpPr>
          <p:cNvPr id="10" name="TextBox 9"/>
          <p:cNvSpPr txBox="1"/>
          <p:nvPr/>
        </p:nvSpPr>
        <p:spPr>
          <a:xfrm>
            <a:off x="868680" y="245059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يحدد الحساب أو التسويق أو الرئيس العنصر والمشكلة والتغيير والسبب.</a:t>
            </a:r>
          </a:p>
        </p:txBody>
      </p:sp>
      <p:sp>
        <p:nvSpPr>
          <p:cNvPr id="11" name="Rectangle 10"/>
          <p:cNvSpPr/>
          <p:nvPr/>
        </p:nvSpPr>
        <p:spPr>
          <a:xfrm>
            <a:off x="1078992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927080" y="349300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التنفيذ</a:t>
            </a:r>
          </a:p>
        </p:txBody>
      </p:sp>
      <p:sp>
        <p:nvSpPr>
          <p:cNvPr id="13" name="TextBox 12"/>
          <p:cNvSpPr txBox="1"/>
          <p:nvPr/>
        </p:nvSpPr>
        <p:spPr>
          <a:xfrm>
            <a:off x="868680" y="345643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ينفذ المسؤول كل تعليق ويسجّل الرد.</a:t>
            </a:r>
          </a:p>
        </p:txBody>
      </p:sp>
      <p:sp>
        <p:nvSpPr>
          <p:cNvPr id="14" name="Rectangle 13"/>
          <p:cNvSpPr/>
          <p:nvPr/>
        </p:nvSpPr>
        <p:spPr>
          <a:xfrm>
            <a:off x="1078992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927080" y="449884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إعادة المراجعة</a:t>
            </a:r>
          </a:p>
        </p:txBody>
      </p:sp>
      <p:sp>
        <p:nvSpPr>
          <p:cNvPr id="16" name="TextBox 15"/>
          <p:cNvSpPr txBox="1"/>
          <p:nvPr/>
        </p:nvSpPr>
        <p:spPr>
          <a:xfrm>
            <a:off x="868680" y="446227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تقرر مستويات الجودة والتسويق المطلوبة بشأن النسخة الحالية.</a:t>
            </a:r>
          </a:p>
        </p:txBody>
      </p:sp>
      <p:sp>
        <p:nvSpPr>
          <p:cNvPr id="17" name="Rectangle 16"/>
          <p:cNvSpPr/>
          <p:nvPr/>
        </p:nvSpPr>
        <p:spPr>
          <a:xfrm>
            <a:off x="1078992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927080" y="550468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العميل</a:t>
            </a:r>
          </a:p>
        </p:txBody>
      </p:sp>
      <p:sp>
        <p:nvSpPr>
          <p:cNvPr id="19" name="TextBox 18"/>
          <p:cNvSpPr txBox="1"/>
          <p:nvPr/>
        </p:nvSpPr>
        <p:spPr>
          <a:xfrm>
            <a:off x="868680" y="546811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يرجع المعدل للعميل عبر الحساب حيث تلزم الموافقة.</a:t>
            </a:r>
          </a:p>
        </p:txBody>
      </p:sp>
      <p:sp>
        <p:nvSpPr>
          <p:cNvPr id="20" name="Rectangle 19"/>
          <p:cNvSpPr/>
          <p:nvPr/>
        </p:nvSpPr>
        <p:spPr>
          <a:xfrm>
            <a:off x="1078992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927080" y="651052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لا تساوِ بين</a:t>
            </a:r>
          </a:p>
        </p:txBody>
      </p:sp>
      <p:sp>
        <p:nvSpPr>
          <p:cNvPr id="22" name="TextBox 21"/>
          <p:cNvSpPr txBox="1"/>
          <p:nvPr/>
        </p:nvSpPr>
        <p:spPr>
          <a:xfrm>
            <a:off x="868680" y="647395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انتهاء التعديل أو الخلية الخضراء وموافقة العميل النهائية.</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الاستثناءات / أسئلة القرار</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41</a:t>
            </a:r>
          </a:p>
        </p:txBody>
      </p:sp>
      <p:sp>
        <p:nvSpPr>
          <p:cNvPr id="8" name="Rectangle 7"/>
          <p:cNvSpPr/>
          <p:nvPr/>
        </p:nvSpPr>
        <p:spPr>
          <a:xfrm>
            <a:off x="1078992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927080" y="248716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ما قبل البيع</a:t>
            </a:r>
          </a:p>
        </p:txBody>
      </p:sp>
      <p:sp>
        <p:nvSpPr>
          <p:cNvPr id="10" name="TextBox 9"/>
          <p:cNvSpPr txBox="1"/>
          <p:nvPr/>
        </p:nvSpPr>
        <p:spPr>
          <a:xfrm>
            <a:off x="868680" y="245059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هل تأكد الاستعداد؟ إن لم يتأكد، تظل الاستراتيجية معلقة.</a:t>
            </a:r>
          </a:p>
        </p:txBody>
      </p:sp>
      <p:sp>
        <p:nvSpPr>
          <p:cNvPr id="11" name="Rectangle 10"/>
          <p:cNvSpPr/>
          <p:nvPr/>
        </p:nvSpPr>
        <p:spPr>
          <a:xfrm>
            <a:off x="1078992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927080" y="349300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التسليم التنفيذي</a:t>
            </a:r>
          </a:p>
        </p:txBody>
      </p:sp>
      <p:sp>
        <p:nvSpPr>
          <p:cNvPr id="13" name="TextBox 12"/>
          <p:cNvSpPr txBox="1"/>
          <p:nvPr/>
        </p:nvSpPr>
        <p:spPr>
          <a:xfrm>
            <a:off x="868680" y="345643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هل توجد الحزمة الموقعة والأموال المتحقق منها والمدخلات؟</a:t>
            </a:r>
          </a:p>
        </p:txBody>
      </p:sp>
      <p:sp>
        <p:nvSpPr>
          <p:cNvPr id="14" name="Rectangle 13"/>
          <p:cNvSpPr/>
          <p:nvPr/>
        </p:nvSpPr>
        <p:spPr>
          <a:xfrm>
            <a:off x="1078992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927080" y="449884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السماح بالنشر</a:t>
            </a:r>
          </a:p>
        </p:txBody>
      </p:sp>
      <p:sp>
        <p:nvSpPr>
          <p:cNvPr id="16" name="TextBox 15"/>
          <p:cNvSpPr txBox="1"/>
          <p:nvPr/>
        </p:nvSpPr>
        <p:spPr>
          <a:xfrm>
            <a:off x="868680" y="446227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هل النسخة نفسها معتمدة من العميل؟ وإلا تتوقف.</a:t>
            </a:r>
          </a:p>
        </p:txBody>
      </p:sp>
      <p:sp>
        <p:nvSpPr>
          <p:cNvPr id="17" name="Rectangle 16"/>
          <p:cNvSpPr/>
          <p:nvPr/>
        </p:nvSpPr>
        <p:spPr>
          <a:xfrm>
            <a:off x="1078992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927080" y="550468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الصلاحية</a:t>
            </a:r>
          </a:p>
        </p:txBody>
      </p:sp>
      <p:sp>
        <p:nvSpPr>
          <p:cNvPr id="19" name="TextBox 18"/>
          <p:cNvSpPr txBox="1"/>
          <p:nvPr/>
        </p:nvSpPr>
        <p:spPr>
          <a:xfrm>
            <a:off x="868680" y="546811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هل المفوّض ونطاقه مؤكدان؟ وإلا ارجع للمالك بدل التجاوز.</a:t>
            </a:r>
          </a:p>
        </p:txBody>
      </p:sp>
      <p:sp>
        <p:nvSpPr>
          <p:cNvPr id="20" name="Rectangle 19"/>
          <p:cNvSpPr/>
          <p:nvPr/>
        </p:nvSpPr>
        <p:spPr>
          <a:xfrm>
            <a:off x="1078992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927080" y="651052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الدليل</a:t>
            </a:r>
          </a:p>
        </p:txBody>
      </p:sp>
      <p:sp>
        <p:nvSpPr>
          <p:cNvPr id="22" name="TextBox 21"/>
          <p:cNvSpPr txBox="1"/>
          <p:nvPr/>
        </p:nvSpPr>
        <p:spPr>
          <a:xfrm>
            <a:off x="868680" y="647395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هل يمكن التحقق من النتيجة/الإنفاق؟ وإلا أعلن الفجوة واطلب المصادر.</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التقارير / أكثر من منشورات ومشاهدات</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42</a:t>
            </a:r>
          </a:p>
        </p:txBody>
      </p:sp>
      <p:sp>
        <p:nvSpPr>
          <p:cNvPr id="8" name="Rectangle 7"/>
          <p:cNvSpPr/>
          <p:nvPr/>
        </p:nvSpPr>
        <p:spPr>
          <a:xfrm>
            <a:off x="745236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7680960" y="2743200"/>
            <a:ext cx="5943600" cy="822960"/>
          </a:xfrm>
          <a:prstGeom prst="rect">
            <a:avLst/>
          </a:prstGeom>
          <a:noFill/>
        </p:spPr>
        <p:txBody>
          <a:bodyPr wrap="square" lIns="18288" rIns="18288" tIns="0" bIns="0">
            <a:spAutoFit/>
          </a:bodyPr>
          <a:lstStyle/>
          <a:p>
            <a:pPr algn="r" rtl="1">
              <a:spcAft>
                <a:spcPts val="600"/>
              </a:spcAft>
              <a:defRPr sz="2200" b="1">
                <a:solidFill>
                  <a:srgbClr val="7D2B42"/>
                </a:solidFill>
                <a:latin typeface="Montserrat"/>
              </a:defRPr>
            </a:pPr>
            <a:r>
              <a:rPr sz="1600">
                <a:latin typeface="IBM Plex Sans Arabic"/>
              </a:rPr>
              <a:t>أخصائي التواصل الاجتماعي</a:t>
            </a:r>
          </a:p>
        </p:txBody>
      </p:sp>
      <p:sp>
        <p:nvSpPr>
          <p:cNvPr id="10" name="TextBox 9"/>
          <p:cNvSpPr txBox="1"/>
          <p:nvPr/>
        </p:nvSpPr>
        <p:spPr>
          <a:xfrm>
            <a:off x="7680960" y="3767328"/>
            <a:ext cx="5943600" cy="2926080"/>
          </a:xfrm>
          <a:prstGeom prst="rect">
            <a:avLst/>
          </a:prstGeom>
          <a:noFill/>
        </p:spPr>
        <p:txBody>
          <a:bodyPr wrap="square" lIns="18288" rIns="18288" tIns="0" bIns="0">
            <a:spAutoFit/>
          </a:bodyPr>
          <a:lstStyle/>
          <a:p>
            <a:pPr algn="r" rtl="1">
              <a:spcAft>
                <a:spcPts val="600"/>
              </a:spcAft>
              <a:defRPr sz="1900" b="0">
                <a:solidFill>
                  <a:srgbClr val="202020"/>
                </a:solidFill>
                <a:latin typeface="Montserrat"/>
              </a:defRPr>
            </a:pPr>
            <a:r>
              <a:rPr sz="1600">
                <a:latin typeface="IBM Plex Sans Arabic"/>
              </a:rPr>
              <a:t>خطط واستراتيجيات وتقارير أداء واستماع وجدولة ونشر وردود على الصفحات.</a:t>
            </a:r>
          </a:p>
        </p:txBody>
      </p:sp>
      <p:sp>
        <p:nvSpPr>
          <p:cNvPr id="11" name="Rectangle 10"/>
          <p:cNvSpPr/>
          <p:nvPr/>
        </p:nvSpPr>
        <p:spPr>
          <a:xfrm>
            <a:off x="68580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914400" y="2743200"/>
            <a:ext cx="5943600" cy="822960"/>
          </a:xfrm>
          <a:prstGeom prst="rect">
            <a:avLst/>
          </a:prstGeom>
          <a:noFill/>
        </p:spPr>
        <p:txBody>
          <a:bodyPr wrap="square" lIns="18288" rIns="18288" tIns="0" bIns="0">
            <a:spAutoFit/>
          </a:bodyPr>
          <a:lstStyle/>
          <a:p>
            <a:pPr algn="r" rtl="1">
              <a:spcAft>
                <a:spcPts val="600"/>
              </a:spcAft>
              <a:defRPr sz="2200" b="1">
                <a:solidFill>
                  <a:srgbClr val="7D2B42"/>
                </a:solidFill>
                <a:latin typeface="Montserrat"/>
              </a:defRPr>
            </a:pPr>
            <a:r>
              <a:rPr sz="1600">
                <a:latin typeface="IBM Plex Sans Arabic"/>
              </a:rPr>
              <a:t>الإعلانات + الحساب/التسويق</a:t>
            </a:r>
          </a:p>
        </p:txBody>
      </p:sp>
      <p:sp>
        <p:nvSpPr>
          <p:cNvPr id="13" name="TextBox 12"/>
          <p:cNvSpPr txBox="1"/>
          <p:nvPr/>
        </p:nvSpPr>
        <p:spPr>
          <a:xfrm>
            <a:off x="914400" y="3767328"/>
            <a:ext cx="5943600" cy="2926080"/>
          </a:xfrm>
          <a:prstGeom prst="rect">
            <a:avLst/>
          </a:prstGeom>
          <a:noFill/>
        </p:spPr>
        <p:txBody>
          <a:bodyPr wrap="square" lIns="18288" rIns="18288" tIns="0" bIns="0">
            <a:spAutoFit/>
          </a:bodyPr>
          <a:lstStyle/>
          <a:p>
            <a:pPr algn="r" rtl="1">
              <a:spcAft>
                <a:spcPts val="600"/>
              </a:spcAft>
              <a:defRPr sz="1900" b="0">
                <a:solidFill>
                  <a:srgbClr val="202020"/>
                </a:solidFill>
                <a:latin typeface="Montserrat"/>
              </a:defRPr>
            </a:pPr>
            <a:r>
              <a:rPr sz="1600">
                <a:latin typeface="IBM Plex Sans Arabic"/>
              </a:rPr>
              <a:t>نتائج مدفوعة ومصروفات فعلية وإجراءات بالأدلة؛ دون خطوط أساس أو إنفاق أو ضمانات مختلقة.</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الحساب التجاري / للتدريب فقط</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43</a:t>
            </a:r>
          </a:p>
        </p:txBody>
      </p:sp>
      <p:sp>
        <p:nvSpPr>
          <p:cNvPr id="8" name="Rectangle 7"/>
          <p:cNvSpPr/>
          <p:nvPr/>
        </p:nvSpPr>
        <p:spPr>
          <a:xfrm>
            <a:off x="745236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7680960" y="2743200"/>
            <a:ext cx="5943600" cy="822960"/>
          </a:xfrm>
          <a:prstGeom prst="rect">
            <a:avLst/>
          </a:prstGeom>
          <a:noFill/>
        </p:spPr>
        <p:txBody>
          <a:bodyPr wrap="square" lIns="18288" rIns="18288" tIns="0" bIns="0">
            <a:spAutoFit/>
          </a:bodyPr>
          <a:lstStyle/>
          <a:p>
            <a:pPr algn="r" rtl="1">
              <a:spcAft>
                <a:spcPts val="600"/>
              </a:spcAft>
              <a:defRPr sz="2200" b="1">
                <a:solidFill>
                  <a:srgbClr val="7D2B42"/>
                </a:solidFill>
                <a:latin typeface="Montserrat"/>
              </a:defRPr>
            </a:pPr>
            <a:r>
              <a:rPr sz="1600">
                <a:latin typeface="IBM Plex Sans Arabic"/>
              </a:rPr>
              <a:t>مثال العقد</a:t>
            </a:r>
          </a:p>
        </p:txBody>
      </p:sp>
      <p:sp>
        <p:nvSpPr>
          <p:cNvPr id="10" name="TextBox 9"/>
          <p:cNvSpPr txBox="1"/>
          <p:nvPr/>
        </p:nvSpPr>
        <p:spPr>
          <a:xfrm>
            <a:off x="7680960" y="3767328"/>
            <a:ext cx="5943600" cy="2926080"/>
          </a:xfrm>
          <a:prstGeom prst="rect">
            <a:avLst/>
          </a:prstGeom>
          <a:noFill/>
        </p:spPr>
        <p:txBody>
          <a:bodyPr wrap="square" lIns="18288" rIns="18288" tIns="0" bIns="0">
            <a:spAutoFit/>
          </a:bodyPr>
          <a:lstStyle/>
          <a:p>
            <a:pPr algn="r" rtl="1">
              <a:spcAft>
                <a:spcPts val="600"/>
              </a:spcAft>
              <a:defRPr sz="1900" b="0">
                <a:solidFill>
                  <a:srgbClr val="202020"/>
                </a:solidFill>
                <a:latin typeface="Montserrat"/>
              </a:defRPr>
            </a:pPr>
            <a:r>
              <a:rPr sz="1600">
                <a:latin typeface="IBM Plex Sans Arabic"/>
              </a:rPr>
              <a:t>10,000 وحدة: للتواصل فقط يلزم 10,000؛ ومع خدمات أخرى 5,000 على الأقل، مع الحزمة الموقعة والتحقق المخول.</a:t>
            </a:r>
          </a:p>
        </p:txBody>
      </p:sp>
      <p:sp>
        <p:nvSpPr>
          <p:cNvPr id="11" name="Rectangle 10"/>
          <p:cNvSpPr/>
          <p:nvPr/>
        </p:nvSpPr>
        <p:spPr>
          <a:xfrm>
            <a:off x="68580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914400" y="2743200"/>
            <a:ext cx="5943600" cy="822960"/>
          </a:xfrm>
          <a:prstGeom prst="rect">
            <a:avLst/>
          </a:prstGeom>
          <a:noFill/>
        </p:spPr>
        <p:txBody>
          <a:bodyPr wrap="square" lIns="18288" rIns="18288" tIns="0" bIns="0">
            <a:spAutoFit/>
          </a:bodyPr>
          <a:lstStyle/>
          <a:p>
            <a:pPr algn="r" rtl="1">
              <a:spcAft>
                <a:spcPts val="600"/>
              </a:spcAft>
              <a:defRPr sz="2200" b="1">
                <a:solidFill>
                  <a:srgbClr val="7D2B42"/>
                </a:solidFill>
                <a:latin typeface="Montserrat"/>
              </a:defRPr>
            </a:pPr>
            <a:r>
              <a:rPr sz="1600">
                <a:latin typeface="IBM Plex Sans Arabic"/>
              </a:rPr>
              <a:t>مثال الإعلانات</a:t>
            </a:r>
          </a:p>
        </p:txBody>
      </p:sp>
      <p:sp>
        <p:nvSpPr>
          <p:cNvPr id="13" name="TextBox 12"/>
          <p:cNvSpPr txBox="1"/>
          <p:nvPr/>
        </p:nvSpPr>
        <p:spPr>
          <a:xfrm>
            <a:off x="914400" y="3767328"/>
            <a:ext cx="5943600" cy="2926080"/>
          </a:xfrm>
          <a:prstGeom prst="rect">
            <a:avLst/>
          </a:prstGeom>
          <a:noFill/>
        </p:spPr>
        <p:txBody>
          <a:bodyPr wrap="square" lIns="18288" rIns="18288" tIns="0" bIns="0">
            <a:spAutoFit/>
          </a:bodyPr>
          <a:lstStyle/>
          <a:p>
            <a:pPr algn="r" rtl="1">
              <a:spcAft>
                <a:spcPts val="600"/>
              </a:spcAft>
              <a:defRPr sz="1900" b="0">
                <a:solidFill>
                  <a:srgbClr val="202020"/>
                </a:solidFill>
                <a:latin typeface="Montserrat"/>
              </a:defRPr>
            </a:pPr>
            <a:r>
              <a:rPr sz="1600">
                <a:latin typeface="IBM Plex Sans Arabic"/>
              </a:rPr>
              <a:t>بعد التنفيذ: 8,000 مصروف فعلي × 25% = 2,000 أتعاب. مثال حسابي لا أسعار سوق.</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حالة تطبيقية / Orbit Studio افتراضي</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44</a:t>
            </a:r>
          </a:p>
        </p:txBody>
      </p:sp>
      <p:sp>
        <p:nvSpPr>
          <p:cNvPr id="8" name="Rectangle 7"/>
          <p:cNvSpPr/>
          <p:nvPr/>
        </p:nvSpPr>
        <p:spPr>
          <a:xfrm>
            <a:off x="1078992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927080" y="248716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الاجتماع الأول</a:t>
            </a:r>
          </a:p>
        </p:txBody>
      </p:sp>
      <p:sp>
        <p:nvSpPr>
          <p:cNvPr id="10" name="TextBox 9"/>
          <p:cNvSpPr txBox="1"/>
          <p:nvPr/>
        </p:nvSpPr>
        <p:spPr>
          <a:xfrm>
            <a:off x="868680" y="245059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تختلف المواد والجمهور الفعليان عن المقترح؛ سجّل الموجز الحقيقي.</a:t>
            </a:r>
          </a:p>
        </p:txBody>
      </p:sp>
      <p:sp>
        <p:nvSpPr>
          <p:cNvPr id="11" name="Rectangle 10"/>
          <p:cNvSpPr/>
          <p:nvPr/>
        </p:nvSpPr>
        <p:spPr>
          <a:xfrm>
            <a:off x="1078992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927080" y="349300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غير مستعد</a:t>
            </a:r>
          </a:p>
        </p:txBody>
      </p:sp>
      <p:sp>
        <p:nvSpPr>
          <p:cNvPr id="13" name="TextBox 12"/>
          <p:cNvSpPr txBox="1"/>
          <p:nvPr/>
        </p:nvSpPr>
        <p:spPr>
          <a:xfrm>
            <a:off x="868680" y="345643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يظل فريق الاستراتيجية معلقًا حتى تأكيد الاستعداد.</a:t>
            </a:r>
          </a:p>
        </p:txBody>
      </p:sp>
      <p:sp>
        <p:nvSpPr>
          <p:cNvPr id="14" name="Rectangle 13"/>
          <p:cNvSpPr/>
          <p:nvPr/>
        </p:nvSpPr>
        <p:spPr>
          <a:xfrm>
            <a:off x="1078992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927080" y="449884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استعداد ← توقيع</a:t>
            </a:r>
          </a:p>
        </p:txBody>
      </p:sp>
      <p:sp>
        <p:nvSpPr>
          <p:cNvPr id="16" name="TextBox 15"/>
          <p:cNvSpPr txBox="1"/>
          <p:nvPr/>
        </p:nvSpPr>
        <p:spPr>
          <a:xfrm>
            <a:off x="868680" y="446227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الفريق الرباعي يطور الاستراتيجية ويطابق النطاق ثم يوقّع العميل الأربعة.</a:t>
            </a:r>
          </a:p>
        </p:txBody>
      </p:sp>
      <p:sp>
        <p:nvSpPr>
          <p:cNvPr id="17" name="Rectangle 16"/>
          <p:cNvSpPr/>
          <p:nvPr/>
        </p:nvSpPr>
        <p:spPr>
          <a:xfrm>
            <a:off x="1078992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927080" y="550468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سداد ← إنتاج</a:t>
            </a:r>
          </a:p>
        </p:txBody>
      </p:sp>
      <p:sp>
        <p:nvSpPr>
          <p:cNvPr id="19" name="TextBox 18"/>
          <p:cNvSpPr txBox="1"/>
          <p:nvPr/>
        </p:nvSpPr>
        <p:spPr>
          <a:xfrm>
            <a:off x="868680" y="546811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تحقق من الدفعة؛ يوزع الحساب، واللقطات الناقصة توقف الفيديو.</a:t>
            </a:r>
          </a:p>
        </p:txBody>
      </p:sp>
      <p:sp>
        <p:nvSpPr>
          <p:cNvPr id="20" name="Rectangle 19"/>
          <p:cNvSpPr/>
          <p:nvPr/>
        </p:nvSpPr>
        <p:spPr>
          <a:xfrm>
            <a:off x="1078992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927080" y="651052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مراجعة ← نشر</a:t>
            </a:r>
          </a:p>
        </p:txBody>
      </p:sp>
      <p:sp>
        <p:nvSpPr>
          <p:cNvPr id="22" name="TextBox 21"/>
          <p:cNvSpPr txBox="1"/>
          <p:nvPr/>
        </p:nvSpPr>
        <p:spPr>
          <a:xfrm>
            <a:off x="868680" y="647395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تنفيذ التعليقات ← الجودة والتسويق ← عرض الحساب ← موافقة العميل ← أرشفة ونشر.</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نماذج قابلة لإعادة الاستخدام</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45</a:t>
            </a:r>
          </a:p>
        </p:txBody>
      </p:sp>
      <p:sp>
        <p:nvSpPr>
          <p:cNvPr id="8" name="Rectangle 7"/>
          <p:cNvSpPr/>
          <p:nvPr/>
        </p:nvSpPr>
        <p:spPr>
          <a:xfrm>
            <a:off x="1078992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927080" y="248716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البند الضابط</a:t>
            </a:r>
          </a:p>
        </p:txBody>
      </p:sp>
      <p:sp>
        <p:nvSpPr>
          <p:cNvPr id="10" name="TextBox 9"/>
          <p:cNvSpPr txBox="1"/>
          <p:nvPr/>
        </p:nvSpPr>
        <p:spPr>
          <a:xfrm>
            <a:off x="868680" y="245059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سجل الصلاحيات وحالة العميل ومقارنة المقترح والموجز.</a:t>
            </a:r>
          </a:p>
        </p:txBody>
      </p:sp>
      <p:sp>
        <p:nvSpPr>
          <p:cNvPr id="11" name="Rectangle 10"/>
          <p:cNvSpPr/>
          <p:nvPr/>
        </p:nvSpPr>
        <p:spPr>
          <a:xfrm>
            <a:off x="1078992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927080" y="349300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التنفيذ</a:t>
            </a:r>
          </a:p>
        </p:txBody>
      </p:sp>
      <p:sp>
        <p:nvSpPr>
          <p:cNvPr id="13" name="TextBox 12"/>
          <p:cNvSpPr txBox="1"/>
          <p:nvPr/>
        </p:nvSpPr>
        <p:spPr>
          <a:xfrm>
            <a:off x="868680" y="345643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بطاقة التسليم والملاحظات ورد التنفيذ والمتابعة اليومية.</a:t>
            </a:r>
          </a:p>
        </p:txBody>
      </p:sp>
      <p:sp>
        <p:nvSpPr>
          <p:cNvPr id="14" name="Rectangle 13"/>
          <p:cNvSpPr/>
          <p:nvPr/>
        </p:nvSpPr>
        <p:spPr>
          <a:xfrm>
            <a:off x="1078992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927080" y="449884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الاعتماد</a:t>
            </a:r>
          </a:p>
        </p:txBody>
      </p:sp>
      <p:sp>
        <p:nvSpPr>
          <p:cNvPr id="16" name="TextBox 15"/>
          <p:cNvSpPr txBox="1"/>
          <p:nvPr/>
        </p:nvSpPr>
        <p:spPr>
          <a:xfrm>
            <a:off x="868680" y="446227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كشف العرض وسجل قرارات الجودة والتسويق والعميل.</a:t>
            </a:r>
          </a:p>
        </p:txBody>
      </p:sp>
      <p:sp>
        <p:nvSpPr>
          <p:cNvPr id="17" name="Rectangle 16"/>
          <p:cNvSpPr/>
          <p:nvPr/>
        </p:nvSpPr>
        <p:spPr>
          <a:xfrm>
            <a:off x="1078992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927080" y="550468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الاستثناءات</a:t>
            </a:r>
          </a:p>
        </p:txBody>
      </p:sp>
      <p:sp>
        <p:nvSpPr>
          <p:cNvPr id="19" name="TextBox 18"/>
          <p:cNvSpPr txBox="1"/>
          <p:nvPr/>
        </p:nvSpPr>
        <p:spPr>
          <a:xfrm>
            <a:off x="868680" y="546811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إثبات السداد والإنفاق والحوادث ومراجعة الأداء والاستماع.</a:t>
            </a:r>
          </a:p>
        </p:txBody>
      </p:sp>
      <p:sp>
        <p:nvSpPr>
          <p:cNvPr id="20" name="Rectangle 19"/>
          <p:cNvSpPr/>
          <p:nvPr/>
        </p:nvSpPr>
        <p:spPr>
          <a:xfrm>
            <a:off x="1078992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927080" y="651052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التأهيل</a:t>
            </a:r>
          </a:p>
        </p:txBody>
      </p:sp>
      <p:sp>
        <p:nvSpPr>
          <p:cNvPr id="22" name="TextBox 21"/>
          <p:cNvSpPr txBox="1"/>
          <p:nvPr/>
        </p:nvSpPr>
        <p:spPr>
          <a:xfrm>
            <a:off x="868680" y="647395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عرض الكفاءة وإقرار السلطة والقيود صراحة.</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أثبت المهارة قبل التشغيل المستقل</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46</a:t>
            </a:r>
          </a:p>
        </p:txBody>
      </p:sp>
      <p:sp>
        <p:nvSpPr>
          <p:cNvPr id="8" name="Rectangle 7"/>
          <p:cNvSpPr/>
          <p:nvPr/>
        </p:nvSpPr>
        <p:spPr>
          <a:xfrm>
            <a:off x="1078992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927080" y="248716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التتبع</a:t>
            </a:r>
          </a:p>
        </p:txBody>
      </p:sp>
      <p:sp>
        <p:nvSpPr>
          <p:cNvPr id="10" name="TextBox 9"/>
          <p:cNvSpPr txBox="1"/>
          <p:nvPr/>
        </p:nvSpPr>
        <p:spPr>
          <a:xfrm>
            <a:off x="868680" y="245059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حدد بصورة خاصة الموجز والاستراتيجية والمهمة والمراجعات وموافقة العميل.</a:t>
            </a:r>
          </a:p>
        </p:txBody>
      </p:sp>
      <p:sp>
        <p:nvSpPr>
          <p:cNvPr id="11" name="Rectangle 10"/>
          <p:cNvSpPr/>
          <p:nvPr/>
        </p:nvSpPr>
        <p:spPr>
          <a:xfrm>
            <a:off x="1078992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927080" y="349300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اتخاذ القرار</a:t>
            </a:r>
          </a:p>
        </p:txBody>
      </p:sp>
      <p:sp>
        <p:nvSpPr>
          <p:cNvPr id="13" name="TextBox 12"/>
          <p:cNvSpPr txBox="1"/>
          <p:nvPr/>
        </p:nvSpPr>
        <p:spPr>
          <a:xfrm>
            <a:off x="868680" y="345643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اشرح المسموح التالي وشرط الإيقاف لكل محطة.</a:t>
            </a:r>
          </a:p>
        </p:txBody>
      </p:sp>
      <p:sp>
        <p:nvSpPr>
          <p:cNvPr id="14" name="Rectangle 13"/>
          <p:cNvSpPr/>
          <p:nvPr/>
        </p:nvSpPr>
        <p:spPr>
          <a:xfrm>
            <a:off x="1078992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927080" y="449884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المراجعة</a:t>
            </a:r>
          </a:p>
        </p:txBody>
      </p:sp>
      <p:sp>
        <p:nvSpPr>
          <p:cNvPr id="16" name="TextBox 15"/>
          <p:cNvSpPr txBox="1"/>
          <p:nvPr/>
        </p:nvSpPr>
        <p:spPr>
          <a:xfrm>
            <a:off x="868680" y="446227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قدّم ملاحظات قابلة للتنفيذ وأبقِ المفتوح ظاهرًا.</a:t>
            </a:r>
          </a:p>
        </p:txBody>
      </p:sp>
      <p:sp>
        <p:nvSpPr>
          <p:cNvPr id="17" name="Rectangle 16"/>
          <p:cNvSpPr/>
          <p:nvPr/>
        </p:nvSpPr>
        <p:spPr>
          <a:xfrm>
            <a:off x="1078992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927080" y="550468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التقرير</a:t>
            </a:r>
          </a:p>
        </p:txBody>
      </p:sp>
      <p:sp>
        <p:nvSpPr>
          <p:cNvPr id="19" name="TextBox 18"/>
          <p:cNvSpPr txBox="1"/>
          <p:nvPr/>
        </p:nvSpPr>
        <p:spPr>
          <a:xfrm>
            <a:off x="868680" y="546811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افصل المرصود والتفسير والإجراء المقترح.</a:t>
            </a:r>
          </a:p>
        </p:txBody>
      </p:sp>
      <p:sp>
        <p:nvSpPr>
          <p:cNvPr id="20" name="Rectangle 19"/>
          <p:cNvSpPr/>
          <p:nvPr/>
        </p:nvSpPr>
        <p:spPr>
          <a:xfrm>
            <a:off x="1078992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927080" y="651052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إقرار الاجتياز</a:t>
            </a:r>
          </a:p>
        </p:txBody>
      </p:sp>
      <p:sp>
        <p:nvSpPr>
          <p:cNvPr id="22" name="TextBox 21"/>
          <p:cNvSpPr txBox="1"/>
          <p:nvPr/>
        </p:nvSpPr>
        <p:spPr>
          <a:xfrm>
            <a:off x="868680" y="647395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يسجل المقيّم الكفاءة والنواقص والتفويض، لا إنهاء الاختبار فقط.</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قرارات لا تزال للمالك</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47</a:t>
            </a:r>
          </a:p>
        </p:txBody>
      </p:sp>
      <p:sp>
        <p:nvSpPr>
          <p:cNvPr id="8" name="Rectangle 7"/>
          <p:cNvSpPr/>
          <p:nvPr/>
        </p:nvSpPr>
        <p:spPr>
          <a:xfrm>
            <a:off x="745236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7680960" y="2743200"/>
            <a:ext cx="5943600" cy="822960"/>
          </a:xfrm>
          <a:prstGeom prst="rect">
            <a:avLst/>
          </a:prstGeom>
          <a:noFill/>
        </p:spPr>
        <p:txBody>
          <a:bodyPr wrap="square" lIns="18288" rIns="18288" tIns="0" bIns="0">
            <a:spAutoFit/>
          </a:bodyPr>
          <a:lstStyle/>
          <a:p>
            <a:pPr algn="r" rtl="1">
              <a:spcAft>
                <a:spcPts val="600"/>
              </a:spcAft>
              <a:defRPr sz="2200" b="1">
                <a:solidFill>
                  <a:srgbClr val="7D2B42"/>
                </a:solidFill>
                <a:latin typeface="Montserrat"/>
              </a:defRPr>
            </a:pPr>
            <a:r>
              <a:rPr sz="1600">
                <a:latin typeface="IBM Plex Sans Arabic"/>
              </a:rPr>
              <a:t>الأفراد وحدود التشغيل</a:t>
            </a:r>
          </a:p>
        </p:txBody>
      </p:sp>
      <p:sp>
        <p:nvSpPr>
          <p:cNvPr id="10" name="TextBox 9"/>
          <p:cNvSpPr txBox="1"/>
          <p:nvPr/>
        </p:nvSpPr>
        <p:spPr>
          <a:xfrm>
            <a:off x="7680960" y="3767328"/>
            <a:ext cx="5943600" cy="2926080"/>
          </a:xfrm>
          <a:prstGeom prst="rect">
            <a:avLst/>
          </a:prstGeom>
          <a:noFill/>
        </p:spPr>
        <p:txBody>
          <a:bodyPr wrap="square" lIns="18288" rIns="18288" tIns="0" bIns="0">
            <a:spAutoFit/>
          </a:bodyPr>
          <a:lstStyle/>
          <a:p>
            <a:pPr algn="r" rtl="1">
              <a:spcAft>
                <a:spcPts val="600"/>
              </a:spcAft>
              <a:defRPr sz="1900" b="0">
                <a:solidFill>
                  <a:srgbClr val="202020"/>
                </a:solidFill>
                <a:latin typeface="Montserrat"/>
              </a:defRPr>
            </a:pPr>
            <a:r>
              <a:rPr sz="1600">
                <a:latin typeface="IBM Plex Sans Arabic"/>
              </a:rPr>
              <a:t>سلطة التسويق ومتحقق الأموال وحدود المنصات والمال والبدلاء والتبعيات والمسودات والمدد والتصعيد.</a:t>
            </a:r>
          </a:p>
        </p:txBody>
      </p:sp>
      <p:sp>
        <p:nvSpPr>
          <p:cNvPr id="11" name="Rectangle 10"/>
          <p:cNvSpPr/>
          <p:nvPr/>
        </p:nvSpPr>
        <p:spPr>
          <a:xfrm>
            <a:off x="685800" y="2468880"/>
            <a:ext cx="64008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914400" y="2743200"/>
            <a:ext cx="5943600" cy="822960"/>
          </a:xfrm>
          <a:prstGeom prst="rect">
            <a:avLst/>
          </a:prstGeom>
          <a:noFill/>
        </p:spPr>
        <p:txBody>
          <a:bodyPr wrap="square" lIns="18288" rIns="18288" tIns="0" bIns="0">
            <a:spAutoFit/>
          </a:bodyPr>
          <a:lstStyle/>
          <a:p>
            <a:pPr algn="r" rtl="1">
              <a:spcAft>
                <a:spcPts val="600"/>
              </a:spcAft>
              <a:defRPr sz="2200" b="1">
                <a:solidFill>
                  <a:srgbClr val="7D2B42"/>
                </a:solidFill>
                <a:latin typeface="Montserrat"/>
              </a:defRPr>
            </a:pPr>
            <a:r>
              <a:rPr sz="1600">
                <a:latin typeface="IBM Plex Sans Arabic"/>
              </a:rPr>
              <a:t>التجاري والتدريب</a:t>
            </a:r>
          </a:p>
        </p:txBody>
      </p:sp>
      <p:sp>
        <p:nvSpPr>
          <p:cNvPr id="13" name="TextBox 12"/>
          <p:cNvSpPr txBox="1"/>
          <p:nvPr/>
        </p:nvSpPr>
        <p:spPr>
          <a:xfrm>
            <a:off x="914400" y="3767328"/>
            <a:ext cx="5943600" cy="2926080"/>
          </a:xfrm>
          <a:prstGeom prst="rect">
            <a:avLst/>
          </a:prstGeom>
          <a:noFill/>
        </p:spPr>
        <p:txBody>
          <a:bodyPr wrap="square" lIns="18288" rIns="18288" tIns="0" bIns="0">
            <a:spAutoFit/>
          </a:bodyPr>
          <a:lstStyle/>
          <a:p>
            <a:pPr algn="r" rtl="1">
              <a:spcAft>
                <a:spcPts val="600"/>
              </a:spcAft>
              <a:defRPr sz="1900" b="0">
                <a:solidFill>
                  <a:srgbClr val="202020"/>
                </a:solidFill>
                <a:latin typeface="Montserrat"/>
              </a:defRPr>
            </a:pPr>
            <a:r>
              <a:rPr sz="1600">
                <a:latin typeface="IBM Plex Sans Arabic"/>
              </a:rPr>
              <a:t>الرصيد وتمويل الإعلانات والضرائب وأساس المصروفات والمقيّم واجتياز الكفاءة، دون سياسة مختلقة.</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برامج الشركة / اعرف حدود الوصول</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48</a:t>
            </a:r>
          </a:p>
        </p:txBody>
      </p:sp>
      <p:sp>
        <p:nvSpPr>
          <p:cNvPr id="8" name="Rectangle 7"/>
          <p:cNvSpPr/>
          <p:nvPr/>
        </p:nvSpPr>
        <p:spPr>
          <a:xfrm>
            <a:off x="1078992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927080" y="248716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Higgsfield</a:t>
            </a:r>
          </a:p>
        </p:txBody>
      </p:sp>
      <p:sp>
        <p:nvSpPr>
          <p:cNvPr id="10" name="TextBox 9"/>
          <p:cNvSpPr txBox="1"/>
          <p:nvPr/>
        </p:nvSpPr>
        <p:spPr>
          <a:xfrm>
            <a:off x="868680" y="245059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VE-01 وVE-02 فقط؛ ممنوع للآخرين، ومدير التسويق ليس استثناءً.</a:t>
            </a:r>
          </a:p>
        </p:txBody>
      </p:sp>
      <p:sp>
        <p:nvSpPr>
          <p:cNvPr id="11" name="Rectangle 10"/>
          <p:cNvSpPr/>
          <p:nvPr/>
        </p:nvSpPr>
        <p:spPr>
          <a:xfrm>
            <a:off x="1078992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927080" y="349300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Claude + ChatGPT</a:t>
            </a:r>
          </a:p>
        </p:txBody>
      </p:sp>
      <p:sp>
        <p:nvSpPr>
          <p:cNvPr id="13" name="TextBox 12"/>
          <p:cNvSpPr txBox="1"/>
          <p:nvPr/>
        </p:nvSpPr>
        <p:spPr>
          <a:xfrm>
            <a:off x="868680" y="345643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اشتراكات الشركة؛ تحقق من المستخدم والمسؤول الإداري والاستخدام المعتمد للبيانات.</a:t>
            </a:r>
          </a:p>
        </p:txBody>
      </p:sp>
      <p:sp>
        <p:nvSpPr>
          <p:cNvPr id="14" name="Rectangle 13"/>
          <p:cNvSpPr/>
          <p:nvPr/>
        </p:nvSpPr>
        <p:spPr>
          <a:xfrm>
            <a:off x="1078992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927080" y="449884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Canva + Adobe</a:t>
            </a:r>
          </a:p>
        </p:txBody>
      </p:sp>
      <p:sp>
        <p:nvSpPr>
          <p:cNvPr id="16" name="TextBox 15"/>
          <p:cNvSpPr txBox="1"/>
          <p:nvPr/>
        </p:nvSpPr>
        <p:spPr>
          <a:xfrm>
            <a:off x="868680" y="446227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برامج الشركة؛ أكّد التطبيقات والتراخيص والمقاعد بدقة.</a:t>
            </a:r>
          </a:p>
        </p:txBody>
      </p:sp>
      <p:sp>
        <p:nvSpPr>
          <p:cNvPr id="17" name="Rectangle 16"/>
          <p:cNvSpPr/>
          <p:nvPr/>
        </p:nvSpPr>
        <p:spPr>
          <a:xfrm>
            <a:off x="1078992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927080" y="550468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لا كلمات مرور هنا</a:t>
            </a:r>
          </a:p>
        </p:txBody>
      </p:sp>
      <p:sp>
        <p:nvSpPr>
          <p:cNvPr id="19" name="TextBox 18"/>
          <p:cNvSpPr txBox="1"/>
          <p:nvPr/>
        </p:nvSpPr>
        <p:spPr>
          <a:xfrm>
            <a:off x="868680" y="546811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احفظ بيانات الدخول في المسار الآمن المعتمد، لا الدليل أو الشيت.</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التصوير / التنسيق والمواد والمعدات</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49</a:t>
            </a:r>
          </a:p>
        </p:txBody>
      </p:sp>
      <p:sp>
        <p:nvSpPr>
          <p:cNvPr id="8" name="Rectangle 7"/>
          <p:cNvSpPr/>
          <p:nvPr/>
        </p:nvSpPr>
        <p:spPr>
          <a:xfrm>
            <a:off x="1078992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927080" y="248716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مدير الحساب</a:t>
            </a:r>
          </a:p>
        </p:txBody>
      </p:sp>
      <p:sp>
        <p:nvSpPr>
          <p:cNvPr id="10" name="TextBox 9"/>
          <p:cNvSpPr txBox="1"/>
          <p:nvPr/>
        </p:nvSpPr>
        <p:spPr>
          <a:xfrm>
            <a:off x="868680" y="245059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ينسق المصورين الخارجيين وضيوف البودكاست والعلاقات العامة.</a:t>
            </a:r>
          </a:p>
        </p:txBody>
      </p:sp>
      <p:sp>
        <p:nvSpPr>
          <p:cNvPr id="11" name="Rectangle 10"/>
          <p:cNvSpPr/>
          <p:nvPr/>
        </p:nvSpPr>
        <p:spPr>
          <a:xfrm>
            <a:off x="1078992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927080" y="349300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أخصائي التواصل</a:t>
            </a:r>
          </a:p>
        </p:txBody>
      </p:sp>
      <p:sp>
        <p:nvSpPr>
          <p:cNvPr id="13" name="TextBox 12"/>
          <p:cNvSpPr txBox="1"/>
          <p:nvPr/>
        </p:nvSpPr>
        <p:spPr>
          <a:xfrm>
            <a:off x="868680" y="345643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يجمع المواد ويسلمها للمحررين/المصممين ويصور الكواليس.</a:t>
            </a:r>
          </a:p>
        </p:txBody>
      </p:sp>
      <p:sp>
        <p:nvSpPr>
          <p:cNvPr id="14" name="Rectangle 13"/>
          <p:cNvSpPr/>
          <p:nvPr/>
        </p:nvSpPr>
        <p:spPr>
          <a:xfrm>
            <a:off x="1078992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927080" y="449884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عهدة التواصل</a:t>
            </a:r>
          </a:p>
        </p:txBody>
      </p:sp>
      <p:sp>
        <p:nvSpPr>
          <p:cNvPr id="16" name="TextBox 15"/>
          <p:cNvSpPr txBox="1"/>
          <p:nvPr/>
        </p:nvSpPr>
        <p:spPr>
          <a:xfrm>
            <a:off x="868680" y="446227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مسؤولية كاملة عن البطاقات والأدوات؛ سجل الصرف والإرجاع مقترح.</a:t>
            </a:r>
          </a:p>
        </p:txBody>
      </p:sp>
      <p:sp>
        <p:nvSpPr>
          <p:cNvPr id="17" name="Rectangle 16"/>
          <p:cNvSpPr/>
          <p:nvPr/>
        </p:nvSpPr>
        <p:spPr>
          <a:xfrm>
            <a:off x="1078992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927080" y="550468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الأقراص الصلبة</a:t>
            </a:r>
          </a:p>
        </p:txBody>
      </p:sp>
      <p:sp>
        <p:nvSpPr>
          <p:cNvPr id="19" name="TextBox 18"/>
          <p:cNvSpPr txBox="1"/>
          <p:nvPr/>
        </p:nvSpPr>
        <p:spPr>
          <a:xfrm>
            <a:off x="868680" y="546811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توجد عدة أقراص؛ سمّ العهدة والموقع، وسياسة النسخ لم تؤكد.</a:t>
            </a:r>
          </a:p>
        </p:txBody>
      </p:sp>
      <p:sp>
        <p:nvSpPr>
          <p:cNvPr id="20" name="Rectangle 19"/>
          <p:cNvSpPr/>
          <p:nvPr/>
        </p:nvSpPr>
        <p:spPr>
          <a:xfrm>
            <a:off x="1078992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927080" y="651052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فحص المستلم</a:t>
            </a:r>
          </a:p>
        </p:txBody>
      </p:sp>
      <p:sp>
        <p:nvSpPr>
          <p:cNvPr id="22" name="TextBox 21"/>
          <p:cNvSpPr txBox="1"/>
          <p:nvPr/>
        </p:nvSpPr>
        <p:spPr>
          <a:xfrm>
            <a:off x="868680" y="647395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مقترح: تأكيد اكتمال الملفات وفتحها قبل إفراغ البطاقات؛ واعتماد ضوابط الصلاحية والنسخ.</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7D2B42"/>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7D2B42"/>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7D2B42"/>
                </a:solidFill>
                <a:latin typeface="Bebas Neue"/>
              </a:defRPr>
            </a:pPr>
            <a:r>
              <a:rPr sz="1600">
                <a:latin typeface="IBM Plex Sans Arabic"/>
              </a:rPr>
              <a:t>التقييم الشهري / تطوير الموظفين</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555555"/>
                </a:solidFill>
                <a:latin typeface="Montserrat"/>
              </a:defRPr>
            </a:pPr>
            <a:r>
              <a:rPr sz="1100">
                <a:latin typeface="IBM Plex Sans Arabic"/>
              </a:rPr>
              <a:t>50</a:t>
            </a:r>
          </a:p>
        </p:txBody>
      </p:sp>
      <p:sp>
        <p:nvSpPr>
          <p:cNvPr id="8" name="Rectangle 7"/>
          <p:cNvSpPr/>
          <p:nvPr/>
        </p:nvSpPr>
        <p:spPr>
          <a:xfrm>
            <a:off x="10789920" y="237744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9" name="TextBox 8"/>
          <p:cNvSpPr txBox="1"/>
          <p:nvPr/>
        </p:nvSpPr>
        <p:spPr>
          <a:xfrm>
            <a:off x="10927080" y="248716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شهرياً</a:t>
            </a:r>
          </a:p>
        </p:txBody>
      </p:sp>
      <p:sp>
        <p:nvSpPr>
          <p:cNvPr id="10" name="TextBox 9"/>
          <p:cNvSpPr txBox="1"/>
          <p:nvPr/>
        </p:nvSpPr>
        <p:spPr>
          <a:xfrm>
            <a:off x="868680" y="245059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اختر النموذج الوظيفي المعتمد والشهر الفعلي، وأكد تكليف المقيّمين.</a:t>
            </a:r>
          </a:p>
        </p:txBody>
      </p:sp>
      <p:sp>
        <p:nvSpPr>
          <p:cNvPr id="11" name="Rectangle 10"/>
          <p:cNvSpPr/>
          <p:nvPr/>
        </p:nvSpPr>
        <p:spPr>
          <a:xfrm>
            <a:off x="10789920" y="338328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2" name="TextBox 11"/>
          <p:cNvSpPr txBox="1"/>
          <p:nvPr/>
        </p:nvSpPr>
        <p:spPr>
          <a:xfrm>
            <a:off x="10927080" y="349300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التقييم / التبرير</a:t>
            </a:r>
          </a:p>
        </p:txBody>
      </p:sp>
      <p:sp>
        <p:nvSpPr>
          <p:cNvPr id="13" name="TextBox 12"/>
          <p:cNvSpPr txBox="1"/>
          <p:nvPr/>
        </p:nvSpPr>
        <p:spPr>
          <a:xfrm>
            <a:off x="868680" y="345643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التقييم الذاتي قبل الاجتماع؛ ثم تقييم المدير والفجوة والأدلة؛ برر 1 و2 و5.</a:t>
            </a:r>
          </a:p>
        </p:txBody>
      </p:sp>
      <p:sp>
        <p:nvSpPr>
          <p:cNvPr id="14" name="Rectangle 13"/>
          <p:cNvSpPr/>
          <p:nvPr/>
        </p:nvSpPr>
        <p:spPr>
          <a:xfrm>
            <a:off x="10789920" y="438912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5" name="TextBox 14"/>
          <p:cNvSpPr txBox="1"/>
          <p:nvPr/>
        </p:nvSpPr>
        <p:spPr>
          <a:xfrm>
            <a:off x="10927080" y="449884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الأوزان</a:t>
            </a:r>
          </a:p>
        </p:txBody>
      </p:sp>
      <p:sp>
        <p:nvSpPr>
          <p:cNvPr id="16" name="TextBox 15"/>
          <p:cNvSpPr txBox="1"/>
          <p:nvPr/>
        </p:nvSpPr>
        <p:spPr>
          <a:xfrm>
            <a:off x="868680" y="446227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30% للكفاءات، و50% لمؤشرات الدور، و10% للتطوير، و10% للثقافة؛ استخدم أوصاف مقياس 1–5 المرفقة.</a:t>
            </a:r>
          </a:p>
        </p:txBody>
      </p:sp>
      <p:sp>
        <p:nvSpPr>
          <p:cNvPr id="17" name="Rectangle 16"/>
          <p:cNvSpPr/>
          <p:nvPr/>
        </p:nvSpPr>
        <p:spPr>
          <a:xfrm>
            <a:off x="10789920" y="539496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18" name="TextBox 17"/>
          <p:cNvSpPr txBox="1"/>
          <p:nvPr/>
        </p:nvSpPr>
        <p:spPr>
          <a:xfrm>
            <a:off x="10927080" y="550468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الاكتمال أولاً</a:t>
            </a:r>
          </a:p>
        </p:txBody>
      </p:sp>
      <p:sp>
        <p:nvSpPr>
          <p:cNvPr id="19" name="TextBox 18"/>
          <p:cNvSpPr txBox="1"/>
          <p:nvPr/>
        </p:nvSpPr>
        <p:spPr>
          <a:xfrm>
            <a:off x="868680" y="546811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إجماليات الفراغ المحسوب كصفر ليست تقييماً مكتملاً؛ تحقق قبل تفسير التقدير.</a:t>
            </a:r>
          </a:p>
        </p:txBody>
      </p:sp>
      <p:sp>
        <p:nvSpPr>
          <p:cNvPr id="20" name="Rectangle 19"/>
          <p:cNvSpPr/>
          <p:nvPr/>
        </p:nvSpPr>
        <p:spPr>
          <a:xfrm>
            <a:off x="10789920" y="6400800"/>
            <a:ext cx="3063240" cy="896112"/>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21" name="TextBox 20"/>
          <p:cNvSpPr txBox="1"/>
          <p:nvPr/>
        </p:nvSpPr>
        <p:spPr>
          <a:xfrm>
            <a:off x="10927080" y="6510528"/>
            <a:ext cx="2788920" cy="822960"/>
          </a:xfrm>
          <a:prstGeom prst="rect">
            <a:avLst/>
          </a:prstGeom>
          <a:noFill/>
        </p:spPr>
        <p:txBody>
          <a:bodyPr wrap="square" lIns="18288" rIns="18288" tIns="0" bIns="0">
            <a:spAutoFit/>
          </a:bodyPr>
          <a:lstStyle/>
          <a:p>
            <a:pPr algn="r" rtl="1">
              <a:spcAft>
                <a:spcPts val="600"/>
              </a:spcAft>
              <a:defRPr sz="1300" b="1">
                <a:solidFill>
                  <a:srgbClr val="FFFFFF"/>
                </a:solidFill>
                <a:latin typeface="Montserrat"/>
              </a:defRPr>
            </a:pPr>
            <a:r>
              <a:rPr sz="1600">
                <a:latin typeface="IBM Plex Sans Arabic"/>
              </a:rPr>
              <a:t>الفترة التالية</a:t>
            </a:r>
          </a:p>
        </p:txBody>
      </p:sp>
      <p:sp>
        <p:nvSpPr>
          <p:cNvPr id="22" name="TextBox 21"/>
          <p:cNvSpPr txBox="1"/>
          <p:nvPr/>
        </p:nvSpPr>
        <p:spPr>
          <a:xfrm>
            <a:off x="868680" y="6473952"/>
            <a:ext cx="9646920" cy="841248"/>
          </a:xfrm>
          <a:prstGeom prst="rect">
            <a:avLst/>
          </a:prstGeom>
          <a:noFill/>
        </p:spPr>
        <p:txBody>
          <a:bodyPr wrap="square" lIns="18288" rIns="18288" tIns="0" bIns="0">
            <a:spAutoFit/>
          </a:bodyPr>
          <a:lstStyle/>
          <a:p>
            <a:pPr algn="r" rtl="1">
              <a:spcAft>
                <a:spcPts val="600"/>
              </a:spcAft>
              <a:defRPr sz="1600" b="0">
                <a:solidFill>
                  <a:srgbClr val="202020"/>
                </a:solidFill>
                <a:latin typeface="Montserrat"/>
              </a:defRPr>
            </a:pPr>
            <a:r>
              <a:rPr sz="1600">
                <a:latin typeface="IBM Plex Sans Arabic"/>
              </a:rPr>
              <a:t>ملاحظات خاصة وأهداف SMART وتدريب؛ تابع الأهداف ربع السنوية في المراجعات الشهرية.</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sp>
        <p:nvSpPr>
          <p:cNvPr id="2" name="TextBox 1"/>
          <p:cNvSpPr txBox="1"/>
          <p:nvPr/>
        </p:nvSpPr>
        <p:spPr>
          <a:xfrm>
            <a:off x="12893040" y="274320"/>
            <a:ext cx="1097280" cy="457200"/>
          </a:xfrm>
          <a:prstGeom prst="rect">
            <a:avLst/>
          </a:prstGeom>
          <a:noFill/>
        </p:spPr>
        <p:txBody>
          <a:bodyPr wrap="square" lIns="18288" rIns="18288" tIns="0" bIns="0">
            <a:spAutoFit/>
          </a:bodyPr>
          <a:lstStyle/>
          <a:p>
            <a:pPr algn="r" rtl="1">
              <a:spcAft>
                <a:spcPts val="600"/>
              </a:spcAft>
              <a:defRPr sz="2500" b="1">
                <a:solidFill>
                  <a:srgbClr val="FFFFFF"/>
                </a:solidFill>
                <a:latin typeface="Montserrat"/>
              </a:defRPr>
            </a:pPr>
            <a:r>
              <a:rPr sz="1600">
                <a:latin typeface="IBM Plex Sans Arabic"/>
              </a:rPr>
              <a:t>PMP</a:t>
            </a:r>
          </a:p>
        </p:txBody>
      </p:sp>
      <p:sp>
        <p:nvSpPr>
          <p:cNvPr id="3" name="TextBox 2"/>
          <p:cNvSpPr txBox="1"/>
          <p:nvPr/>
        </p:nvSpPr>
        <p:spPr>
          <a:xfrm>
            <a:off x="1828800" y="365760"/>
            <a:ext cx="10972800" cy="320040"/>
          </a:xfrm>
          <a:prstGeom prst="rect">
            <a:avLst/>
          </a:prstGeom>
          <a:noFill/>
        </p:spPr>
        <p:txBody>
          <a:bodyPr wrap="square" lIns="18288" rIns="18288" tIns="0" bIns="0">
            <a:spAutoFit/>
          </a:bodyPr>
          <a:lstStyle/>
          <a:p>
            <a:pPr algn="r" rtl="1">
              <a:spcAft>
                <a:spcPts val="600"/>
              </a:spcAft>
              <a:defRPr sz="1000" b="1">
                <a:solidFill>
                  <a:srgbClr val="FFFFFF"/>
                </a:solidFill>
                <a:latin typeface="Montserrat"/>
              </a:defRPr>
            </a:pPr>
            <a:r>
              <a:rPr sz="1350">
                <a:latin typeface="IBM Plex Sans Arabic"/>
              </a:rPr>
              <a:t>مدير التسويق الجديد / تأهيل مفصل</a:t>
            </a:r>
          </a:p>
        </p:txBody>
      </p:sp>
      <p:sp>
        <p:nvSpPr>
          <p:cNvPr id="4" name="Rectangle 3"/>
          <p:cNvSpPr/>
          <p:nvPr/>
        </p:nvSpPr>
        <p:spPr>
          <a:xfrm>
            <a:off x="685800" y="896112"/>
            <a:ext cx="13258800" cy="137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rtl="1"/>
          </a:p>
        </p:txBody>
      </p:sp>
      <p:sp>
        <p:nvSpPr>
          <p:cNvPr id="5" name="TextBox 4"/>
          <p:cNvSpPr txBox="1"/>
          <p:nvPr/>
        </p:nvSpPr>
        <p:spPr>
          <a:xfrm>
            <a:off x="731520" y="1188720"/>
            <a:ext cx="13167360" cy="914400"/>
          </a:xfrm>
          <a:prstGeom prst="rect">
            <a:avLst/>
          </a:prstGeom>
          <a:noFill/>
        </p:spPr>
        <p:txBody>
          <a:bodyPr wrap="square" lIns="18288" rIns="18288" tIns="0" bIns="0">
            <a:spAutoFit/>
          </a:bodyPr>
          <a:lstStyle/>
          <a:p>
            <a:pPr algn="r" rtl="1">
              <a:spcAft>
                <a:spcPts val="600"/>
              </a:spcAft>
              <a:defRPr sz="3500" b="1">
                <a:solidFill>
                  <a:srgbClr val="FFFFFF"/>
                </a:solidFill>
                <a:latin typeface="Bebas Neue"/>
              </a:defRPr>
            </a:pPr>
            <a:r>
              <a:rPr sz="1600">
                <a:latin typeface="IBM Plex Sans Arabic"/>
              </a:rPr>
              <a:t>شغّل النظام بالأدلة والمسؤولين والقرارات</a:t>
            </a:r>
          </a:p>
        </p:txBody>
      </p:sp>
      <p:sp>
        <p:nvSpPr>
          <p:cNvPr id="6" name="TextBox 5"/>
          <p:cNvSpPr txBox="1"/>
          <p:nvPr/>
        </p:nvSpPr>
        <p:spPr>
          <a:xfrm>
            <a:off x="2011680" y="7772400"/>
            <a:ext cx="11887200" cy="274320"/>
          </a:xfrm>
          <a:prstGeom prst="rect">
            <a:avLst/>
          </a:prstGeom>
          <a:noFill/>
        </p:spPr>
        <p:txBody>
          <a:bodyPr wrap="square" lIns="18288" rIns="18288" tIns="0" bIns="0">
            <a:spAutoFit/>
          </a:bodyPr>
          <a:lstStyle/>
          <a:p>
            <a:pPr algn="r" rtl="1">
              <a:spcAft>
                <a:spcPts val="600"/>
              </a:spcAft>
              <a:defRPr sz="900" b="0">
                <a:solidFill>
                  <a:srgbClr val="FFFFFF"/>
                </a:solidFill>
                <a:latin typeface="Montserrat"/>
              </a:defRPr>
            </a:pPr>
            <a:r>
              <a:rPr sz="1100">
                <a:latin typeface="IBM Plex Sans Arabic"/>
              </a:rPr>
              <a:t>الإصدار 1.0 • الخطوات الكاملة في الدليل • الجاهزية لم تُقيّم</a:t>
            </a:r>
          </a:p>
        </p:txBody>
      </p:sp>
      <p:sp>
        <p:nvSpPr>
          <p:cNvPr id="7" name="TextBox 6"/>
          <p:cNvSpPr txBox="1"/>
          <p:nvPr/>
        </p:nvSpPr>
        <p:spPr>
          <a:xfrm>
            <a:off x="731520" y="7772400"/>
            <a:ext cx="548640" cy="274320"/>
          </a:xfrm>
          <a:prstGeom prst="rect">
            <a:avLst/>
          </a:prstGeom>
          <a:noFill/>
        </p:spPr>
        <p:txBody>
          <a:bodyPr wrap="square" lIns="18288" rIns="18288" tIns="0" bIns="0">
            <a:spAutoFit/>
          </a:bodyPr>
          <a:lstStyle/>
          <a:p>
            <a:pPr algn="r" rtl="1">
              <a:spcAft>
                <a:spcPts val="600"/>
              </a:spcAft>
              <a:defRPr sz="900" b="0">
                <a:solidFill>
                  <a:srgbClr val="FFFFFF"/>
                </a:solidFill>
                <a:latin typeface="Montserrat"/>
              </a:defRPr>
            </a:pPr>
            <a:r>
              <a:rPr sz="1100">
                <a:latin typeface="IBM Plex Sans Arabic"/>
              </a:rPr>
              <a:t>51</a:t>
            </a:r>
          </a:p>
        </p:txBody>
      </p:sp>
      <p:sp>
        <p:nvSpPr>
          <p:cNvPr id="8" name="TextBox 7"/>
          <p:cNvSpPr txBox="1"/>
          <p:nvPr/>
        </p:nvSpPr>
        <p:spPr>
          <a:xfrm>
            <a:off x="960120" y="2651760"/>
            <a:ext cx="12801600" cy="2926080"/>
          </a:xfrm>
          <a:prstGeom prst="rect">
            <a:avLst/>
          </a:prstGeom>
          <a:noFill/>
        </p:spPr>
        <p:txBody>
          <a:bodyPr wrap="square" lIns="18288" rIns="18288" tIns="0" bIns="0">
            <a:spAutoFit/>
          </a:bodyPr>
          <a:lstStyle/>
          <a:p>
            <a:pPr algn="r" rtl="1">
              <a:spcAft>
                <a:spcPts val="600"/>
              </a:spcAft>
              <a:defRPr sz="4300" b="1">
                <a:solidFill>
                  <a:srgbClr val="FFCC00"/>
                </a:solidFill>
                <a:latin typeface="Montserrat"/>
              </a:defRPr>
            </a:pPr>
            <a:r>
              <a:rPr sz="1600">
                <a:latin typeface="IBM Plex Sans Arabic"/>
              </a:rPr>
              <a:t>اعرف شرط الانتقال التالي.</a:t>
            </a:r>
          </a:p>
          <a:p>
            <a:pPr algn="r" rtl="1">
              <a:spcAft>
                <a:spcPts val="600"/>
              </a:spcAft>
              <a:defRPr sz="4300" b="1">
                <a:solidFill>
                  <a:srgbClr val="FFCC00"/>
                </a:solidFill>
                <a:latin typeface="Montserrat"/>
              </a:defRPr>
            </a:pPr>
            <a:r>
              <a:rPr sz="1600">
                <a:latin typeface="IBM Plex Sans Arabic"/>
              </a:rPr>
              <a:t>حافظ على مسؤول واحد للمهمة.</a:t>
            </a:r>
          </a:p>
          <a:p>
            <a:pPr algn="r" rtl="1">
              <a:spcAft>
                <a:spcPts val="600"/>
              </a:spcAft>
              <a:defRPr sz="4300" b="1">
                <a:solidFill>
                  <a:srgbClr val="FFCC00"/>
                </a:solidFill>
                <a:latin typeface="Montserrat"/>
              </a:defRPr>
            </a:pPr>
            <a:r>
              <a:rPr sz="1600">
                <a:latin typeface="IBM Plex Sans Arabic"/>
              </a:rPr>
              <a:t>ولا تفقد أثر الموافقات.</a:t>
            </a:r>
          </a:p>
        </p:txBody>
      </p:sp>
      <p:sp>
        <p:nvSpPr>
          <p:cNvPr id="9" name="TextBox 8"/>
          <p:cNvSpPr txBox="1"/>
          <p:nvPr/>
        </p:nvSpPr>
        <p:spPr>
          <a:xfrm>
            <a:off x="960120" y="6263640"/>
            <a:ext cx="12801600" cy="822960"/>
          </a:xfrm>
          <a:prstGeom prst="rect">
            <a:avLst/>
          </a:prstGeom>
          <a:noFill/>
        </p:spPr>
        <p:txBody>
          <a:bodyPr wrap="square" lIns="18288" rIns="18288" tIns="0" bIns="0">
            <a:spAutoFit/>
          </a:bodyPr>
          <a:lstStyle/>
          <a:p>
            <a:pPr algn="r" rtl="1">
              <a:spcAft>
                <a:spcPts val="600"/>
              </a:spcAft>
              <a:defRPr sz="2200" b="0">
                <a:solidFill>
                  <a:srgbClr val="FFFFFF"/>
                </a:solidFill>
                <a:latin typeface="Montserrat"/>
              </a:defRPr>
            </a:pPr>
            <a:r>
              <a:rPr sz="1600">
                <a:latin typeface="IBM Plex Sans Arabic"/>
              </a:rPr>
              <a:t>استخدم الدليل وتدرّب مع المقيّم وأكّد الصلاحيات قبل التشغيل الفعلي.</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