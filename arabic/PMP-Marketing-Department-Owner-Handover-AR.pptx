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FFFFFF"/>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FFFFFF"/>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FFFFFF"/>
                </a:solidFill>
                <a:latin typeface="Bebas Neue"/>
              </a:defRPr>
            </a:pPr>
            <a:r>
              <a:rPr sz="1600">
                <a:latin typeface="IBM Plex Sans Arabic"/>
              </a:rPr>
              <a:t>قسم التسويق</a:t>
            </a:r>
          </a:p>
          <a:p>
            <a:pPr algn="r" rtl="1">
              <a:spcAft>
                <a:spcPts val="800"/>
              </a:spcAft>
              <a:defRPr sz="3800" b="1">
                <a:solidFill>
                  <a:srgbClr val="FFFFFF"/>
                </a:solidFill>
                <a:latin typeface="Bebas Neue"/>
              </a:defRPr>
            </a:pPr>
            <a:r>
              <a:rPr sz="1600">
                <a:latin typeface="IBM Plex Sans Arabic"/>
              </a:rPr>
              <a:t>نظام التشغيل وإجراءات العمل</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FFFFFF"/>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FFFFFF"/>
                </a:solidFill>
                <a:latin typeface="Montserrat"/>
              </a:defRPr>
            </a:pPr>
            <a:r>
              <a:rPr sz="950">
                <a:latin typeface="IBM Plex Sans Arabic"/>
              </a:rPr>
              <a:t>01</a:t>
            </a:r>
          </a:p>
        </p:txBody>
      </p:sp>
      <p:sp>
        <p:nvSpPr>
          <p:cNvPr id="8" name="TextBox 7"/>
          <p:cNvSpPr txBox="1"/>
          <p:nvPr/>
        </p:nvSpPr>
        <p:spPr>
          <a:xfrm>
            <a:off x="2880360" y="3383280"/>
            <a:ext cx="10972800" cy="822960"/>
          </a:xfrm>
          <a:prstGeom prst="rect">
            <a:avLst/>
          </a:prstGeom>
          <a:noFill/>
        </p:spPr>
        <p:txBody>
          <a:bodyPr wrap="square" lIns="18288" rIns="18288" tIns="0" bIns="0">
            <a:spAutoFit/>
          </a:bodyPr>
          <a:lstStyle/>
          <a:p>
            <a:pPr algn="r" rtl="1">
              <a:spcAft>
                <a:spcPts val="800"/>
              </a:spcAft>
              <a:defRPr sz="4200" b="1">
                <a:solidFill>
                  <a:srgbClr val="FFCC00"/>
                </a:solidFill>
                <a:latin typeface="Montserrat"/>
              </a:defRPr>
            </a:pPr>
            <a:r>
              <a:rPr sz="1600">
                <a:latin typeface="IBM Plex Sans Arabic"/>
              </a:rPr>
              <a:t>تسليم المالك</a:t>
            </a:r>
          </a:p>
        </p:txBody>
      </p:sp>
      <p:sp>
        <p:nvSpPr>
          <p:cNvPr id="9" name="TextBox 8"/>
          <p:cNvSpPr txBox="1"/>
          <p:nvPr/>
        </p:nvSpPr>
        <p:spPr>
          <a:xfrm>
            <a:off x="1234440" y="4663440"/>
            <a:ext cx="12618720" cy="1554480"/>
          </a:xfrm>
          <a:prstGeom prst="rect">
            <a:avLst/>
          </a:prstGeom>
          <a:noFill/>
        </p:spPr>
        <p:txBody>
          <a:bodyPr wrap="square" lIns="18288" rIns="18288" tIns="0" bIns="0">
            <a:spAutoFit/>
          </a:bodyPr>
          <a:lstStyle/>
          <a:p>
            <a:pPr algn="r" rtl="1">
              <a:spcAft>
                <a:spcPts val="800"/>
              </a:spcAft>
              <a:defRPr sz="2700" b="0">
                <a:solidFill>
                  <a:srgbClr val="FFFFFF"/>
                </a:solidFill>
                <a:latin typeface="Montserrat"/>
              </a:defRPr>
            </a:pPr>
            <a:r>
              <a:rPr sz="1600">
                <a:latin typeface="IBM Plex Sans Arabic"/>
              </a:rPr>
              <a:t>كيف نستقطب العملاء وننظم العمل اليومي ونراجع الجودة،</a:t>
            </a:r>
          </a:p>
          <a:p>
            <a:pPr algn="r" rtl="1">
              <a:spcAft>
                <a:spcPts val="800"/>
              </a:spcAft>
              <a:defRPr sz="2700" b="0">
                <a:solidFill>
                  <a:srgbClr val="FFFFFF"/>
                </a:solidFill>
                <a:latin typeface="Montserrat"/>
              </a:defRPr>
            </a:pPr>
            <a:r>
              <a:rPr sz="1600">
                <a:latin typeface="IBM Plex Sans Arabic"/>
              </a:rPr>
              <a:t>ونحصل على الموافقات وننفذ الحملات.</a:t>
            </a:r>
          </a:p>
        </p:txBody>
      </p:sp>
      <p:sp>
        <p:nvSpPr>
          <p:cNvPr id="10" name="TextBox 9"/>
          <p:cNvSpPr txBox="1"/>
          <p:nvPr/>
        </p:nvSpPr>
        <p:spPr>
          <a:xfrm>
            <a:off x="1508760" y="6629400"/>
            <a:ext cx="12344400" cy="411480"/>
          </a:xfrm>
          <a:prstGeom prst="rect">
            <a:avLst/>
          </a:prstGeom>
          <a:noFill/>
        </p:spPr>
        <p:txBody>
          <a:bodyPr wrap="square" lIns="18288" rIns="18288" tIns="0" bIns="0">
            <a:spAutoFit/>
          </a:bodyPr>
          <a:lstStyle/>
          <a:p>
            <a:pPr algn="r" rtl="1">
              <a:spcAft>
                <a:spcPts val="800"/>
              </a:spcAft>
              <a:defRPr sz="1500" b="0">
                <a:solidFill>
                  <a:srgbClr val="FFFFFF"/>
                </a:solidFill>
                <a:latin typeface="Montserrat"/>
              </a:defRPr>
            </a:pPr>
            <a:r>
              <a:rPr sz="1600">
                <a:latin typeface="IBM Plex Sans Arabic"/>
              </a:rPr>
              <a:t>دليل تشغيل قابل للتعديل وعرض مختصر | 30 أكتوبر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ماذا يتسلم المالك؟</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02</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مخطط التشغيل</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العملية الكاملة والأدوار والأدوات والتسليمات والضوابط.</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إجراءات العمل اليومية</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12 إجراءً بشروط البدء والمدخلات والخطوات والمخرجات والاعتمادات والسجلات.</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قائمة التسليم</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الصلاحيات والعمل المفتوح وحالة العملاء والبديل والقبول تحتاج إلى تحقق فعلي.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الرحلة الكاملة / من الفرصة إلى النتائج</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03</a:t>
            </a:r>
          </a:p>
        </p:txBody>
      </p:sp>
      <p:sp>
        <p:nvSpPr>
          <p:cNvPr id="8" name="Rectangle 7"/>
          <p:cNvSpPr/>
          <p:nvPr/>
        </p:nvSpPr>
        <p:spPr>
          <a:xfrm>
            <a:off x="10515600" y="233172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01 / الاستقطاب</a:t>
            </a:r>
          </a:p>
        </p:txBody>
      </p:sp>
      <p:sp>
        <p:nvSpPr>
          <p:cNvPr id="10" name="TextBox 9"/>
          <p:cNvSpPr txBox="1"/>
          <p:nvPr/>
        </p:nvSpPr>
        <p:spPr>
          <a:xfrm>
            <a:off x="777240" y="2423160"/>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يبحث المبيعات/التطوير ويتواصل ويعد التدقيق والمقترح، بمشاركة الحساب.</a:t>
            </a:r>
          </a:p>
        </p:txBody>
      </p:sp>
      <p:sp>
        <p:nvSpPr>
          <p:cNvPr id="11" name="Rectangle 10"/>
          <p:cNvSpPr/>
          <p:nvPr/>
        </p:nvSpPr>
        <p:spPr>
          <a:xfrm>
            <a:off x="10515600" y="318515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33146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02 / المواءمة والتوقيع</a:t>
            </a:r>
          </a:p>
        </p:txBody>
      </p:sp>
      <p:sp>
        <p:nvSpPr>
          <p:cNvPr id="13" name="TextBox 12"/>
          <p:cNvSpPr txBox="1"/>
          <p:nvPr/>
        </p:nvSpPr>
        <p:spPr>
          <a:xfrm>
            <a:off x="777240" y="327659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اجتماع أول ← استعداد للتوقيع ← استراتيجية فعلية بالفريق الرباعي ← حزمة موقعة.</a:t>
            </a:r>
          </a:p>
        </p:txBody>
      </p:sp>
      <p:sp>
        <p:nvSpPr>
          <p:cNvPr id="14" name="Rectangle 13"/>
          <p:cNvSpPr/>
          <p:nvPr/>
        </p:nvSpPr>
        <p:spPr>
          <a:xfrm>
            <a:off x="10515600" y="403859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184903"/>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03 / التفعيل</a:t>
            </a:r>
          </a:p>
        </p:txBody>
      </p:sp>
      <p:sp>
        <p:nvSpPr>
          <p:cNvPr id="16" name="TextBox 15"/>
          <p:cNvSpPr txBox="1"/>
          <p:nvPr/>
        </p:nvSpPr>
        <p:spPr>
          <a:xfrm>
            <a:off x="777240" y="413003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التوقيع ينقل المجلد؛ والتحقق من الدفعة يتيح التنفيذ المتعاقد عليه.</a:t>
            </a:r>
          </a:p>
        </p:txBody>
      </p:sp>
      <p:sp>
        <p:nvSpPr>
          <p:cNvPr id="17" name="Rectangle 16"/>
          <p:cNvSpPr/>
          <p:nvPr/>
        </p:nvSpPr>
        <p:spPr>
          <a:xfrm>
            <a:off x="10515600" y="489204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03834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04 / الإنتاج</a:t>
            </a:r>
          </a:p>
        </p:txBody>
      </p:sp>
      <p:sp>
        <p:nvSpPr>
          <p:cNvPr id="19" name="TextBox 18"/>
          <p:cNvSpPr txBox="1"/>
          <p:nvPr/>
        </p:nvSpPr>
        <p:spPr>
          <a:xfrm>
            <a:off x="777240" y="498347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يكتب الحساب الموجز ويوزع؛ ينفّذ أصحاب المهام ويراجع الرؤساء والتسويق.</a:t>
            </a:r>
          </a:p>
        </p:txBody>
      </p:sp>
      <p:sp>
        <p:nvSpPr>
          <p:cNvPr id="20" name="Rectangle 19"/>
          <p:cNvSpPr/>
          <p:nvPr/>
        </p:nvSpPr>
        <p:spPr>
          <a:xfrm>
            <a:off x="10515600" y="574548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589178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05 / الاعتماد والإطلاق</a:t>
            </a:r>
          </a:p>
        </p:txBody>
      </p:sp>
      <p:sp>
        <p:nvSpPr>
          <p:cNvPr id="22" name="TextBox 21"/>
          <p:cNvSpPr txBox="1"/>
          <p:nvPr/>
        </p:nvSpPr>
        <p:spPr>
          <a:xfrm>
            <a:off x="777240" y="5836920"/>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اعتماد التسويق ← عرض موحد للحساب ← موافقة العميل ← أرشفة وجدولة ونشر.</a:t>
            </a:r>
          </a:p>
        </p:txBody>
      </p:sp>
      <p:sp>
        <p:nvSpPr>
          <p:cNvPr id="23" name="Rectangle 22"/>
          <p:cNvSpPr/>
          <p:nvPr/>
        </p:nvSpPr>
        <p:spPr>
          <a:xfrm>
            <a:off x="10515600" y="659891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4" name="TextBox 23"/>
          <p:cNvSpPr txBox="1"/>
          <p:nvPr/>
        </p:nvSpPr>
        <p:spPr>
          <a:xfrm>
            <a:off x="10680192" y="6745223"/>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06 / التعلم</a:t>
            </a:r>
          </a:p>
        </p:txBody>
      </p:sp>
      <p:sp>
        <p:nvSpPr>
          <p:cNvPr id="25" name="TextBox 24"/>
          <p:cNvSpPr txBox="1"/>
          <p:nvPr/>
        </p:nvSpPr>
        <p:spPr>
          <a:xfrm>
            <a:off x="777240" y="669035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تقارير الأداء والاستماع وأدلة الإنفاق وخطوات الدورة التالية.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ثلاث محطات لا يجوز دمجها</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04</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الاستعداد للتوقيع</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فقط الآن يبدأ الحساب الاستراتيجية الفعلية مع التواصل والتسويق والإعلانات بعد الاجتماع الأول.</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العقد موقّع</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انقل مجلد العميل نفسه خارج Quotations مستقلًا، واحتفظ بسجلاته.</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التحقق من السداد</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ابدأ التنفيذ بعد تأكيد الدفعة المطلوبة والحزمة الموقعة فقط.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الاستقطاب / قيادة المبيعات والتطوير ومشاركة الحساب</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05</a:t>
            </a:r>
          </a:p>
        </p:txBody>
      </p:sp>
      <p:sp>
        <p:nvSpPr>
          <p:cNvPr id="8" name="Rectangle 7"/>
          <p:cNvSpPr/>
          <p:nvPr/>
        </p:nvSpPr>
        <p:spPr>
          <a:xfrm>
            <a:off x="10515600" y="233172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التواصل الاستباقي</a:t>
            </a:r>
          </a:p>
        </p:txBody>
      </p:sp>
      <p:sp>
        <p:nvSpPr>
          <p:cNvPr id="10" name="TextBox 9"/>
          <p:cNvSpPr txBox="1"/>
          <p:nvPr/>
        </p:nvSpPr>
        <p:spPr>
          <a:xfrm>
            <a:off x="777240" y="242316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زيارات واتصالات مبنية على بحث وLinkedIn والبريد ومتابعة عملاء إعلانات PMP.</a:t>
            </a:r>
          </a:p>
        </p:txBody>
      </p:sp>
      <p:sp>
        <p:nvSpPr>
          <p:cNvPr id="11" name="Rectangle 10"/>
          <p:cNvSpPr/>
          <p:nvPr/>
        </p:nvSpPr>
        <p:spPr>
          <a:xfrm>
            <a:off x="10515600" y="333756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48386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إعداد الاجتماع</a:t>
            </a:r>
          </a:p>
        </p:txBody>
      </p:sp>
      <p:sp>
        <p:nvSpPr>
          <p:cNvPr id="13" name="TextBox 12"/>
          <p:cNvSpPr txBox="1"/>
          <p:nvPr/>
        </p:nvSpPr>
        <p:spPr>
          <a:xfrm>
            <a:off x="777240" y="342900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تدقيق SSM ← استراتيجية أولية ← ثلاث باقات سعرية؛ وادرس المشكلات والحلول.</a:t>
            </a:r>
          </a:p>
        </p:txBody>
      </p:sp>
      <p:sp>
        <p:nvSpPr>
          <p:cNvPr id="14" name="Rectangle 13"/>
          <p:cNvSpPr/>
          <p:nvPr/>
        </p:nvSpPr>
        <p:spPr>
          <a:xfrm>
            <a:off x="10515600" y="434340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48970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الاجتماع الأول</a:t>
            </a:r>
          </a:p>
        </p:txBody>
      </p:sp>
      <p:sp>
        <p:nvSpPr>
          <p:cNvPr id="16" name="TextBox 15"/>
          <p:cNvSpPr txBox="1"/>
          <p:nvPr/>
        </p:nvSpPr>
        <p:spPr>
          <a:xfrm>
            <a:off x="777240" y="443484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عرض حضوري/عن بُعد، وتوثيق موجز العميل والاستعداد للتوقيع.</a:t>
            </a:r>
          </a:p>
        </p:txBody>
      </p:sp>
      <p:sp>
        <p:nvSpPr>
          <p:cNvPr id="17" name="Rectangle 16"/>
          <p:cNvSpPr/>
          <p:nvPr/>
        </p:nvSpPr>
        <p:spPr>
          <a:xfrm>
            <a:off x="10515600" y="534924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49554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الاستراتيجية الفعلية</a:t>
            </a:r>
          </a:p>
        </p:txBody>
      </p:sp>
      <p:sp>
        <p:nvSpPr>
          <p:cNvPr id="19" name="TextBox 18"/>
          <p:cNvSpPr txBox="1"/>
          <p:nvPr/>
        </p:nvSpPr>
        <p:spPr>
          <a:xfrm>
            <a:off x="777240" y="5440679"/>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عند الاستعداد فقط: يقارن الحساب المقترح والموجز ويعمل مع الفريق الرباعي.</a:t>
            </a:r>
          </a:p>
        </p:txBody>
      </p:sp>
      <p:sp>
        <p:nvSpPr>
          <p:cNvPr id="20" name="Rectangle 19"/>
          <p:cNvSpPr/>
          <p:nvPr/>
        </p:nvSpPr>
        <p:spPr>
          <a:xfrm>
            <a:off x="10515600" y="635508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650138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الاجتماع الثاني</a:t>
            </a:r>
          </a:p>
        </p:txBody>
      </p:sp>
      <p:sp>
        <p:nvSpPr>
          <p:cNvPr id="22" name="TextBox 21"/>
          <p:cNvSpPr txBox="1"/>
          <p:nvPr/>
        </p:nvSpPr>
        <p:spPr>
          <a:xfrm>
            <a:off x="777240" y="644652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الموجز والاستراتيجية الفعلية والسعر المتفق عليه والعقد مطبوعة؛ يوقع العميل الأربعة.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الشروط التجارية لبدء التنفيذ</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06</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إدارة التواصل فقط</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100% من قيمة العقد قبل بدء التنفيذ المتعاقد عليه.</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العقد يشمل خدمات أخرى</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50% على الأقل من قيمة العقد قبل بدء التنفيذ المتعاقد عليه.</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أتعاب الإعلان بعد التنفيذ</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25% من المصروفات الفعلية؛ أساسها والضرائب والفوترة وفق الاتفاق.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الأدوات / لكل سجل مكان</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07</a:t>
            </a:r>
          </a:p>
        </p:txBody>
      </p:sp>
      <p:sp>
        <p:nvSpPr>
          <p:cNvPr id="8" name="Rectangle 7"/>
          <p:cNvSpPr/>
          <p:nvPr/>
        </p:nvSpPr>
        <p:spPr>
          <a:xfrm>
            <a:off x="10515600" y="233172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WhatsApp</a:t>
            </a:r>
          </a:p>
        </p:txBody>
      </p:sp>
      <p:sp>
        <p:nvSpPr>
          <p:cNvPr id="10" name="TextBox 9"/>
          <p:cNvSpPr txBox="1"/>
          <p:nvPr/>
        </p:nvSpPr>
        <p:spPr>
          <a:xfrm>
            <a:off x="777240" y="2423160"/>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مجموعة الحساب مع العميل ومالك PMP والتسويق وأصحاب المصلحة.</a:t>
            </a:r>
          </a:p>
        </p:txBody>
      </p:sp>
      <p:sp>
        <p:nvSpPr>
          <p:cNvPr id="11" name="Rectangle 10"/>
          <p:cNvSpPr/>
          <p:nvPr/>
        </p:nvSpPr>
        <p:spPr>
          <a:xfrm>
            <a:off x="10515600" y="318515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33146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شيت المهام</a:t>
            </a:r>
          </a:p>
        </p:txBody>
      </p:sp>
      <p:sp>
        <p:nvSpPr>
          <p:cNvPr id="13" name="TextBox 12"/>
          <p:cNvSpPr txBox="1"/>
          <p:nvPr/>
        </p:nvSpPr>
        <p:spPr>
          <a:xfrm>
            <a:off x="777240" y="327659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المرحلة والمنفذ والأولوية والتواريخ وروابط المخرجات وملاحظات المراجع والمنفذ.</a:t>
            </a:r>
          </a:p>
        </p:txBody>
      </p:sp>
      <p:sp>
        <p:nvSpPr>
          <p:cNvPr id="14" name="Rectangle 13"/>
          <p:cNvSpPr/>
          <p:nvPr/>
        </p:nvSpPr>
        <p:spPr>
          <a:xfrm>
            <a:off x="10515600" y="403859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184903"/>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Drive</a:t>
            </a:r>
          </a:p>
        </p:txBody>
      </p:sp>
      <p:sp>
        <p:nvSpPr>
          <p:cNvPr id="16" name="TextBox 15"/>
          <p:cNvSpPr txBox="1"/>
          <p:nvPr/>
        </p:nvSpPr>
        <p:spPr>
          <a:xfrm>
            <a:off x="777240" y="413003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Quotations قبل التوقيع، ومجلد مستقل بعده، ومجلدات إنتاج شهرية.</a:t>
            </a:r>
          </a:p>
        </p:txBody>
      </p:sp>
      <p:sp>
        <p:nvSpPr>
          <p:cNvPr id="17" name="Rectangle 16"/>
          <p:cNvSpPr/>
          <p:nvPr/>
        </p:nvSpPr>
        <p:spPr>
          <a:xfrm>
            <a:off x="10515600" y="489204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03834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خطة المحتوى</a:t>
            </a:r>
          </a:p>
        </p:txBody>
      </p:sp>
      <p:sp>
        <p:nvSpPr>
          <p:cNvPr id="19" name="TextBox 18"/>
          <p:cNvSpPr txBox="1"/>
          <p:nvPr/>
        </p:nvSpPr>
        <p:spPr>
          <a:xfrm>
            <a:off x="777240" y="498347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PPTX عمل على Drive؛ تبقى تعليقات المراجعة على الخطة نفسها.</a:t>
            </a:r>
          </a:p>
        </p:txBody>
      </p:sp>
      <p:sp>
        <p:nvSpPr>
          <p:cNvPr id="20" name="Rectangle 19"/>
          <p:cNvSpPr/>
          <p:nvPr/>
        </p:nvSpPr>
        <p:spPr>
          <a:xfrm>
            <a:off x="10515600" y="574548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589178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عرض العميل</a:t>
            </a:r>
          </a:p>
        </p:txBody>
      </p:sp>
      <p:sp>
        <p:nvSpPr>
          <p:cNvPr id="22" name="TextBox 21"/>
          <p:cNvSpPr txBox="1"/>
          <p:nvPr/>
        </p:nvSpPr>
        <p:spPr>
          <a:xfrm>
            <a:off x="777240" y="5836920"/>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يجمع الحساب العمل في PPTX واحد؛ تشير الموافقة إلى النسخة المعروضة.</a:t>
            </a:r>
          </a:p>
        </p:txBody>
      </p:sp>
      <p:sp>
        <p:nvSpPr>
          <p:cNvPr id="23" name="Rectangle 22"/>
          <p:cNvSpPr/>
          <p:nvPr/>
        </p:nvSpPr>
        <p:spPr>
          <a:xfrm>
            <a:off x="10515600" y="659891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4" name="TextBox 23"/>
          <p:cNvSpPr txBox="1"/>
          <p:nvPr/>
        </p:nvSpPr>
        <p:spPr>
          <a:xfrm>
            <a:off x="10680192" y="6745223"/>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الموقع التجريبي</a:t>
            </a:r>
          </a:p>
        </p:txBody>
      </p:sp>
      <p:sp>
        <p:nvSpPr>
          <p:cNvPr id="25" name="TextBox 24"/>
          <p:cNvSpPr txBox="1"/>
          <p:nvPr/>
        </p:nvSpPr>
        <p:spPr>
          <a:xfrm>
            <a:off x="777240" y="669035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تدريب ومرجع فقط؛ لا تحقق مالي أو بيانات مشتركة أو نشر أو أتمتة Drive فعلية.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مدير الحساب / منسق التنفيذ</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08</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قبل البيع</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يشارك في الإعداد والاجتماعات، ويوثق الموجز ويقود تنسيق الاستراتيجية المشروطة بالاستعداد.</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أثناء الإنتاج</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يكتب الموجز ويوزع المهام ويتابع المواعيد والمدخلات والتعليقات.</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عند مراجعة العميل</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يجمع المنتهي في PPTX واحد ويعرضه ويوثق القرار ويعيد المرفوض.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من يفعل ماذا؟ / علاقات الفرق</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09</a:t>
            </a:r>
          </a:p>
        </p:txBody>
      </p:sp>
      <p:sp>
        <p:nvSpPr>
          <p:cNvPr id="8" name="Rectangle 7"/>
          <p:cNvSpPr/>
          <p:nvPr/>
        </p:nvSpPr>
        <p:spPr>
          <a:xfrm>
            <a:off x="10515600" y="233172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القيادة والنمو</a:t>
            </a:r>
          </a:p>
        </p:txBody>
      </p:sp>
      <p:sp>
        <p:nvSpPr>
          <p:cNvPr id="10" name="TextBox 9"/>
          <p:cNvSpPr txBox="1"/>
          <p:nvPr/>
        </p:nvSpPr>
        <p:spPr>
          <a:xfrm>
            <a:off x="777240" y="2423160"/>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التسويق: الاستراتيجية والاعتماد وجودة الفيديو. المبيعات/التطوير: الاستقطاب والمواد التجارية.</a:t>
            </a:r>
          </a:p>
        </p:txBody>
      </p:sp>
      <p:sp>
        <p:nvSpPr>
          <p:cNvPr id="11" name="Rectangle 10"/>
          <p:cNvSpPr/>
          <p:nvPr/>
        </p:nvSpPr>
        <p:spPr>
          <a:xfrm>
            <a:off x="10515600" y="318515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33146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الحسابات</a:t>
            </a:r>
          </a:p>
        </p:txBody>
      </p:sp>
      <p:sp>
        <p:nvSpPr>
          <p:cNvPr id="13" name="TextBox 12"/>
          <p:cNvSpPr txBox="1"/>
          <p:nvPr/>
        </p:nvSpPr>
        <p:spPr>
          <a:xfrm>
            <a:off x="777240" y="327659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ينسق مدير الحساب المشروع بين الفرق؛ ولا يكتسب بذلك سلطة إدارة مباشرة.</a:t>
            </a:r>
          </a:p>
        </p:txBody>
      </p:sp>
      <p:sp>
        <p:nvSpPr>
          <p:cNvPr id="14" name="Rectangle 13"/>
          <p:cNvSpPr/>
          <p:nvPr/>
        </p:nvSpPr>
        <p:spPr>
          <a:xfrm>
            <a:off x="10515600" y="403859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184903"/>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المحتوى</a:t>
            </a:r>
          </a:p>
        </p:txBody>
      </p:sp>
      <p:sp>
        <p:nvSpPr>
          <p:cNvPr id="16" name="TextBox 15"/>
          <p:cNvSpPr txBox="1"/>
          <p:nvPr/>
        </p:nvSpPr>
        <p:spPr>
          <a:xfrm>
            <a:off x="777240" y="413003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رئيس المحتوى والكاتبان: إنتاج النصوص والخطط وتسليمها ومراجعة جودتها.</a:t>
            </a:r>
          </a:p>
        </p:txBody>
      </p:sp>
      <p:sp>
        <p:nvSpPr>
          <p:cNvPr id="17" name="Rectangle 16"/>
          <p:cNvSpPr/>
          <p:nvPr/>
        </p:nvSpPr>
        <p:spPr>
          <a:xfrm>
            <a:off x="10515600" y="489204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03834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التصميم</a:t>
            </a:r>
          </a:p>
        </p:txBody>
      </p:sp>
      <p:sp>
        <p:nvSpPr>
          <p:cNvPr id="19" name="TextBox 18"/>
          <p:cNvSpPr txBox="1"/>
          <p:nvPr/>
        </p:nvSpPr>
        <p:spPr>
          <a:xfrm>
            <a:off x="777240" y="498347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رئيس التصميم والمصممان: إنتاج التصميمات وتصحيحها ومراجعة جودتها.</a:t>
            </a:r>
          </a:p>
        </p:txBody>
      </p:sp>
      <p:sp>
        <p:nvSpPr>
          <p:cNvPr id="20" name="Rectangle 19"/>
          <p:cNvSpPr/>
          <p:nvPr/>
        </p:nvSpPr>
        <p:spPr>
          <a:xfrm>
            <a:off x="10515600" y="574548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589178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الفيديو</a:t>
            </a:r>
          </a:p>
        </p:txBody>
      </p:sp>
      <p:sp>
        <p:nvSpPr>
          <p:cNvPr id="22" name="TextBox 21"/>
          <p:cNvSpPr txBox="1"/>
          <p:nvPr/>
        </p:nvSpPr>
        <p:spPr>
          <a:xfrm>
            <a:off x="777240" y="5836920"/>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يتبع محررا الفيديو مدير التسويق مباشرة؛ وهو مراجع جودتهما وصاحب الاعتماد الداخلي.</a:t>
            </a:r>
          </a:p>
        </p:txBody>
      </p:sp>
      <p:sp>
        <p:nvSpPr>
          <p:cNvPr id="23" name="Rectangle 22"/>
          <p:cNvSpPr/>
          <p:nvPr/>
        </p:nvSpPr>
        <p:spPr>
          <a:xfrm>
            <a:off x="10515600" y="659891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4" name="TextBox 23"/>
          <p:cNvSpPr txBox="1"/>
          <p:nvPr/>
        </p:nvSpPr>
        <p:spPr>
          <a:xfrm>
            <a:off x="10680192" y="6745223"/>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التوزيع</a:t>
            </a:r>
          </a:p>
        </p:txBody>
      </p:sp>
      <p:sp>
        <p:nvSpPr>
          <p:cNvPr id="25" name="TextBox 24"/>
          <p:cNvSpPr txBox="1"/>
          <p:nvPr/>
        </p:nvSpPr>
        <p:spPr>
          <a:xfrm>
            <a:off x="777240" y="669035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التواصل: الخطط والاستراتيجية والتقارير والمجتمع والنشر. الإعلانات: الاستراتيجية الفعلية والتنفيذ المدفوع.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إنشاء المهمة / اجعل المسؤولية قابلة للتتبع</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10</a:t>
            </a:r>
          </a:p>
        </p:txBody>
      </p:sp>
      <p:sp>
        <p:nvSpPr>
          <p:cNvPr id="8" name="Rectangle 7"/>
          <p:cNvSpPr/>
          <p:nvPr/>
        </p:nvSpPr>
        <p:spPr>
          <a:xfrm>
            <a:off x="10515600" y="233172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قبل التكليف</a:t>
            </a:r>
          </a:p>
        </p:txBody>
      </p:sp>
      <p:sp>
        <p:nvSpPr>
          <p:cNvPr id="10" name="TextBox 9"/>
          <p:cNvSpPr txBox="1"/>
          <p:nvPr/>
        </p:nvSpPr>
        <p:spPr>
          <a:xfrm>
            <a:off x="777240" y="242316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موجز ونطاق ومدخلات متاحة؛ وحزمة موقعة وسداد مطلوب مؤكد.</a:t>
            </a:r>
          </a:p>
        </p:txBody>
      </p:sp>
      <p:sp>
        <p:nvSpPr>
          <p:cNvPr id="11" name="Rectangle 10"/>
          <p:cNvSpPr/>
          <p:nvPr/>
        </p:nvSpPr>
        <p:spPr>
          <a:xfrm>
            <a:off x="10515600" y="333756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48386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مسؤول واحد عن التنفيذ</a:t>
            </a:r>
          </a:p>
        </p:txBody>
      </p:sp>
      <p:sp>
        <p:nvSpPr>
          <p:cNvPr id="13" name="TextBox 12"/>
          <p:cNvSpPr txBox="1"/>
          <p:nvPr/>
        </p:nvSpPr>
        <p:spPr>
          <a:xfrm>
            <a:off x="777240" y="342900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رقم المهمة والحساب والموجز والأولوية والموعد والمخرج ومرجعه.</a:t>
            </a:r>
          </a:p>
        </p:txBody>
      </p:sp>
      <p:sp>
        <p:nvSpPr>
          <p:cNvPr id="14" name="Rectangle 13"/>
          <p:cNvSpPr/>
          <p:nvPr/>
        </p:nvSpPr>
        <p:spPr>
          <a:xfrm>
            <a:off x="10515600" y="434340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48970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أثناء التنفيذ</a:t>
            </a:r>
          </a:p>
        </p:txBody>
      </p:sp>
      <p:sp>
        <p:nvSpPr>
          <p:cNvPr id="16" name="TextBox 15"/>
          <p:cNvSpPr txBox="1"/>
          <p:nvPr/>
        </p:nvSpPr>
        <p:spPr>
          <a:xfrm>
            <a:off x="777240" y="443484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حدّث المواعيد والمرحلة والمعوقات والرابط وملاحظات المنفذ.</a:t>
            </a:r>
          </a:p>
        </p:txBody>
      </p:sp>
      <p:sp>
        <p:nvSpPr>
          <p:cNvPr id="17" name="Rectangle 16"/>
          <p:cNvSpPr/>
          <p:nvPr/>
        </p:nvSpPr>
        <p:spPr>
          <a:xfrm>
            <a:off x="10515600" y="534924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49554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قبل التسليم</a:t>
            </a:r>
          </a:p>
        </p:txBody>
      </p:sp>
      <p:sp>
        <p:nvSpPr>
          <p:cNvPr id="19" name="TextBox 18"/>
          <p:cNvSpPr txBox="1"/>
          <p:nvPr/>
        </p:nvSpPr>
        <p:spPr>
          <a:xfrm>
            <a:off x="777240" y="5440679"/>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تحقق من الاكتمال وأحل العمل للمراجع المحدد؛ الملف المنتهي ليس معتمدًا بالافتراض.</a:t>
            </a:r>
          </a:p>
        </p:txBody>
      </p:sp>
      <p:sp>
        <p:nvSpPr>
          <p:cNvPr id="20" name="Rectangle 19"/>
          <p:cNvSpPr/>
          <p:nvPr/>
        </p:nvSpPr>
        <p:spPr>
          <a:xfrm>
            <a:off x="10515600" y="635508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650138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متابعة الحساب</a:t>
            </a:r>
          </a:p>
        </p:txBody>
      </p:sp>
      <p:sp>
        <p:nvSpPr>
          <p:cNvPr id="22" name="TextBox 21"/>
          <p:cNvSpPr txBox="1"/>
          <p:nvPr/>
        </p:nvSpPr>
        <p:spPr>
          <a:xfrm>
            <a:off x="777240" y="644652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تتبّع المدخلات والمراجعات وقرارات العميل والمرحّل. مدد الخدمة غير مؤكدة.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التسليم / اختلاف المحتوى عن المواد الإبداعية</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11</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ملف المحتوى قيد العمل</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سلّم على الشيت وارفع الخطة الشهرية إلى Drive؛ وتلقَّ ونفّذ التعليقات على الخطة نفسها.</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مراجعة التصميم والفيديو</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حدّث الشيت والمراجع. مكان المسودات لم يؤكد؛ لا تخترعه.</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الأرشيف الإبداعي النهائي</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المجلدات الشهرية للتصميم والفيديو تحتوي النهائي المعتمد داخليًا ومن العميل فقط.</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سلسلة الاعتماد / دون تجاوز المستويات</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12</a:t>
            </a:r>
          </a:p>
        </p:txBody>
      </p:sp>
      <p:sp>
        <p:nvSpPr>
          <p:cNvPr id="8" name="Rectangle 7"/>
          <p:cNvSpPr/>
          <p:nvPr/>
        </p:nvSpPr>
        <p:spPr>
          <a:xfrm>
            <a:off x="10515600" y="233172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جودة المحتوى</a:t>
            </a:r>
          </a:p>
        </p:txBody>
      </p:sp>
      <p:sp>
        <p:nvSpPr>
          <p:cNvPr id="10" name="TextBox 9"/>
          <p:cNvSpPr txBox="1"/>
          <p:nvPr/>
        </p:nvSpPr>
        <p:spPr>
          <a:xfrm>
            <a:off x="777240" y="2423160"/>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يراجع رئيس المحتوى مخرجات الكتّاب.</a:t>
            </a:r>
          </a:p>
        </p:txBody>
      </p:sp>
      <p:sp>
        <p:nvSpPr>
          <p:cNvPr id="11" name="Rectangle 10"/>
          <p:cNvSpPr/>
          <p:nvPr/>
        </p:nvSpPr>
        <p:spPr>
          <a:xfrm>
            <a:off x="10515600" y="318515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33146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جودة التصميم</a:t>
            </a:r>
          </a:p>
        </p:txBody>
      </p:sp>
      <p:sp>
        <p:nvSpPr>
          <p:cNvPr id="13" name="TextBox 12"/>
          <p:cNvSpPr txBox="1"/>
          <p:nvPr/>
        </p:nvSpPr>
        <p:spPr>
          <a:xfrm>
            <a:off x="777240" y="327659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يراجع رئيس التصميم مخرجات المصممين 1 و2.</a:t>
            </a:r>
          </a:p>
        </p:txBody>
      </p:sp>
      <p:sp>
        <p:nvSpPr>
          <p:cNvPr id="14" name="Rectangle 13"/>
          <p:cNvSpPr/>
          <p:nvPr/>
        </p:nvSpPr>
        <p:spPr>
          <a:xfrm>
            <a:off x="10515600" y="403859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184903"/>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جودة الفيديو</a:t>
            </a:r>
          </a:p>
        </p:txBody>
      </p:sp>
      <p:sp>
        <p:nvSpPr>
          <p:cNvPr id="16" name="TextBox 15"/>
          <p:cNvSpPr txBox="1"/>
          <p:nvPr/>
        </p:nvSpPr>
        <p:spPr>
          <a:xfrm>
            <a:off x="777240" y="413003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يراجع مدير التسويق مخرجات المحررين 1 و2.</a:t>
            </a:r>
          </a:p>
        </p:txBody>
      </p:sp>
      <p:sp>
        <p:nvSpPr>
          <p:cNvPr id="17" name="Rectangle 16"/>
          <p:cNvSpPr/>
          <p:nvPr/>
        </p:nvSpPr>
        <p:spPr>
          <a:xfrm>
            <a:off x="10515600" y="489204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03834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الاعتماد الداخلي النهائي</a:t>
            </a:r>
          </a:p>
        </p:txBody>
      </p:sp>
      <p:sp>
        <p:nvSpPr>
          <p:cNvPr id="19" name="TextBox 18"/>
          <p:cNvSpPr txBox="1"/>
          <p:nvPr/>
        </p:nvSpPr>
        <p:spPr>
          <a:xfrm>
            <a:off x="777240" y="498347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يعتمد التسويق بعد الجودة؛ وتُسجّل فحوص الفيديو كقرارات منفصلة.</a:t>
            </a:r>
          </a:p>
        </p:txBody>
      </p:sp>
      <p:sp>
        <p:nvSpPr>
          <p:cNvPr id="20" name="Rectangle 19"/>
          <p:cNvSpPr/>
          <p:nvPr/>
        </p:nvSpPr>
        <p:spPr>
          <a:xfrm>
            <a:off x="10515600" y="5745480"/>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5891784"/>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موافقة العميل</a:t>
            </a:r>
          </a:p>
        </p:txBody>
      </p:sp>
      <p:sp>
        <p:nvSpPr>
          <p:cNvPr id="22" name="TextBox 21"/>
          <p:cNvSpPr txBox="1"/>
          <p:nvPr/>
        </p:nvSpPr>
        <p:spPr>
          <a:xfrm>
            <a:off x="777240" y="5836920"/>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يجمع الحساب عرض PPTX واحدًا؛ ويوافق العميل على النسخة المعروضة.</a:t>
            </a:r>
          </a:p>
        </p:txBody>
      </p:sp>
      <p:sp>
        <p:nvSpPr>
          <p:cNvPr id="23" name="Rectangle 22"/>
          <p:cNvSpPr/>
          <p:nvPr/>
        </p:nvSpPr>
        <p:spPr>
          <a:xfrm>
            <a:off x="10515600" y="6598919"/>
            <a:ext cx="3383280" cy="734567"/>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4" name="TextBox 23"/>
          <p:cNvSpPr txBox="1"/>
          <p:nvPr/>
        </p:nvSpPr>
        <p:spPr>
          <a:xfrm>
            <a:off x="10680192" y="6745223"/>
            <a:ext cx="3054096" cy="606551"/>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النشر</a:t>
            </a:r>
          </a:p>
        </p:txBody>
      </p:sp>
      <p:sp>
        <p:nvSpPr>
          <p:cNvPr id="25" name="TextBox 24"/>
          <p:cNvSpPr txBox="1"/>
          <p:nvPr/>
        </p:nvSpPr>
        <p:spPr>
          <a:xfrm>
            <a:off x="777240" y="6690359"/>
            <a:ext cx="9464040" cy="688847"/>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يتسلم التواصل الخطة/العرض المعتمدين. يظل المدفوع مسارًا منفصلًا لمسؤول الإعلانات.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التعديلات / المهمة تظل مفتوحة</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13</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المراجعون يعلّقون</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الحساب والتسويق والرؤساء يسجلون ملاحظات قابلة للتنفيذ بكاتبها وسياقها.</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المنفذ يطبّق</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ينفّذ المسؤول كل تعليق ويوثق طريقة معالجته.</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إعادة المراجعة</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تتكرر مراجعات الجودة والتسويق المطلوبة؛ ويعود المعدل إلى العميل للموافقة الجديدة.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التواصل الاجتماعي / أكثر من النشر</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14</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الخطط والاستراتيجية</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جمع خطط العلامات الخاصة والمساهمة في/إعداد الاستراتيجية الاجتماعية.</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التنفيذ والمجتمع</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جدولة ونشر الخطط المعتمدة والرد على تعليقات الصفحات.</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التقارير والاستماع</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إعداد تقارير الأداء والاستماع وإعادة الأدلة لدورة الاستراتيجية التالية.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دورة المتابعة اليومية / مقترحة للتأكيد</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15</a:t>
            </a:r>
          </a:p>
        </p:txBody>
      </p:sp>
      <p:sp>
        <p:nvSpPr>
          <p:cNvPr id="8" name="Rectangle 7"/>
          <p:cNvSpPr/>
          <p:nvPr/>
        </p:nvSpPr>
        <p:spPr>
          <a:xfrm>
            <a:off x="10515600" y="233172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فحص البداية</a:t>
            </a:r>
          </a:p>
        </p:txBody>
      </p:sp>
      <p:sp>
        <p:nvSpPr>
          <p:cNvPr id="10" name="TextBox 9"/>
          <p:cNvSpPr txBox="1"/>
          <p:nvPr/>
        </p:nvSpPr>
        <p:spPr>
          <a:xfrm>
            <a:off x="777240" y="242316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يراجع الحساب والرؤساء والتسويق المستحقات والمسؤولين والنواقص والمعوقات وقرارات العميل.</a:t>
            </a:r>
          </a:p>
        </p:txBody>
      </p:sp>
      <p:sp>
        <p:nvSpPr>
          <p:cNvPr id="11" name="Rectangle 10"/>
          <p:cNvSpPr/>
          <p:nvPr/>
        </p:nvSpPr>
        <p:spPr>
          <a:xfrm>
            <a:off x="10515600" y="333756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48386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تحديث التنفيذ</a:t>
            </a:r>
          </a:p>
        </p:txBody>
      </p:sp>
      <p:sp>
        <p:nvSpPr>
          <p:cNvPr id="13" name="TextBox 12"/>
          <p:cNvSpPr txBox="1"/>
          <p:nvPr/>
        </p:nvSpPr>
        <p:spPr>
          <a:xfrm>
            <a:off x="777240" y="342900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يحافظ المنفذون على الشيت والمراجع وردود الملاحظات.</a:t>
            </a:r>
          </a:p>
        </p:txBody>
      </p:sp>
      <p:sp>
        <p:nvSpPr>
          <p:cNvPr id="14" name="Rectangle 13"/>
          <p:cNvSpPr/>
          <p:nvPr/>
        </p:nvSpPr>
        <p:spPr>
          <a:xfrm>
            <a:off x="10515600" y="434340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48970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قائمة المراجعة</a:t>
            </a:r>
          </a:p>
        </p:txBody>
      </p:sp>
      <p:sp>
        <p:nvSpPr>
          <p:cNvPr id="16" name="TextBox 15"/>
          <p:cNvSpPr txBox="1"/>
          <p:nvPr/>
        </p:nvSpPr>
        <p:spPr>
          <a:xfrm>
            <a:off x="777240" y="443484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يسجل الرؤساء والتسويق قرارات الجودة والملاحظات، ويتابع الحساب غير المحسوم.</a:t>
            </a:r>
          </a:p>
        </p:txBody>
      </p:sp>
      <p:sp>
        <p:nvSpPr>
          <p:cNvPr id="17" name="Rectangle 16"/>
          <p:cNvSpPr/>
          <p:nvPr/>
        </p:nvSpPr>
        <p:spPr>
          <a:xfrm>
            <a:off x="10515600" y="534924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49554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فحص السماح بالنشر</a:t>
            </a:r>
          </a:p>
        </p:txBody>
      </p:sp>
      <p:sp>
        <p:nvSpPr>
          <p:cNvPr id="19" name="TextBox 18"/>
          <p:cNvSpPr txBox="1"/>
          <p:nvPr/>
        </p:nvSpPr>
        <p:spPr>
          <a:xfrm>
            <a:off x="777240" y="5440679"/>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يتحقق الحساب من موافقة العرض، والتواصل من الخطة والجدول وقضايا المجتمع.</a:t>
            </a:r>
          </a:p>
        </p:txBody>
      </p:sp>
      <p:sp>
        <p:nvSpPr>
          <p:cNvPr id="20" name="Rectangle 19"/>
          <p:cNvSpPr/>
          <p:nvPr/>
        </p:nvSpPr>
        <p:spPr>
          <a:xfrm>
            <a:off x="10515600" y="635508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650138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فحص الختام</a:t>
            </a:r>
          </a:p>
        </p:txBody>
      </p:sp>
      <p:sp>
        <p:nvSpPr>
          <p:cNvPr id="22" name="TextBox 21"/>
          <p:cNvSpPr txBox="1"/>
          <p:nvPr/>
        </p:nvSpPr>
        <p:spPr>
          <a:xfrm>
            <a:off x="777240" y="644652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طابق الشيت وسجل الإنجاز وحدد المرحّل والمسؤول التالي؛ الأوقات ومدد الخدمة غير مؤكدة.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قِس الموجود / لا تختلق الأدلة</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16</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سلامة سير العمل</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استند إلى السجلات الفعلية للمهام المفتوحة والمعوقات والمراجعات والتعديلات.</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أداء العميل</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يقدم التواصل الأداء العضوي والاستماع، والإعلانات النتائج والإنفاق الفعلي.</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الخطوات التالية</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ينسق الحساب والتسويق تغييرات بالأدلة؛ مواعيد التقارير وخطوط الأساس تحتاج لاتفاق.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الاستثناءات / حافظ على الضبط عند الخلل</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17</a:t>
            </a:r>
          </a:p>
        </p:txBody>
      </p:sp>
      <p:sp>
        <p:nvSpPr>
          <p:cNvPr id="8" name="Rectangle 7"/>
          <p:cNvSpPr/>
          <p:nvPr/>
        </p:nvSpPr>
        <p:spPr>
          <a:xfrm>
            <a:off x="10515600" y="233172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غير مستعد للتوقيع</a:t>
            </a:r>
          </a:p>
        </p:txBody>
      </p:sp>
      <p:sp>
        <p:nvSpPr>
          <p:cNvPr id="10" name="TextBox 9"/>
          <p:cNvSpPr txBox="1"/>
          <p:nvPr/>
        </p:nvSpPr>
        <p:spPr>
          <a:xfrm>
            <a:off x="777240" y="242316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ابقَ في ما قبل البيع؛ الاستراتيجية الفعلية تظل معلقة.</a:t>
            </a:r>
          </a:p>
        </p:txBody>
      </p:sp>
      <p:sp>
        <p:nvSpPr>
          <p:cNvPr id="11" name="Rectangle 10"/>
          <p:cNvSpPr/>
          <p:nvPr/>
        </p:nvSpPr>
        <p:spPr>
          <a:xfrm>
            <a:off x="10515600" y="333756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48386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نقص أموال / مدخلات</a:t>
            </a:r>
          </a:p>
        </p:txBody>
      </p:sp>
      <p:sp>
        <p:nvSpPr>
          <p:cNvPr id="13" name="TextBox 12"/>
          <p:cNvSpPr txBox="1"/>
          <p:nvPr/>
        </p:nvSpPr>
        <p:spPr>
          <a:xfrm>
            <a:off x="777240" y="342900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أوقف التنفيذ/التسليم المعني ووثّق الدليل الناقص ومسؤول المتابعة.</a:t>
            </a:r>
          </a:p>
        </p:txBody>
      </p:sp>
      <p:sp>
        <p:nvSpPr>
          <p:cNvPr id="14" name="Rectangle 13"/>
          <p:cNvSpPr/>
          <p:nvPr/>
        </p:nvSpPr>
        <p:spPr>
          <a:xfrm>
            <a:off x="10515600" y="434340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48970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عمل مرفوض</a:t>
            </a:r>
          </a:p>
        </p:txBody>
      </p:sp>
      <p:sp>
        <p:nvSpPr>
          <p:cNvPr id="16" name="TextBox 15"/>
          <p:cNvSpPr txBox="1"/>
          <p:nvPr/>
        </p:nvSpPr>
        <p:spPr>
          <a:xfrm>
            <a:off x="777240" y="443484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أبقِ المهمة مفتوحة أو أعد فتحها؛ المنفذ يصحح والمراجع يعتمد.</a:t>
            </a:r>
          </a:p>
        </p:txBody>
      </p:sp>
      <p:sp>
        <p:nvSpPr>
          <p:cNvPr id="17" name="Rectangle 16"/>
          <p:cNvSpPr/>
          <p:nvPr/>
        </p:nvSpPr>
        <p:spPr>
          <a:xfrm>
            <a:off x="10515600" y="534924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49554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تغيير بعد الموافقة</a:t>
            </a:r>
          </a:p>
        </p:txBody>
      </p:sp>
      <p:sp>
        <p:nvSpPr>
          <p:cNvPr id="19" name="TextBox 18"/>
          <p:cNvSpPr txBox="1"/>
          <p:nvPr/>
        </p:nvSpPr>
        <p:spPr>
          <a:xfrm>
            <a:off x="777240" y="5440679"/>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أعد المراجعات والعميل للمادة المتغيرة.</a:t>
            </a:r>
          </a:p>
        </p:txBody>
      </p:sp>
      <p:sp>
        <p:nvSpPr>
          <p:cNvPr id="20" name="Rectangle 19"/>
          <p:cNvSpPr/>
          <p:nvPr/>
        </p:nvSpPr>
        <p:spPr>
          <a:xfrm>
            <a:off x="10515600" y="635508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650138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مدير التسويق غير متاح</a:t>
            </a:r>
          </a:p>
        </p:txBody>
      </p:sp>
      <p:sp>
        <p:nvSpPr>
          <p:cNvPr id="22" name="TextBox 21"/>
          <p:cNvSpPr txBox="1"/>
          <p:nvPr/>
        </p:nvSpPr>
        <p:spPr>
          <a:xfrm>
            <a:off x="777240" y="644652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يسمي المالك بديلًا مخولًا؛ لا تجاوز مختلقًا أو سلطة ذاتية.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ما الذي يجب أن يؤكده المالك؟</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18</a:t>
            </a:r>
          </a:p>
        </p:txBody>
      </p:sp>
      <p:sp>
        <p:nvSpPr>
          <p:cNvPr id="8" name="Rectangle 7"/>
          <p:cNvSpPr/>
          <p:nvPr/>
        </p:nvSpPr>
        <p:spPr>
          <a:xfrm>
            <a:off x="97078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99090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الأفراد والسلطة</a:t>
            </a:r>
          </a:p>
        </p:txBody>
      </p:sp>
      <p:sp>
        <p:nvSpPr>
          <p:cNvPr id="10" name="TextBox 9"/>
          <p:cNvSpPr txBox="1"/>
          <p:nvPr/>
        </p:nvSpPr>
        <p:spPr>
          <a:xfrm>
            <a:off x="99090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تأكيد بقاء/تفويض اعتماد التسويق والبدلاء وبقية التبعيات المقترحة.</a:t>
            </a:r>
          </a:p>
        </p:txBody>
      </p:sp>
      <p:sp>
        <p:nvSpPr>
          <p:cNvPr id="11" name="Rectangle 10"/>
          <p:cNvSpPr/>
          <p:nvPr/>
        </p:nvSpPr>
        <p:spPr>
          <a:xfrm>
            <a:off x="52882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5489450"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معايير التشغيل</a:t>
            </a:r>
          </a:p>
        </p:txBody>
      </p:sp>
      <p:sp>
        <p:nvSpPr>
          <p:cNvPr id="13" name="TextBox 12"/>
          <p:cNvSpPr txBox="1"/>
          <p:nvPr/>
        </p:nvSpPr>
        <p:spPr>
          <a:xfrm>
            <a:off x="5489450"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تأكيد الروتين والمدد والتصعيد وزمن الرد ومكان المسودات.</a:t>
            </a:r>
          </a:p>
        </p:txBody>
      </p:sp>
      <p:sp>
        <p:nvSpPr>
          <p:cNvPr id="14" name="Rectangle 13"/>
          <p:cNvSpPr/>
          <p:nvPr/>
        </p:nvSpPr>
        <p:spPr>
          <a:xfrm>
            <a:off x="868681" y="2331720"/>
            <a:ext cx="4190999"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9849" y="2532888"/>
            <a:ext cx="3788663" cy="731520"/>
          </a:xfrm>
          <a:prstGeom prst="rect">
            <a:avLst/>
          </a:prstGeom>
          <a:noFill/>
        </p:spPr>
        <p:txBody>
          <a:bodyPr wrap="square" lIns="18288" rIns="18288" tIns="0" bIns="0">
            <a:spAutoFit/>
          </a:bodyPr>
          <a:lstStyle/>
          <a:p>
            <a:pPr algn="r" rtl="1">
              <a:spcAft>
                <a:spcPts val="800"/>
              </a:spcAft>
              <a:defRPr sz="2000" b="1">
                <a:solidFill>
                  <a:srgbClr val="7D2B42"/>
                </a:solidFill>
                <a:latin typeface="Montserrat"/>
              </a:defRPr>
            </a:pPr>
            <a:r>
              <a:rPr sz="1600">
                <a:latin typeface="IBM Plex Sans Arabic"/>
              </a:rPr>
              <a:t>الضوابط التجارية</a:t>
            </a:r>
          </a:p>
        </p:txBody>
      </p:sp>
      <p:sp>
        <p:nvSpPr>
          <p:cNvPr id="16" name="TextBox 15"/>
          <p:cNvSpPr txBox="1"/>
          <p:nvPr/>
        </p:nvSpPr>
        <p:spPr>
          <a:xfrm>
            <a:off x="1069849" y="3429000"/>
            <a:ext cx="3788663" cy="3749039"/>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تأكيد متحقق الأموال والرصيد والتمويل والضرائب وأساس المصروفات.</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قائمة التسليم / الاكتمال لم يُقيّم</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19</a:t>
            </a:r>
          </a:p>
        </p:txBody>
      </p:sp>
      <p:sp>
        <p:nvSpPr>
          <p:cNvPr id="8" name="Rectangle 7"/>
          <p:cNvSpPr/>
          <p:nvPr/>
        </p:nvSpPr>
        <p:spPr>
          <a:xfrm>
            <a:off x="10515600" y="233172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حالة العميل</a:t>
            </a:r>
          </a:p>
        </p:txBody>
      </p:sp>
      <p:sp>
        <p:nvSpPr>
          <p:cNvPr id="10" name="TextBox 9"/>
          <p:cNvSpPr txBox="1"/>
          <p:nvPr/>
        </p:nvSpPr>
        <p:spPr>
          <a:xfrm>
            <a:off x="777240" y="242316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مراجعة خاصة للنطاقات والاستراتيجيات والعقود والسداد والنسخ المعتمدة.</a:t>
            </a:r>
          </a:p>
        </p:txBody>
      </p:sp>
      <p:sp>
        <p:nvSpPr>
          <p:cNvPr id="11" name="Rectangle 10"/>
          <p:cNvSpPr/>
          <p:nvPr/>
        </p:nvSpPr>
        <p:spPr>
          <a:xfrm>
            <a:off x="10515600" y="333756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48386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العمل الجاري</a:t>
            </a:r>
          </a:p>
        </p:txBody>
      </p:sp>
      <p:sp>
        <p:nvSpPr>
          <p:cNvPr id="13" name="TextBox 12"/>
          <p:cNvSpPr txBox="1"/>
          <p:nvPr/>
        </p:nvSpPr>
        <p:spPr>
          <a:xfrm>
            <a:off x="777240" y="342900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المهام المفتوحة والتعليقات والمعوقات وخطط النشر والتقارير.</a:t>
            </a:r>
          </a:p>
        </p:txBody>
      </p:sp>
      <p:sp>
        <p:nvSpPr>
          <p:cNvPr id="14" name="Rectangle 13"/>
          <p:cNvSpPr/>
          <p:nvPr/>
        </p:nvSpPr>
        <p:spPr>
          <a:xfrm>
            <a:off x="10515600" y="434340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48970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الصلاحيات والمواد</a:t>
            </a:r>
          </a:p>
        </p:txBody>
      </p:sp>
      <p:sp>
        <p:nvSpPr>
          <p:cNvPr id="16" name="TextBox 15"/>
          <p:cNvSpPr txBox="1"/>
          <p:nvPr/>
        </p:nvSpPr>
        <p:spPr>
          <a:xfrm>
            <a:off x="777240" y="443484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راجع الملكية والوصول الآمن إلى Drive وWhatsApp والمنصات، وانقل المطلوب فقط.</a:t>
            </a:r>
          </a:p>
        </p:txBody>
      </p:sp>
      <p:sp>
        <p:nvSpPr>
          <p:cNvPr id="17" name="Rectangle 16"/>
          <p:cNvSpPr/>
          <p:nvPr/>
        </p:nvSpPr>
        <p:spPr>
          <a:xfrm>
            <a:off x="10515600" y="534924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49554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الأفراد والاستمرارية</a:t>
            </a:r>
          </a:p>
        </p:txBody>
      </p:sp>
      <p:sp>
        <p:nvSpPr>
          <p:cNvPr id="19" name="TextBox 18"/>
          <p:cNvSpPr txBox="1"/>
          <p:nvPr/>
        </p:nvSpPr>
        <p:spPr>
          <a:xfrm>
            <a:off x="777240" y="5440679"/>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صلاحية التسويق الحالية وأي تفويض لازم؛ تأكيد الأدوار والتبعيات.</a:t>
            </a:r>
          </a:p>
        </p:txBody>
      </p:sp>
      <p:sp>
        <p:nvSpPr>
          <p:cNvPr id="20" name="Rectangle 19"/>
          <p:cNvSpPr/>
          <p:nvPr/>
        </p:nvSpPr>
        <p:spPr>
          <a:xfrm>
            <a:off x="10515600" y="635508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650138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الإثبات والقبول</a:t>
            </a:r>
          </a:p>
        </p:txBody>
      </p:sp>
      <p:sp>
        <p:nvSpPr>
          <p:cNvPr id="22" name="TextBox 21"/>
          <p:cNvSpPr txBox="1"/>
          <p:nvPr/>
        </p:nvSpPr>
        <p:spPr>
          <a:xfrm>
            <a:off x="777240" y="644652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تتبع عميلًا كاملًا ودورة مهمة مرفوضة، وسجّل قبول المالك والاستثناءات.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موارد الشركة / الوصول ليس للجميع</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20</a:t>
            </a:r>
          </a:p>
        </p:txBody>
      </p:sp>
      <p:sp>
        <p:nvSpPr>
          <p:cNvPr id="8" name="Rectangle 7"/>
          <p:cNvSpPr/>
          <p:nvPr/>
        </p:nvSpPr>
        <p:spPr>
          <a:xfrm>
            <a:off x="10515600" y="233172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Higgsfield</a:t>
            </a:r>
          </a:p>
        </p:txBody>
      </p:sp>
      <p:sp>
        <p:nvSpPr>
          <p:cNvPr id="10" name="TextBox 9"/>
          <p:cNvSpPr txBox="1"/>
          <p:nvPr/>
        </p:nvSpPr>
        <p:spPr>
          <a:xfrm>
            <a:off x="777240" y="242316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لـ VE-01 وVE-02 فقط؛ ممنوع على بقية الفريق.</a:t>
            </a:r>
          </a:p>
        </p:txBody>
      </p:sp>
      <p:sp>
        <p:nvSpPr>
          <p:cNvPr id="11" name="Rectangle 10"/>
          <p:cNvSpPr/>
          <p:nvPr/>
        </p:nvSpPr>
        <p:spPr>
          <a:xfrm>
            <a:off x="10515600" y="333756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48386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Claude + ChatGPT</a:t>
            </a:r>
          </a:p>
        </p:txBody>
      </p:sp>
      <p:sp>
        <p:nvSpPr>
          <p:cNvPr id="13" name="TextBox 12"/>
          <p:cNvSpPr txBox="1"/>
          <p:nvPr/>
        </p:nvSpPr>
        <p:spPr>
          <a:xfrm>
            <a:off x="777240" y="342900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اشتراكات الشركة؛ أكّد المستخدمين والترخيص وقواعد البيانات.</a:t>
            </a:r>
          </a:p>
        </p:txBody>
      </p:sp>
      <p:sp>
        <p:nvSpPr>
          <p:cNvPr id="14" name="Rectangle 13"/>
          <p:cNvSpPr/>
          <p:nvPr/>
        </p:nvSpPr>
        <p:spPr>
          <a:xfrm>
            <a:off x="10515600" y="434340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48970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Canva + Adobe</a:t>
            </a:r>
          </a:p>
        </p:txBody>
      </p:sp>
      <p:sp>
        <p:nvSpPr>
          <p:cNvPr id="16" name="TextBox 15"/>
          <p:cNvSpPr txBox="1"/>
          <p:nvPr/>
        </p:nvSpPr>
        <p:spPr>
          <a:xfrm>
            <a:off x="777240" y="443484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برامج الشركة؛ التطبيقات والمستخدمون بحاجة لتأكيد.</a:t>
            </a:r>
          </a:p>
        </p:txBody>
      </p:sp>
      <p:sp>
        <p:nvSpPr>
          <p:cNvPr id="17" name="Rectangle 16"/>
          <p:cNvSpPr/>
          <p:nvPr/>
        </p:nvSpPr>
        <p:spPr>
          <a:xfrm>
            <a:off x="10515600" y="534924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49554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الأقراص الصلبة</a:t>
            </a:r>
          </a:p>
        </p:txBody>
      </p:sp>
      <p:sp>
        <p:nvSpPr>
          <p:cNvPr id="19" name="TextBox 18"/>
          <p:cNvSpPr txBox="1"/>
          <p:nvPr/>
        </p:nvSpPr>
        <p:spPr>
          <a:xfrm>
            <a:off x="777240" y="5440679"/>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توجد عدة أقراص؛ سجّل الأصل والموقع والمحتوى والعهدة، ولم تُحدد العهدة هنا بعد.</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التصوير / الأفراد والبيانات والمعدات</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21</a:t>
            </a:r>
          </a:p>
        </p:txBody>
      </p:sp>
      <p:sp>
        <p:nvSpPr>
          <p:cNvPr id="8" name="Rectangle 7"/>
          <p:cNvSpPr/>
          <p:nvPr/>
        </p:nvSpPr>
        <p:spPr>
          <a:xfrm>
            <a:off x="10515600" y="233172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تنسيق مدير الحساب</a:t>
            </a:r>
          </a:p>
        </p:txBody>
      </p:sp>
      <p:sp>
        <p:nvSpPr>
          <p:cNvPr id="10" name="TextBox 9"/>
          <p:cNvSpPr txBox="1"/>
          <p:nvPr/>
        </p:nvSpPr>
        <p:spPr>
          <a:xfrm>
            <a:off x="777240" y="242316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ترتيب المصورين الخارجيين وضيوف البودكاست والعلاقات العامة.</a:t>
            </a:r>
          </a:p>
        </p:txBody>
      </p:sp>
      <p:sp>
        <p:nvSpPr>
          <p:cNvPr id="11" name="Rectangle 10"/>
          <p:cNvSpPr/>
          <p:nvPr/>
        </p:nvSpPr>
        <p:spPr>
          <a:xfrm>
            <a:off x="10515600" y="333756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48386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تسليم المواد لدى التواصل</a:t>
            </a:r>
          </a:p>
        </p:txBody>
      </p:sp>
      <p:sp>
        <p:nvSpPr>
          <p:cNvPr id="13" name="TextBox 12"/>
          <p:cNvSpPr txBox="1"/>
          <p:nvPr/>
        </p:nvSpPr>
        <p:spPr>
          <a:xfrm>
            <a:off x="777240" y="342900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جمع الصور واللقطات وتسليمها للمحررين/المصممين المكلفين.</a:t>
            </a:r>
          </a:p>
        </p:txBody>
      </p:sp>
      <p:sp>
        <p:nvSpPr>
          <p:cNvPr id="14" name="Rectangle 13"/>
          <p:cNvSpPr/>
          <p:nvPr/>
        </p:nvSpPr>
        <p:spPr>
          <a:xfrm>
            <a:off x="10515600" y="434340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48970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مساءلة التواصل</a:t>
            </a:r>
          </a:p>
        </p:txBody>
      </p:sp>
      <p:sp>
        <p:nvSpPr>
          <p:cNvPr id="16" name="TextBox 15"/>
          <p:cNvSpPr txBox="1"/>
          <p:nvPr/>
        </p:nvSpPr>
        <p:spPr>
          <a:xfrm>
            <a:off x="777240" y="443484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مسؤولية كاملة عن البطاقات والأدوات وتصوير الكواليس.</a:t>
            </a:r>
          </a:p>
        </p:txBody>
      </p:sp>
      <p:sp>
        <p:nvSpPr>
          <p:cNvPr id="17" name="Rectangle 16"/>
          <p:cNvSpPr/>
          <p:nvPr/>
        </p:nvSpPr>
        <p:spPr>
          <a:xfrm>
            <a:off x="10515600" y="534924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49554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سجلات مقترحة</a:t>
            </a:r>
          </a:p>
        </p:txBody>
      </p:sp>
      <p:sp>
        <p:nvSpPr>
          <p:cNvPr id="19" name="TextBox 18"/>
          <p:cNvSpPr txBox="1"/>
          <p:nvPr/>
        </p:nvSpPr>
        <p:spPr>
          <a:xfrm>
            <a:off x="777240" y="5440679"/>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موجز التصوير وصرف الأصول وإرجاعها ومرجع النقل وفحص المستلم والنسخ/العهدة.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7D2B42"/>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7D2B42"/>
                </a:solidFill>
                <a:latin typeface="Bebas Neue"/>
              </a:defRPr>
            </a:pPr>
            <a:r>
              <a:rPr sz="1600">
                <a:latin typeface="IBM Plex Sans Arabic"/>
              </a:rPr>
              <a:t>تقييم الفريق الشهري / دورة تشغيل مستقلة</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555555"/>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7D2B42"/>
                </a:solidFill>
                <a:latin typeface="Montserrat"/>
              </a:defRPr>
            </a:pPr>
            <a:r>
              <a:rPr sz="950">
                <a:latin typeface="IBM Plex Sans Arabic"/>
              </a:rPr>
              <a:t>22</a:t>
            </a:r>
          </a:p>
        </p:txBody>
      </p:sp>
      <p:sp>
        <p:nvSpPr>
          <p:cNvPr id="8" name="Rectangle 7"/>
          <p:cNvSpPr/>
          <p:nvPr/>
        </p:nvSpPr>
        <p:spPr>
          <a:xfrm>
            <a:off x="10515600" y="233172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680192" y="247802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كل شهر</a:t>
            </a:r>
          </a:p>
        </p:txBody>
      </p:sp>
      <p:sp>
        <p:nvSpPr>
          <p:cNvPr id="10" name="TextBox 9"/>
          <p:cNvSpPr txBox="1"/>
          <p:nvPr/>
        </p:nvSpPr>
        <p:spPr>
          <a:xfrm>
            <a:off x="777240" y="242316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استخدم النماذج الوظيفية المعتمدة، واحفظ خصوصية بيانات الموظفين وأدلتهم.</a:t>
            </a:r>
          </a:p>
        </p:txBody>
      </p:sp>
      <p:sp>
        <p:nvSpPr>
          <p:cNvPr id="11" name="Rectangle 10"/>
          <p:cNvSpPr/>
          <p:nvPr/>
        </p:nvSpPr>
        <p:spPr>
          <a:xfrm>
            <a:off x="10515600" y="333756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680192" y="348386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الموظف + المدير</a:t>
            </a:r>
          </a:p>
        </p:txBody>
      </p:sp>
      <p:sp>
        <p:nvSpPr>
          <p:cNvPr id="13" name="TextBox 12"/>
          <p:cNvSpPr txBox="1"/>
          <p:nvPr/>
        </p:nvSpPr>
        <p:spPr>
          <a:xfrm>
            <a:off x="777240" y="342900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التقييم الذاتي قبل الاجتماع؛ ثم تقييم المدير ومناقشة الفجوة.</a:t>
            </a:r>
          </a:p>
        </p:txBody>
      </p:sp>
      <p:sp>
        <p:nvSpPr>
          <p:cNvPr id="14" name="Rectangle 13"/>
          <p:cNvSpPr/>
          <p:nvPr/>
        </p:nvSpPr>
        <p:spPr>
          <a:xfrm>
            <a:off x="10515600" y="434340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680192" y="448970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الأوزان / المقياس</a:t>
            </a:r>
          </a:p>
        </p:txBody>
      </p:sp>
      <p:sp>
        <p:nvSpPr>
          <p:cNvPr id="16" name="TextBox 15"/>
          <p:cNvSpPr txBox="1"/>
          <p:nvPr/>
        </p:nvSpPr>
        <p:spPr>
          <a:xfrm>
            <a:off x="777240" y="443484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30% للكفاءات، و50% لمؤشرات الدور، و10% للتطوير، و10% للثقافة. المقياس 1–5؛ برر 1 و2 و5.</a:t>
            </a:r>
          </a:p>
        </p:txBody>
      </p:sp>
      <p:sp>
        <p:nvSpPr>
          <p:cNvPr id="17" name="Rectangle 16"/>
          <p:cNvSpPr/>
          <p:nvPr/>
        </p:nvSpPr>
        <p:spPr>
          <a:xfrm>
            <a:off x="10515600" y="534924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680192" y="549554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التطوير</a:t>
            </a:r>
          </a:p>
        </p:txBody>
      </p:sp>
      <p:sp>
        <p:nvSpPr>
          <p:cNvPr id="19" name="TextBox 18"/>
          <p:cNvSpPr txBox="1"/>
          <p:nvPr/>
        </p:nvSpPr>
        <p:spPr>
          <a:xfrm>
            <a:off x="777240" y="5440679"/>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سجّل الإنجازات والعوائق والملاحظات وأهداف SMART التالية؛ وتابع الأهداف ربع السنوية شهرياً.</a:t>
            </a:r>
          </a:p>
        </p:txBody>
      </p:sp>
      <p:sp>
        <p:nvSpPr>
          <p:cNvPr id="20" name="Rectangle 19"/>
          <p:cNvSpPr/>
          <p:nvPr/>
        </p:nvSpPr>
        <p:spPr>
          <a:xfrm>
            <a:off x="10515600" y="6355080"/>
            <a:ext cx="3383280" cy="88696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680192" y="6501384"/>
            <a:ext cx="3054096" cy="758952"/>
          </a:xfrm>
          <a:prstGeom prst="rect">
            <a:avLst/>
          </a:prstGeom>
          <a:noFill/>
        </p:spPr>
        <p:txBody>
          <a:bodyPr wrap="square" lIns="18288" rIns="18288" tIns="0" bIns="0">
            <a:spAutoFit/>
          </a:bodyPr>
          <a:lstStyle/>
          <a:p>
            <a:pPr algn="r" rtl="1">
              <a:spcAft>
                <a:spcPts val="800"/>
              </a:spcAft>
              <a:defRPr sz="1400" b="1">
                <a:solidFill>
                  <a:srgbClr val="FFFFFF"/>
                </a:solidFill>
                <a:latin typeface="Montserrat"/>
              </a:defRPr>
            </a:pPr>
            <a:r>
              <a:rPr sz="1600">
                <a:latin typeface="IBM Plex Sans Arabic"/>
              </a:rPr>
              <a:t>الاكتمال</a:t>
            </a:r>
          </a:p>
        </p:txBody>
      </p:sp>
      <p:sp>
        <p:nvSpPr>
          <p:cNvPr id="22" name="TextBox 21"/>
          <p:cNvSpPr txBox="1"/>
          <p:nvPr/>
        </p:nvSpPr>
        <p:spPr>
          <a:xfrm>
            <a:off x="777240" y="6446520"/>
            <a:ext cx="9464040" cy="841248"/>
          </a:xfrm>
          <a:prstGeom prst="rect">
            <a:avLst/>
          </a:prstGeom>
          <a:noFill/>
        </p:spPr>
        <p:txBody>
          <a:bodyPr wrap="square" lIns="18288" rIns="18288" tIns="0" bIns="0">
            <a:spAutoFit/>
          </a:bodyPr>
          <a:lstStyle/>
          <a:p>
            <a:pPr algn="r" rtl="1">
              <a:spcAft>
                <a:spcPts val="800"/>
              </a:spcAft>
              <a:defRPr sz="1700" b="0">
                <a:solidFill>
                  <a:srgbClr val="202020"/>
                </a:solidFill>
                <a:latin typeface="Montserrat"/>
              </a:defRPr>
            </a:pPr>
            <a:r>
              <a:rPr sz="1600">
                <a:latin typeface="IBM Plex Sans Arabic"/>
              </a:rPr>
              <a:t>لا تعتبر إجماليات الفراغ المحسوب كصفر مراجعات مكتملة، ولا تجعل الراتب أو الترقية تلقائيين.</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sp>
        <p:nvSpPr>
          <p:cNvPr id="2" name="TextBox 1"/>
          <p:cNvSpPr txBox="1"/>
          <p:nvPr/>
        </p:nvSpPr>
        <p:spPr>
          <a:xfrm>
            <a:off x="12938760" y="274320"/>
            <a:ext cx="1097280" cy="411480"/>
          </a:xfrm>
          <a:prstGeom prst="rect">
            <a:avLst/>
          </a:prstGeom>
          <a:noFill/>
        </p:spPr>
        <p:txBody>
          <a:bodyPr wrap="square" lIns="18288" rIns="18288" tIns="0" bIns="0">
            <a:spAutoFit/>
          </a:bodyPr>
          <a:lstStyle/>
          <a:p>
            <a:pPr algn="r" rtl="1">
              <a:spcAft>
                <a:spcPts val="800"/>
              </a:spcAft>
              <a:defRPr sz="2500" b="1">
                <a:solidFill>
                  <a:srgbClr val="FFFFFF"/>
                </a:solidFill>
                <a:latin typeface="Montserrat"/>
              </a:defRPr>
            </a:pPr>
            <a:r>
              <a:rPr sz="1600">
                <a:latin typeface="IBM Plex Sans Arabic"/>
              </a:rPr>
              <a:t>PMP</a:t>
            </a:r>
          </a:p>
        </p:txBody>
      </p:sp>
      <p:sp>
        <p:nvSpPr>
          <p:cNvPr id="3" name="TextBox 2"/>
          <p:cNvSpPr txBox="1"/>
          <p:nvPr/>
        </p:nvSpPr>
        <p:spPr>
          <a:xfrm>
            <a:off x="1828800" y="384048"/>
            <a:ext cx="10972800" cy="274320"/>
          </a:xfrm>
          <a:prstGeom prst="rect">
            <a:avLst/>
          </a:prstGeom>
          <a:noFill/>
        </p:spPr>
        <p:txBody>
          <a:bodyPr wrap="square" lIns="18288" rIns="18288" tIns="0" bIns="0">
            <a:spAutoFit/>
          </a:bodyPr>
          <a:lstStyle/>
          <a:p>
            <a:pPr algn="r" rtl="1">
              <a:spcAft>
                <a:spcPts val="800"/>
              </a:spcAft>
              <a:defRPr sz="1000" b="1">
                <a:solidFill>
                  <a:srgbClr val="FFFFFF"/>
                </a:solidFill>
                <a:latin typeface="Montserrat"/>
              </a:defRPr>
            </a:pPr>
            <a:r>
              <a:rPr sz="950">
                <a:latin typeface="IBM Plex Sans Arabic"/>
              </a:rPr>
              <a:t>قسم التسويق / تسليم المالك</a:t>
            </a:r>
          </a:p>
        </p:txBody>
      </p:sp>
      <p:sp>
        <p:nvSpPr>
          <p:cNvPr id="4" name="Rectangle 3"/>
          <p:cNvSpPr/>
          <p:nvPr/>
        </p:nvSpPr>
        <p:spPr>
          <a:xfrm>
            <a:off x="640080" y="868680"/>
            <a:ext cx="13350240" cy="137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685800" y="1188720"/>
            <a:ext cx="13258800" cy="914400"/>
          </a:xfrm>
          <a:prstGeom prst="rect">
            <a:avLst/>
          </a:prstGeom>
          <a:noFill/>
        </p:spPr>
        <p:txBody>
          <a:bodyPr wrap="square" lIns="18288" rIns="18288" tIns="0" bIns="0">
            <a:spAutoFit/>
          </a:bodyPr>
          <a:lstStyle/>
          <a:p>
            <a:pPr algn="r" rtl="1">
              <a:spcAft>
                <a:spcPts val="800"/>
              </a:spcAft>
              <a:defRPr sz="3800" b="1">
                <a:solidFill>
                  <a:srgbClr val="FFFFFF"/>
                </a:solidFill>
                <a:latin typeface="Bebas Neue"/>
              </a:defRPr>
            </a:pPr>
            <a:r>
              <a:rPr sz="1600">
                <a:latin typeface="IBM Plex Sans Arabic"/>
              </a:rPr>
              <a:t>تسليم المالك / وثّق النظام ثم تحقق من الواقع</a:t>
            </a:r>
          </a:p>
        </p:txBody>
      </p:sp>
      <p:sp>
        <p:nvSpPr>
          <p:cNvPr id="6" name="TextBox 5"/>
          <p:cNvSpPr txBox="1"/>
          <p:nvPr/>
        </p:nvSpPr>
        <p:spPr>
          <a:xfrm>
            <a:off x="2971800" y="7772400"/>
            <a:ext cx="10972800" cy="228600"/>
          </a:xfrm>
          <a:prstGeom prst="rect">
            <a:avLst/>
          </a:prstGeom>
          <a:noFill/>
        </p:spPr>
        <p:txBody>
          <a:bodyPr wrap="square" lIns="18288" rIns="18288" tIns="0" bIns="0">
            <a:spAutoFit/>
          </a:bodyPr>
          <a:lstStyle/>
          <a:p>
            <a:pPr algn="r" rtl="1">
              <a:spcAft>
                <a:spcPts val="800"/>
              </a:spcAft>
              <a:defRPr sz="900" b="0">
                <a:solidFill>
                  <a:srgbClr val="FFFFFF"/>
                </a:solidFill>
                <a:latin typeface="Montserrat"/>
              </a:defRPr>
            </a:pPr>
            <a:r>
              <a:rPr sz="800">
                <a:latin typeface="IBM Plex Sans Arabic"/>
              </a:rPr>
              <a:t>نظام التشغيل • الإصدار 1.0 • قبول المالك معلق</a:t>
            </a:r>
          </a:p>
        </p:txBody>
      </p:sp>
      <p:sp>
        <p:nvSpPr>
          <p:cNvPr id="7" name="TextBox 6"/>
          <p:cNvSpPr txBox="1"/>
          <p:nvPr/>
        </p:nvSpPr>
        <p:spPr>
          <a:xfrm>
            <a:off x="685800" y="7726679"/>
            <a:ext cx="594360" cy="274320"/>
          </a:xfrm>
          <a:prstGeom prst="rect">
            <a:avLst/>
          </a:prstGeom>
          <a:noFill/>
        </p:spPr>
        <p:txBody>
          <a:bodyPr wrap="square" lIns="18288" rIns="18288" tIns="0" bIns="0">
            <a:spAutoFit/>
          </a:bodyPr>
          <a:lstStyle/>
          <a:p>
            <a:pPr algn="r" rtl="1">
              <a:spcAft>
                <a:spcPts val="800"/>
              </a:spcAft>
              <a:defRPr sz="1000" b="0">
                <a:solidFill>
                  <a:srgbClr val="FFFFFF"/>
                </a:solidFill>
                <a:latin typeface="Montserrat"/>
              </a:defRPr>
            </a:pPr>
            <a:r>
              <a:rPr sz="950">
                <a:latin typeface="IBM Plex Sans Arabic"/>
              </a:rPr>
              <a:t>23</a:t>
            </a:r>
          </a:p>
        </p:txBody>
      </p:sp>
      <p:sp>
        <p:nvSpPr>
          <p:cNvPr id="8" name="TextBox 7"/>
          <p:cNvSpPr txBox="1"/>
          <p:nvPr/>
        </p:nvSpPr>
        <p:spPr>
          <a:xfrm>
            <a:off x="1005840" y="2468880"/>
            <a:ext cx="12801600" cy="822960"/>
          </a:xfrm>
          <a:prstGeom prst="rect">
            <a:avLst/>
          </a:prstGeom>
          <a:noFill/>
        </p:spPr>
        <p:txBody>
          <a:bodyPr wrap="square" lIns="18288" rIns="18288" tIns="0" bIns="0">
            <a:spAutoFit/>
          </a:bodyPr>
          <a:lstStyle/>
          <a:p>
            <a:pPr algn="r" rtl="1">
              <a:spcAft>
                <a:spcPts val="800"/>
              </a:spcAft>
              <a:defRPr sz="3400" b="1">
                <a:solidFill>
                  <a:srgbClr val="FFCC00"/>
                </a:solidFill>
                <a:latin typeface="Montserrat"/>
              </a:defRPr>
            </a:pPr>
            <a:r>
              <a:rPr sz="1600">
                <a:latin typeface="IBM Plex Sans Arabic"/>
              </a:rPr>
              <a:t>مخطط التشغيل موثّق.</a:t>
            </a:r>
          </a:p>
        </p:txBody>
      </p:sp>
      <p:sp>
        <p:nvSpPr>
          <p:cNvPr id="9" name="TextBox 8"/>
          <p:cNvSpPr txBox="1"/>
          <p:nvPr/>
        </p:nvSpPr>
        <p:spPr>
          <a:xfrm>
            <a:off x="1005840" y="3703320"/>
            <a:ext cx="12801600" cy="1600200"/>
          </a:xfrm>
          <a:prstGeom prst="rect">
            <a:avLst/>
          </a:prstGeom>
          <a:noFill/>
        </p:spPr>
        <p:txBody>
          <a:bodyPr wrap="square" lIns="18288" rIns="18288" tIns="0" bIns="0">
            <a:spAutoFit/>
          </a:bodyPr>
          <a:lstStyle/>
          <a:p>
            <a:pPr algn="r" rtl="1">
              <a:spcAft>
                <a:spcPts val="800"/>
              </a:spcAft>
              <a:defRPr sz="2900" b="0">
                <a:solidFill>
                  <a:srgbClr val="FFFFFF"/>
                </a:solidFill>
                <a:latin typeface="Montserrat"/>
              </a:defRPr>
            </a:pPr>
            <a:r>
              <a:rPr sz="1600">
                <a:latin typeface="IBM Plex Sans Arabic"/>
              </a:rPr>
              <a:t>التالي: تأكيد السلطة ومراجعة الحسابات والصلاحيات،</a:t>
            </a:r>
          </a:p>
          <a:p>
            <a:pPr algn="r" rtl="1">
              <a:spcAft>
                <a:spcPts val="800"/>
              </a:spcAft>
              <a:defRPr sz="2900" b="0">
                <a:solidFill>
                  <a:srgbClr val="FFFFFF"/>
                </a:solidFill>
                <a:latin typeface="Montserrat"/>
              </a:defRPr>
            </a:pPr>
            <a:r>
              <a:rPr sz="1600">
                <a:latin typeface="IBM Plex Sans Arabic"/>
              </a:rPr>
              <a:t>وحسم العمل المفتوح وتسجيل قبول المالك.</a:t>
            </a:r>
          </a:p>
        </p:txBody>
      </p:sp>
      <p:sp>
        <p:nvSpPr>
          <p:cNvPr id="10" name="TextBox 9"/>
          <p:cNvSpPr txBox="1"/>
          <p:nvPr/>
        </p:nvSpPr>
        <p:spPr>
          <a:xfrm>
            <a:off x="1005840" y="6080760"/>
            <a:ext cx="12801600" cy="777240"/>
          </a:xfrm>
          <a:prstGeom prst="rect">
            <a:avLst/>
          </a:prstGeom>
          <a:noFill/>
        </p:spPr>
        <p:txBody>
          <a:bodyPr wrap="square" lIns="18288" rIns="18288" tIns="0" bIns="0">
            <a:spAutoFit/>
          </a:bodyPr>
          <a:lstStyle/>
          <a:p>
            <a:pPr algn="r" rtl="1">
              <a:spcAft>
                <a:spcPts val="800"/>
              </a:spcAft>
              <a:defRPr sz="2100" b="0">
                <a:solidFill>
                  <a:srgbClr val="FFFFFF"/>
                </a:solidFill>
                <a:latin typeface="Montserrat"/>
              </a:defRPr>
            </a:pPr>
            <a:r>
              <a:rPr sz="1600">
                <a:latin typeface="IBM Plex Sans Arabic"/>
              </a:rPr>
              <a:t>استخدم الدليل للتنفيذ، والشيت الخاص وأدوات الشركة للسجلات الفعلية.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