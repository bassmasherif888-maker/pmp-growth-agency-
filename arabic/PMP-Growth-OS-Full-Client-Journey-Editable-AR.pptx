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303" r:id="rId55"/>
    <p:sldId id="304" r:id="rId56"/>
    <p:sldId id="305" r:id="rId57"/>
    <p:sldId id="310" r:id="rId62"/>
    <p:sldId id="311" r:id="rId63"/>
    <p:sldId id="312" r:id="rId64"/>
    <p:sldId id="306" r:id="rId58"/>
    <p:sldId id="313" r:id="rId65"/>
    <p:sldId id="314" r:id="rId66"/>
    <p:sldId id="307" r:id="rId59"/>
    <p:sldId id="308" r:id="rId60"/>
    <p:sldId id="309" r:id="rId61"/>
    <p:sldId id="281" r:id="rId33"/>
    <p:sldId id="297" r:id="rId49"/>
    <p:sldId id="298" r:id="rId50"/>
    <p:sldId id="299" r:id="rId51"/>
    <p:sldId id="291" r:id="rId43"/>
    <p:sldId id="292" r:id="rId44"/>
    <p:sldId id="293" r:id="rId45"/>
    <p:sldId id="300" r:id="rId52"/>
    <p:sldId id="301" r:id="rId53"/>
    <p:sldId id="302" r:id="rId54"/>
    <p:sldId id="294" r:id="rId46"/>
    <p:sldId id="295" r:id="rId47"/>
    <p:sldId id="296" r:id="rId48"/>
    <p:sldId id="282" r:id="rId34"/>
    <p:sldId id="283" r:id="rId35"/>
    <p:sldId id="284" r:id="rId36"/>
    <p:sldId id="285" r:id="rId37"/>
    <p:sldId id="286" r:id="rId38"/>
    <p:sldId id="287" r:id="rId39"/>
    <p:sldId id="288" r:id="rId40"/>
    <p:sldId id="289" r:id="rId41"/>
    <p:sldId id="290" r:id="rId42"/>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315" r:id="rId6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7.xml"/><Relationship Id="rId11" Type="http://schemas.openxmlformats.org/officeDocument/2006/relationships/slide" Target="slides/slide38.xml"/><Relationship Id="rId12" Type="http://schemas.openxmlformats.org/officeDocument/2006/relationships/slide" Target="slides/slide39.xml"/><Relationship Id="rId13" Type="http://schemas.openxmlformats.org/officeDocument/2006/relationships/slide" Target="slides/slide40.xml"/><Relationship Id="rId14" Type="http://schemas.openxmlformats.org/officeDocument/2006/relationships/slide" Target="slides/slide41.xml"/><Relationship Id="rId15" Type="http://schemas.openxmlformats.org/officeDocument/2006/relationships/slide" Target="slides/slide42.xml"/><Relationship Id="rId16" Type="http://schemas.openxmlformats.org/officeDocument/2006/relationships/slide" Target="slides/slide43.xml"/><Relationship Id="rId17" Type="http://schemas.openxmlformats.org/officeDocument/2006/relationships/slide" Target="slides/slide44.xml"/><Relationship Id="rId18" Type="http://schemas.openxmlformats.org/officeDocument/2006/relationships/slide" Target="slides/slide45.xml"/><Relationship Id="rId19" Type="http://schemas.openxmlformats.org/officeDocument/2006/relationships/slide" Target="slides/slide46.xml"/><Relationship Id="rId20" Type="http://schemas.openxmlformats.org/officeDocument/2006/relationships/slide" Target="slides/slide47.xml"/><Relationship Id="rId21" Type="http://schemas.openxmlformats.org/officeDocument/2006/relationships/slide" Target="slides/slide48.xml"/><Relationship Id="rId22" Type="http://schemas.openxmlformats.org/officeDocument/2006/relationships/slide" Target="slides/slide49.xml"/><Relationship Id="rId23" Type="http://schemas.openxmlformats.org/officeDocument/2006/relationships/slide" Target="slides/slide50.xml"/><Relationship Id="rId24" Type="http://schemas.openxmlformats.org/officeDocument/2006/relationships/slide" Target="slides/slide51.xml"/><Relationship Id="rId25" Type="http://schemas.openxmlformats.org/officeDocument/2006/relationships/slide" Target="slides/slide52.xml"/><Relationship Id="rId26" Type="http://schemas.openxmlformats.org/officeDocument/2006/relationships/slide" Target="slides/slide53.xml"/><Relationship Id="rId27" Type="http://schemas.openxmlformats.org/officeDocument/2006/relationships/slide" Target="slides/slide54.xml"/><Relationship Id="rId28" Type="http://schemas.openxmlformats.org/officeDocument/2006/relationships/slide" Target="slides/slide55.xml"/><Relationship Id="rId29" Type="http://schemas.openxmlformats.org/officeDocument/2006/relationships/slide" Target="slides/slide56.xml"/><Relationship Id="rId30" Type="http://schemas.openxmlformats.org/officeDocument/2006/relationships/slide" Target="slides/slide57.xml"/><Relationship Id="rId31" Type="http://schemas.openxmlformats.org/officeDocument/2006/relationships/slide" Target="slides/slide58.xml"/><Relationship Id="rId32" Type="http://schemas.openxmlformats.org/officeDocument/2006/relationships/slide" Target="slides/slide59.xml"/><Relationship Id="rId33" Type="http://schemas.openxmlformats.org/officeDocument/2006/relationships/slide" Target="slides/slide15.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5.xml"/><Relationship Id="rId47" Type="http://schemas.openxmlformats.org/officeDocument/2006/relationships/slide" Target="slides/slide26.xml"/><Relationship Id="rId48" Type="http://schemas.openxmlformats.org/officeDocument/2006/relationships/slide" Target="slides/slide27.xml"/><Relationship Id="rId49" Type="http://schemas.openxmlformats.org/officeDocument/2006/relationships/slide" Target="slides/slide16.xml"/><Relationship Id="rId50" Type="http://schemas.openxmlformats.org/officeDocument/2006/relationships/slide" Target="slides/slide17.xml"/><Relationship Id="rId51" Type="http://schemas.openxmlformats.org/officeDocument/2006/relationships/slide" Target="slides/slide18.xml"/><Relationship Id="rId52" Type="http://schemas.openxmlformats.org/officeDocument/2006/relationships/slide" Target="slides/slide22.xml"/><Relationship Id="rId53" Type="http://schemas.openxmlformats.org/officeDocument/2006/relationships/slide" Target="slides/slide23.xml"/><Relationship Id="rId54" Type="http://schemas.openxmlformats.org/officeDocument/2006/relationships/slide" Target="slides/slide24.xml"/><Relationship Id="rId55" Type="http://schemas.openxmlformats.org/officeDocument/2006/relationships/slide" Target="slides/slide3.xml"/><Relationship Id="rId56" Type="http://schemas.openxmlformats.org/officeDocument/2006/relationships/slide" Target="slides/slide4.xml"/><Relationship Id="rId57" Type="http://schemas.openxmlformats.org/officeDocument/2006/relationships/slide" Target="slides/slide5.xml"/><Relationship Id="rId58" Type="http://schemas.openxmlformats.org/officeDocument/2006/relationships/slide" Target="slides/slide9.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4.xml"/><Relationship Id="rId62" Type="http://schemas.openxmlformats.org/officeDocument/2006/relationships/slide" Target="slides/slide6.xml"/><Relationship Id="rId63" Type="http://schemas.openxmlformats.org/officeDocument/2006/relationships/slide" Target="slides/slide7.xml"/><Relationship Id="rId64" Type="http://schemas.openxmlformats.org/officeDocument/2006/relationships/slide" Target="slides/slide8.xml"/><Relationship Id="rId65" Type="http://schemas.openxmlformats.org/officeDocument/2006/relationships/slide" Target="slides/slide10.xml"/><Relationship Id="rId66" Type="http://schemas.openxmlformats.org/officeDocument/2006/relationships/slide" Target="slides/slide11.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النظام</a:t>
            </a:r>
          </a:p>
          <a:p>
            <a:r>
              <a:t>نظام تشغيل واحد لكل تعاقد.</a:t>
            </a:r>
          </a:p>
          <a:p>
            <a:r>
              <a:t>بدل الارتجال، تعمل PMP بنظام؛ كل تعاقد يتبع مراحل النمو الست نفسها. الثابت هو النظام، والمتغير هو وحدة القطاع.</a:t>
            </a:r>
          </a:p>
          <a:p/>
          <a:p>
            <a:r>
              <a:t>1</a:t>
            </a:r>
          </a:p>
          <a:p/>
          <a:p>
            <a:r>
              <a:t>الاستكشاف</a:t>
            </a:r>
          </a:p>
          <a:p>
            <a:r>
              <a:t>افهم النشاط قبل التحرك.</a:t>
            </a:r>
          </a:p>
          <a:p/>
          <a:p>
            <a:r>
              <a:t>2</a:t>
            </a:r>
          </a:p>
          <a:p/>
          <a:p>
            <a:r>
              <a:t>التشخيص</a:t>
            </a:r>
          </a:p>
          <a:p>
            <a:r>
              <a:t>حدد بدقة سبب تعطل النمو.</a:t>
            </a:r>
          </a:p>
          <a:p/>
          <a:p>
            <a:r>
              <a:t>3</a:t>
            </a:r>
          </a:p>
          <a:p/>
          <a:p>
            <a:r>
              <a:t>التصميم</a:t>
            </a:r>
          </a:p>
          <a:p>
            <a:r>
              <a:t>صمّم خطة النمو قبل البناء.</a:t>
            </a:r>
          </a:p>
          <a:p/>
          <a:p>
            <a:r>
              <a:t>4</a:t>
            </a:r>
          </a:p>
          <a:p/>
          <a:p>
            <a:r>
              <a:t>التنفيذ</a:t>
            </a:r>
          </a:p>
          <a:p>
            <a:r>
              <a:t>نفّذ بدقة عبر القنوات.</a:t>
            </a:r>
          </a:p>
          <a:p/>
          <a:p>
            <a:r>
              <a:t>5</a:t>
            </a:r>
          </a:p>
          <a:p/>
          <a:p>
            <a:r>
              <a:t>التحسين</a:t>
            </a:r>
          </a:p>
          <a:p>
            <a:r>
              <a:t>حسّن بالبيانات أسبوعيًا.</a:t>
            </a:r>
          </a:p>
          <a:p/>
          <a:p>
            <a:r>
              <a:t>★</a:t>
            </a:r>
          </a:p>
          <a:p/>
          <a:p>
            <a:r>
              <a:t>التوسع</a:t>
            </a:r>
          </a:p>
          <a:p>
            <a:r>
              <a:t>وسّع الناجح نحو نمو مستدام.</a:t>
            </a:r>
          </a:p>
          <a:p>
            <a:r>
              <a:t>نظام نمو PMP™ · 02</a:t>
            </a:r>
          </a:p>
          <a:p>
            <a:r>
              <a:t>الدمج: الإطار والمخرجات من المصادر المرفقة؛ توزيع المسؤوليات والاعتمادات وشروط الانتقال المقترحة ليس كله سياسة مؤكدة للشركة.</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المرحلة 01</a:t>
            </a:r>
          </a:p>
          <a:p>
            <a:r>
              <a:t>الاستكشاف</a:t>
            </a:r>
          </a:p>
          <a:p>
            <a:r>
              <a:t>«افهم قبل أن تتحرك».</a:t>
            </a:r>
          </a:p>
          <a:p>
            <a:r>
              <a:t>01</a:t>
            </a:r>
          </a:p>
          <a:p/>
          <a:p/>
          <a:p/>
          <a:p>
            <a:r>
              <a:t>ما نفعله</a:t>
            </a:r>
          </a:p>
          <a:p>
            <a:r>
              <a:t>اكتشاف النشاط وأهدافه</a:t>
            </a:r>
          </a:p>
          <a:p>
            <a:r>
              <a:t>مقابلات أصحاب المصلحة</a:t>
            </a:r>
          </a:p>
          <a:p>
            <a:r>
              <a:t>تدقيق العلامة</a:t>
            </a:r>
          </a:p>
          <a:p>
            <a:r>
              <a:t>مقابلات العملاء</a:t>
            </a:r>
          </a:p>
          <a:p>
            <a:r>
              <a:t>تحليل المنافسين</a:t>
            </a:r>
          </a:p>
          <a:p>
            <a:r>
              <a:t>بحث السوق</a:t>
            </a:r>
          </a:p>
          <a:p/>
          <a:p/>
          <a:p/>
          <a:p>
            <a:r>
              <a:t>المخرجات</a:t>
            </a:r>
          </a:p>
          <a:p>
            <a:r>
              <a:t>تقرير اكتشاف النشاط</a:t>
            </a:r>
          </a:p>
          <a:p>
            <a:r>
              <a:t>تحليل SWOT</a:t>
            </a:r>
          </a:p>
          <a:p>
            <a:r>
              <a:t>خريطة فرص النمو</a:t>
            </a:r>
          </a:p>
          <a:p>
            <a:r>
              <a:t>مشهد المنافسين</a:t>
            </a:r>
          </a:p>
          <a:p/>
          <a:p>
            <a:r>
              <a:t>لا نبدأ بالتكتيكات؛ يبني الاستكشاف أساسًا واقعيًا للجمهور والتموضع وفرص النمو الحقيقية.</a:t>
            </a:r>
          </a:p>
          <a:p>
            <a:r>
              <a:t>نظام نمو PMP™ · 03</a:t>
            </a:r>
          </a:p>
          <a:p>
            <a:r>
              <a:t>الدمج: الإطار والمخرجات من الملفات المرفقة، والتوزيعات وشروط الانتقال المقترحة ليست كلها سياسة مؤكدة. التحسن والنمو أهداف لا ضمانات. الأدوار الـ14 لا تتضمن صراحة تطوير المواقع أو CRM أو الأتمتة أو CRO المتخصص؛ حدّد مسؤولًا داخليًا/خارجيًا قبل التعهد بهذا النطاق.</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المرحلة 02</a:t>
            </a:r>
          </a:p>
          <a:p>
            <a:r>
              <a:t>التشخيص</a:t>
            </a:r>
          </a:p>
          <a:p>
            <a:r>
              <a:t>«حدّد سبب تعطل النمو».</a:t>
            </a:r>
          </a:p>
          <a:p>
            <a:r>
              <a:t>02</a:t>
            </a:r>
          </a:p>
          <a:p/>
          <a:p/>
          <a:p/>
          <a:p>
            <a:r>
              <a:t>مجالات الفحص</a:t>
            </a:r>
          </a:p>
          <a:p>
            <a:r>
              <a:t>التموضع والعلامة</a:t>
            </a:r>
          </a:p>
          <a:p>
            <a:r>
              <a:t>المنتج والعرض</a:t>
            </a:r>
          </a:p>
          <a:p>
            <a:r>
              <a:t>مسار التحويل والموقع</a:t>
            </a:r>
          </a:p>
          <a:p>
            <a:r>
              <a:t>CRM وعملية المبيعات</a:t>
            </a:r>
          </a:p>
          <a:p>
            <a:r>
              <a:t>كفاءة التسويق والإعلام</a:t>
            </a:r>
          </a:p>
          <a:p/>
          <a:p/>
          <a:p/>
          <a:p>
            <a:r>
              <a:t>المخرجات</a:t>
            </a:r>
          </a:p>
          <a:p>
            <a:r>
              <a:t>تشخيص النمو</a:t>
            </a:r>
          </a:p>
          <a:p>
            <a:r>
              <a:t>مصفوفة الأولويات</a:t>
            </a:r>
          </a:p>
          <a:p>
            <a:r>
              <a:t>قائمة المكاسب السريعة</a:t>
            </a:r>
          </a:p>
          <a:p/>
          <a:p>
            <a:r>
              <a:t>السؤال: لماذا لا ينمو النشاط؟ نعزل القيود الحقيقية لا الأعراض لتوجيه الجهد والميزانية للأثر.</a:t>
            </a:r>
          </a:p>
          <a:p>
            <a:r>
              <a:t>نظام نمو PMP™ · 04</a:t>
            </a:r>
          </a:p>
          <a:p>
            <a:r>
              <a:t>الدمج: الإطار والمخرجات من الملفات المرفقة، والتوزيعات وشروط الانتقال المقترحة ليست كلها سياسة مؤكدة. التحسن والنمو أهداف لا ضمانات. الأدوار الـ14 لا تتضمن صراحة تطوير المواقع أو CRM أو الأتمتة أو CRO المتخصص؛ حدّد مسؤولًا داخليًا/خارجيًا قبل التعهد بهذا النطاق.</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المرحلة 03</a:t>
            </a:r>
          </a:p>
          <a:p>
            <a:r>
              <a:t>التصميم</a:t>
            </a:r>
          </a:p>
          <a:p>
            <a:r>
              <a:t>«صمّم الحل قبل البناء».</a:t>
            </a:r>
          </a:p>
          <a:p>
            <a:r>
              <a:t>03</a:t>
            </a:r>
          </a:p>
          <a:p/>
          <a:p/>
          <a:p/>
          <a:p>
            <a:r>
              <a:t>ما نصمّمه</a:t>
            </a:r>
          </a:p>
          <a:p>
            <a:r>
              <a:t>استراتيجية العلامة</a:t>
            </a:r>
          </a:p>
          <a:p>
            <a:r>
              <a:t>استراتيجية المحتوى</a:t>
            </a:r>
          </a:p>
          <a:p>
            <a:r>
              <a:t>استراتيجية الإعلام</a:t>
            </a:r>
          </a:p>
          <a:p>
            <a:r>
              <a:t>رحلة العميل</a:t>
            </a:r>
          </a:p>
          <a:p>
            <a:r>
              <a:t>إطار مؤشرات الأداء</a:t>
            </a:r>
          </a:p>
          <a:p>
            <a:r>
              <a:t>توزيع الميزانية</a:t>
            </a:r>
          </a:p>
          <a:p/>
          <a:p/>
          <a:p/>
          <a:p>
            <a:r>
              <a:t>المخرجات</a:t>
            </a:r>
          </a:p>
          <a:p>
            <a:r>
              <a:t>مخطط النمو™: خطة موحدة تربط الاستراتيجية والقنوات والمؤشرات والميزانية وتصلح للعرض على الإدارة.</a:t>
            </a:r>
          </a:p>
          <a:p/>
          <a:p>
            <a:r>
              <a:t>هنا تُهندس الخطة ولا تُنفذ؛ تُحدد التفاصيل ويُتفق عليها قبل إطلاق الحملات.</a:t>
            </a:r>
          </a:p>
          <a:p>
            <a:r>
              <a:t>نظام نمو PMP™ · 05</a:t>
            </a:r>
          </a:p>
          <a:p>
            <a:r>
              <a:t>الدمج: الإطار والمخرجات من الملفات المرفقة، والتوزيعات وشروط الانتقال المقترحة ليست كلها سياسة مؤكدة. التحسن والنمو أهداف لا ضمانات. الأدوار الـ14 لا تتضمن صراحة تطوير المواقع أو CRM أو الأتمتة أو CRO المتخصص؛ حدّد مسؤولًا داخليًا/خارجيًا قبل التعهد بهذا النطاق.</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المرحلة 04</a:t>
            </a:r>
          </a:p>
          <a:p>
            <a:r>
              <a:t>التنفيذ</a:t>
            </a:r>
          </a:p>
          <a:p>
            <a:r>
              <a:t>«تنفيذ بدقة».</a:t>
            </a:r>
          </a:p>
          <a:p>
            <a:r>
              <a:t>04</a:t>
            </a:r>
          </a:p>
          <a:p/>
          <a:p/>
          <a:p/>
          <a:p>
            <a:r>
              <a:t>ما نبنيه</a:t>
            </a:r>
          </a:p>
          <a:p>
            <a:r>
              <a:t>الموقع وصفحات الهبوط</a:t>
            </a:r>
          </a:p>
          <a:p>
            <a:r>
              <a:t>الهوية والإبداع</a:t>
            </a:r>
          </a:p>
          <a:p>
            <a:r>
              <a:t>الحملات المدفوعة</a:t>
            </a:r>
          </a:p>
          <a:p>
            <a:r>
              <a:t>التواصل والمحتوى</a:t>
            </a:r>
          </a:p>
          <a:p>
            <a:r>
              <a:t>CRM والأتمتة</a:t>
            </a:r>
          </a:p>
          <a:p/>
          <a:p/>
          <a:p/>
          <a:p>
            <a:r>
              <a:t>المخرجات</a:t>
            </a:r>
          </a:p>
          <a:p>
            <a:r>
              <a:t>حملات منشورة وخطة محتوى</a:t>
            </a:r>
          </a:p>
          <a:p>
            <a:r>
              <a:t>إعداد القياس والتحليلات</a:t>
            </a:r>
          </a:p>
          <a:p>
            <a:r>
              <a:t>الأتمتة وتوجيه العملاء المحتملين</a:t>
            </a:r>
          </a:p>
          <a:p/>
          <a:p>
            <a:r>
              <a:t>يحوّل التنفيذ الخطة إلى مواد وحملات فعلية مزودة بالقياس من البداية لتتبع النتائج.</a:t>
            </a:r>
          </a:p>
          <a:p>
            <a:r>
              <a:t>نظام نمو PMP™ · 06</a:t>
            </a:r>
          </a:p>
          <a:p>
            <a:r>
              <a:t>الدمج: الإطار والمخرجات من الملفات المرفقة، والتوزيعات وشروط الانتقال المقترحة ليست كلها سياسة مؤكدة. التحسن والنمو أهداف لا ضمانات. الأدوار الـ14 لا تتضمن صراحة تطوير المواقع أو CRM أو الأتمتة أو CRO المتخصص؛ حدّد مسؤولًا داخليًا/خارجيًا قبل التعهد بهذا النطاق.</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المرحلة 05</a:t>
            </a:r>
          </a:p>
          <a:p>
            <a:r>
              <a:t>التحسين</a:t>
            </a:r>
          </a:p>
          <a:p>
            <a:r>
              <a:t>«حسّن بالبيانات كل أسبوع».</a:t>
            </a:r>
          </a:p>
          <a:p>
            <a:r>
              <a:t>05</a:t>
            </a:r>
          </a:p>
          <a:p/>
          <a:p/>
          <a:p/>
          <a:p>
            <a:r>
              <a:t>كيف نحسّن</a:t>
            </a:r>
          </a:p>
          <a:p>
            <a:r>
              <a:t>تقارير أسبوعية وشهرية</a:t>
            </a:r>
          </a:p>
          <a:p>
            <a:r>
              <a:t>لوحات متابعة حية</a:t>
            </a:r>
          </a:p>
          <a:p>
            <a:r>
              <a:t>خرائط حرارية وتحليل السلوك</a:t>
            </a:r>
          </a:p>
          <a:p>
            <a:r>
              <a:t>اختبار A/B</a:t>
            </a:r>
          </a:p>
          <a:p>
            <a:r>
              <a:t>تحسين معدل التحويل CRO</a:t>
            </a:r>
          </a:p>
          <a:p/>
          <a:p/>
          <a:p/>
          <a:p>
            <a:r>
              <a:t>المخرجات</a:t>
            </a:r>
          </a:p>
          <a:p>
            <a:r>
              <a:t>تقارير أداء وتوصيات</a:t>
            </a:r>
          </a:p>
          <a:p>
            <a:r>
              <a:t>سجل التحسين</a:t>
            </a:r>
          </a:p>
          <a:p>
            <a:r>
              <a:t>تحسين CPL وCPM وROAS بمرور الوقت</a:t>
            </a:r>
          </a:p>
          <a:p/>
          <a:p>
            <a:r>
              <a:t>التحسين دورة مستمرة من القياس والاختبار والتنقيح لرفع الكفاءة شهرًا بعد شهر.</a:t>
            </a:r>
          </a:p>
          <a:p>
            <a:r>
              <a:t>نظام نمو PMP™ · 07</a:t>
            </a:r>
          </a:p>
          <a:p>
            <a:r>
              <a:t>الدمج: الإطار والمخرجات من الملفات المرفقة، والتوزيعات وشروط الانتقال المقترحة ليست كلها سياسة مؤكدة. التحسن والنمو أهداف لا ضمانات. الأدوار الـ14 لا تتضمن صراحة تطوير المواقع أو CRM أو الأتمتة أو CRO المتخصص؛ حدّد مسؤولًا داخليًا/خارجيًا قبل التعهد بهذا النطاق.</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المرحلة 06</a:t>
            </a:r>
          </a:p>
          <a:p>
            <a:r>
              <a:t>التوسع</a:t>
            </a:r>
          </a:p>
          <a:p>
            <a:r>
              <a:t>«وسّع ما ينجح».</a:t>
            </a:r>
          </a:p>
          <a:p>
            <a:r>
              <a:t>06</a:t>
            </a:r>
          </a:p>
          <a:p/>
          <a:p/>
          <a:p/>
          <a:p>
            <a:r>
              <a:t>ما نوسّعه</a:t>
            </a:r>
          </a:p>
          <a:p>
            <a:r>
              <a:t>زيادة الميزانية خلف الناجح</a:t>
            </a:r>
          </a:p>
          <a:p>
            <a:r>
              <a:t>دخول أسواق جديدة</a:t>
            </a:r>
          </a:p>
          <a:p>
            <a:r>
              <a:t>إضافة قنوات جديدة</a:t>
            </a:r>
          </a:p>
          <a:p>
            <a:r>
              <a:t>الاحتفاظ والولاء</a:t>
            </a:r>
          </a:p>
          <a:p>
            <a:r>
              <a:t>التوسع ومصادر إيراد جديدة</a:t>
            </a:r>
          </a:p>
          <a:p/>
          <a:p/>
          <a:p/>
          <a:p>
            <a:r>
              <a:t>المخرجات</a:t>
            </a:r>
          </a:p>
          <a:p>
            <a:r>
              <a:t>خطة التوسع</a:t>
            </a:r>
          </a:p>
          <a:p>
            <a:r>
              <a:t>خريطة التوسع</a:t>
            </a:r>
          </a:p>
          <a:p>
            <a:r>
              <a:t>نمو مستدام ومتراكم</a:t>
            </a:r>
          </a:p>
          <a:p/>
          <a:p>
            <a:r>
              <a:t>يحوّل التوسع النتائج المثبتة إلى نمو عبر الميزانيات والأسواق والقنوات استنادًا إلى الأساس السابق.</a:t>
            </a:r>
          </a:p>
          <a:p>
            <a:r>
              <a:t>نظام نمو PMP™ · 08</a:t>
            </a:r>
          </a:p>
          <a:p>
            <a:r>
              <a:t>الدمج: الإطار والمخرجات من الملفات المرفقة، والتوزيعات وشروط الانتقال المقترحة ليست كلها سياسة مؤكدة. التحسن والنمو أهداف لا ضمانات. الأدوار الـ14 لا تتضمن صراحة تطوير المواقع أو CRM أو الأتمتة أو CRO المتخصص؛ حدّد مسؤولًا داخليًا/خارجيًا قبل التعهد بهذا النطاق.</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نظام واحد ملائم لقطاعك</a:t>
            </a:r>
          </a:p>
          <a:p>
            <a:r>
              <a:t>وحدات نمو القطاعات™</a:t>
            </a:r>
          </a:p>
          <a:p>
            <a:r>
              <a:t>المراحل الست ثابتة؛ تضيف وحدة القطاع رحلاته ومسارات تحويله ومؤشراته الخاصة.</a:t>
            </a:r>
          </a:p>
          <a:p/>
          <a:p>
            <a:r>
              <a:t>وحدة نمو الرعاية الصحية™</a:t>
            </a:r>
          </a:p>
          <a:p>
            <a:r>
              <a:t>رحلة المريض والمرجعية الطبية ومسار المواعيد والإحالات.</a:t>
            </a:r>
          </a:p>
          <a:p/>
          <a:p>
            <a:r>
              <a:t>وحدة النمو العقاري™</a:t>
            </a:r>
          </a:p>
          <a:p>
            <a:r>
              <a:t>رحلة المشتري وتأهيل الفرص وCRM والمبيعات.</a:t>
            </a:r>
          </a:p>
          <a:p/>
          <a:p>
            <a:r>
              <a:t>وحدة نمو الضيافة™</a:t>
            </a:r>
          </a:p>
          <a:p>
            <a:r>
              <a:t>الحجز والمراجعات والولاء والاحتفاظ.</a:t>
            </a:r>
          </a:p>
          <a:p/>
          <a:p>
            <a:r>
              <a:t>وحدة العلامات الفاخرة™</a:t>
            </a:r>
          </a:p>
          <a:p>
            <a:r>
              <a:t>تجربة العلامة والسرد والمجتمع والتموضع الراقي.</a:t>
            </a:r>
          </a:p>
          <a:p>
            <a:r>
              <a:t>تتكامل كل وحدة مع مراحل النمو الست؛ النظام ثابت والوحدة تخصصه للقطاع.</a:t>
            </a:r>
          </a:p>
          <a:p>
            <a:r>
              <a:t>نظام نمو PMP™ · 09</a:t>
            </a:r>
          </a:p>
          <a:p>
            <a:r>
              <a:t>الدمج: الوحدات إطار مرفق فوق المراحل الست، وليست موظفين جددًا أو بديلًا عن الاعتماد الداخلي. توزيع المسؤوليات وشروط الانتقال المقترحة يحتاج تأكيدًا لكل تعاقد.</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a:p>
            <a:r>
              <a:t>المحتوى الأصلي:</a:t>
            </a:r>
          </a:p>
          <a:p>
            <a:r>
              <a:t>بنية النمو في PMP</a:t>
            </a:r>
          </a:p>
          <a:p>
            <a:r>
              <a:t>منظومة واحدة مترابطة</a:t>
            </a:r>
          </a:p>
          <a:p>
            <a:r>
              <a:t>كل أداة في PMP تستند إلى نظام النمو: نظام ولغة واحدة عبر نقاط التواصل.</a:t>
            </a:r>
          </a:p>
          <a:p/>
          <a:p>
            <a:r>
              <a:t>PMP</a:t>
            </a:r>
          </a:p>
          <a:p/>
          <a:p>
            <a:r>
              <a:t>نظام النمو™</a:t>
            </a:r>
          </a:p>
          <a:p/>
          <a:p>
            <a:r>
              <a:t>مقياس النمو™</a:t>
            </a:r>
          </a:p>
          <a:p/>
          <a:p>
            <a:r>
              <a:t>التدقيق™</a:t>
            </a:r>
          </a:p>
          <a:p/>
          <a:p>
            <a:r>
              <a:t>المخطط™</a:t>
            </a:r>
          </a:p>
          <a:p/>
          <a:p>
            <a:r>
              <a:t>لوحة المتابعة™</a:t>
            </a:r>
          </a:p>
          <a:p/>
          <a:p>
            <a:r>
              <a:t>أدلة التنفيذ™</a:t>
            </a:r>
          </a:p>
          <a:p/>
          <a:p>
            <a:r>
              <a:t>الأكاديمية™</a:t>
            </a:r>
          </a:p>
          <a:p>
            <a:r>
              <a:t>يفتتح مقياس النمو والتدقيق العلاقة، وتنفذ سلسلة النظام العمل وتراكم نتائجه.</a:t>
            </a:r>
          </a:p>
          <a:p>
            <a:r>
              <a:t>نظام نمو PMP™ · 10</a:t>
            </a:r>
          </a:p>
          <a:p>
            <a:r>
              <a:t>الدمج: الأسماء وعلامة ™ محفوظة من المصدر، دون ادعاء تسجيل قانوني. الإطار والمخرجات مرفقان؛ وتظل التوزيعات والاعتمادات المقترحة بحاجة إلى تأكيد.</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مرجع هيكلي: شيت PMP المرفق وتبويبات الفرق والتذكيرات والإنجاز. تختلف الحقول والحالات بين التبويبات. لم تُدرج أسماء أو حسابات أو روابط أو تواريخ أو مؤشرات أو بيانات دخول فعلية. سطر النشاط اليومي ليس سجل اعتماد.</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المستخدم أن المجلد داخل عروض الأسعار قبل العقد، وينتقل بعد التوقيع مستقلًا باسم العميل ويحتوي الأسعار والاستراتيجية والموجز والعمل الشهري. نقل لا نسخ. مسؤولية المبيعات/التطوير استمرار لتعليمات الإنشاء؛ العرض لا يجري أي عملية Drive فعلية.</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تعليمات المستخدم: يقود المبيعات/التطوير الاستقطاب بالزيارات والاتصالات المبنية على فحص الحسابات وLinkedIn والبريد وعملاء الإعلانات، مع مشاركة الحساب. ملف SKILL-1.md متاح لمنهج الاستراتيجية، لكن أدلة العميل والتسعير لم تُقدم؛ لا نختلق أسعارًا أو نتائج. تُجهّز حزمة الموجز والاستراتيجية والسعر والعقد مطبوعة للتوقيع. التنفيذ بعد سداد كامل التواصل فقط أو نصف العقود التي تشمل غيره. أتعاب الإعلام 25% بعد التنفيذ من المصروفات الفعلية. الرصيد والضرائب والتمويل وتعريف المصروفات غير محددة هنا.</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تعليمات المستخدم: يقود المبيعات/التطوير الاستقطاب بالزيارات والاتصالات المبنية على فحص الحسابات وLinkedIn والبريد وعملاء الإعلانات، مع مشاركة الحساب. ملف SKILL-1.md متاح لمنهج الاستراتيجية، لكن أدلة العميل والتسعير لم تُقدم؛ لا نختلق أسعارًا أو نتائج. تُجهّز حزمة الموجز والاستراتيجية والسعر والعقد مطبوعة للتوقيع. التنفيذ بعد سداد كامل التواصل فقط أو نصف العقود التي تشمل غيره. أتعاب الإعلام 25% بعد التنفيذ من المصروفات الفعلية. الرصيد والضرائب والتمويل وتعريف المصروفات غير محددة هنا.</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تعليمات المستخدم: يقود المبيعات/التطوير الاستقطاب بالزيارات والاتصالات المبنية على فحص الحسابات وLinkedIn والبريد وعملاء الإعلانات، مع مشاركة الحساب. ملف SKILL-1.md متاح لمنهج الاستراتيجية، لكن أدلة العميل والتسعير لم تُقدم؛ لا نختلق أسعارًا أو نتائج. تُجهّز حزمة الموجز والاستراتيجية والسعر والعقد مطبوعة للتوقيع. التنفيذ بعد سداد كامل التواصل فقط أو نصف العقود التي تشمل غيره. أتعاب الإعلام 25% بعد التنفيذ من المصروفات الفعلية. الرصيد والضرائب والتمويل وتعريف المصروفات غير محددة هنا.</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تعليمات المستخدم: يقود المبيعات/التطوير الاستقطاب بالزيارات والاتصالات المبنية على فحص الحسابات وLinkedIn والبريد وعملاء الإعلانات، مع مشاركة الحساب. ملف SKILL-1.md متاح لمنهج الاستراتيجية، لكن أدلة العميل والتسعير لم تُقدم؛ لا نختلق أسعارًا أو نتائج. تُجهّز حزمة الموجز والاستراتيجية والسعر والعقد مطبوعة للتوقيع. التنفيذ بعد سداد كامل التواصل فقط أو نصف العقود التي تشمل غيره. أتعاب الإعلام 25% بعد التنفيذ من المصروفات الفعلية. الرصيد والضرائب والتمويل وتعريف المصروفات غير محددة هنا.</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تعليمات المستخدم: يقود المبيعات/التطوير الاستقطاب بالزيارات والاتصالات المبنية على فحص الحسابات وLinkedIn والبريد وعملاء الإعلانات، مع مشاركة الحساب. ملف SKILL-1.md متاح لمنهج الاستراتيجية، لكن أدلة العميل والتسعير لم تُقدم؛ لا نختلق أسعارًا أو نتائج. تُجهّز حزمة الموجز والاستراتيجية والسعر والعقد مطبوعة للتوقيع. التنفيذ بعد سداد كامل التواصل فقط أو نصف العقود التي تشمل غيره. أتعاب الإعلام 25% بعد التنفيذ من المصروفات الفعلية. الرصيد والضرائب والتمويل وتعريف المصروفات غير محددة هنا.</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تعليمات المستخدم: يقود المبيعات/التطوير الاستقطاب بالزيارات والاتصالات المبنية على فحص الحسابات وLinkedIn والبريد وعملاء الإعلانات، مع مشاركة الحساب. ملف SKILL-1.md متاح لمنهج الاستراتيجية، لكن أدلة العميل والتسعير لم تُقدم؛ لا نختلق أسعارًا أو نتائج. تُجهّز حزمة الموجز والاستراتيجية والسعر والعقد مطبوعة للتوقيع. التنفيذ بعد سداد كامل التواصل فقط أو نصف العقود التي تشمل غيره. أتعاب الإعلام 25% بعد التنفيذ من المصروفات الفعلية. الرصيد والضرائب والتمويل وتعريف المصروفات غير محددة هنا.</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تعليمات المستخدم: يقود المبيعات/التطوير الاستقطاب بالزيارات والاتصالات المبنية على فحص الحسابات وLinkedIn والبريد وعملاء الإعلانات، مع مشاركة الحساب. ملف SKILL-1.md متاح لمنهج الاستراتيجية، لكن أدلة العميل والتسعير لم تُقدم؛ لا نختلق أسعارًا أو نتائج. تُجهّز حزمة الموجز والاستراتيجية والسعر والعقد مطبوعة للتوقيع. التنفيذ بعد سداد كامل التواصل فقط أو نصف العقود التي تشمل غيره. أتعاب الإعلام 25% بعد التنفيذ من المصروفات الفعلية. الرصيد والضرائب والتمويل وتعريف المصروفات غير محددة هنا.</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المستخدم الدورية الشهرية. تلخص الطريقة نماذج التقييم المرفقة. تبقى السجلات الأصلية خاصة. يلزم تأكيد مطابقة الأدوار ومقيّم مدير التسويق والنسخة المرجعية والصلاحيات.</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 Id="rId7" Type="http://schemas.openxmlformats.org/officeDocument/2006/relationships/slide" Target="slide43.xml"/><Relationship Id="rId8" Type="http://schemas.openxmlformats.org/officeDocument/2006/relationships/slide" Target="slide44.xml"/><Relationship Id="rId9" Type="http://schemas.openxmlformats.org/officeDocument/2006/relationships/slide" Target="slide45.xml"/><Relationship Id="rId10" Type="http://schemas.openxmlformats.org/officeDocument/2006/relationships/slide" Target="slide46.xml"/><Relationship Id="rId11" Type="http://schemas.openxmlformats.org/officeDocument/2006/relationships/slide" Target="slide47.xml"/><Relationship Id="rId12" Type="http://schemas.openxmlformats.org/officeDocument/2006/relationships/slide" Target="slide48.xml"/><Relationship Id="rId13" Type="http://schemas.openxmlformats.org/officeDocument/2006/relationships/slide" Target="slide49.xml"/><Relationship Id="rId14" Type="http://schemas.openxmlformats.org/officeDocument/2006/relationships/slide" Target="slide50.xml"/><Relationship Id="rId15" Type="http://schemas.openxmlformats.org/officeDocument/2006/relationships/slide" Target="slide5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FFFFFF"/>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FFFFFF"/>
                </a:solidFill>
                <a:latin typeface="Montserrat"/>
              </a:defRPr>
            </a:pPr>
            <a:r>
              <a:rPr sz="1250">
                <a:latin typeface="IBM Plex Sans Arabic"/>
              </a:rPr>
              <a:t>01</a:t>
            </a:r>
          </a:p>
        </p:txBody>
      </p:sp>
      <p:cxnSp>
        <p:nvCxnSpPr>
          <p:cNvPr id="32" name="Connector 31"/>
          <p:cNvCxnSpPr/>
          <p:nvPr/>
        </p:nvCxnSpPr>
        <p:spPr>
          <a:xfrm flipH="1">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FFFFFF"/>
                </a:solidFill>
                <a:latin typeface="Montserrat"/>
              </a:defRPr>
            </a:pPr>
            <a:r>
              <a:rPr sz="1000">
                <a:latin typeface="IBM Plex Sans Arabic"/>
              </a:rPr>
              <a:t>نموّك هو نبضنا</a:t>
            </a:r>
          </a:p>
        </p:txBody>
      </p:sp>
      <p:sp>
        <p:nvSpPr>
          <p:cNvPr id="34" name="TextBox 33"/>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FFFFFF"/>
                </a:solidFill>
                <a:latin typeface="Montserrat"/>
              </a:defRPr>
            </a:pPr>
            <a:r>
              <a:rPr sz="1000">
                <a:latin typeface="IBM Plex Sans Arabic"/>
              </a:rPr>
              <a:t>مسودة قابلة للتعديل • التبعيات والسياسات الأخرى مقترحة</a:t>
            </a:r>
          </a:p>
        </p:txBody>
      </p:sp>
      <p:sp>
        <p:nvSpPr>
          <p:cNvPr id="35" name="Freeform 34"/>
          <p:cNvSpPr/>
          <p:nvPr/>
        </p:nvSpPr>
        <p:spPr>
          <a:xfrm>
            <a:off x="557784" y="1463040"/>
            <a:ext cx="4654296" cy="5212080"/>
          </a:xfrm>
          <a:custGeom>
            <a:avLst/>
            <a:gdLst/>
            <a:ahLst/>
            <a:cxnLst/>
            <a:rect l="l" t="t" r="r" b="b"/>
            <a:pathLst>
              <a:path w="509" h="570">
                <a:moveTo>
                  <a:pt x="0" y="28"/>
                </a:moveTo>
                <a:lnTo>
                  <a:pt x="44" y="0"/>
                </a:lnTo>
                <a:lnTo>
                  <a:pt x="89" y="22"/>
                </a:lnTo>
                <a:lnTo>
                  <a:pt x="140" y="0"/>
                </a:lnTo>
                <a:lnTo>
                  <a:pt x="191" y="19"/>
                </a:lnTo>
                <a:lnTo>
                  <a:pt x="254" y="0"/>
                </a:lnTo>
                <a:lnTo>
                  <a:pt x="306" y="22"/>
                </a:lnTo>
                <a:lnTo>
                  <a:pt x="357" y="0"/>
                </a:lnTo>
                <a:lnTo>
                  <a:pt x="408" y="22"/>
                </a:lnTo>
                <a:lnTo>
                  <a:pt x="446" y="0"/>
                </a:lnTo>
                <a:lnTo>
                  <a:pt x="509" y="28"/>
                </a:lnTo>
                <a:lnTo>
                  <a:pt x="502" y="128"/>
                </a:lnTo>
                <a:lnTo>
                  <a:pt x="509" y="256"/>
                </a:lnTo>
                <a:lnTo>
                  <a:pt x="501" y="370"/>
                </a:lnTo>
                <a:lnTo>
                  <a:pt x="509" y="484"/>
                </a:lnTo>
                <a:lnTo>
                  <a:pt x="499" y="570"/>
                </a:lnTo>
                <a:lnTo>
                  <a:pt x="446" y="558"/>
                </a:lnTo>
                <a:lnTo>
                  <a:pt x="382" y="570"/>
                </a:lnTo>
                <a:lnTo>
                  <a:pt x="318" y="552"/>
                </a:lnTo>
                <a:lnTo>
                  <a:pt x="254" y="570"/>
                </a:lnTo>
                <a:lnTo>
                  <a:pt x="191" y="552"/>
                </a:lnTo>
                <a:lnTo>
                  <a:pt x="127" y="570"/>
                </a:lnTo>
                <a:lnTo>
                  <a:pt x="63" y="552"/>
                </a:lnTo>
                <a:lnTo>
                  <a:pt x="0" y="570"/>
                </a:lnTo>
                <a:lnTo>
                  <a:pt x="8" y="427"/>
                </a:lnTo>
                <a:lnTo>
                  <a:pt x="0" y="313"/>
                </a:lnTo>
                <a:lnTo>
                  <a:pt x="7" y="17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6" name="TextBox 35"/>
          <p:cNvSpPr txBox="1"/>
          <p:nvPr/>
        </p:nvSpPr>
        <p:spPr>
          <a:xfrm>
            <a:off x="5669280" y="1508760"/>
            <a:ext cx="8229600" cy="3017520"/>
          </a:xfrm>
          <a:prstGeom prst="rect">
            <a:avLst/>
          </a:prstGeom>
          <a:noFill/>
        </p:spPr>
        <p:txBody>
          <a:bodyPr wrap="square" lIns="27432" rIns="27432" tIns="0" bIns="0">
            <a:spAutoFit/>
          </a:bodyPr>
          <a:lstStyle/>
          <a:p>
            <a:pPr algn="r" rtl="1">
              <a:spcAft>
                <a:spcPts val="400"/>
              </a:spcAft>
              <a:defRPr sz="10400" b="1">
                <a:solidFill>
                  <a:srgbClr val="FFFFFF"/>
                </a:solidFill>
                <a:latin typeface="Bebas Neue"/>
              </a:defRPr>
            </a:pPr>
            <a:r>
              <a:rPr sz="1600">
                <a:latin typeface="IBM Plex Sans Arabic"/>
              </a:rPr>
              <a:t>النمو</a:t>
            </a:r>
          </a:p>
          <a:p>
            <a:pPr algn="r" rtl="1">
              <a:spcAft>
                <a:spcPts val="400"/>
              </a:spcAft>
              <a:defRPr sz="10400" b="1">
                <a:solidFill>
                  <a:srgbClr val="FFFFFF"/>
                </a:solidFill>
                <a:latin typeface="Bebas Neue"/>
              </a:defRPr>
            </a:pPr>
            <a:r>
              <a:rPr sz="1600">
                <a:latin typeface="IBM Plex Sans Arabic"/>
              </a:rPr>
              <a:t>نظام التشغيل</a:t>
            </a:r>
          </a:p>
        </p:txBody>
      </p:sp>
      <p:sp>
        <p:nvSpPr>
          <p:cNvPr id="37" name="Rectangle 36"/>
          <p:cNvSpPr/>
          <p:nvPr/>
        </p:nvSpPr>
        <p:spPr>
          <a:xfrm>
            <a:off x="6720840" y="4983480"/>
            <a:ext cx="71323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6858000" y="5074920"/>
            <a:ext cx="6858000" cy="27432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250">
                <a:latin typeface="IBM Plex Sans Arabic"/>
              </a:rPr>
              <a:t>كل دور. كل تسليم. مترابط.</a:t>
            </a:r>
          </a:p>
        </p:txBody>
      </p:sp>
      <p:sp>
        <p:nvSpPr>
          <p:cNvPr id="39" name="TextBox 38"/>
          <p:cNvSpPr txBox="1"/>
          <p:nvPr/>
        </p:nvSpPr>
        <p:spPr>
          <a:xfrm>
            <a:off x="5760720" y="5897880"/>
            <a:ext cx="8046720" cy="1051560"/>
          </a:xfrm>
          <a:prstGeom prst="rect">
            <a:avLst/>
          </a:prstGeom>
          <a:noFill/>
        </p:spPr>
        <p:txBody>
          <a:bodyPr wrap="square" lIns="27432" rIns="27432" tIns="0" bIns="0">
            <a:spAutoFit/>
          </a:bodyPr>
          <a:lstStyle/>
          <a:p>
            <a:pPr algn="r" rtl="1">
              <a:spcAft>
                <a:spcPts val="400"/>
              </a:spcAft>
              <a:defRPr sz="2300" b="0">
                <a:solidFill>
                  <a:srgbClr val="FFFFFF"/>
                </a:solidFill>
                <a:latin typeface="Montserrat"/>
              </a:defRPr>
            </a:pPr>
            <a:r>
              <a:rPr sz="1600">
                <a:latin typeface="IBM Plex Sans Arabic"/>
              </a:rPr>
              <a:t>من الاستقطاب إلى نمو العميل
الاستقطاب · شروط السداد · التنفيذ · التعلم</a:t>
            </a:r>
          </a:p>
          <a:p>
            <a:pPr algn="r" rtl="1">
              <a:spcAft>
                <a:spcPts val="400"/>
              </a:spcAft>
              <a:defRPr sz="2300" b="0">
                <a:solidFill>
                  <a:srgbClr val="FFFFFF"/>
                </a:solidFill>
                <a:latin typeface="Montserrat"/>
              </a:defRPr>
            </a:pPr>
            <a:r>
              <a:rPr sz="1600">
                <a:latin typeface="IBM Plex Sans Arabic"/>
              </a:rPr>
              <a:t/>
            </a:r>
          </a:p>
        </p:txBody>
      </p:sp>
      <p:sp>
        <p:nvSpPr>
          <p:cNvPr id="40" name="TextBox 39"/>
          <p:cNvSpPr txBox="1"/>
          <p:nvPr/>
        </p:nvSpPr>
        <p:spPr>
          <a:xfrm>
            <a:off x="1371600" y="2011680"/>
            <a:ext cx="3200400" cy="1280160"/>
          </a:xfrm>
          <a:prstGeom prst="rect">
            <a:avLst/>
          </a:prstGeom>
          <a:noFill/>
        </p:spPr>
        <p:txBody>
          <a:bodyPr wrap="square" lIns="27432" rIns="27432" tIns="0" bIns="0">
            <a:spAutoFit/>
          </a:bodyPr>
          <a:lstStyle/>
          <a:p>
            <a:pPr algn="r" rtl="1">
              <a:spcAft>
                <a:spcPts val="400"/>
              </a:spcAft>
              <a:defRPr sz="9000" b="1">
                <a:solidFill>
                  <a:srgbClr val="7D2B42"/>
                </a:solidFill>
                <a:latin typeface="Bebas Neue"/>
              </a:defRPr>
            </a:pPr>
            <a:r>
              <a:rPr sz="1600">
                <a:latin typeface="IBM Plex Sans Arabic"/>
              </a:rPr>
              <a:t>14</a:t>
            </a:r>
          </a:p>
        </p:txBody>
      </p:sp>
      <p:sp>
        <p:nvSpPr>
          <p:cNvPr id="41" name="TextBox 40"/>
          <p:cNvSpPr txBox="1"/>
          <p:nvPr/>
        </p:nvSpPr>
        <p:spPr>
          <a:xfrm>
            <a:off x="1463040" y="3474720"/>
            <a:ext cx="3108960" cy="457200"/>
          </a:xfrm>
          <a:prstGeom prst="rect">
            <a:avLst/>
          </a:prstGeom>
          <a:noFill/>
        </p:spPr>
        <p:txBody>
          <a:bodyPr wrap="square" lIns="27432" rIns="27432" tIns="0" bIns="0">
            <a:spAutoFit/>
          </a:bodyPr>
          <a:lstStyle/>
          <a:p>
            <a:pPr algn="r" rtl="1">
              <a:spcAft>
                <a:spcPts val="400"/>
              </a:spcAft>
              <a:defRPr sz="1800" b="1">
                <a:solidFill>
                  <a:srgbClr val="7D2B42"/>
                </a:solidFill>
                <a:latin typeface="Montserrat"/>
              </a:defRPr>
            </a:pPr>
            <a:r>
              <a:rPr sz="1600">
                <a:latin typeface="IBM Plex Sans Arabic"/>
              </a:rPr>
              <a:t>وظيفة مستقلة</a:t>
            </a:r>
          </a:p>
        </p:txBody>
      </p:sp>
      <p:sp>
        <p:nvSpPr>
          <p:cNvPr id="42" name="TextBox 41"/>
          <p:cNvSpPr txBox="1"/>
          <p:nvPr/>
        </p:nvSpPr>
        <p:spPr>
          <a:xfrm>
            <a:off x="1554480" y="4297680"/>
            <a:ext cx="3017520" cy="1645920"/>
          </a:xfrm>
          <a:prstGeom prst="rect">
            <a:avLst/>
          </a:prstGeom>
          <a:noFill/>
        </p:spPr>
        <p:txBody>
          <a:bodyPr wrap="square" lIns="27432" rIns="27432" tIns="0" bIns="0">
            <a:spAutoFit/>
          </a:bodyPr>
          <a:lstStyle/>
          <a:p>
            <a:pPr algn="r" rtl="1">
              <a:spcAft>
                <a:spcPts val="400"/>
              </a:spcAft>
              <a:defRPr sz="2900" b="1">
                <a:solidFill>
                  <a:srgbClr val="7D2B42"/>
                </a:solidFill>
                <a:latin typeface="Montserrat"/>
              </a:defRPr>
            </a:pPr>
            <a:r>
              <a:rPr sz="1600">
                <a:latin typeface="IBM Plex Sans Arabic"/>
              </a:rPr>
              <a:t>فريق</a:t>
            </a:r>
          </a:p>
          <a:p>
            <a:pPr algn="r" rtl="1">
              <a:spcAft>
                <a:spcPts val="400"/>
              </a:spcAft>
              <a:defRPr sz="2900" b="1">
                <a:solidFill>
                  <a:srgbClr val="7D2B42"/>
                </a:solidFill>
                <a:latin typeface="Montserrat"/>
              </a:defRPr>
            </a:pPr>
            <a:r>
              <a:rPr sz="1600">
                <a:latin typeface="IBM Plex Sans Arabic"/>
              </a:rPr>
              <a:t>واحد</a:t>
            </a:r>
          </a:p>
          <a:p>
            <a:pPr algn="r" rtl="1">
              <a:spcAft>
                <a:spcPts val="400"/>
              </a:spcAft>
              <a:defRPr sz="2900" b="1">
                <a:solidFill>
                  <a:srgbClr val="7D2B42"/>
                </a:solidFill>
                <a:latin typeface="Montserrat"/>
              </a:defRPr>
            </a:pPr>
            <a:r>
              <a:rPr sz="1600">
                <a:latin typeface="IBM Plex Sans Arabic"/>
              </a:rPr>
              <a:t>مترابط</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02</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خريطة عمل وليست سياسة ثابتة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9808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766267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01 / ابدأ بإطار Growth OS™</a:t>
            </a:r>
          </a:p>
        </p:txBody>
      </p:sp>
      <p:sp>
        <p:nvSpPr>
          <p:cNvPr id="39" name="TextBox 38"/>
          <p:cNvSpPr txBox="1"/>
          <p:nvPr/>
        </p:nvSpPr>
        <p:spPr>
          <a:xfrm>
            <a:off x="7662672" y="3364991"/>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الاستكشاف والتشخيص والتصميم والتنفيذ والتحسين والتوسع.</a:t>
            </a:r>
          </a:p>
        </p:txBody>
      </p:sp>
      <p:sp>
        <p:nvSpPr>
          <p:cNvPr id="40" name="Rectangle 39"/>
          <p:cNvSpPr/>
          <p:nvPr/>
        </p:nvSpPr>
        <p:spPr>
          <a:xfrm>
            <a:off x="685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7031736"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85039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02 / اربط الفريق</a:t>
            </a:r>
          </a:p>
        </p:txBody>
      </p:sp>
      <p:sp>
        <p:nvSpPr>
          <p:cNvPr id="43" name="TextBox 42"/>
          <p:cNvSpPr txBox="1"/>
          <p:nvPr/>
        </p:nvSpPr>
        <p:spPr>
          <a:xfrm>
            <a:off x="850392" y="3364991"/>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14 دورًا قابلًا للتعديل مرتبطة بمراحل المساهمة.</a:t>
            </a:r>
          </a:p>
        </p:txBody>
      </p:sp>
      <p:sp>
        <p:nvSpPr>
          <p:cNvPr id="44" name="Rectangle 43"/>
          <p:cNvSpPr/>
          <p:nvPr/>
        </p:nvSpPr>
        <p:spPr>
          <a:xfrm>
            <a:off x="749808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13844016"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7662672" y="480060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03 / تتبع مسارات التسليم</a:t>
            </a:r>
          </a:p>
        </p:txBody>
      </p:sp>
      <p:sp>
        <p:nvSpPr>
          <p:cNvPr id="47" name="TextBox 46"/>
          <p:cNvSpPr txBox="1"/>
          <p:nvPr/>
        </p:nvSpPr>
        <p:spPr>
          <a:xfrm>
            <a:off x="7662672" y="569671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تسعة مسارات مهام وتسليمات ووحدات وشروط اعتماد مترابطة.</a:t>
            </a:r>
          </a:p>
        </p:txBody>
      </p:sp>
      <p:sp>
        <p:nvSpPr>
          <p:cNvPr id="48" name="Rectangle 47"/>
          <p:cNvSpPr/>
          <p:nvPr/>
        </p:nvSpPr>
        <p:spPr>
          <a:xfrm>
            <a:off x="68580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7031736"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850392" y="480060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04 / طوّعها لعملك</a:t>
            </a:r>
          </a:p>
        </p:txBody>
      </p:sp>
      <p:sp>
        <p:nvSpPr>
          <p:cNvPr id="51" name="TextBox 50"/>
          <p:cNvSpPr txBox="1"/>
          <p:nvPr/>
        </p:nvSpPr>
        <p:spPr>
          <a:xfrm>
            <a:off x="850392" y="569671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عدّل النص والبطاقات والخطوط وأكّد السياسات.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FFFFFF"/>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PMP / المبيعات وتطوير الأعمال أولًا</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FFFFFF"/>
                </a:solidFill>
                <a:latin typeface="Montserrat"/>
              </a:defRPr>
            </a:pPr>
            <a:r>
              <a:rPr sz="1250">
                <a:latin typeface="IBM Plex Sans Arabic"/>
              </a:rPr>
              <a:t>03</a:t>
            </a:r>
          </a:p>
        </p:txBody>
      </p:sp>
      <p:cxnSp>
        <p:nvCxnSpPr>
          <p:cNvPr id="32" name="Connector 31"/>
          <p:cNvCxnSpPr/>
          <p:nvPr/>
        </p:nvCxnSpPr>
        <p:spPr>
          <a:xfrm flipH="1">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FFFFFF"/>
                </a:solidFill>
                <a:latin typeface="Bebas Neue"/>
              </a:defRPr>
            </a:pPr>
            <a:r>
              <a:rPr sz="1600">
                <a:latin typeface="IBM Plex Sans Arabic"/>
              </a:rPr>
              <a:t>ابدأ بالاستقطاب وأبقِ الحساب مشاركًا</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FFFFFF"/>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FFFFFF"/>
                </a:solidFill>
                <a:latin typeface="Montserrat"/>
              </a:defRPr>
            </a:pPr>
            <a:r>
              <a:rPr sz="1000">
                <a:latin typeface="IBM Plex Sans Arabic"/>
              </a:rPr>
              <a:t>مسودة قابلة للتعديل • التبعيات والسياسات الأخرى مقترحة</a:t>
            </a:r>
          </a:p>
        </p:txBody>
      </p:sp>
      <p:sp>
        <p:nvSpPr>
          <p:cNvPr id="36" name="TextBox 35"/>
          <p:cNvSpPr txBox="1"/>
          <p:nvPr/>
        </p:nvSpPr>
        <p:spPr>
          <a:xfrm>
            <a:off x="822960" y="2057400"/>
            <a:ext cx="12984480" cy="731520"/>
          </a:xfrm>
          <a:prstGeom prst="rect">
            <a:avLst/>
          </a:prstGeom>
          <a:noFill/>
        </p:spPr>
        <p:txBody>
          <a:bodyPr wrap="square" lIns="27432" rIns="27432" tIns="0" bIns="0">
            <a:spAutoFit/>
          </a:bodyPr>
          <a:lstStyle/>
          <a:p>
            <a:pPr algn="r" rtl="1">
              <a:spcAft>
                <a:spcPts val="400"/>
              </a:spcAft>
              <a:defRPr sz="4000" b="1">
                <a:solidFill>
                  <a:srgbClr val="FFFFFF"/>
                </a:solidFill>
                <a:latin typeface="Bebas Neue"/>
              </a:defRPr>
            </a:pPr>
            <a:r>
              <a:rPr sz="1600">
                <a:latin typeface="IBM Plex Sans Arabic"/>
              </a:rPr>
              <a:t>المبيعات أو تطوير الأعمال</a:t>
            </a:r>
          </a:p>
        </p:txBody>
      </p:sp>
      <p:sp>
        <p:nvSpPr>
          <p:cNvPr id="37" name="Freeform 36"/>
          <p:cNvSpPr/>
          <p:nvPr/>
        </p:nvSpPr>
        <p:spPr>
          <a:xfrm>
            <a:off x="1065276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10835640" y="3520440"/>
            <a:ext cx="2880360" cy="59436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استقطاب</a:t>
            </a:r>
          </a:p>
        </p:txBody>
      </p:sp>
      <p:sp>
        <p:nvSpPr>
          <p:cNvPr id="39" name="TextBox 38"/>
          <p:cNvSpPr txBox="1"/>
          <p:nvPr/>
        </p:nvSpPr>
        <p:spPr>
          <a:xfrm>
            <a:off x="10835640" y="4389120"/>
            <a:ext cx="2880360" cy="91440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ابحث عن الفرصة وأهّلها.</a:t>
            </a:r>
          </a:p>
        </p:txBody>
      </p:sp>
      <p:sp>
        <p:nvSpPr>
          <p:cNvPr id="40" name="Freeform 39"/>
          <p:cNvSpPr/>
          <p:nvPr/>
        </p:nvSpPr>
        <p:spPr>
          <a:xfrm>
            <a:off x="713232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TextBox 40"/>
          <p:cNvSpPr txBox="1"/>
          <p:nvPr/>
        </p:nvSpPr>
        <p:spPr>
          <a:xfrm>
            <a:off x="7315200" y="3520440"/>
            <a:ext cx="2880360" cy="59436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إعداد</a:t>
            </a:r>
          </a:p>
        </p:txBody>
      </p:sp>
      <p:sp>
        <p:nvSpPr>
          <p:cNvPr id="42" name="TextBox 41"/>
          <p:cNvSpPr txBox="1"/>
          <p:nvPr/>
        </p:nvSpPr>
        <p:spPr>
          <a:xfrm>
            <a:off x="7315200" y="4389120"/>
            <a:ext cx="2880360" cy="91440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تدقيق ← استراتيجية ← عرض بثلاث باقات.</a:t>
            </a:r>
          </a:p>
        </p:txBody>
      </p:sp>
      <p:sp>
        <p:nvSpPr>
          <p:cNvPr id="43" name="Freeform 42"/>
          <p:cNvSpPr/>
          <p:nvPr/>
        </p:nvSpPr>
        <p:spPr>
          <a:xfrm>
            <a:off x="361188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3794761" y="3520440"/>
            <a:ext cx="2880360" cy="59436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اجتماع واتفاق</a:t>
            </a:r>
          </a:p>
        </p:txBody>
      </p:sp>
      <p:sp>
        <p:nvSpPr>
          <p:cNvPr id="45" name="TextBox 44"/>
          <p:cNvSpPr txBox="1"/>
          <p:nvPr/>
        </p:nvSpPr>
        <p:spPr>
          <a:xfrm>
            <a:off x="3794761" y="4389120"/>
            <a:ext cx="2880360" cy="91440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اجتماع أول ← ثانٍ بمستندات موقعة.</a:t>
            </a:r>
          </a:p>
        </p:txBody>
      </p:sp>
      <p:sp>
        <p:nvSpPr>
          <p:cNvPr id="46" name="Freeform 45"/>
          <p:cNvSpPr/>
          <p:nvPr/>
        </p:nvSpPr>
        <p:spPr>
          <a:xfrm>
            <a:off x="9144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274320" y="3520440"/>
            <a:ext cx="2880360" cy="59436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التفعيل</a:t>
            </a:r>
          </a:p>
        </p:txBody>
      </p:sp>
      <p:sp>
        <p:nvSpPr>
          <p:cNvPr id="48" name="TextBox 47"/>
          <p:cNvSpPr txBox="1"/>
          <p:nvPr/>
        </p:nvSpPr>
        <p:spPr>
          <a:xfrm>
            <a:off x="274320" y="4389120"/>
            <a:ext cx="2880360" cy="91440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السداد المطلوب ← تسليم للتنفيذ.</a:t>
            </a:r>
          </a:p>
        </p:txBody>
      </p:sp>
      <p:sp>
        <p:nvSpPr>
          <p:cNvPr id="49" name="Rectangle 48"/>
          <p:cNvSpPr/>
          <p:nvPr/>
        </p:nvSpPr>
        <p:spPr>
          <a:xfrm>
            <a:off x="822960" y="612648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1005840" y="6309360"/>
            <a:ext cx="12618720" cy="274320"/>
          </a:xfrm>
          <a:prstGeom prst="rect">
            <a:avLst/>
          </a:prstGeom>
          <a:noFill/>
        </p:spPr>
        <p:txBody>
          <a:bodyPr wrap="square" lIns="27432" rIns="27432" tIns="0" bIns="0">
            <a:spAutoFit/>
          </a:bodyPr>
          <a:lstStyle/>
          <a:p>
            <a:pPr algn="r" rtl="1">
              <a:spcAft>
                <a:spcPts val="400"/>
              </a:spcAft>
              <a:defRPr sz="1700" b="1">
                <a:solidFill>
                  <a:srgbClr val="7D2B42"/>
                </a:solidFill>
                <a:latin typeface="Montserrat"/>
              </a:defRPr>
            </a:pPr>
            <a:r>
              <a:rPr sz="1250">
                <a:latin typeface="IBM Plex Sans Arabic"/>
              </a:rPr>
              <a:t>مدير الحساب مشارك طوال العملية، لا بعد البيع فقط</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المبيعات وتطوير الأعمال أولًا</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04</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الاستقطاب / خمسة مسارات للاجتماع الأول</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94560"/>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168128" y="2340864"/>
            <a:ext cx="3529584" cy="54864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الزيارات الميدانية</a:t>
            </a:r>
          </a:p>
        </p:txBody>
      </p:sp>
      <p:sp>
        <p:nvSpPr>
          <p:cNvPr id="38" name="TextBox 37"/>
          <p:cNvSpPr txBox="1"/>
          <p:nvPr/>
        </p:nvSpPr>
        <p:spPr>
          <a:xfrm>
            <a:off x="868680" y="2322576"/>
            <a:ext cx="8823960" cy="5943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زر الأنشطة المناسبة وحدّد احتياجها للخدمات.</a:t>
            </a:r>
          </a:p>
        </p:txBody>
      </p:sp>
      <p:sp>
        <p:nvSpPr>
          <p:cNvPr id="39" name="Rectangle 38"/>
          <p:cNvSpPr/>
          <p:nvPr/>
        </p:nvSpPr>
        <p:spPr>
          <a:xfrm>
            <a:off x="10012680" y="3163824"/>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10168128" y="3310128"/>
            <a:ext cx="3529584" cy="54864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اتصالات مبنية على بحث</a:t>
            </a:r>
          </a:p>
        </p:txBody>
      </p:sp>
      <p:sp>
        <p:nvSpPr>
          <p:cNvPr id="41" name="TextBox 40"/>
          <p:cNvSpPr txBox="1"/>
          <p:nvPr/>
        </p:nvSpPr>
        <p:spPr>
          <a:xfrm>
            <a:off x="868680" y="3291840"/>
            <a:ext cx="8823960" cy="5943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افحص الحسابات أولًا واتصل بالأنشطة ذات الاحتياج الحقيقي.</a:t>
            </a:r>
          </a:p>
        </p:txBody>
      </p:sp>
      <p:sp>
        <p:nvSpPr>
          <p:cNvPr id="42" name="Rectangle 41"/>
          <p:cNvSpPr/>
          <p:nvPr/>
        </p:nvSpPr>
        <p:spPr>
          <a:xfrm>
            <a:off x="10012680" y="4133087"/>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10168128" y="4279392"/>
            <a:ext cx="3529584" cy="54864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البحث في LinkedIn</a:t>
            </a:r>
          </a:p>
        </p:txBody>
      </p:sp>
      <p:sp>
        <p:nvSpPr>
          <p:cNvPr id="44" name="TextBox 43"/>
          <p:cNvSpPr txBox="1"/>
          <p:nvPr/>
        </p:nvSpPr>
        <p:spPr>
          <a:xfrm>
            <a:off x="868680" y="4261103"/>
            <a:ext cx="8823960" cy="5943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حدّد العملاء المناسبين وتواصل معهم.</a:t>
            </a:r>
          </a:p>
        </p:txBody>
      </p:sp>
      <p:sp>
        <p:nvSpPr>
          <p:cNvPr id="45" name="Rectangle 44"/>
          <p:cNvSpPr/>
          <p:nvPr/>
        </p:nvSpPr>
        <p:spPr>
          <a:xfrm>
            <a:off x="10012680" y="5102352"/>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10168128" y="5248656"/>
            <a:ext cx="3529584" cy="54864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حملات البريد الإلكتروني</a:t>
            </a:r>
          </a:p>
        </p:txBody>
      </p:sp>
      <p:sp>
        <p:nvSpPr>
          <p:cNvPr id="47" name="TextBox 46"/>
          <p:cNvSpPr txBox="1"/>
          <p:nvPr/>
        </p:nvSpPr>
        <p:spPr>
          <a:xfrm>
            <a:off x="868680" y="5230368"/>
            <a:ext cx="8823960" cy="5943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استخدم البريد للوصول للعملاء المحتملين.</a:t>
            </a:r>
          </a:p>
        </p:txBody>
      </p:sp>
      <p:sp>
        <p:nvSpPr>
          <p:cNvPr id="48" name="Rectangle 47"/>
          <p:cNvSpPr/>
          <p:nvPr/>
        </p:nvSpPr>
        <p:spPr>
          <a:xfrm>
            <a:off x="10012680" y="6071616"/>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0168128" y="6217920"/>
            <a:ext cx="3529584" cy="54864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متابعة عملاء الإعلانات</a:t>
            </a:r>
          </a:p>
        </p:txBody>
      </p:sp>
      <p:sp>
        <p:nvSpPr>
          <p:cNvPr id="50" name="TextBox 49"/>
          <p:cNvSpPr txBox="1"/>
          <p:nvPr/>
        </p:nvSpPr>
        <p:spPr>
          <a:xfrm>
            <a:off x="868680" y="6199632"/>
            <a:ext cx="8823960" cy="5943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اتصل بالفرص الناتجة عن جهود PMP الإعلانية.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المبيعات وتطوير الأعمال أولًا</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05</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قبل الاجتماع الأول / ابحث ثم سعّر</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509760"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9674353"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01 / التدقيق</a:t>
            </a:r>
          </a:p>
        </p:txBody>
      </p:sp>
      <p:sp>
        <p:nvSpPr>
          <p:cNvPr id="39" name="TextBox 38"/>
          <p:cNvSpPr txBox="1"/>
          <p:nvPr/>
        </p:nvSpPr>
        <p:spPr>
          <a:xfrm>
            <a:off x="9674353" y="3456432"/>
            <a:ext cx="4059935" cy="260604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أنشئ تدقيق التواصل بمهارة PMP وادرس النتائج قبل الاجتماع.</a:t>
            </a:r>
          </a:p>
        </p:txBody>
      </p:sp>
      <p:sp>
        <p:nvSpPr>
          <p:cNvPr id="40" name="Rectangle 39"/>
          <p:cNvSpPr/>
          <p:nvPr/>
        </p:nvSpPr>
        <p:spPr>
          <a:xfrm>
            <a:off x="4846321"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9180577"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5010914"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02 / الاستراتيجية</a:t>
            </a:r>
          </a:p>
        </p:txBody>
      </p:sp>
      <p:sp>
        <p:nvSpPr>
          <p:cNvPr id="43" name="TextBox 42"/>
          <p:cNvSpPr txBox="1"/>
          <p:nvPr/>
        </p:nvSpPr>
        <p:spPr>
          <a:xfrm>
            <a:off x="5010914" y="3456432"/>
            <a:ext cx="4059935" cy="260604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جهّز المشكلات والحلول وكيف ستعالجها PMP، وابنِ الاستراتيجية بعد التدقيق.</a:t>
            </a:r>
          </a:p>
        </p:txBody>
      </p:sp>
      <p:sp>
        <p:nvSpPr>
          <p:cNvPr id="44" name="Rectangle 43"/>
          <p:cNvSpPr/>
          <p:nvPr/>
        </p:nvSpPr>
        <p:spPr>
          <a:xfrm>
            <a:off x="182880"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4517136"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347473"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03 / الباقات الثلاث</a:t>
            </a:r>
          </a:p>
        </p:txBody>
      </p:sp>
      <p:sp>
        <p:nvSpPr>
          <p:cNvPr id="47" name="TextBox 46"/>
          <p:cNvSpPr txBox="1"/>
          <p:nvPr/>
        </p:nvSpPr>
        <p:spPr>
          <a:xfrm>
            <a:off x="347473" y="3456432"/>
            <a:ext cx="4059935" cy="260604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أعد الباقات من نطاق الاستراتيجية وأدلة السوق والأسعار السابقة حسب القطاع والفئة؛ المهارة بلا صيغة تسعير.</a:t>
            </a:r>
          </a:p>
        </p:txBody>
      </p:sp>
      <p:sp>
        <p:nvSpPr>
          <p:cNvPr id="48" name="Rectangle 47"/>
          <p:cNvSpPr/>
          <p:nvPr/>
        </p:nvSpPr>
        <p:spPr>
          <a:xfrm>
            <a:off x="822960" y="658368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005840" y="6739128"/>
            <a:ext cx="12618720" cy="32004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500">
                <a:latin typeface="IBM Plex Sans Arabic"/>
              </a:rPr>
              <a:t>أدلة التسعير: نطاقات السوق الفعلية والأسعار السابقة وقطاع العميل وفئته؛ دون مبالغ مختلقة.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مهارة SSM Strategy المرفقة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06</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إعداد التدقيق / البحث قبل التوصية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9808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766267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استقبال المتطلبات</a:t>
            </a:r>
          </a:p>
        </p:txBody>
      </p:sp>
      <p:sp>
        <p:nvSpPr>
          <p:cNvPr id="39" name="TextBox 38"/>
          <p:cNvSpPr txBox="1"/>
          <p:nvPr/>
        </p:nvSpPr>
        <p:spPr>
          <a:xfrm>
            <a:off x="7662672" y="3364991"/>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أكّد النطاق والصيغة واللغة والوصول، واطلب الضروري الناقص فقط مما لا يجيبه الموجز.</a:t>
            </a:r>
          </a:p>
        </p:txBody>
      </p:sp>
      <p:sp>
        <p:nvSpPr>
          <p:cNvPr id="40" name="Rectangle 39"/>
          <p:cNvSpPr/>
          <p:nvPr/>
        </p:nvSpPr>
        <p:spPr>
          <a:xfrm>
            <a:off x="685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7031736"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85039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البحث</a:t>
            </a:r>
          </a:p>
        </p:txBody>
      </p:sp>
      <p:sp>
        <p:nvSpPr>
          <p:cNvPr id="43" name="TextBox 42"/>
          <p:cNvSpPr txBox="1"/>
          <p:nvPr/>
        </p:nvSpPr>
        <p:spPr>
          <a:xfrm>
            <a:off x="850392" y="3364991"/>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راجع الموجز وInstagram والموقع والمواد والمنافسين والقطاع؛ سجّل الأرقام والاقتباسات والتواريخ والمصادر.</a:t>
            </a:r>
          </a:p>
        </p:txBody>
      </p:sp>
      <p:sp>
        <p:nvSpPr>
          <p:cNvPr id="44" name="Rectangle 43"/>
          <p:cNvSpPr/>
          <p:nvPr/>
        </p:nvSpPr>
        <p:spPr>
          <a:xfrm>
            <a:off x="749808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13844016"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7662672" y="4754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التناقضات</a:t>
            </a:r>
          </a:p>
        </p:txBody>
      </p:sp>
      <p:sp>
        <p:nvSpPr>
          <p:cNvPr id="47" name="TextBox 46"/>
          <p:cNvSpPr txBox="1"/>
          <p:nvPr/>
        </p:nvSpPr>
        <p:spPr>
          <a:xfrm>
            <a:off x="7662672" y="565099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قارن ادعاء النشاط بما تعرضه الحسابات والموقع والعرض المتاح فعلًا.</a:t>
            </a:r>
          </a:p>
        </p:txBody>
      </p:sp>
      <p:sp>
        <p:nvSpPr>
          <p:cNvPr id="48" name="Rectangle 47"/>
          <p:cNvSpPr/>
          <p:nvPr/>
        </p:nvSpPr>
        <p:spPr>
          <a:xfrm>
            <a:off x="68580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7031736"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850392" y="4754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الاستعداد للاجتماع</a:t>
            </a:r>
          </a:p>
        </p:txBody>
      </p:sp>
      <p:sp>
        <p:nvSpPr>
          <p:cNvPr id="51" name="TextBox 50"/>
          <p:cNvSpPr txBox="1"/>
          <p:nvPr/>
        </p:nvSpPr>
        <p:spPr>
          <a:xfrm>
            <a:off x="850392" y="565099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يدرس المبيعات/التطوير النتائج والحلول بمشاركة الحساب، ويعلن ما تعذر التحقق منه قبل العرض.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مهارة SSM Strategy المرفقة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07</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الاستراتيجية الكاملة / 26 قسمًا والنطاق أولًا</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98080" y="22860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7662672" y="2423160"/>
            <a:ext cx="6071616" cy="384048"/>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01–04 / البحث</a:t>
            </a:r>
          </a:p>
        </p:txBody>
      </p:sp>
      <p:sp>
        <p:nvSpPr>
          <p:cNvPr id="38" name="TextBox 37"/>
          <p:cNvSpPr txBox="1"/>
          <p:nvPr/>
        </p:nvSpPr>
        <p:spPr>
          <a:xfrm>
            <a:off x="7662672" y="2944368"/>
            <a:ext cx="6071616" cy="59436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نتائج · وضع وتدقيق · SWOT · منافسة</a:t>
            </a:r>
          </a:p>
        </p:txBody>
      </p:sp>
      <p:sp>
        <p:nvSpPr>
          <p:cNvPr id="39" name="Rectangle 38"/>
          <p:cNvSpPr/>
          <p:nvPr/>
        </p:nvSpPr>
        <p:spPr>
          <a:xfrm>
            <a:off x="685800" y="22860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850392" y="2423160"/>
            <a:ext cx="6071616" cy="384048"/>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05–09 / الاتجاه</a:t>
            </a:r>
          </a:p>
        </p:txBody>
      </p:sp>
      <p:sp>
        <p:nvSpPr>
          <p:cNvPr id="41" name="TextBox 40"/>
          <p:cNvSpPr txBox="1"/>
          <p:nvPr/>
        </p:nvSpPr>
        <p:spPr>
          <a:xfrm>
            <a:off x="850392" y="2944368"/>
            <a:ext cx="6071616" cy="59436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الجمهور · الرحلة · التموضع · الأهداف · المنصات</a:t>
            </a:r>
          </a:p>
        </p:txBody>
      </p:sp>
      <p:sp>
        <p:nvSpPr>
          <p:cNvPr id="42" name="Rectangle 41"/>
          <p:cNvSpPr/>
          <p:nvPr/>
        </p:nvSpPr>
        <p:spPr>
          <a:xfrm>
            <a:off x="7498080" y="38862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7662672" y="4023360"/>
            <a:ext cx="6071616" cy="384048"/>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10–15 / المحتوى والصوت</a:t>
            </a:r>
          </a:p>
        </p:txBody>
      </p:sp>
      <p:sp>
        <p:nvSpPr>
          <p:cNvPr id="44" name="TextBox 43"/>
          <p:cNvSpPr txBox="1"/>
          <p:nvPr/>
        </p:nvSpPr>
        <p:spPr>
          <a:xfrm>
            <a:off x="7662672" y="4544568"/>
            <a:ext cx="6071616" cy="59436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المحاور · المزيج · الصيغ · الاتجاهات الإبداعية · النبرة · الرسائل</a:t>
            </a:r>
          </a:p>
        </p:txBody>
      </p:sp>
      <p:sp>
        <p:nvSpPr>
          <p:cNvPr id="45" name="Rectangle 44"/>
          <p:cNvSpPr/>
          <p:nvPr/>
        </p:nvSpPr>
        <p:spPr>
          <a:xfrm>
            <a:off x="685800" y="38862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850392" y="4023360"/>
            <a:ext cx="6071616" cy="384048"/>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16–20 / التفعيل</a:t>
            </a:r>
          </a:p>
        </p:txBody>
      </p:sp>
      <p:sp>
        <p:nvSpPr>
          <p:cNvPr id="47" name="TextBox 46"/>
          <p:cNvSpPr txBox="1"/>
          <p:nvPr/>
        </p:nvSpPr>
        <p:spPr>
          <a:xfrm>
            <a:off x="850392" y="4544568"/>
            <a:ext cx="6071616" cy="59436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الحساب · المجتمع · المبدعون · التحويل · السلاسل</a:t>
            </a:r>
          </a:p>
        </p:txBody>
      </p:sp>
      <p:sp>
        <p:nvSpPr>
          <p:cNvPr id="48" name="Rectangle 47"/>
          <p:cNvSpPr/>
          <p:nvPr/>
        </p:nvSpPr>
        <p:spPr>
          <a:xfrm>
            <a:off x="7498080" y="54864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7662672" y="5623560"/>
            <a:ext cx="6071616" cy="384048"/>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21–24 / خطة التنفيذ</a:t>
            </a:r>
          </a:p>
        </p:txBody>
      </p:sp>
      <p:sp>
        <p:nvSpPr>
          <p:cNvPr id="50" name="TextBox 49"/>
          <p:cNvSpPr txBox="1"/>
          <p:nvPr/>
        </p:nvSpPr>
        <p:spPr>
          <a:xfrm>
            <a:off x="7662672" y="6144768"/>
            <a:ext cx="6071616" cy="59436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خطة 30 يومًا · نموذج أسبوعين · 45 فكرة · نظام نشر</a:t>
            </a:r>
          </a:p>
        </p:txBody>
      </p:sp>
      <p:sp>
        <p:nvSpPr>
          <p:cNvPr id="51" name="Rectangle 50"/>
          <p:cNvSpPr/>
          <p:nvPr/>
        </p:nvSpPr>
        <p:spPr>
          <a:xfrm>
            <a:off x="685800" y="54864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2" name="TextBox 51"/>
          <p:cNvSpPr txBox="1"/>
          <p:nvPr/>
        </p:nvSpPr>
        <p:spPr>
          <a:xfrm>
            <a:off x="850392" y="5623560"/>
            <a:ext cx="6071616" cy="384048"/>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25–26 / القياس</a:t>
            </a:r>
          </a:p>
        </p:txBody>
      </p:sp>
      <p:sp>
        <p:nvSpPr>
          <p:cNvPr id="53" name="TextBox 52"/>
          <p:cNvSpPr txBox="1"/>
          <p:nvPr/>
        </p:nvSpPr>
        <p:spPr>
          <a:xfrm>
            <a:off x="850392" y="6144768"/>
            <a:ext cx="6071616" cy="59436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المؤشرات وخريطة 90 يومًا؛ يُكتب الملخص أخيرًا ويُوضع أولًا.</a:t>
            </a:r>
          </a:p>
        </p:txBody>
      </p:sp>
      <p:sp>
        <p:nvSpPr>
          <p:cNvPr id="54" name="TextBox 53"/>
          <p:cNvSpPr txBox="1"/>
          <p:nvPr/>
        </p:nvSpPr>
        <p:spPr>
          <a:xfrm>
            <a:off x="822960" y="7223760"/>
            <a:ext cx="12984480" cy="365760"/>
          </a:xfrm>
          <a:prstGeom prst="rect">
            <a:avLst/>
          </a:prstGeom>
          <a:noFill/>
        </p:spPr>
        <p:txBody>
          <a:bodyPr wrap="square" lIns="27432" rIns="27432" tIns="0" bIns="0">
            <a:spAutoFit/>
          </a:bodyPr>
          <a:lstStyle/>
          <a:p>
            <a:pPr algn="r" rtl="1">
              <a:spcAft>
                <a:spcPts val="400"/>
              </a:spcAft>
              <a:defRPr sz="1200" b="0">
                <a:solidFill>
                  <a:srgbClr val="555555"/>
                </a:solidFill>
                <a:latin typeface="Montserrat"/>
              </a:defRPr>
            </a:pPr>
            <a:r>
              <a:rPr sz="1600">
                <a:latin typeface="IBM Plex Sans Arabic"/>
              </a:rPr>
              <a:t>طبّق الأقسام الـ26 للاستراتيجية الكاملة؛ نطاق التدقيق المحدود لا يعني إتمام استراتيجية كاملة.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مهارة SSM Strategy المرفقة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08</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شرط الجودة / أدلة ثم استراتيجية ثم تسعير</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509760"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9674353"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صنّف الأدلة</a:t>
            </a:r>
          </a:p>
        </p:txBody>
      </p:sp>
      <p:sp>
        <p:nvSpPr>
          <p:cNvPr id="39" name="TextBox 38"/>
          <p:cNvSpPr txBox="1"/>
          <p:nvPr/>
        </p:nvSpPr>
        <p:spPr>
          <a:xfrm>
            <a:off x="9674353" y="3456432"/>
            <a:ext cx="4059935" cy="2743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مرصود = مثبت مباشرة. تفسير = حكم. توصية = إجراء مقترح. ضع فجوات المصادر في المقدمة.</a:t>
            </a:r>
          </a:p>
        </p:txBody>
      </p:sp>
      <p:sp>
        <p:nvSpPr>
          <p:cNvPr id="40" name="Rectangle 39"/>
          <p:cNvSpPr/>
          <p:nvPr/>
        </p:nvSpPr>
        <p:spPr>
          <a:xfrm>
            <a:off x="4846321"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9180577"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5010914"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تحقق قبل العرض</a:t>
            </a:r>
          </a:p>
        </p:txBody>
      </p:sp>
      <p:sp>
        <p:nvSpPr>
          <p:cNvPr id="43" name="TextBox 42"/>
          <p:cNvSpPr txBox="1"/>
          <p:nvPr/>
        </p:nvSpPr>
        <p:spPr>
          <a:xfrm>
            <a:off x="5010914" y="3456432"/>
            <a:ext cx="4059935" cy="2743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طابق الأرقام والاقتباسات بالمصادر. غياب Insights والمبيعات والإعلانات يظل غير متحقق؛ المشاهدات وحدها لا تثبت الترويج.</a:t>
            </a:r>
          </a:p>
        </p:txBody>
      </p:sp>
      <p:sp>
        <p:nvSpPr>
          <p:cNvPr id="44" name="Rectangle 43"/>
          <p:cNvSpPr/>
          <p:nvPr/>
        </p:nvSpPr>
        <p:spPr>
          <a:xfrm>
            <a:off x="182880"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4517136"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347473"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سعّر النطاق المقترح</a:t>
            </a:r>
          </a:p>
        </p:txBody>
      </p:sp>
      <p:sp>
        <p:nvSpPr>
          <p:cNvPr id="47" name="TextBox 46"/>
          <p:cNvSpPr txBox="1"/>
          <p:nvPr/>
        </p:nvSpPr>
        <p:spPr>
          <a:xfrm>
            <a:off x="347473" y="3456432"/>
            <a:ext cx="4059935" cy="2743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المهارة منهج لا قائمة أسعار. ابنِ الباقات من النطاق وأدلة السوق والسابق، وطبّق شروط العقد والسداد منفصلة.</a:t>
            </a:r>
          </a:p>
        </p:txBody>
      </p:sp>
      <p:sp>
        <p:nvSpPr>
          <p:cNvPr id="48" name="Rectangle 47"/>
          <p:cNvSpPr/>
          <p:nvPr/>
        </p:nvSpPr>
        <p:spPr>
          <a:xfrm>
            <a:off x="822960" y="6766560"/>
            <a:ext cx="1298448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005840" y="6912864"/>
            <a:ext cx="12618720" cy="27432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250">
                <a:latin typeface="IBM Plex Sans Arabic"/>
              </a:rPr>
              <a:t>مخرجات استراتيجية العميل: مستند مفصل وعرض قابل للتعديل وفق النطاق والصيغة المتفق عليهما.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المبيعات وتطوير الأعمال أولًا</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09</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الاجتماع الأول / اكسب الحوار الثاني</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Freeform 35"/>
          <p:cNvSpPr/>
          <p:nvPr/>
        </p:nvSpPr>
        <p:spPr>
          <a:xfrm>
            <a:off x="7452360" y="2377440"/>
            <a:ext cx="6446520" cy="4526280"/>
          </a:xfrm>
          <a:custGeom>
            <a:avLst/>
            <a:gdLst/>
            <a:ahLst/>
            <a:cxnLst/>
            <a:rect l="l" t="t" r="r" b="b"/>
            <a:pathLst>
              <a:path w="705" h="495">
                <a:moveTo>
                  <a:pt x="0" y="24"/>
                </a:moveTo>
                <a:lnTo>
                  <a:pt x="61" y="0"/>
                </a:lnTo>
                <a:lnTo>
                  <a:pt x="123" y="19"/>
                </a:lnTo>
                <a:lnTo>
                  <a:pt x="193" y="0"/>
                </a:lnTo>
                <a:lnTo>
                  <a:pt x="264" y="17"/>
                </a:lnTo>
                <a:lnTo>
                  <a:pt x="352" y="0"/>
                </a:lnTo>
                <a:lnTo>
                  <a:pt x="423" y="19"/>
                </a:lnTo>
                <a:lnTo>
                  <a:pt x="493" y="0"/>
                </a:lnTo>
                <a:lnTo>
                  <a:pt x="564" y="19"/>
                </a:lnTo>
                <a:lnTo>
                  <a:pt x="616" y="0"/>
                </a:lnTo>
                <a:lnTo>
                  <a:pt x="705" y="24"/>
                </a:lnTo>
                <a:lnTo>
                  <a:pt x="694" y="111"/>
                </a:lnTo>
                <a:lnTo>
                  <a:pt x="705" y="222"/>
                </a:lnTo>
                <a:lnTo>
                  <a:pt x="692" y="321"/>
                </a:lnTo>
                <a:lnTo>
                  <a:pt x="705" y="420"/>
                </a:lnTo>
                <a:lnTo>
                  <a:pt x="690" y="495"/>
                </a:lnTo>
                <a:lnTo>
                  <a:pt x="616" y="485"/>
                </a:lnTo>
                <a:lnTo>
                  <a:pt x="528" y="495"/>
                </a:lnTo>
                <a:lnTo>
                  <a:pt x="440" y="480"/>
                </a:lnTo>
                <a:lnTo>
                  <a:pt x="352" y="495"/>
                </a:lnTo>
                <a:lnTo>
                  <a:pt x="264" y="480"/>
                </a:lnTo>
                <a:lnTo>
                  <a:pt x="176" y="495"/>
                </a:lnTo>
                <a:lnTo>
                  <a:pt x="88" y="480"/>
                </a:lnTo>
                <a:lnTo>
                  <a:pt x="0" y="495"/>
                </a:lnTo>
                <a:lnTo>
                  <a:pt x="12" y="371"/>
                </a:lnTo>
                <a:lnTo>
                  <a:pt x="0" y="272"/>
                </a:lnTo>
                <a:lnTo>
                  <a:pt x="10" y="148"/>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7772400" y="2697480"/>
            <a:ext cx="5852160" cy="457200"/>
          </a:xfrm>
          <a:prstGeom prst="rect">
            <a:avLst/>
          </a:prstGeom>
          <a:noFill/>
        </p:spPr>
        <p:txBody>
          <a:bodyPr wrap="square" lIns="27432" rIns="27432" tIns="0" bIns="0">
            <a:spAutoFit/>
          </a:bodyPr>
          <a:lstStyle/>
          <a:p>
            <a:pPr algn="r" rtl="1">
              <a:spcAft>
                <a:spcPts val="400"/>
              </a:spcAft>
              <a:defRPr sz="2500" b="1">
                <a:solidFill>
                  <a:srgbClr val="7D2B42"/>
                </a:solidFill>
                <a:latin typeface="Montserrat"/>
              </a:defRPr>
            </a:pPr>
            <a:r>
              <a:rPr sz="1600">
                <a:latin typeface="IBM Plex Sans Arabic"/>
              </a:rPr>
              <a:t>حضوري أو عبر الإنترنت</a:t>
            </a:r>
          </a:p>
        </p:txBody>
      </p:sp>
      <p:sp>
        <p:nvSpPr>
          <p:cNvPr id="38" name="TextBox 37"/>
          <p:cNvSpPr txBox="1"/>
          <p:nvPr/>
        </p:nvSpPr>
        <p:spPr>
          <a:xfrm>
            <a:off x="7772400" y="3520440"/>
            <a:ext cx="5852160" cy="1965960"/>
          </a:xfrm>
          <a:prstGeom prst="rect">
            <a:avLst/>
          </a:prstGeom>
          <a:noFill/>
        </p:spPr>
        <p:txBody>
          <a:bodyPr wrap="square" lIns="27432" rIns="27432" tIns="0" bIns="0">
            <a:spAutoFit/>
          </a:bodyPr>
          <a:lstStyle/>
          <a:p>
            <a:pPr algn="r" rtl="1">
              <a:spcAft>
                <a:spcPts val="400"/>
              </a:spcAft>
              <a:defRPr sz="2500" b="0">
                <a:solidFill>
                  <a:srgbClr val="202020"/>
                </a:solidFill>
                <a:latin typeface="Montserrat"/>
              </a:defRPr>
            </a:pPr>
            <a:r>
              <a:rPr sz="1600">
                <a:latin typeface="IBM Plex Sans Arabic"/>
              </a:rPr>
              <a:t>احضر بالتدقيق والاستراتيجية وخيارات السعر الثلاثة وشرح واضح للمشكلات والحلول.</a:t>
            </a:r>
          </a:p>
        </p:txBody>
      </p:sp>
      <p:sp>
        <p:nvSpPr>
          <p:cNvPr id="39" name="Rectangle 38"/>
          <p:cNvSpPr/>
          <p:nvPr/>
        </p:nvSpPr>
        <p:spPr>
          <a:xfrm>
            <a:off x="822961" y="2377440"/>
            <a:ext cx="6080760" cy="45262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1143000" y="2788920"/>
            <a:ext cx="5440680" cy="685800"/>
          </a:xfrm>
          <a:prstGeom prst="rect">
            <a:avLst/>
          </a:prstGeom>
          <a:noFill/>
        </p:spPr>
        <p:txBody>
          <a:bodyPr wrap="square" lIns="27432" rIns="27432" tIns="0" bIns="0">
            <a:spAutoFit/>
          </a:bodyPr>
          <a:lstStyle/>
          <a:p>
            <a:pPr algn="r" rtl="1">
              <a:spcAft>
                <a:spcPts val="400"/>
              </a:spcAft>
              <a:defRPr sz="2500" b="1">
                <a:solidFill>
                  <a:srgbClr val="FFCC00"/>
                </a:solidFill>
                <a:latin typeface="Montserrat"/>
              </a:defRPr>
            </a:pPr>
            <a:r>
              <a:rPr sz="1600">
                <a:latin typeface="IBM Plex Sans Arabic"/>
              </a:rPr>
              <a:t>إذا اقتنع العميل</a:t>
            </a:r>
          </a:p>
        </p:txBody>
      </p:sp>
      <p:sp>
        <p:nvSpPr>
          <p:cNvPr id="41" name="TextBox 40"/>
          <p:cNvSpPr txBox="1"/>
          <p:nvPr/>
        </p:nvSpPr>
        <p:spPr>
          <a:xfrm>
            <a:off x="1143000" y="3840480"/>
            <a:ext cx="5440680" cy="1965960"/>
          </a:xfrm>
          <a:prstGeom prst="rect">
            <a:avLst/>
          </a:prstGeom>
          <a:noFill/>
        </p:spPr>
        <p:txBody>
          <a:bodyPr wrap="square" lIns="27432" rIns="27432" tIns="0" bIns="0">
            <a:spAutoFit/>
          </a:bodyPr>
          <a:lstStyle/>
          <a:p>
            <a:pPr algn="r" rtl="1">
              <a:spcAft>
                <a:spcPts val="400"/>
              </a:spcAft>
              <a:defRPr sz="2400" b="0">
                <a:solidFill>
                  <a:srgbClr val="FFFFFF"/>
                </a:solidFill>
                <a:latin typeface="Montserrat"/>
              </a:defRPr>
            </a:pPr>
            <a:r>
              <a:rPr sz="1900">
                <a:latin typeface="IBM Plex Sans Arabic"/>
              </a:rPr>
              <a:t>عند استعداد العميل للتوقيع، يقارن الحساب المقترح والموجز ويطور الاستراتيجية مع التواصل والتسويق والإعلانات، ثم يجهز حزمة التوقيع.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استعداد العميل للتوقيع — مواءمة الاستراتيجية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10</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العميل مستعد للتوقيع / طابق الاستراتيجية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Freeform 35"/>
          <p:cNvSpPr/>
          <p:nvPr/>
        </p:nvSpPr>
        <p:spPr>
          <a:xfrm>
            <a:off x="7452360" y="2286000"/>
            <a:ext cx="6446520" cy="2148840"/>
          </a:xfrm>
          <a:custGeom>
            <a:avLst/>
            <a:gdLst/>
            <a:ahLst/>
            <a:cxnLst/>
            <a:rect l="l" t="t" r="r" b="b"/>
            <a:pathLst>
              <a:path w="705" h="235">
                <a:moveTo>
                  <a:pt x="0" y="11"/>
                </a:moveTo>
                <a:lnTo>
                  <a:pt x="61" y="0"/>
                </a:lnTo>
                <a:lnTo>
                  <a:pt x="123" y="9"/>
                </a:lnTo>
                <a:lnTo>
                  <a:pt x="193" y="0"/>
                </a:lnTo>
                <a:lnTo>
                  <a:pt x="264" y="8"/>
                </a:lnTo>
                <a:lnTo>
                  <a:pt x="352" y="0"/>
                </a:lnTo>
                <a:lnTo>
                  <a:pt x="423" y="9"/>
                </a:lnTo>
                <a:lnTo>
                  <a:pt x="493" y="0"/>
                </a:lnTo>
                <a:lnTo>
                  <a:pt x="564" y="9"/>
                </a:lnTo>
                <a:lnTo>
                  <a:pt x="616" y="0"/>
                </a:lnTo>
                <a:lnTo>
                  <a:pt x="705" y="11"/>
                </a:lnTo>
                <a:lnTo>
                  <a:pt x="694" y="52"/>
                </a:lnTo>
                <a:lnTo>
                  <a:pt x="705" y="105"/>
                </a:lnTo>
                <a:lnTo>
                  <a:pt x="692" y="152"/>
                </a:lnTo>
                <a:lnTo>
                  <a:pt x="705" y="199"/>
                </a:lnTo>
                <a:lnTo>
                  <a:pt x="690" y="235"/>
                </a:lnTo>
                <a:lnTo>
                  <a:pt x="616" y="230"/>
                </a:lnTo>
                <a:lnTo>
                  <a:pt x="528" y="235"/>
                </a:lnTo>
                <a:lnTo>
                  <a:pt x="440" y="227"/>
                </a:lnTo>
                <a:lnTo>
                  <a:pt x="352" y="235"/>
                </a:lnTo>
                <a:lnTo>
                  <a:pt x="264" y="227"/>
                </a:lnTo>
                <a:lnTo>
                  <a:pt x="176" y="235"/>
                </a:lnTo>
                <a:lnTo>
                  <a:pt x="88" y="227"/>
                </a:lnTo>
                <a:lnTo>
                  <a:pt x="0" y="235"/>
                </a:lnTo>
                <a:lnTo>
                  <a:pt x="12" y="176"/>
                </a:lnTo>
                <a:lnTo>
                  <a:pt x="0" y="129"/>
                </a:lnTo>
                <a:lnTo>
                  <a:pt x="10" y="7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7680960" y="2606040"/>
            <a:ext cx="5989320" cy="54864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المدخل 01 / المقترح الأولي</a:t>
            </a:r>
          </a:p>
        </p:txBody>
      </p:sp>
      <p:sp>
        <p:nvSpPr>
          <p:cNvPr id="38" name="TextBox 37"/>
          <p:cNvSpPr txBox="1"/>
          <p:nvPr/>
        </p:nvSpPr>
        <p:spPr>
          <a:xfrm>
            <a:off x="7680960" y="3429000"/>
            <a:ext cx="5989320" cy="822960"/>
          </a:xfrm>
          <a:prstGeom prst="rect">
            <a:avLst/>
          </a:prstGeom>
          <a:noFill/>
        </p:spPr>
        <p:txBody>
          <a:bodyPr wrap="square" lIns="27432" rIns="27432" tIns="0" bIns="0">
            <a:spAutoFit/>
          </a:bodyPr>
          <a:lstStyle/>
          <a:p>
            <a:pPr algn="r" rtl="1">
              <a:spcAft>
                <a:spcPts val="400"/>
              </a:spcAft>
              <a:defRPr sz="2000" b="0">
                <a:solidFill>
                  <a:srgbClr val="202020"/>
                </a:solidFill>
                <a:latin typeface="Montserrat"/>
              </a:defRPr>
            </a:pPr>
            <a:r>
              <a:rPr sz="1600">
                <a:latin typeface="IBM Plex Sans Arabic"/>
              </a:rPr>
              <a:t>الاستراتيجية التي أعدها المبيعات/التطوير بالمهارة قبل الاجتماع الأول.</a:t>
            </a:r>
          </a:p>
        </p:txBody>
      </p:sp>
      <p:sp>
        <p:nvSpPr>
          <p:cNvPr id="39" name="Freeform 38"/>
          <p:cNvSpPr/>
          <p:nvPr/>
        </p:nvSpPr>
        <p:spPr>
          <a:xfrm>
            <a:off x="731520" y="2286000"/>
            <a:ext cx="6446520" cy="2148840"/>
          </a:xfrm>
          <a:custGeom>
            <a:avLst/>
            <a:gdLst/>
            <a:ahLst/>
            <a:cxnLst/>
            <a:rect l="l" t="t" r="r" b="b"/>
            <a:pathLst>
              <a:path w="705" h="235">
                <a:moveTo>
                  <a:pt x="0" y="11"/>
                </a:moveTo>
                <a:lnTo>
                  <a:pt x="61" y="0"/>
                </a:lnTo>
                <a:lnTo>
                  <a:pt x="123" y="9"/>
                </a:lnTo>
                <a:lnTo>
                  <a:pt x="193" y="0"/>
                </a:lnTo>
                <a:lnTo>
                  <a:pt x="264" y="8"/>
                </a:lnTo>
                <a:lnTo>
                  <a:pt x="352" y="0"/>
                </a:lnTo>
                <a:lnTo>
                  <a:pt x="423" y="9"/>
                </a:lnTo>
                <a:lnTo>
                  <a:pt x="493" y="0"/>
                </a:lnTo>
                <a:lnTo>
                  <a:pt x="564" y="9"/>
                </a:lnTo>
                <a:lnTo>
                  <a:pt x="616" y="0"/>
                </a:lnTo>
                <a:lnTo>
                  <a:pt x="705" y="11"/>
                </a:lnTo>
                <a:lnTo>
                  <a:pt x="694" y="52"/>
                </a:lnTo>
                <a:lnTo>
                  <a:pt x="705" y="105"/>
                </a:lnTo>
                <a:lnTo>
                  <a:pt x="692" y="152"/>
                </a:lnTo>
                <a:lnTo>
                  <a:pt x="705" y="199"/>
                </a:lnTo>
                <a:lnTo>
                  <a:pt x="690" y="235"/>
                </a:lnTo>
                <a:lnTo>
                  <a:pt x="616" y="230"/>
                </a:lnTo>
                <a:lnTo>
                  <a:pt x="528" y="235"/>
                </a:lnTo>
                <a:lnTo>
                  <a:pt x="440" y="227"/>
                </a:lnTo>
                <a:lnTo>
                  <a:pt x="352" y="235"/>
                </a:lnTo>
                <a:lnTo>
                  <a:pt x="264" y="227"/>
                </a:lnTo>
                <a:lnTo>
                  <a:pt x="176" y="235"/>
                </a:lnTo>
                <a:lnTo>
                  <a:pt x="88" y="227"/>
                </a:lnTo>
                <a:lnTo>
                  <a:pt x="0" y="235"/>
                </a:lnTo>
                <a:lnTo>
                  <a:pt x="12" y="176"/>
                </a:lnTo>
                <a:lnTo>
                  <a:pt x="0" y="129"/>
                </a:lnTo>
                <a:lnTo>
                  <a:pt x="10" y="7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960120" y="2606040"/>
            <a:ext cx="5989320" cy="54864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المدخل 02 / موجز العميل الفعلي</a:t>
            </a:r>
          </a:p>
        </p:txBody>
      </p:sp>
      <p:sp>
        <p:nvSpPr>
          <p:cNvPr id="41" name="TextBox 40"/>
          <p:cNvSpPr txBox="1"/>
          <p:nvPr/>
        </p:nvSpPr>
        <p:spPr>
          <a:xfrm>
            <a:off x="960120" y="3429000"/>
            <a:ext cx="5989320" cy="822960"/>
          </a:xfrm>
          <a:prstGeom prst="rect">
            <a:avLst/>
          </a:prstGeom>
          <a:noFill/>
        </p:spPr>
        <p:txBody>
          <a:bodyPr wrap="square" lIns="27432" rIns="27432" tIns="0" bIns="0">
            <a:spAutoFit/>
          </a:bodyPr>
          <a:lstStyle/>
          <a:p>
            <a:pPr algn="r" rtl="1">
              <a:spcAft>
                <a:spcPts val="400"/>
              </a:spcAft>
              <a:defRPr sz="2000" b="0">
                <a:solidFill>
                  <a:srgbClr val="202020"/>
                </a:solidFill>
                <a:latin typeface="Montserrat"/>
              </a:defRPr>
            </a:pPr>
            <a:r>
              <a:rPr sz="1600">
                <a:latin typeface="IBM Plex Sans Arabic"/>
              </a:rPr>
              <a:t>احتياجات العميل ومتطلباته التي سُجلت في الاجتماع الأول.</a:t>
            </a:r>
          </a:p>
        </p:txBody>
      </p:sp>
      <p:sp>
        <p:nvSpPr>
          <p:cNvPr id="42" name="Rectangle 41"/>
          <p:cNvSpPr/>
          <p:nvPr/>
        </p:nvSpPr>
        <p:spPr>
          <a:xfrm>
            <a:off x="822960" y="4892040"/>
            <a:ext cx="12984480" cy="6400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1051560" y="5074920"/>
            <a:ext cx="12527280" cy="365760"/>
          </a:xfrm>
          <a:prstGeom prst="rect">
            <a:avLst/>
          </a:prstGeom>
          <a:noFill/>
        </p:spPr>
        <p:txBody>
          <a:bodyPr wrap="square" lIns="27432" rIns="27432" tIns="0" bIns="0">
            <a:spAutoFit/>
          </a:bodyPr>
          <a:lstStyle/>
          <a:p>
            <a:pPr algn="r" rtl="1">
              <a:spcAft>
                <a:spcPts val="400"/>
              </a:spcAft>
              <a:defRPr sz="2300" b="1">
                <a:solidFill>
                  <a:srgbClr val="FFFFFF"/>
                </a:solidFill>
                <a:latin typeface="Montserrat"/>
              </a:defRPr>
            </a:pPr>
            <a:r>
              <a:rPr sz="1600">
                <a:latin typeface="IBM Plex Sans Arabic"/>
              </a:rPr>
              <a:t>فقط بعد تأكيد استعداد العميل للتوقيع</a:t>
            </a:r>
          </a:p>
        </p:txBody>
      </p:sp>
      <p:sp>
        <p:nvSpPr>
          <p:cNvPr id="44" name="TextBox 43"/>
          <p:cNvSpPr txBox="1"/>
          <p:nvPr/>
        </p:nvSpPr>
        <p:spPr>
          <a:xfrm>
            <a:off x="914400" y="5989320"/>
            <a:ext cx="12801600" cy="1005840"/>
          </a:xfrm>
          <a:prstGeom prst="rect">
            <a:avLst/>
          </a:prstGeom>
          <a:noFill/>
        </p:spPr>
        <p:txBody>
          <a:bodyPr wrap="square" lIns="27432" rIns="27432" tIns="0" bIns="0">
            <a:spAutoFit/>
          </a:bodyPr>
          <a:lstStyle/>
          <a:p>
            <a:pPr algn="r" rtl="1">
              <a:spcAft>
                <a:spcPts val="400"/>
              </a:spcAft>
              <a:defRPr sz="2400" b="0">
                <a:solidFill>
                  <a:srgbClr val="202020"/>
                </a:solidFill>
                <a:latin typeface="Montserrat"/>
              </a:defRPr>
            </a:pPr>
            <a:r>
              <a:rPr sz="1600">
                <a:latin typeface="IBM Plex Sans Arabic"/>
              </a:rPr>
              <a:t>غير مستعد؟ أبقِ الاستراتيجية الفعلية معلقة. عند التأكيد، يقارن الحساب المقترح بالموجز، ويحدد التغييرات ويطوّرها مع مجموعة العمل.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استعداد العميل للتوقيع — مواءمة الاستراتيجية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11</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تطوير الاستراتيجية الفعلية / أربعة أدوار معًا</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9808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766267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AM-01 / مدير الحساب</a:t>
            </a:r>
          </a:p>
        </p:txBody>
      </p:sp>
      <p:sp>
        <p:nvSpPr>
          <p:cNvPr id="39" name="TextBox 38"/>
          <p:cNvSpPr txBox="1"/>
          <p:nvPr/>
        </p:nvSpPr>
        <p:spPr>
          <a:xfrm>
            <a:off x="7662672" y="3364991"/>
            <a:ext cx="6071616" cy="731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بعد تأكيد الاستعداد يقارن الاستراتيجية الأولية بالموجز وينسق التطوير.</a:t>
            </a:r>
          </a:p>
        </p:txBody>
      </p:sp>
      <p:sp>
        <p:nvSpPr>
          <p:cNvPr id="40" name="Rectangle 39"/>
          <p:cNvSpPr/>
          <p:nvPr/>
        </p:nvSpPr>
        <p:spPr>
          <a:xfrm>
            <a:off x="68580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7031736"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85039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SM-01 / أخصائي التواصل الاجتماعي</a:t>
            </a:r>
          </a:p>
        </p:txBody>
      </p:sp>
      <p:sp>
        <p:nvSpPr>
          <p:cNvPr id="43" name="TextBox 42"/>
          <p:cNvSpPr txBox="1"/>
          <p:nvPr/>
        </p:nvSpPr>
        <p:spPr>
          <a:xfrm>
            <a:off x="850392" y="3364991"/>
            <a:ext cx="6071616" cy="731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يعمل مع الحساب والتسويق والإعلانات لتطوير الاستراتيجية الفعلية.</a:t>
            </a:r>
          </a:p>
        </p:txBody>
      </p:sp>
      <p:sp>
        <p:nvSpPr>
          <p:cNvPr id="44" name="Rectangle 43"/>
          <p:cNvSpPr/>
          <p:nvPr/>
        </p:nvSpPr>
        <p:spPr>
          <a:xfrm>
            <a:off x="7498080" y="443484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13844016" y="443484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7662672" y="461772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MM-01 / مدير التسويق</a:t>
            </a:r>
          </a:p>
        </p:txBody>
      </p:sp>
      <p:sp>
        <p:nvSpPr>
          <p:cNvPr id="47" name="TextBox 46"/>
          <p:cNvSpPr txBox="1"/>
          <p:nvPr/>
        </p:nvSpPr>
        <p:spPr>
          <a:xfrm>
            <a:off x="7662672" y="5513831"/>
            <a:ext cx="6071616" cy="731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يشارك في تطوير الاستراتيجية الفعلية مع مجموعة العمل المشتركة.</a:t>
            </a:r>
          </a:p>
        </p:txBody>
      </p:sp>
      <p:sp>
        <p:nvSpPr>
          <p:cNvPr id="48" name="Rectangle 47"/>
          <p:cNvSpPr/>
          <p:nvPr/>
        </p:nvSpPr>
        <p:spPr>
          <a:xfrm>
            <a:off x="685800" y="443484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7031736" y="443484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850392" y="461772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MB-01 / مسؤول شراء الإعلانات</a:t>
            </a:r>
          </a:p>
        </p:txBody>
      </p:sp>
      <p:sp>
        <p:nvSpPr>
          <p:cNvPr id="51" name="TextBox 50"/>
          <p:cNvSpPr txBox="1"/>
          <p:nvPr/>
        </p:nvSpPr>
        <p:spPr>
          <a:xfrm>
            <a:off x="850392" y="5513831"/>
            <a:ext cx="6071616" cy="731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يشارك في تطوير الاستراتيجية الفعلية مع مجموعة العمل المشتركة.</a:t>
            </a:r>
          </a:p>
        </p:txBody>
      </p:sp>
      <p:sp>
        <p:nvSpPr>
          <p:cNvPr id="52" name="Rectangle 51"/>
          <p:cNvSpPr/>
          <p:nvPr/>
        </p:nvSpPr>
        <p:spPr>
          <a:xfrm>
            <a:off x="822960" y="6903720"/>
            <a:ext cx="1298448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1005840" y="7040880"/>
            <a:ext cx="12618720" cy="27432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250">
                <a:latin typeface="IBM Plex Sans Arabic"/>
              </a:rPr>
              <a:t>المخرج ← استراتيجية الاجتماع الثاني؛ وطابق النطاق والسعر قبل طباعة حزمة التوقيع.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المبيعات وتطوير الأعمال أولًا</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12</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الاجتماع الثاني / طباعة واتفاق وتوقيع</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9808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766267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موجز العميل</a:t>
            </a:r>
          </a:p>
        </p:txBody>
      </p:sp>
      <p:sp>
        <p:nvSpPr>
          <p:cNvPr id="39" name="TextBox 38"/>
          <p:cNvSpPr txBox="1"/>
          <p:nvPr/>
        </p:nvSpPr>
        <p:spPr>
          <a:xfrm>
            <a:off x="7662672" y="3364991"/>
            <a:ext cx="6071616" cy="731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المتطلبات وموجز العميل مطبوعان.</a:t>
            </a:r>
          </a:p>
        </p:txBody>
      </p:sp>
      <p:sp>
        <p:nvSpPr>
          <p:cNvPr id="40" name="Rectangle 39"/>
          <p:cNvSpPr/>
          <p:nvPr/>
        </p:nvSpPr>
        <p:spPr>
          <a:xfrm>
            <a:off x="68580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7031736"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85039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الاستراتيجية</a:t>
            </a:r>
          </a:p>
        </p:txBody>
      </p:sp>
      <p:sp>
        <p:nvSpPr>
          <p:cNvPr id="43" name="TextBox 42"/>
          <p:cNvSpPr txBox="1"/>
          <p:nvPr/>
        </p:nvSpPr>
        <p:spPr>
          <a:xfrm>
            <a:off x="850392" y="3364991"/>
            <a:ext cx="6071616" cy="731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الاستراتيجية الفعلية المطبوعة، المبنية بعد الاجتماع الأول على الموجز بواسطة الحساب والفريق المشترك.</a:t>
            </a:r>
          </a:p>
        </p:txBody>
      </p:sp>
      <p:sp>
        <p:nvSpPr>
          <p:cNvPr id="44" name="Rectangle 43"/>
          <p:cNvSpPr/>
          <p:nvPr/>
        </p:nvSpPr>
        <p:spPr>
          <a:xfrm>
            <a:off x="7498080" y="448056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13844016" y="448056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7662672" y="466344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عرض السعر المتفق عليه</a:t>
            </a:r>
          </a:p>
        </p:txBody>
      </p:sp>
      <p:sp>
        <p:nvSpPr>
          <p:cNvPr id="47" name="TextBox 46"/>
          <p:cNvSpPr txBox="1"/>
          <p:nvPr/>
        </p:nvSpPr>
        <p:spPr>
          <a:xfrm>
            <a:off x="7662672" y="5559552"/>
            <a:ext cx="6071616" cy="731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النطاق والتسعير المتفق عليهما مطبوعان.</a:t>
            </a:r>
          </a:p>
        </p:txBody>
      </p:sp>
      <p:sp>
        <p:nvSpPr>
          <p:cNvPr id="48" name="Rectangle 47"/>
          <p:cNvSpPr/>
          <p:nvPr/>
        </p:nvSpPr>
        <p:spPr>
          <a:xfrm>
            <a:off x="685800" y="448056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7031736" y="448056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850392" y="466344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العقد</a:t>
            </a:r>
          </a:p>
        </p:txBody>
      </p:sp>
      <p:sp>
        <p:nvSpPr>
          <p:cNvPr id="51" name="TextBox 50"/>
          <p:cNvSpPr txBox="1"/>
          <p:nvPr/>
        </p:nvSpPr>
        <p:spPr>
          <a:xfrm>
            <a:off x="850392" y="5559552"/>
            <a:ext cx="6071616" cy="731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عقد مطبوع يحكم التعاقد.</a:t>
            </a:r>
          </a:p>
        </p:txBody>
      </p:sp>
      <p:sp>
        <p:nvSpPr>
          <p:cNvPr id="52" name="Rectangle 51"/>
          <p:cNvSpPr/>
          <p:nvPr/>
        </p:nvSpPr>
        <p:spPr>
          <a:xfrm>
            <a:off x="822960" y="6995160"/>
            <a:ext cx="12984480" cy="4114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1005840" y="7086600"/>
            <a:ext cx="12618720" cy="22860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000">
                <a:latin typeface="IBM Plex Sans Arabic"/>
              </a:rPr>
              <a:t>يوقّع العميل الأربعة؛ يجهز المبيعات/التطوير الحزمة، والحساب مشارك طوال العملية.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المبيعات وتطوير الأعمال أولًا</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13</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شرط السداد / التوقيع وحده لا يبدأ التنفيذ</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52360" y="2423160"/>
            <a:ext cx="6446520" cy="3291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7744968" y="2697480"/>
            <a:ext cx="5897880" cy="54864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إدارة التواصل الاجتماعي فقط</a:t>
            </a:r>
          </a:p>
        </p:txBody>
      </p:sp>
      <p:sp>
        <p:nvSpPr>
          <p:cNvPr id="38" name="TextBox 37"/>
          <p:cNvSpPr txBox="1"/>
          <p:nvPr/>
        </p:nvSpPr>
        <p:spPr>
          <a:xfrm>
            <a:off x="7744968" y="3566160"/>
            <a:ext cx="5897880" cy="1188720"/>
          </a:xfrm>
          <a:prstGeom prst="rect">
            <a:avLst/>
          </a:prstGeom>
          <a:noFill/>
        </p:spPr>
        <p:txBody>
          <a:bodyPr wrap="square" lIns="27432" rIns="27432" tIns="0" bIns="0">
            <a:spAutoFit/>
          </a:bodyPr>
          <a:lstStyle/>
          <a:p>
            <a:pPr algn="r" rtl="1">
              <a:spcAft>
                <a:spcPts val="400"/>
              </a:spcAft>
              <a:defRPr sz="7600" b="1">
                <a:solidFill>
                  <a:srgbClr val="7D2B42"/>
                </a:solidFill>
                <a:latin typeface="Bebas Neue"/>
              </a:defRPr>
            </a:pPr>
            <a:r>
              <a:rPr sz="1600">
                <a:latin typeface="IBM Plex Sans Arabic"/>
              </a:rPr>
              <a:t>100%</a:t>
            </a:r>
          </a:p>
        </p:txBody>
      </p:sp>
      <p:sp>
        <p:nvSpPr>
          <p:cNvPr id="39" name="TextBox 38"/>
          <p:cNvSpPr txBox="1"/>
          <p:nvPr/>
        </p:nvSpPr>
        <p:spPr>
          <a:xfrm>
            <a:off x="7744968" y="4892040"/>
            <a:ext cx="5897880" cy="64008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من قيمة العقد تُسدد قبل بدء العمل المتعاقد عليه.</a:t>
            </a:r>
          </a:p>
        </p:txBody>
      </p:sp>
      <p:sp>
        <p:nvSpPr>
          <p:cNvPr id="40" name="Rectangle 39"/>
          <p:cNvSpPr/>
          <p:nvPr/>
        </p:nvSpPr>
        <p:spPr>
          <a:xfrm>
            <a:off x="731520" y="2423160"/>
            <a:ext cx="6446520" cy="3291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TextBox 40"/>
          <p:cNvSpPr txBox="1"/>
          <p:nvPr/>
        </p:nvSpPr>
        <p:spPr>
          <a:xfrm>
            <a:off x="1024128" y="2697480"/>
            <a:ext cx="5897880" cy="548640"/>
          </a:xfrm>
          <a:prstGeom prst="rect">
            <a:avLst/>
          </a:prstGeom>
          <a:noFill/>
        </p:spPr>
        <p:txBody>
          <a:bodyPr wrap="square" lIns="27432" rIns="27432" tIns="0" bIns="0">
            <a:spAutoFit/>
          </a:bodyPr>
          <a:lstStyle/>
          <a:p>
            <a:pPr algn="r" rtl="1">
              <a:spcAft>
                <a:spcPts val="400"/>
              </a:spcAft>
              <a:defRPr sz="2200" b="1">
                <a:solidFill>
                  <a:srgbClr val="FFFFFF"/>
                </a:solidFill>
                <a:latin typeface="Montserrat"/>
              </a:defRPr>
            </a:pPr>
            <a:r>
              <a:rPr sz="1600">
                <a:latin typeface="IBM Plex Sans Arabic"/>
              </a:rPr>
              <a:t>العقد يتضمن خدمات أخرى</a:t>
            </a:r>
          </a:p>
        </p:txBody>
      </p:sp>
      <p:sp>
        <p:nvSpPr>
          <p:cNvPr id="42" name="TextBox 41"/>
          <p:cNvSpPr txBox="1"/>
          <p:nvPr/>
        </p:nvSpPr>
        <p:spPr>
          <a:xfrm>
            <a:off x="1024128" y="3566160"/>
            <a:ext cx="5897880" cy="1188720"/>
          </a:xfrm>
          <a:prstGeom prst="rect">
            <a:avLst/>
          </a:prstGeom>
          <a:noFill/>
        </p:spPr>
        <p:txBody>
          <a:bodyPr wrap="square" lIns="27432" rIns="27432" tIns="0" bIns="0">
            <a:spAutoFit/>
          </a:bodyPr>
          <a:lstStyle/>
          <a:p>
            <a:pPr algn="r" rtl="1">
              <a:spcAft>
                <a:spcPts val="400"/>
              </a:spcAft>
              <a:defRPr sz="7600" b="1">
                <a:solidFill>
                  <a:srgbClr val="FFCC00"/>
                </a:solidFill>
                <a:latin typeface="Bebas Neue"/>
              </a:defRPr>
            </a:pPr>
            <a:r>
              <a:rPr sz="1600">
                <a:latin typeface="IBM Plex Sans Arabic"/>
              </a:rPr>
              <a:t>50%</a:t>
            </a:r>
          </a:p>
        </p:txBody>
      </p:sp>
      <p:sp>
        <p:nvSpPr>
          <p:cNvPr id="43" name="TextBox 42"/>
          <p:cNvSpPr txBox="1"/>
          <p:nvPr/>
        </p:nvSpPr>
        <p:spPr>
          <a:xfrm>
            <a:off x="1024128" y="4892040"/>
            <a:ext cx="5897880" cy="640080"/>
          </a:xfrm>
          <a:prstGeom prst="rect">
            <a:avLst/>
          </a:prstGeom>
          <a:noFill/>
        </p:spPr>
        <p:txBody>
          <a:bodyPr wrap="square" lIns="27432" rIns="27432" tIns="0" bIns="0">
            <a:spAutoFit/>
          </a:bodyPr>
          <a:lstStyle/>
          <a:p>
            <a:pPr algn="r" rtl="1">
              <a:spcAft>
                <a:spcPts val="400"/>
              </a:spcAft>
              <a:defRPr sz="1900" b="0">
                <a:solidFill>
                  <a:srgbClr val="FFFFFF"/>
                </a:solidFill>
                <a:latin typeface="Montserrat"/>
              </a:defRPr>
            </a:pPr>
            <a:r>
              <a:rPr sz="1600">
                <a:latin typeface="IBM Plex Sans Arabic"/>
              </a:rPr>
              <a:t>من قيمة العقد تُسدد قبل بدء العمل المتعاقد عليه.</a:t>
            </a:r>
          </a:p>
        </p:txBody>
      </p:sp>
      <p:sp>
        <p:nvSpPr>
          <p:cNvPr id="44" name="TextBox 43"/>
          <p:cNvSpPr txBox="1"/>
          <p:nvPr/>
        </p:nvSpPr>
        <p:spPr>
          <a:xfrm>
            <a:off x="914400" y="6263640"/>
            <a:ext cx="12801600" cy="868680"/>
          </a:xfrm>
          <a:prstGeom prst="rect">
            <a:avLst/>
          </a:prstGeom>
          <a:noFill/>
        </p:spPr>
        <p:txBody>
          <a:bodyPr wrap="square" lIns="27432" rIns="27432" tIns="0" bIns="0">
            <a:spAutoFit/>
          </a:bodyPr>
          <a:lstStyle/>
          <a:p>
            <a:pPr algn="r" rtl="1">
              <a:spcAft>
                <a:spcPts val="400"/>
              </a:spcAft>
              <a:defRPr sz="2000" b="0">
                <a:solidFill>
                  <a:srgbClr val="202020"/>
                </a:solidFill>
                <a:latin typeface="Montserrat"/>
              </a:defRPr>
            </a:pPr>
            <a:r>
              <a:rPr sz="1600">
                <a:latin typeface="IBM Plex Sans Arabic"/>
              </a:rPr>
              <a:t>التوقيع ينقل المجلد من Quotations. المستندات الموقعة والدفعة المطلوبة تتيحان التنفيذ؛ ومواعيد الرصيد غير محددة هنا.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المبيعات وتطوير الأعمال أولًا</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14</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شراء الإعلانات / الأتعاب من المصروف الفعلي</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822960" y="2377440"/>
            <a:ext cx="12984480" cy="14630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143000" y="2788920"/>
            <a:ext cx="12344400" cy="640080"/>
          </a:xfrm>
          <a:prstGeom prst="rect">
            <a:avLst/>
          </a:prstGeom>
          <a:noFill/>
        </p:spPr>
        <p:txBody>
          <a:bodyPr wrap="square" lIns="27432" rIns="27432" tIns="0" bIns="0">
            <a:spAutoFit/>
          </a:bodyPr>
          <a:lstStyle/>
          <a:p>
            <a:pPr algn="r" rtl="1">
              <a:spcAft>
                <a:spcPts val="400"/>
              </a:spcAft>
              <a:defRPr sz="3300" b="1">
                <a:solidFill>
                  <a:srgbClr val="FFFFFF"/>
                </a:solidFill>
                <a:latin typeface="Bebas Neue"/>
              </a:defRPr>
            </a:pPr>
            <a:r>
              <a:rPr sz="1600">
                <a:latin typeface="IBM Plex Sans Arabic"/>
              </a:rPr>
              <a:t>أتعاب شراء الإعلانات = المصروفات الفعلية × 25%</a:t>
            </a:r>
          </a:p>
        </p:txBody>
      </p:sp>
      <p:sp>
        <p:nvSpPr>
          <p:cNvPr id="38" name="Rectangle 37"/>
          <p:cNvSpPr/>
          <p:nvPr/>
        </p:nvSpPr>
        <p:spPr>
          <a:xfrm>
            <a:off x="9509760"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Rectangle 38"/>
          <p:cNvSpPr/>
          <p:nvPr/>
        </p:nvSpPr>
        <p:spPr>
          <a:xfrm>
            <a:off x="13844016"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9674353" y="448056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نفّذ الخطة</a:t>
            </a:r>
          </a:p>
        </p:txBody>
      </p:sp>
      <p:sp>
        <p:nvSpPr>
          <p:cNvPr id="41" name="TextBox 40"/>
          <p:cNvSpPr txBox="1"/>
          <p:nvPr/>
        </p:nvSpPr>
        <p:spPr>
          <a:xfrm>
            <a:off x="9674353" y="5376672"/>
            <a:ext cx="4059935" cy="11887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تُحسب الأتعاب بعد تنفيذ خطة الإعلانات.</a:t>
            </a:r>
          </a:p>
        </p:txBody>
      </p:sp>
      <p:sp>
        <p:nvSpPr>
          <p:cNvPr id="42" name="Rectangle 41"/>
          <p:cNvSpPr/>
          <p:nvPr/>
        </p:nvSpPr>
        <p:spPr>
          <a:xfrm>
            <a:off x="4846321"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Rectangle 42"/>
          <p:cNvSpPr/>
          <p:nvPr/>
        </p:nvSpPr>
        <p:spPr>
          <a:xfrm>
            <a:off x="9180577"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010914" y="448056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استخدم المصروفات الفعلية</a:t>
            </a:r>
          </a:p>
        </p:txBody>
      </p:sp>
      <p:sp>
        <p:nvSpPr>
          <p:cNvPr id="45" name="TextBox 44"/>
          <p:cNvSpPr txBox="1"/>
          <p:nvPr/>
        </p:nvSpPr>
        <p:spPr>
          <a:xfrm>
            <a:off x="5010914" y="5376672"/>
            <a:ext cx="4059935" cy="11887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إنفاق مثبت، لا ميزانية مقترحة أو غير مستخدمة.</a:t>
            </a:r>
          </a:p>
        </p:txBody>
      </p:sp>
      <p:sp>
        <p:nvSpPr>
          <p:cNvPr id="46" name="Rectangle 45"/>
          <p:cNvSpPr/>
          <p:nvPr/>
        </p:nvSpPr>
        <p:spPr>
          <a:xfrm>
            <a:off x="182880"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Rectangle 46"/>
          <p:cNvSpPr/>
          <p:nvPr/>
        </p:nvSpPr>
        <p:spPr>
          <a:xfrm>
            <a:off x="4517136"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8" name="TextBox 47"/>
          <p:cNvSpPr txBox="1"/>
          <p:nvPr/>
        </p:nvSpPr>
        <p:spPr>
          <a:xfrm>
            <a:off x="347473" y="448056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افصل الشروط</a:t>
            </a:r>
          </a:p>
        </p:txBody>
      </p:sp>
      <p:sp>
        <p:nvSpPr>
          <p:cNvPr id="49" name="TextBox 48"/>
          <p:cNvSpPr txBox="1"/>
          <p:nvPr/>
        </p:nvSpPr>
        <p:spPr>
          <a:xfrm>
            <a:off x="347473" y="5376672"/>
            <a:ext cx="4059935" cy="11887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وصفها المستخدم بأتعاب 25%؛ وليست قاعدة الدفعة المقدمة لبدء العقد.</a:t>
            </a:r>
          </a:p>
        </p:txBody>
      </p:sp>
      <p:sp>
        <p:nvSpPr>
          <p:cNvPr id="50" name="TextBox 49"/>
          <p:cNvSpPr txBox="1"/>
          <p:nvPr/>
        </p:nvSpPr>
        <p:spPr>
          <a:xfrm>
            <a:off x="822960" y="7086600"/>
            <a:ext cx="12984480" cy="45720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600">
                <a:latin typeface="IBM Plex Sans Arabic"/>
              </a:rPr>
              <a:t>لا مبلغ أتعاب مختلقًا؛ أساس المصروفات والضرائب والتمويل والفوترة وفق الاتفاق.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في PMP / العملية المتكاملة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15</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نظام واحد وست مراحل متصلة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TextBox 35"/>
          <p:cNvSpPr txBox="1"/>
          <p:nvPr/>
        </p:nvSpPr>
        <p:spPr>
          <a:xfrm>
            <a:off x="685800" y="1920240"/>
            <a:ext cx="13167360" cy="548640"/>
          </a:xfrm>
          <a:prstGeom prst="rect">
            <a:avLst/>
          </a:prstGeom>
          <a:noFill/>
        </p:spPr>
        <p:txBody>
          <a:bodyPr wrap="square" lIns="27432" rIns="27432" tIns="0" bIns="0">
            <a:spAutoFit/>
          </a:bodyPr>
          <a:lstStyle/>
          <a:p>
            <a:pPr algn="r" rtl="1">
              <a:spcAft>
                <a:spcPts val="400"/>
              </a:spcAft>
              <a:defRPr sz="1800" b="0">
                <a:solidFill>
                  <a:srgbClr val="555555"/>
                </a:solidFill>
                <a:latin typeface="Montserrat"/>
              </a:defRPr>
            </a:pPr>
            <a:r>
              <a:rPr sz="1600">
                <a:latin typeface="IBM Plex Sans Arabic"/>
              </a:rPr>
              <a:t>النظام ثابت، وتكيّف وحدة القطاع الرحلات ومسارات التحويل والمؤشرات.</a:t>
            </a:r>
          </a:p>
        </p:txBody>
      </p:sp>
      <p:sp>
        <p:nvSpPr>
          <p:cNvPr id="37" name="Rectangle 36"/>
          <p:cNvSpPr/>
          <p:nvPr/>
        </p:nvSpPr>
        <p:spPr>
          <a:xfrm>
            <a:off x="9509760"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13139928" y="2880360"/>
            <a:ext cx="594360" cy="502920"/>
          </a:xfrm>
          <a:prstGeom prst="rect">
            <a:avLst/>
          </a:prstGeom>
          <a:noFill/>
        </p:spPr>
        <p:txBody>
          <a:bodyPr wrap="square" lIns="27432" rIns="27432" tIns="0" bIns="0">
            <a:spAutoFit/>
          </a:bodyPr>
          <a:lstStyle/>
          <a:p>
            <a:pPr algn="r" rtl="1">
              <a:spcAft>
                <a:spcPts val="400"/>
              </a:spcAft>
              <a:defRPr sz="3000" b="1">
                <a:solidFill>
                  <a:srgbClr val="7D2B42"/>
                </a:solidFill>
                <a:latin typeface="Bebas Neue"/>
              </a:defRPr>
            </a:pPr>
            <a:r>
              <a:rPr sz="1600">
                <a:latin typeface="IBM Plex Sans Arabic"/>
              </a:rPr>
              <a:t>01</a:t>
            </a:r>
          </a:p>
        </p:txBody>
      </p:sp>
      <p:sp>
        <p:nvSpPr>
          <p:cNvPr id="39" name="TextBox 38"/>
          <p:cNvSpPr txBox="1"/>
          <p:nvPr/>
        </p:nvSpPr>
        <p:spPr>
          <a:xfrm>
            <a:off x="9784080" y="2926080"/>
            <a:ext cx="3200400" cy="45720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الاستكشاف</a:t>
            </a:r>
          </a:p>
        </p:txBody>
      </p:sp>
      <p:sp>
        <p:nvSpPr>
          <p:cNvPr id="40" name="TextBox 39"/>
          <p:cNvSpPr txBox="1"/>
          <p:nvPr/>
        </p:nvSpPr>
        <p:spPr>
          <a:xfrm>
            <a:off x="9710928" y="3611880"/>
            <a:ext cx="4023360" cy="7315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افهم النشاط قبل التحرك.</a:t>
            </a:r>
          </a:p>
        </p:txBody>
      </p:sp>
      <p:sp>
        <p:nvSpPr>
          <p:cNvPr id="41" name="Rectangle 40"/>
          <p:cNvSpPr/>
          <p:nvPr/>
        </p:nvSpPr>
        <p:spPr>
          <a:xfrm>
            <a:off x="4846321"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8476489" y="2880360"/>
            <a:ext cx="594360" cy="502920"/>
          </a:xfrm>
          <a:prstGeom prst="rect">
            <a:avLst/>
          </a:prstGeom>
          <a:noFill/>
        </p:spPr>
        <p:txBody>
          <a:bodyPr wrap="square" lIns="27432" rIns="27432" tIns="0" bIns="0">
            <a:spAutoFit/>
          </a:bodyPr>
          <a:lstStyle/>
          <a:p>
            <a:pPr algn="r" rtl="1">
              <a:spcAft>
                <a:spcPts val="400"/>
              </a:spcAft>
              <a:defRPr sz="3000" b="1">
                <a:solidFill>
                  <a:srgbClr val="7D2B42"/>
                </a:solidFill>
                <a:latin typeface="Bebas Neue"/>
              </a:defRPr>
            </a:pPr>
            <a:r>
              <a:rPr sz="1600">
                <a:latin typeface="IBM Plex Sans Arabic"/>
              </a:rPr>
              <a:t>02</a:t>
            </a:r>
          </a:p>
        </p:txBody>
      </p:sp>
      <p:sp>
        <p:nvSpPr>
          <p:cNvPr id="43" name="TextBox 42"/>
          <p:cNvSpPr txBox="1"/>
          <p:nvPr/>
        </p:nvSpPr>
        <p:spPr>
          <a:xfrm>
            <a:off x="5120641" y="2926080"/>
            <a:ext cx="3200400" cy="45720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التشخيص</a:t>
            </a:r>
          </a:p>
        </p:txBody>
      </p:sp>
      <p:sp>
        <p:nvSpPr>
          <p:cNvPr id="44" name="TextBox 43"/>
          <p:cNvSpPr txBox="1"/>
          <p:nvPr/>
        </p:nvSpPr>
        <p:spPr>
          <a:xfrm>
            <a:off x="5047489" y="3611880"/>
            <a:ext cx="4023360" cy="7315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حدد بدقة سبب تعطل النمو.</a:t>
            </a:r>
          </a:p>
        </p:txBody>
      </p:sp>
      <p:sp>
        <p:nvSpPr>
          <p:cNvPr id="45" name="Rectangle 44"/>
          <p:cNvSpPr/>
          <p:nvPr/>
        </p:nvSpPr>
        <p:spPr>
          <a:xfrm>
            <a:off x="182880"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3813048" y="2880360"/>
            <a:ext cx="594360" cy="502920"/>
          </a:xfrm>
          <a:prstGeom prst="rect">
            <a:avLst/>
          </a:prstGeom>
          <a:noFill/>
        </p:spPr>
        <p:txBody>
          <a:bodyPr wrap="square" lIns="27432" rIns="27432" tIns="0" bIns="0">
            <a:spAutoFit/>
          </a:bodyPr>
          <a:lstStyle/>
          <a:p>
            <a:pPr algn="r" rtl="1">
              <a:spcAft>
                <a:spcPts val="400"/>
              </a:spcAft>
              <a:defRPr sz="3000" b="1">
                <a:solidFill>
                  <a:srgbClr val="7D2B42"/>
                </a:solidFill>
                <a:latin typeface="Bebas Neue"/>
              </a:defRPr>
            </a:pPr>
            <a:r>
              <a:rPr sz="1600">
                <a:latin typeface="IBM Plex Sans Arabic"/>
              </a:rPr>
              <a:t>03</a:t>
            </a:r>
          </a:p>
        </p:txBody>
      </p:sp>
      <p:sp>
        <p:nvSpPr>
          <p:cNvPr id="47" name="TextBox 46"/>
          <p:cNvSpPr txBox="1"/>
          <p:nvPr/>
        </p:nvSpPr>
        <p:spPr>
          <a:xfrm>
            <a:off x="457200" y="2926080"/>
            <a:ext cx="3200400" cy="45720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التصميم</a:t>
            </a:r>
          </a:p>
        </p:txBody>
      </p:sp>
      <p:sp>
        <p:nvSpPr>
          <p:cNvPr id="48" name="TextBox 47"/>
          <p:cNvSpPr txBox="1"/>
          <p:nvPr/>
        </p:nvSpPr>
        <p:spPr>
          <a:xfrm>
            <a:off x="384048" y="3611880"/>
            <a:ext cx="4023360" cy="7315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صمّم خطة النمو قبل البناء.</a:t>
            </a:r>
          </a:p>
        </p:txBody>
      </p:sp>
      <p:sp>
        <p:nvSpPr>
          <p:cNvPr id="49" name="Rectangle 48"/>
          <p:cNvSpPr/>
          <p:nvPr/>
        </p:nvSpPr>
        <p:spPr>
          <a:xfrm>
            <a:off x="9509760"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13139928" y="4937760"/>
            <a:ext cx="594360" cy="502920"/>
          </a:xfrm>
          <a:prstGeom prst="rect">
            <a:avLst/>
          </a:prstGeom>
          <a:noFill/>
        </p:spPr>
        <p:txBody>
          <a:bodyPr wrap="square" lIns="27432" rIns="27432" tIns="0" bIns="0">
            <a:spAutoFit/>
          </a:bodyPr>
          <a:lstStyle/>
          <a:p>
            <a:pPr algn="r" rtl="1">
              <a:spcAft>
                <a:spcPts val="400"/>
              </a:spcAft>
              <a:defRPr sz="3000" b="1">
                <a:solidFill>
                  <a:srgbClr val="7D2B42"/>
                </a:solidFill>
                <a:latin typeface="Bebas Neue"/>
              </a:defRPr>
            </a:pPr>
            <a:r>
              <a:rPr sz="1600">
                <a:latin typeface="IBM Plex Sans Arabic"/>
              </a:rPr>
              <a:t>04</a:t>
            </a:r>
          </a:p>
        </p:txBody>
      </p:sp>
      <p:sp>
        <p:nvSpPr>
          <p:cNvPr id="51" name="TextBox 50"/>
          <p:cNvSpPr txBox="1"/>
          <p:nvPr/>
        </p:nvSpPr>
        <p:spPr>
          <a:xfrm>
            <a:off x="9784080" y="4983480"/>
            <a:ext cx="3200400" cy="45720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التنفيذ</a:t>
            </a:r>
          </a:p>
        </p:txBody>
      </p:sp>
      <p:sp>
        <p:nvSpPr>
          <p:cNvPr id="52" name="TextBox 51"/>
          <p:cNvSpPr txBox="1"/>
          <p:nvPr/>
        </p:nvSpPr>
        <p:spPr>
          <a:xfrm>
            <a:off x="9710928" y="5669280"/>
            <a:ext cx="4023360" cy="7315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نفّذ بدقة عبر القنوات.</a:t>
            </a:r>
          </a:p>
        </p:txBody>
      </p:sp>
      <p:sp>
        <p:nvSpPr>
          <p:cNvPr id="53" name="Rectangle 52"/>
          <p:cNvSpPr/>
          <p:nvPr/>
        </p:nvSpPr>
        <p:spPr>
          <a:xfrm>
            <a:off x="4846321"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4" name="TextBox 53"/>
          <p:cNvSpPr txBox="1"/>
          <p:nvPr/>
        </p:nvSpPr>
        <p:spPr>
          <a:xfrm>
            <a:off x="8476489" y="4937760"/>
            <a:ext cx="594360" cy="502920"/>
          </a:xfrm>
          <a:prstGeom prst="rect">
            <a:avLst/>
          </a:prstGeom>
          <a:noFill/>
        </p:spPr>
        <p:txBody>
          <a:bodyPr wrap="square" lIns="27432" rIns="27432" tIns="0" bIns="0">
            <a:spAutoFit/>
          </a:bodyPr>
          <a:lstStyle/>
          <a:p>
            <a:pPr algn="r" rtl="1">
              <a:spcAft>
                <a:spcPts val="400"/>
              </a:spcAft>
              <a:defRPr sz="3000" b="1">
                <a:solidFill>
                  <a:srgbClr val="7D2B42"/>
                </a:solidFill>
                <a:latin typeface="Bebas Neue"/>
              </a:defRPr>
            </a:pPr>
            <a:r>
              <a:rPr sz="1600">
                <a:latin typeface="IBM Plex Sans Arabic"/>
              </a:rPr>
              <a:t>05</a:t>
            </a:r>
          </a:p>
        </p:txBody>
      </p:sp>
      <p:sp>
        <p:nvSpPr>
          <p:cNvPr id="55" name="TextBox 54"/>
          <p:cNvSpPr txBox="1"/>
          <p:nvPr/>
        </p:nvSpPr>
        <p:spPr>
          <a:xfrm>
            <a:off x="5120641" y="4983480"/>
            <a:ext cx="3200400" cy="45720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التحسين</a:t>
            </a:r>
          </a:p>
        </p:txBody>
      </p:sp>
      <p:sp>
        <p:nvSpPr>
          <p:cNvPr id="56" name="TextBox 55"/>
          <p:cNvSpPr txBox="1"/>
          <p:nvPr/>
        </p:nvSpPr>
        <p:spPr>
          <a:xfrm>
            <a:off x="5047489" y="5669280"/>
            <a:ext cx="4023360" cy="7315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حسّن بالبيانات أسبوعيًا.</a:t>
            </a:r>
          </a:p>
        </p:txBody>
      </p:sp>
      <p:sp>
        <p:nvSpPr>
          <p:cNvPr id="57" name="Rectangle 56"/>
          <p:cNvSpPr/>
          <p:nvPr/>
        </p:nvSpPr>
        <p:spPr>
          <a:xfrm>
            <a:off x="182880"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8" name="TextBox 57"/>
          <p:cNvSpPr txBox="1"/>
          <p:nvPr/>
        </p:nvSpPr>
        <p:spPr>
          <a:xfrm>
            <a:off x="3813048" y="4937760"/>
            <a:ext cx="594360" cy="502920"/>
          </a:xfrm>
          <a:prstGeom prst="rect">
            <a:avLst/>
          </a:prstGeom>
          <a:noFill/>
        </p:spPr>
        <p:txBody>
          <a:bodyPr wrap="square" lIns="27432" rIns="27432" tIns="0" bIns="0">
            <a:spAutoFit/>
          </a:bodyPr>
          <a:lstStyle/>
          <a:p>
            <a:pPr algn="r" rtl="1">
              <a:spcAft>
                <a:spcPts val="400"/>
              </a:spcAft>
              <a:defRPr sz="3000" b="1">
                <a:solidFill>
                  <a:srgbClr val="7D2B42"/>
                </a:solidFill>
                <a:latin typeface="Bebas Neue"/>
              </a:defRPr>
            </a:pPr>
            <a:r>
              <a:rPr sz="1600">
                <a:latin typeface="IBM Plex Sans Arabic"/>
              </a:rPr>
              <a:t>06</a:t>
            </a:r>
          </a:p>
        </p:txBody>
      </p:sp>
      <p:sp>
        <p:nvSpPr>
          <p:cNvPr id="59" name="TextBox 58"/>
          <p:cNvSpPr txBox="1"/>
          <p:nvPr/>
        </p:nvSpPr>
        <p:spPr>
          <a:xfrm>
            <a:off x="457200" y="4983480"/>
            <a:ext cx="3200400" cy="45720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التوسع</a:t>
            </a:r>
          </a:p>
        </p:txBody>
      </p:sp>
      <p:sp>
        <p:nvSpPr>
          <p:cNvPr id="60" name="TextBox 59"/>
          <p:cNvSpPr txBox="1"/>
          <p:nvPr/>
        </p:nvSpPr>
        <p:spPr>
          <a:xfrm>
            <a:off x="384048" y="5669280"/>
            <a:ext cx="4023360" cy="7315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وسّع الناجح نحو نمو مستدام.</a:t>
            </a:r>
          </a:p>
        </p:txBody>
      </p:sp>
      <p:sp>
        <p:nvSpPr>
          <p:cNvPr id="61" name="TextBox 60"/>
          <p:cNvSpPr txBox="1"/>
          <p:nvPr/>
        </p:nvSpPr>
        <p:spPr>
          <a:xfrm>
            <a:off x="822960" y="7178040"/>
            <a:ext cx="12984480" cy="457200"/>
          </a:xfrm>
          <a:prstGeom prst="rect">
            <a:avLst/>
          </a:prstGeom>
          <a:noFill/>
        </p:spPr>
        <p:txBody>
          <a:bodyPr wrap="square" lIns="27432" rIns="27432" tIns="0" bIns="0">
            <a:spAutoFit/>
          </a:bodyPr>
          <a:lstStyle/>
          <a:p>
            <a:pPr algn="r" rtl="1">
              <a:spcAft>
                <a:spcPts val="400"/>
              </a:spcAft>
              <a:defRPr sz="1200" b="1">
                <a:solidFill>
                  <a:srgbClr val="7D2B42"/>
                </a:solidFill>
                <a:latin typeface="Montserrat"/>
              </a:defRPr>
            </a:pPr>
            <a:r>
              <a:rPr sz="1600">
                <a:latin typeface="IBM Plex Sans Arabic"/>
              </a:rPr>
              <a:t>المبيعات/التطوير والحساب: تدقيق ← استراتيجية ← سعر ← اجتماعين ← توقيع وسداد ← تنفيذ. وتستمر أدلة الاكتشاف في المراحل الست.</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تسليم العمل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16</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عميل جديد / افتح قناة التواصل</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Freeform 35"/>
          <p:cNvSpPr/>
          <p:nvPr/>
        </p:nvSpPr>
        <p:spPr>
          <a:xfrm>
            <a:off x="7680960" y="2286000"/>
            <a:ext cx="6217920" cy="4297680"/>
          </a:xfrm>
          <a:custGeom>
            <a:avLst/>
            <a:gdLst/>
            <a:ahLst/>
            <a:cxnLst/>
            <a:rect l="l" t="t" r="r" b="b"/>
            <a:pathLst>
              <a:path w="680" h="470">
                <a:moveTo>
                  <a:pt x="0" y="23"/>
                </a:moveTo>
                <a:lnTo>
                  <a:pt x="59" y="0"/>
                </a:lnTo>
                <a:lnTo>
                  <a:pt x="119" y="18"/>
                </a:lnTo>
                <a:lnTo>
                  <a:pt x="187" y="0"/>
                </a:lnTo>
                <a:lnTo>
                  <a:pt x="255" y="16"/>
                </a:lnTo>
                <a:lnTo>
                  <a:pt x="340" y="0"/>
                </a:lnTo>
                <a:lnTo>
                  <a:pt x="408" y="18"/>
                </a:lnTo>
                <a:lnTo>
                  <a:pt x="476" y="0"/>
                </a:lnTo>
                <a:lnTo>
                  <a:pt x="544" y="18"/>
                </a:lnTo>
                <a:lnTo>
                  <a:pt x="595" y="0"/>
                </a:lnTo>
                <a:lnTo>
                  <a:pt x="680" y="23"/>
                </a:lnTo>
                <a:lnTo>
                  <a:pt x="669" y="105"/>
                </a:lnTo>
                <a:lnTo>
                  <a:pt x="680" y="211"/>
                </a:lnTo>
                <a:lnTo>
                  <a:pt x="668" y="305"/>
                </a:lnTo>
                <a:lnTo>
                  <a:pt x="680" y="399"/>
                </a:lnTo>
                <a:lnTo>
                  <a:pt x="666" y="470"/>
                </a:lnTo>
                <a:lnTo>
                  <a:pt x="595" y="460"/>
                </a:lnTo>
                <a:lnTo>
                  <a:pt x="510" y="470"/>
                </a:lnTo>
                <a:lnTo>
                  <a:pt x="425" y="455"/>
                </a:lnTo>
                <a:lnTo>
                  <a:pt x="340" y="470"/>
                </a:lnTo>
                <a:lnTo>
                  <a:pt x="255" y="455"/>
                </a:lnTo>
                <a:lnTo>
                  <a:pt x="170" y="470"/>
                </a:lnTo>
                <a:lnTo>
                  <a:pt x="85" y="455"/>
                </a:lnTo>
                <a:lnTo>
                  <a:pt x="0" y="470"/>
                </a:lnTo>
                <a:lnTo>
                  <a:pt x="11" y="352"/>
                </a:lnTo>
                <a:lnTo>
                  <a:pt x="0" y="258"/>
                </a:lnTo>
                <a:lnTo>
                  <a:pt x="10" y="14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8001000" y="2651760"/>
            <a:ext cx="5577840" cy="548640"/>
          </a:xfrm>
          <a:prstGeom prst="rect">
            <a:avLst/>
          </a:prstGeom>
          <a:noFill/>
        </p:spPr>
        <p:txBody>
          <a:bodyPr wrap="square" lIns="27432" rIns="27432" tIns="0" bIns="0">
            <a:spAutoFit/>
          </a:bodyPr>
          <a:lstStyle/>
          <a:p>
            <a:pPr algn="r" rtl="1">
              <a:spcAft>
                <a:spcPts val="400"/>
              </a:spcAft>
              <a:defRPr sz="2800" b="1">
                <a:solidFill>
                  <a:srgbClr val="7D2B42"/>
                </a:solidFill>
                <a:latin typeface="Montserrat"/>
              </a:defRPr>
            </a:pPr>
            <a:r>
              <a:rPr sz="1600">
                <a:latin typeface="IBM Plex Sans Arabic"/>
              </a:rPr>
              <a:t>مدير الحساب</a:t>
            </a:r>
          </a:p>
        </p:txBody>
      </p:sp>
      <p:sp>
        <p:nvSpPr>
          <p:cNvPr id="38" name="TextBox 37"/>
          <p:cNvSpPr txBox="1"/>
          <p:nvPr/>
        </p:nvSpPr>
        <p:spPr>
          <a:xfrm>
            <a:off x="8001000" y="3520440"/>
            <a:ext cx="5577840" cy="1280160"/>
          </a:xfrm>
          <a:prstGeom prst="rect">
            <a:avLst/>
          </a:prstGeom>
          <a:noFill/>
        </p:spPr>
        <p:txBody>
          <a:bodyPr wrap="square" lIns="27432" rIns="27432" tIns="0" bIns="0">
            <a:spAutoFit/>
          </a:bodyPr>
          <a:lstStyle/>
          <a:p>
            <a:pPr algn="r" rtl="1">
              <a:spcAft>
                <a:spcPts val="400"/>
              </a:spcAft>
              <a:defRPr sz="2500" b="0">
                <a:solidFill>
                  <a:srgbClr val="202020"/>
                </a:solidFill>
                <a:latin typeface="Montserrat"/>
              </a:defRPr>
            </a:pPr>
            <a:r>
              <a:rPr sz="1600">
                <a:latin typeface="IBM Plex Sans Arabic"/>
              </a:rPr>
              <a:t>بعد توقيع العميل ينشئ مجموعة WhatsApp لبدء المشروع.</a:t>
            </a:r>
          </a:p>
        </p:txBody>
      </p:sp>
      <p:sp>
        <p:nvSpPr>
          <p:cNvPr id="39" name="Rectangle 38"/>
          <p:cNvSpPr/>
          <p:nvPr/>
        </p:nvSpPr>
        <p:spPr>
          <a:xfrm>
            <a:off x="8138160" y="5532120"/>
            <a:ext cx="54406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8275320" y="5715000"/>
            <a:ext cx="5166360" cy="274320"/>
          </a:xfrm>
          <a:prstGeom prst="rect">
            <a:avLst/>
          </a:prstGeom>
          <a:noFill/>
        </p:spPr>
        <p:txBody>
          <a:bodyPr wrap="square" lIns="27432" rIns="27432" tIns="0" bIns="0">
            <a:spAutoFit/>
          </a:bodyPr>
          <a:lstStyle/>
          <a:p>
            <a:pPr algn="r" rtl="1">
              <a:spcAft>
                <a:spcPts val="400"/>
              </a:spcAft>
              <a:defRPr sz="1300" b="1">
                <a:solidFill>
                  <a:srgbClr val="7D2B42"/>
                </a:solidFill>
                <a:latin typeface="Montserrat"/>
              </a:defRPr>
            </a:pPr>
            <a:r>
              <a:rPr sz="1250">
                <a:latin typeface="IBM Plex Sans Arabic"/>
              </a:rPr>
              <a:t>تنسيق ← موجز ← تكليف ← متابعة</a:t>
            </a:r>
          </a:p>
        </p:txBody>
      </p:sp>
      <p:sp>
        <p:nvSpPr>
          <p:cNvPr id="41" name="TextBox 40"/>
          <p:cNvSpPr txBox="1"/>
          <p:nvPr/>
        </p:nvSpPr>
        <p:spPr>
          <a:xfrm>
            <a:off x="1051560" y="2560320"/>
            <a:ext cx="5943600" cy="411480"/>
          </a:xfrm>
          <a:prstGeom prst="rect">
            <a:avLst/>
          </a:prstGeom>
          <a:noFill/>
        </p:spPr>
        <p:txBody>
          <a:bodyPr wrap="square" lIns="27432" rIns="27432" tIns="0" bIns="0">
            <a:spAutoFit/>
          </a:bodyPr>
          <a:lstStyle/>
          <a:p>
            <a:pPr algn="r" rtl="1">
              <a:spcAft>
                <a:spcPts val="400"/>
              </a:spcAft>
              <a:defRPr sz="2200" b="1">
                <a:solidFill>
                  <a:srgbClr val="7D2B42"/>
                </a:solidFill>
                <a:latin typeface="Montserrat"/>
              </a:defRPr>
            </a:pPr>
            <a:r>
              <a:rPr sz="1600">
                <a:latin typeface="IBM Plex Sans Arabic"/>
              </a:rPr>
              <a:t>أعضاء المجموعة</a:t>
            </a:r>
          </a:p>
        </p:txBody>
      </p:sp>
      <p:sp>
        <p:nvSpPr>
          <p:cNvPr id="42" name="Rectangle 41"/>
          <p:cNvSpPr/>
          <p:nvPr/>
        </p:nvSpPr>
        <p:spPr>
          <a:xfrm>
            <a:off x="1051560" y="3291840"/>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1280160" y="3429000"/>
            <a:ext cx="5532120" cy="3657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العميل</a:t>
            </a:r>
          </a:p>
        </p:txBody>
      </p:sp>
      <p:sp>
        <p:nvSpPr>
          <p:cNvPr id="44" name="Rectangle 43"/>
          <p:cNvSpPr/>
          <p:nvPr/>
        </p:nvSpPr>
        <p:spPr>
          <a:xfrm>
            <a:off x="1051560" y="4096512"/>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TextBox 44"/>
          <p:cNvSpPr txBox="1"/>
          <p:nvPr/>
        </p:nvSpPr>
        <p:spPr>
          <a:xfrm>
            <a:off x="1280160" y="4233672"/>
            <a:ext cx="5532120" cy="3657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مالك PMP</a:t>
            </a:r>
          </a:p>
        </p:txBody>
      </p:sp>
      <p:sp>
        <p:nvSpPr>
          <p:cNvPr id="46" name="Rectangle 45"/>
          <p:cNvSpPr/>
          <p:nvPr/>
        </p:nvSpPr>
        <p:spPr>
          <a:xfrm>
            <a:off x="1051560" y="4901184"/>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1280160" y="5038344"/>
            <a:ext cx="5532120" cy="3657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مدير التسويق</a:t>
            </a:r>
          </a:p>
        </p:txBody>
      </p:sp>
      <p:sp>
        <p:nvSpPr>
          <p:cNvPr id="48" name="Rectangle 47"/>
          <p:cNvSpPr/>
          <p:nvPr/>
        </p:nvSpPr>
        <p:spPr>
          <a:xfrm>
            <a:off x="1051560" y="5705856"/>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280160" y="5843016"/>
            <a:ext cx="5532120" cy="36576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أصحاب المصلحة المعنيون الآخرون</a:t>
            </a:r>
          </a:p>
        </p:txBody>
      </p:sp>
      <p:sp>
        <p:nvSpPr>
          <p:cNvPr id="50" name="TextBox 49"/>
          <p:cNvSpPr txBox="1"/>
          <p:nvPr/>
        </p:nvSpPr>
        <p:spPr>
          <a:xfrm>
            <a:off x="914400" y="7040880"/>
            <a:ext cx="12893040" cy="45720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600">
                <a:latin typeface="IBM Plex Sans Arabic"/>
              </a:rPr>
              <a:t>المالك والمعنيون أعضاء مجموعة، وليسوا وظائف إضافية إلى الخريطة ذات 14 دورًا.</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تسليم العمل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17</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توقيع العقد / نقل مجلد العميل</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TextBox 35"/>
          <p:cNvSpPr txBox="1"/>
          <p:nvPr/>
        </p:nvSpPr>
        <p:spPr>
          <a:xfrm>
            <a:off x="8229600" y="2286000"/>
            <a:ext cx="5577840" cy="41148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قبل العقد</a:t>
            </a:r>
          </a:p>
        </p:txBody>
      </p:sp>
      <p:sp>
        <p:nvSpPr>
          <p:cNvPr id="37" name="TextBox 36"/>
          <p:cNvSpPr txBox="1"/>
          <p:nvPr/>
        </p:nvSpPr>
        <p:spPr>
          <a:xfrm>
            <a:off x="914400" y="2286000"/>
            <a:ext cx="6035040" cy="41148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بعد توقيع العقد</a:t>
            </a:r>
          </a:p>
        </p:txBody>
      </p:sp>
      <p:sp>
        <p:nvSpPr>
          <p:cNvPr id="38" name="Freeform 37"/>
          <p:cNvSpPr/>
          <p:nvPr/>
        </p:nvSpPr>
        <p:spPr>
          <a:xfrm>
            <a:off x="7680960" y="2971800"/>
            <a:ext cx="6217920" cy="2286000"/>
          </a:xfrm>
          <a:custGeom>
            <a:avLst/>
            <a:gdLst/>
            <a:ahLst/>
            <a:cxnLst/>
            <a:rect l="l" t="t" r="r" b="b"/>
            <a:pathLst>
              <a:path w="680" h="250">
                <a:moveTo>
                  <a:pt x="0" y="12"/>
                </a:moveTo>
                <a:lnTo>
                  <a:pt x="59" y="0"/>
                </a:lnTo>
                <a:lnTo>
                  <a:pt x="119" y="10"/>
                </a:lnTo>
                <a:lnTo>
                  <a:pt x="187" y="0"/>
                </a:lnTo>
                <a:lnTo>
                  <a:pt x="255" y="8"/>
                </a:lnTo>
                <a:lnTo>
                  <a:pt x="340" y="0"/>
                </a:lnTo>
                <a:lnTo>
                  <a:pt x="408" y="10"/>
                </a:lnTo>
                <a:lnTo>
                  <a:pt x="476" y="0"/>
                </a:lnTo>
                <a:lnTo>
                  <a:pt x="544" y="10"/>
                </a:lnTo>
                <a:lnTo>
                  <a:pt x="595" y="0"/>
                </a:lnTo>
                <a:lnTo>
                  <a:pt x="680" y="12"/>
                </a:lnTo>
                <a:lnTo>
                  <a:pt x="669" y="56"/>
                </a:lnTo>
                <a:lnTo>
                  <a:pt x="680" y="112"/>
                </a:lnTo>
                <a:lnTo>
                  <a:pt x="668" y="162"/>
                </a:lnTo>
                <a:lnTo>
                  <a:pt x="680" y="212"/>
                </a:lnTo>
                <a:lnTo>
                  <a:pt x="666" y="250"/>
                </a:lnTo>
                <a:lnTo>
                  <a:pt x="595" y="245"/>
                </a:lnTo>
                <a:lnTo>
                  <a:pt x="510" y="250"/>
                </a:lnTo>
                <a:lnTo>
                  <a:pt x="425" y="242"/>
                </a:lnTo>
                <a:lnTo>
                  <a:pt x="340" y="250"/>
                </a:lnTo>
                <a:lnTo>
                  <a:pt x="255" y="242"/>
                </a:lnTo>
                <a:lnTo>
                  <a:pt x="170" y="250"/>
                </a:lnTo>
                <a:lnTo>
                  <a:pt x="85" y="242"/>
                </a:lnTo>
                <a:lnTo>
                  <a:pt x="0" y="250"/>
                </a:lnTo>
                <a:lnTo>
                  <a:pt x="11" y="187"/>
                </a:lnTo>
                <a:lnTo>
                  <a:pt x="0" y="137"/>
                </a:lnTo>
                <a:lnTo>
                  <a:pt x="10" y="75"/>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TextBox 38"/>
          <p:cNvSpPr txBox="1"/>
          <p:nvPr/>
        </p:nvSpPr>
        <p:spPr>
          <a:xfrm>
            <a:off x="8001000" y="3520440"/>
            <a:ext cx="5577840" cy="1188720"/>
          </a:xfrm>
          <a:prstGeom prst="rect">
            <a:avLst/>
          </a:prstGeom>
          <a:noFill/>
        </p:spPr>
        <p:txBody>
          <a:bodyPr wrap="square" lIns="27432" rIns="27432" tIns="0" bIns="0">
            <a:spAutoFit/>
          </a:bodyPr>
          <a:lstStyle/>
          <a:p>
            <a:pPr algn="r" rtl="1">
              <a:spcAft>
                <a:spcPts val="400"/>
              </a:spcAft>
              <a:defRPr sz="2500" b="1">
                <a:solidFill>
                  <a:srgbClr val="202020"/>
                </a:solidFill>
                <a:latin typeface="Montserrat"/>
              </a:defRPr>
            </a:pPr>
            <a:r>
              <a:rPr sz="1600">
                <a:latin typeface="IBM Plex Sans Arabic"/>
              </a:rPr>
              <a:t>PMP Drive / Quotations /</a:t>
            </a:r>
          </a:p>
          <a:p>
            <a:pPr algn="r" rtl="1">
              <a:spcAft>
                <a:spcPts val="400"/>
              </a:spcAft>
              <a:defRPr sz="2500" b="1">
                <a:solidFill>
                  <a:srgbClr val="202020"/>
                </a:solidFill>
                <a:latin typeface="Montserrat"/>
              </a:defRPr>
            </a:pPr>
            <a:r>
              <a:rPr sz="1600">
                <a:latin typeface="IBM Plex Sans Arabic"/>
              </a:rPr>
              <a:t>[اسم العميل]</a:t>
            </a:r>
          </a:p>
        </p:txBody>
      </p:sp>
      <p:sp>
        <p:nvSpPr>
          <p:cNvPr id="40" name="Freeform 39"/>
          <p:cNvSpPr/>
          <p:nvPr/>
        </p:nvSpPr>
        <p:spPr>
          <a:xfrm>
            <a:off x="822960" y="2971800"/>
            <a:ext cx="6217920" cy="2286000"/>
          </a:xfrm>
          <a:custGeom>
            <a:avLst/>
            <a:gdLst/>
            <a:ahLst/>
            <a:cxnLst/>
            <a:rect l="l" t="t" r="r" b="b"/>
            <a:pathLst>
              <a:path w="680" h="250">
                <a:moveTo>
                  <a:pt x="0" y="12"/>
                </a:moveTo>
                <a:lnTo>
                  <a:pt x="59" y="0"/>
                </a:lnTo>
                <a:lnTo>
                  <a:pt x="119" y="10"/>
                </a:lnTo>
                <a:lnTo>
                  <a:pt x="187" y="0"/>
                </a:lnTo>
                <a:lnTo>
                  <a:pt x="255" y="8"/>
                </a:lnTo>
                <a:lnTo>
                  <a:pt x="340" y="0"/>
                </a:lnTo>
                <a:lnTo>
                  <a:pt x="408" y="10"/>
                </a:lnTo>
                <a:lnTo>
                  <a:pt x="476" y="0"/>
                </a:lnTo>
                <a:lnTo>
                  <a:pt x="544" y="10"/>
                </a:lnTo>
                <a:lnTo>
                  <a:pt x="595" y="0"/>
                </a:lnTo>
                <a:lnTo>
                  <a:pt x="680" y="12"/>
                </a:lnTo>
                <a:lnTo>
                  <a:pt x="669" y="56"/>
                </a:lnTo>
                <a:lnTo>
                  <a:pt x="680" y="112"/>
                </a:lnTo>
                <a:lnTo>
                  <a:pt x="668" y="162"/>
                </a:lnTo>
                <a:lnTo>
                  <a:pt x="680" y="212"/>
                </a:lnTo>
                <a:lnTo>
                  <a:pt x="666" y="250"/>
                </a:lnTo>
                <a:lnTo>
                  <a:pt x="595" y="245"/>
                </a:lnTo>
                <a:lnTo>
                  <a:pt x="510" y="250"/>
                </a:lnTo>
                <a:lnTo>
                  <a:pt x="425" y="242"/>
                </a:lnTo>
                <a:lnTo>
                  <a:pt x="340" y="250"/>
                </a:lnTo>
                <a:lnTo>
                  <a:pt x="255" y="242"/>
                </a:lnTo>
                <a:lnTo>
                  <a:pt x="170" y="250"/>
                </a:lnTo>
                <a:lnTo>
                  <a:pt x="85" y="242"/>
                </a:lnTo>
                <a:lnTo>
                  <a:pt x="0" y="250"/>
                </a:lnTo>
                <a:lnTo>
                  <a:pt x="11" y="187"/>
                </a:lnTo>
                <a:lnTo>
                  <a:pt x="0" y="137"/>
                </a:lnTo>
                <a:lnTo>
                  <a:pt x="10" y="75"/>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TextBox 40"/>
          <p:cNvSpPr txBox="1"/>
          <p:nvPr/>
        </p:nvSpPr>
        <p:spPr>
          <a:xfrm>
            <a:off x="1143000" y="3520440"/>
            <a:ext cx="5577840" cy="1188720"/>
          </a:xfrm>
          <a:prstGeom prst="rect">
            <a:avLst/>
          </a:prstGeom>
          <a:noFill/>
        </p:spPr>
        <p:txBody>
          <a:bodyPr wrap="square" lIns="27432" rIns="27432" tIns="0" bIns="0">
            <a:spAutoFit/>
          </a:bodyPr>
          <a:lstStyle/>
          <a:p>
            <a:pPr algn="r" rtl="1">
              <a:spcAft>
                <a:spcPts val="400"/>
              </a:spcAft>
              <a:defRPr sz="2500" b="1">
                <a:solidFill>
                  <a:srgbClr val="7D2B42"/>
                </a:solidFill>
                <a:latin typeface="Montserrat"/>
              </a:defRPr>
            </a:pPr>
            <a:r>
              <a:rPr sz="1600">
                <a:latin typeface="IBM Plex Sans Arabic"/>
              </a:rPr>
              <a:t>PMP Drive /</a:t>
            </a:r>
          </a:p>
          <a:p>
            <a:pPr algn="r" rtl="1">
              <a:spcAft>
                <a:spcPts val="400"/>
              </a:spcAft>
              <a:defRPr sz="2500" b="1">
                <a:solidFill>
                  <a:srgbClr val="7D2B42"/>
                </a:solidFill>
                <a:latin typeface="Montserrat"/>
              </a:defRPr>
            </a:pPr>
            <a:r>
              <a:rPr sz="1600">
                <a:latin typeface="IBM Plex Sans Arabic"/>
              </a:rPr>
              <a:t>[اسم العميل]</a:t>
            </a:r>
          </a:p>
        </p:txBody>
      </p:sp>
      <p:cxnSp>
        <p:nvCxnSpPr>
          <p:cNvPr id="42" name="Connector 41"/>
          <p:cNvCxnSpPr/>
          <p:nvPr/>
        </p:nvCxnSpPr>
        <p:spPr>
          <a:xfrm flipH="1">
            <a:off x="7040880" y="4069080"/>
            <a:ext cx="64008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22960" y="571500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1005840" y="5870448"/>
            <a:ext cx="12618720" cy="320040"/>
          </a:xfrm>
          <a:prstGeom prst="rect">
            <a:avLst/>
          </a:prstGeom>
          <a:noFill/>
        </p:spPr>
        <p:txBody>
          <a:bodyPr wrap="square" lIns="27432" rIns="27432" tIns="0" bIns="0">
            <a:spAutoFit/>
          </a:bodyPr>
          <a:lstStyle/>
          <a:p>
            <a:pPr algn="r" rtl="1">
              <a:spcAft>
                <a:spcPts val="400"/>
              </a:spcAft>
              <a:defRPr sz="1800" b="1">
                <a:solidFill>
                  <a:srgbClr val="7D2B42"/>
                </a:solidFill>
                <a:latin typeface="Montserrat"/>
              </a:defRPr>
            </a:pPr>
            <a:r>
              <a:rPr sz="1500">
                <a:latin typeface="IBM Plex Sans Arabic"/>
              </a:rPr>
              <a:t>انقل المجلد نفسه — لا تنشئ نسخة</a:t>
            </a:r>
          </a:p>
        </p:txBody>
      </p:sp>
      <p:sp>
        <p:nvSpPr>
          <p:cNvPr id="45" name="TextBox 44"/>
          <p:cNvSpPr txBox="1"/>
          <p:nvPr/>
        </p:nvSpPr>
        <p:spPr>
          <a:xfrm>
            <a:off x="914400" y="6492240"/>
            <a:ext cx="12801600" cy="9601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الشرط: توقيع العميل. ينقل المبيعات/التطوير المجلد من عروض الأسعار ليصبح مستقلًا باسم العميل، ويحتفظ بالعروض وجميع أعمال العميل اللاحقة.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تسليم العمل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18</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Drive العميل / موطن واحد للمشروع</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326880" y="2194560"/>
            <a:ext cx="4572000" cy="51206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646920" y="2560320"/>
            <a:ext cx="3931920" cy="365760"/>
          </a:xfrm>
          <a:prstGeom prst="rect">
            <a:avLst/>
          </a:prstGeom>
          <a:noFill/>
        </p:spPr>
        <p:txBody>
          <a:bodyPr wrap="square" lIns="27432" rIns="27432" tIns="0" bIns="0">
            <a:spAutoFit/>
          </a:bodyPr>
          <a:lstStyle/>
          <a:p>
            <a:pPr algn="r" rtl="1">
              <a:spcAft>
                <a:spcPts val="400"/>
              </a:spcAft>
              <a:defRPr sz="1400" b="1">
                <a:solidFill>
                  <a:srgbClr val="FFCC00"/>
                </a:solidFill>
                <a:latin typeface="Montserrat"/>
              </a:defRPr>
            </a:pPr>
            <a:r>
              <a:rPr sz="1600">
                <a:latin typeface="IBM Plex Sans Arabic"/>
              </a:rPr>
              <a:t>ينشئه</a:t>
            </a:r>
          </a:p>
        </p:txBody>
      </p:sp>
      <p:sp>
        <p:nvSpPr>
          <p:cNvPr id="38" name="TextBox 37"/>
          <p:cNvSpPr txBox="1"/>
          <p:nvPr/>
        </p:nvSpPr>
        <p:spPr>
          <a:xfrm>
            <a:off x="9646920" y="3200400"/>
            <a:ext cx="3931920" cy="2103120"/>
          </a:xfrm>
          <a:prstGeom prst="rect">
            <a:avLst/>
          </a:prstGeom>
          <a:noFill/>
        </p:spPr>
        <p:txBody>
          <a:bodyPr wrap="square" lIns="27432" rIns="27432" tIns="0" bIns="0">
            <a:spAutoFit/>
          </a:bodyPr>
          <a:lstStyle/>
          <a:p>
            <a:pPr algn="r" rtl="1">
              <a:spcAft>
                <a:spcPts val="400"/>
              </a:spcAft>
              <a:defRPr sz="3300" b="1">
                <a:solidFill>
                  <a:srgbClr val="FFFFFF"/>
                </a:solidFill>
                <a:latin typeface="Bebas Neue"/>
              </a:defRPr>
            </a:pPr>
            <a:r>
              <a:rPr sz="1600">
                <a:latin typeface="IBM Plex Sans Arabic"/>
              </a:rPr>
              <a:t>المبيعات</a:t>
            </a:r>
          </a:p>
          <a:p>
            <a:pPr algn="r" rtl="1">
              <a:spcAft>
                <a:spcPts val="400"/>
              </a:spcAft>
              <a:defRPr sz="3300" b="1">
                <a:solidFill>
                  <a:srgbClr val="FFFFFF"/>
                </a:solidFill>
                <a:latin typeface="Bebas Neue"/>
              </a:defRPr>
            </a:pPr>
            <a:r>
              <a:rPr sz="1600">
                <a:latin typeface="IBM Plex Sans Arabic"/>
              </a:rPr>
              <a:t>أو تطوير</a:t>
            </a:r>
          </a:p>
          <a:p>
            <a:pPr algn="r" rtl="1">
              <a:spcAft>
                <a:spcPts val="400"/>
              </a:spcAft>
              <a:defRPr sz="3300" b="1">
                <a:solidFill>
                  <a:srgbClr val="FFFFFF"/>
                </a:solidFill>
                <a:latin typeface="Bebas Neue"/>
              </a:defRPr>
            </a:pPr>
            <a:r>
              <a:rPr sz="1600">
                <a:latin typeface="IBM Plex Sans Arabic"/>
              </a:rPr>
              <a:t>الأعمال</a:t>
            </a:r>
          </a:p>
        </p:txBody>
      </p:sp>
      <p:sp>
        <p:nvSpPr>
          <p:cNvPr id="39" name="TextBox 38"/>
          <p:cNvSpPr txBox="1"/>
          <p:nvPr/>
        </p:nvSpPr>
        <p:spPr>
          <a:xfrm>
            <a:off x="9646920" y="5852160"/>
            <a:ext cx="3931920" cy="548640"/>
          </a:xfrm>
          <a:prstGeom prst="rect">
            <a:avLst/>
          </a:prstGeom>
          <a:noFill/>
        </p:spPr>
        <p:txBody>
          <a:bodyPr wrap="square" lIns="27432" rIns="27432" tIns="0" bIns="0">
            <a:spAutoFit/>
          </a:bodyPr>
          <a:lstStyle/>
          <a:p>
            <a:pPr algn="r" rtl="1">
              <a:spcAft>
                <a:spcPts val="400"/>
              </a:spcAft>
              <a:defRPr sz="1900" b="0">
                <a:solidFill>
                  <a:srgbClr val="FFFFFF"/>
                </a:solidFill>
                <a:latin typeface="Montserrat"/>
              </a:defRPr>
            </a:pPr>
            <a:r>
              <a:rPr sz="1600">
                <a:latin typeface="IBM Plex Sans Arabic"/>
              </a:rPr>
              <a:t>مجلد مستقل = اسم العميل</a:t>
            </a:r>
          </a:p>
        </p:txBody>
      </p:sp>
      <p:sp>
        <p:nvSpPr>
          <p:cNvPr id="40" name="TextBox 39"/>
          <p:cNvSpPr txBox="1"/>
          <p:nvPr/>
        </p:nvSpPr>
        <p:spPr>
          <a:xfrm>
            <a:off x="822960" y="2423160"/>
            <a:ext cx="8046720" cy="3840480"/>
          </a:xfrm>
          <a:prstGeom prst="rect">
            <a:avLst/>
          </a:prstGeom>
          <a:noFill/>
        </p:spPr>
        <p:txBody>
          <a:bodyPr wrap="square" lIns="27432" rIns="27432" tIns="0" bIns="0">
            <a:spAutoFit/>
          </a:bodyPr>
          <a:lstStyle/>
          <a:p>
            <a:pPr algn="r" rtl="1">
              <a:spcAft>
                <a:spcPts val="400"/>
              </a:spcAft>
              <a:defRPr sz="2000" b="0">
                <a:solidFill>
                  <a:srgbClr val="202020"/>
                </a:solidFill>
                <a:latin typeface="Montserrat"/>
              </a:defRPr>
            </a:pPr>
            <a:r>
              <a:rPr sz="1600">
                <a:latin typeface="IBM Plex Sans Arabic"/>
              </a:rPr>
              <a:t>[اسم العميل]/</a:t>
            </a:r>
          </a:p>
          <a:p>
            <a:pPr algn="r" rtl="1">
              <a:spcAft>
                <a:spcPts val="400"/>
              </a:spcAft>
              <a:defRPr sz="2000" b="0">
                <a:solidFill>
                  <a:srgbClr val="202020"/>
                </a:solidFill>
                <a:latin typeface="Montserrat"/>
              </a:defRPr>
            </a:pPr>
            <a:r>
              <a:rPr sz="1600">
                <a:latin typeface="IBM Plex Sans Arabic"/>
              </a:rPr>
              <a:t>  عروض الأسعار/</a:t>
            </a:r>
          </a:p>
          <a:p>
            <a:pPr algn="r" rtl="1">
              <a:spcAft>
                <a:spcPts val="400"/>
              </a:spcAft>
              <a:defRPr sz="2000" b="0">
                <a:solidFill>
                  <a:srgbClr val="202020"/>
                </a:solidFill>
                <a:latin typeface="Montserrat"/>
              </a:defRPr>
            </a:pPr>
            <a:r>
              <a:rPr sz="1600">
                <a:latin typeface="IBM Plex Sans Arabic"/>
              </a:rPr>
              <a:t>  الاستراتيجية الأولية/</a:t>
            </a:r>
          </a:p>
          <a:p>
            <a:pPr algn="r" rtl="1">
              <a:spcAft>
                <a:spcPts val="400"/>
              </a:spcAft>
              <a:defRPr sz="2000" b="0">
                <a:solidFill>
                  <a:srgbClr val="202020"/>
                </a:solidFill>
                <a:latin typeface="Montserrat"/>
              </a:defRPr>
            </a:pPr>
            <a:r>
              <a:rPr sz="1600">
                <a:latin typeface="IBM Plex Sans Arabic"/>
              </a:rPr>
              <a:t>  موجز العميل/</a:t>
            </a:r>
          </a:p>
          <a:p>
            <a:pPr algn="r" rtl="1">
              <a:spcAft>
                <a:spcPts val="400"/>
              </a:spcAft>
              <a:defRPr sz="2000" b="0">
                <a:solidFill>
                  <a:srgbClr val="202020"/>
                </a:solidFill>
                <a:latin typeface="Montserrat"/>
              </a:defRPr>
            </a:pPr>
            <a:r>
              <a:rPr sz="1600">
                <a:latin typeface="IBM Plex Sans Arabic"/>
              </a:rPr>
              <a:t>  المحتوى/ ← [الشهر]/ ← Calendar.pptx</a:t>
            </a:r>
          </a:p>
          <a:p>
            <a:pPr algn="r" rtl="1">
              <a:spcAft>
                <a:spcPts val="400"/>
              </a:spcAft>
              <a:defRPr sz="2000" b="0">
                <a:solidFill>
                  <a:srgbClr val="202020"/>
                </a:solidFill>
                <a:latin typeface="Montserrat"/>
              </a:defRPr>
            </a:pPr>
            <a:r>
              <a:rPr sz="1600">
                <a:latin typeface="IBM Plex Sans Arabic"/>
              </a:rPr>
              <a:t>  التصميم/ ← [الشهر]/ ← تصميمات نهائية معتمدة</a:t>
            </a:r>
          </a:p>
          <a:p>
            <a:pPr algn="r" rtl="1">
              <a:spcAft>
                <a:spcPts val="400"/>
              </a:spcAft>
              <a:defRPr sz="2000" b="0">
                <a:solidFill>
                  <a:srgbClr val="202020"/>
                </a:solidFill>
                <a:latin typeface="Montserrat"/>
              </a:defRPr>
            </a:pPr>
            <a:r>
              <a:rPr sz="1600">
                <a:latin typeface="IBM Plex Sans Arabic"/>
              </a:rPr>
              <a:t>  الفيديو/ ← [الشهر]/ ← فيديوهات نهائية معتمدة</a:t>
            </a:r>
          </a:p>
        </p:txBody>
      </p:sp>
      <p:sp>
        <p:nvSpPr>
          <p:cNvPr id="41" name="Rectangle 40"/>
          <p:cNvSpPr/>
          <p:nvPr/>
        </p:nvSpPr>
        <p:spPr>
          <a:xfrm>
            <a:off x="868681" y="6537960"/>
            <a:ext cx="7955279" cy="5486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1097280" y="6684264"/>
            <a:ext cx="7543800" cy="27432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250">
                <a:latin typeface="IBM Plex Sans Arabic"/>
              </a:rPr>
              <a:t>أضف مجلدات أخرى حين يتطلبها النطاق المتفق عليه.</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FFFFFF"/>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PMP / سير التشغيل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FFFFFF"/>
                </a:solidFill>
                <a:latin typeface="Montserrat"/>
              </a:defRPr>
            </a:pPr>
            <a:r>
              <a:rPr sz="1250">
                <a:latin typeface="IBM Plex Sans Arabic"/>
              </a:rPr>
              <a:t>19</a:t>
            </a:r>
          </a:p>
        </p:txBody>
      </p:sp>
      <p:cxnSp>
        <p:nvCxnSpPr>
          <p:cNvPr id="32" name="Connector 31"/>
          <p:cNvCxnSpPr/>
          <p:nvPr/>
        </p:nvCxnSpPr>
        <p:spPr>
          <a:xfrm flipH="1">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FFFFFF"/>
                </a:solidFill>
                <a:latin typeface="Bebas Neue"/>
              </a:defRPr>
            </a:pPr>
            <a:r>
              <a:rPr sz="1600">
                <a:latin typeface="IBM Plex Sans Arabic"/>
              </a:rPr>
              <a:t>مدير الحساب / يوزّع ويتابع ويجمع</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FFFFFF"/>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FFFFFF"/>
                </a:solidFill>
                <a:latin typeface="Montserrat"/>
              </a:defRPr>
            </a:pPr>
            <a:r>
              <a:rPr sz="1000">
                <a:latin typeface="IBM Plex Sans Arabic"/>
              </a:rPr>
              <a:t>مسودة قابلة للتعديل • التبعيات والسياسات الأخرى مقترحة</a:t>
            </a:r>
          </a:p>
        </p:txBody>
      </p:sp>
      <p:sp>
        <p:nvSpPr>
          <p:cNvPr id="36" name="Freeform 35"/>
          <p:cNvSpPr/>
          <p:nvPr/>
        </p:nvSpPr>
        <p:spPr>
          <a:xfrm>
            <a:off x="7498080" y="2286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7726680" y="2514600"/>
            <a:ext cx="5943600" cy="54864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01 / اجتماع العميل</a:t>
            </a:r>
          </a:p>
        </p:txBody>
      </p:sp>
      <p:sp>
        <p:nvSpPr>
          <p:cNvPr id="38" name="TextBox 37"/>
          <p:cNvSpPr txBox="1"/>
          <p:nvPr/>
        </p:nvSpPr>
        <p:spPr>
          <a:xfrm>
            <a:off x="7726680" y="3200400"/>
            <a:ext cx="5943600" cy="9601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يحضر الاجتماع ويجمع المتطلبات ويكتب الموجز.</a:t>
            </a:r>
          </a:p>
        </p:txBody>
      </p:sp>
      <p:sp>
        <p:nvSpPr>
          <p:cNvPr id="39" name="Freeform 38"/>
          <p:cNvSpPr/>
          <p:nvPr/>
        </p:nvSpPr>
        <p:spPr>
          <a:xfrm>
            <a:off x="685800" y="2286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914400" y="2514600"/>
            <a:ext cx="5943600" cy="54864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02 / توزيع المهام</a:t>
            </a:r>
          </a:p>
        </p:txBody>
      </p:sp>
      <p:sp>
        <p:nvSpPr>
          <p:cNvPr id="41" name="TextBox 40"/>
          <p:cNvSpPr txBox="1"/>
          <p:nvPr/>
        </p:nvSpPr>
        <p:spPr>
          <a:xfrm>
            <a:off x="914400" y="3200400"/>
            <a:ext cx="5943600" cy="9601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يرسل الموجز للمحتوى والتصميم والمونتاج ويحدد المسؤولين.</a:t>
            </a:r>
          </a:p>
        </p:txBody>
      </p:sp>
      <p:sp>
        <p:nvSpPr>
          <p:cNvPr id="42" name="Freeform 41"/>
          <p:cNvSpPr/>
          <p:nvPr/>
        </p:nvSpPr>
        <p:spPr>
          <a:xfrm>
            <a:off x="7498080" y="4572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7726680" y="4800600"/>
            <a:ext cx="5943600" cy="54864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03 / متابعة التنفيذ</a:t>
            </a:r>
          </a:p>
        </p:txBody>
      </p:sp>
      <p:sp>
        <p:nvSpPr>
          <p:cNvPr id="44" name="TextBox 43"/>
          <p:cNvSpPr txBox="1"/>
          <p:nvPr/>
        </p:nvSpPr>
        <p:spPr>
          <a:xfrm>
            <a:off x="7726680" y="5486400"/>
            <a:ext cx="5943600" cy="9601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يتابع التقدم والمواعيد والنواقص والتعليقات حتى إنهاء العمل.</a:t>
            </a:r>
          </a:p>
        </p:txBody>
      </p:sp>
      <p:sp>
        <p:nvSpPr>
          <p:cNvPr id="45" name="Freeform 44"/>
          <p:cNvSpPr/>
          <p:nvPr/>
        </p:nvSpPr>
        <p:spPr>
          <a:xfrm>
            <a:off x="685800" y="4572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914400" y="4800600"/>
            <a:ext cx="5943600" cy="54864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04 / عرض العميل</a:t>
            </a:r>
          </a:p>
        </p:txBody>
      </p:sp>
      <p:sp>
        <p:nvSpPr>
          <p:cNvPr id="47" name="TextBox 46"/>
          <p:cNvSpPr txBox="1"/>
          <p:nvPr/>
        </p:nvSpPr>
        <p:spPr>
          <a:xfrm>
            <a:off x="914400" y="5486400"/>
            <a:ext cx="5943600" cy="96012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يجمع المعتمد في PPTX واحد ويعرضه ويوثق الموافقة النهائية.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سير التشغيل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20</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سلسلة الاعتماد والنشر المؤكدة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607040" y="2148840"/>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744200" y="2276856"/>
            <a:ext cx="3017520" cy="36576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1 / الموجز</a:t>
            </a:r>
          </a:p>
        </p:txBody>
      </p:sp>
      <p:sp>
        <p:nvSpPr>
          <p:cNvPr id="38" name="TextBox 37"/>
          <p:cNvSpPr txBox="1"/>
          <p:nvPr/>
        </p:nvSpPr>
        <p:spPr>
          <a:xfrm>
            <a:off x="868680" y="2221992"/>
            <a:ext cx="9509760" cy="50292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يقابل الحساب العميل ويكتب الموجز ويوزع المهام.</a:t>
            </a:r>
          </a:p>
        </p:txBody>
      </p:sp>
      <p:sp>
        <p:nvSpPr>
          <p:cNvPr id="39" name="Rectangle 38"/>
          <p:cNvSpPr/>
          <p:nvPr/>
        </p:nvSpPr>
        <p:spPr>
          <a:xfrm>
            <a:off x="10607040" y="2871216"/>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10744200" y="2999232"/>
            <a:ext cx="3017520" cy="36576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2 / التنفيذ</a:t>
            </a:r>
          </a:p>
        </p:txBody>
      </p:sp>
      <p:sp>
        <p:nvSpPr>
          <p:cNvPr id="41" name="TextBox 40"/>
          <p:cNvSpPr txBox="1"/>
          <p:nvPr/>
        </p:nvSpPr>
        <p:spPr>
          <a:xfrm>
            <a:off x="868680" y="2944368"/>
            <a:ext cx="9509760" cy="50292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مسؤول واحد ينفذ كل مخرج مكلف به.</a:t>
            </a:r>
          </a:p>
        </p:txBody>
      </p:sp>
      <p:sp>
        <p:nvSpPr>
          <p:cNvPr id="42" name="Rectangle 41"/>
          <p:cNvSpPr/>
          <p:nvPr/>
        </p:nvSpPr>
        <p:spPr>
          <a:xfrm>
            <a:off x="10607040" y="3593592"/>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10744200" y="3721608"/>
            <a:ext cx="3017520" cy="36576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3 / الجودة</a:t>
            </a:r>
          </a:p>
        </p:txBody>
      </p:sp>
      <p:sp>
        <p:nvSpPr>
          <p:cNvPr id="44" name="TextBox 43"/>
          <p:cNvSpPr txBox="1"/>
          <p:nvPr/>
        </p:nvSpPr>
        <p:spPr>
          <a:xfrm>
            <a:off x="868680" y="3666744"/>
            <a:ext cx="9509760" cy="50292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رئيس المحتوى/التصميم يراجع الجودة، ومدير التسويق يراجع الفيديو.</a:t>
            </a:r>
          </a:p>
        </p:txBody>
      </p:sp>
      <p:sp>
        <p:nvSpPr>
          <p:cNvPr id="45" name="Rectangle 44"/>
          <p:cNvSpPr/>
          <p:nvPr/>
        </p:nvSpPr>
        <p:spPr>
          <a:xfrm>
            <a:off x="10607040" y="4315968"/>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10744200" y="4443984"/>
            <a:ext cx="3017520" cy="36576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4 / الاعتماد الداخلي</a:t>
            </a:r>
          </a:p>
        </p:txBody>
      </p:sp>
      <p:sp>
        <p:nvSpPr>
          <p:cNvPr id="47" name="TextBox 46"/>
          <p:cNvSpPr txBox="1"/>
          <p:nvPr/>
        </p:nvSpPr>
        <p:spPr>
          <a:xfrm>
            <a:off x="868680" y="4389120"/>
            <a:ext cx="9509760" cy="50292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يعتمد التسويق بعد الجودة؛ والتعليقات المفتوحة تمنع الانتقال.</a:t>
            </a:r>
          </a:p>
        </p:txBody>
      </p:sp>
      <p:sp>
        <p:nvSpPr>
          <p:cNvPr id="48" name="Rectangle 47"/>
          <p:cNvSpPr/>
          <p:nvPr/>
        </p:nvSpPr>
        <p:spPr>
          <a:xfrm>
            <a:off x="10607040" y="5038344"/>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0744200" y="5166359"/>
            <a:ext cx="3017520" cy="36576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5 / عرض عميل واحد</a:t>
            </a:r>
          </a:p>
        </p:txBody>
      </p:sp>
      <p:sp>
        <p:nvSpPr>
          <p:cNvPr id="50" name="TextBox 49"/>
          <p:cNvSpPr txBox="1"/>
          <p:nvPr/>
        </p:nvSpPr>
        <p:spPr>
          <a:xfrm>
            <a:off x="868680" y="5111496"/>
            <a:ext cx="9509760" cy="50292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يجمع الحساب المنتهي في عرض واحد ويقدمه.</a:t>
            </a:r>
          </a:p>
        </p:txBody>
      </p:sp>
      <p:sp>
        <p:nvSpPr>
          <p:cNvPr id="51" name="Rectangle 50"/>
          <p:cNvSpPr/>
          <p:nvPr/>
        </p:nvSpPr>
        <p:spPr>
          <a:xfrm>
            <a:off x="10607040" y="5760720"/>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2" name="TextBox 51"/>
          <p:cNvSpPr txBox="1"/>
          <p:nvPr/>
        </p:nvSpPr>
        <p:spPr>
          <a:xfrm>
            <a:off x="10744200" y="5888736"/>
            <a:ext cx="3017520" cy="36576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6 / موافقة العميل النهائية</a:t>
            </a:r>
          </a:p>
        </p:txBody>
      </p:sp>
      <p:sp>
        <p:nvSpPr>
          <p:cNvPr id="53" name="TextBox 52"/>
          <p:cNvSpPr txBox="1"/>
          <p:nvPr/>
        </p:nvSpPr>
        <p:spPr>
          <a:xfrm>
            <a:off x="868680" y="5833872"/>
            <a:ext cx="9509760" cy="50292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يعتمد العميل العرض؛ والرفض يعيد المهام المتأثرة للتعديل.</a:t>
            </a:r>
          </a:p>
        </p:txBody>
      </p:sp>
      <p:sp>
        <p:nvSpPr>
          <p:cNvPr id="54" name="Rectangle 53"/>
          <p:cNvSpPr/>
          <p:nvPr/>
        </p:nvSpPr>
        <p:spPr>
          <a:xfrm>
            <a:off x="10607040" y="6483096"/>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5" name="TextBox 54"/>
          <p:cNvSpPr txBox="1"/>
          <p:nvPr/>
        </p:nvSpPr>
        <p:spPr>
          <a:xfrm>
            <a:off x="10744200" y="6611112"/>
            <a:ext cx="3017520" cy="36576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7 / النشر الاجتماعي</a:t>
            </a:r>
          </a:p>
        </p:txBody>
      </p:sp>
      <p:sp>
        <p:nvSpPr>
          <p:cNvPr id="56" name="TextBox 55"/>
          <p:cNvSpPr txBox="1"/>
          <p:nvPr/>
        </p:nvSpPr>
        <p:spPr>
          <a:xfrm>
            <a:off x="868680" y="6556248"/>
            <a:ext cx="9509760" cy="50292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يسلّم الحساب العرض المعتمد لأخصائي التواصل للجدولة والنشر.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سير التشغيل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21</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التعليقات تُبقي المهمة مفتوحة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509760"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9674353"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المراجعون يكتبون التعليقات</a:t>
            </a:r>
          </a:p>
        </p:txBody>
      </p:sp>
      <p:sp>
        <p:nvSpPr>
          <p:cNvPr id="39" name="TextBox 38"/>
          <p:cNvSpPr txBox="1"/>
          <p:nvPr/>
        </p:nvSpPr>
        <p:spPr>
          <a:xfrm>
            <a:off x="9674353" y="3456432"/>
            <a:ext cx="4059935" cy="2377439"/>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يسجل الحساب والتسويق والرئيس المعني ملاحظات قابلة للتنفيذ.</a:t>
            </a:r>
          </a:p>
        </p:txBody>
      </p:sp>
      <p:sp>
        <p:nvSpPr>
          <p:cNvPr id="40" name="Rectangle 39"/>
          <p:cNvSpPr/>
          <p:nvPr/>
        </p:nvSpPr>
        <p:spPr>
          <a:xfrm>
            <a:off x="4846321"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9180577"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5010914"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المنفذ يطبق التعليقات</a:t>
            </a:r>
          </a:p>
        </p:txBody>
      </p:sp>
      <p:sp>
        <p:nvSpPr>
          <p:cNvPr id="43" name="TextBox 42"/>
          <p:cNvSpPr txBox="1"/>
          <p:nvPr/>
        </p:nvSpPr>
        <p:spPr>
          <a:xfrm>
            <a:off x="5010914" y="3456432"/>
            <a:ext cx="4059935" cy="2377439"/>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ينفذ مسؤول المهمة كل ملاحظة ويوثق رده.</a:t>
            </a:r>
          </a:p>
        </p:txBody>
      </p:sp>
      <p:sp>
        <p:nvSpPr>
          <p:cNvPr id="44" name="Rectangle 43"/>
          <p:cNvSpPr/>
          <p:nvPr/>
        </p:nvSpPr>
        <p:spPr>
          <a:xfrm>
            <a:off x="182880"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4517136"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347473"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أعد المراجعة ثم اجمع</a:t>
            </a:r>
          </a:p>
        </p:txBody>
      </p:sp>
      <p:sp>
        <p:nvSpPr>
          <p:cNvPr id="47" name="TextBox 46"/>
          <p:cNvSpPr txBox="1"/>
          <p:nvPr/>
        </p:nvSpPr>
        <p:spPr>
          <a:xfrm>
            <a:off x="347473" y="3456432"/>
            <a:ext cx="4059935" cy="2377439"/>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أعد الجودة واعتماد التسويق؛ يجمع الحساب العمل المنتهي فقط.</a:t>
            </a:r>
          </a:p>
        </p:txBody>
      </p:sp>
      <p:sp>
        <p:nvSpPr>
          <p:cNvPr id="48" name="Rectangle 47"/>
          <p:cNvSpPr/>
          <p:nvPr/>
        </p:nvSpPr>
        <p:spPr>
          <a:xfrm>
            <a:off x="822960" y="6446520"/>
            <a:ext cx="12984480" cy="7315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005840" y="6592824"/>
            <a:ext cx="12618720" cy="50292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إنتاج المهمة لا يعني اعتمادها. التعديلات تعيد فتحها وتبطل العرض المتأثر لحين إعادة اعتماده.</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تسليم العمل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22</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المحتوى / التسليم والمراجعة على الخطة نفسها</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469880" y="2240280"/>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607040" y="2404872"/>
            <a:ext cx="3108960" cy="41148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1 / الإنتاج</a:t>
            </a:r>
          </a:p>
        </p:txBody>
      </p:sp>
      <p:sp>
        <p:nvSpPr>
          <p:cNvPr id="38" name="TextBox 37"/>
          <p:cNvSpPr txBox="1"/>
          <p:nvPr/>
        </p:nvSpPr>
        <p:spPr>
          <a:xfrm>
            <a:off x="822960" y="2331720"/>
            <a:ext cx="9326880" cy="64008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نفذ مهمة المحتوى من موجز مدير الحساب.</a:t>
            </a:r>
          </a:p>
        </p:txBody>
      </p:sp>
      <p:sp>
        <p:nvSpPr>
          <p:cNvPr id="39" name="Rectangle 38"/>
          <p:cNvSpPr/>
          <p:nvPr/>
        </p:nvSpPr>
        <p:spPr>
          <a:xfrm>
            <a:off x="10469880" y="3182112"/>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10607040" y="3346704"/>
            <a:ext cx="3108960" cy="41148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2 / التسجيل</a:t>
            </a:r>
          </a:p>
        </p:txBody>
      </p:sp>
      <p:sp>
        <p:nvSpPr>
          <p:cNvPr id="41" name="TextBox 40"/>
          <p:cNvSpPr txBox="1"/>
          <p:nvPr/>
        </p:nvSpPr>
        <p:spPr>
          <a:xfrm>
            <a:off x="822960" y="3273552"/>
            <a:ext cx="9326880" cy="64008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سلّم على الشيت مع مرجع العمل/رابطه.</a:t>
            </a:r>
          </a:p>
        </p:txBody>
      </p:sp>
      <p:sp>
        <p:nvSpPr>
          <p:cNvPr id="42" name="Rectangle 41"/>
          <p:cNvSpPr/>
          <p:nvPr/>
        </p:nvSpPr>
        <p:spPr>
          <a:xfrm>
            <a:off x="10469880" y="4123944"/>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10607040" y="4288536"/>
            <a:ext cx="3108960" cy="41148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3 / الرفع</a:t>
            </a:r>
          </a:p>
        </p:txBody>
      </p:sp>
      <p:sp>
        <p:nvSpPr>
          <p:cNvPr id="44" name="TextBox 43"/>
          <p:cNvSpPr txBox="1"/>
          <p:nvPr/>
        </p:nvSpPr>
        <p:spPr>
          <a:xfrm>
            <a:off x="822960" y="4215383"/>
            <a:ext cx="9326880" cy="64008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ارفع خطة PPTX قيد العمل داخل المحتوى/الشهر المعني.</a:t>
            </a:r>
          </a:p>
        </p:txBody>
      </p:sp>
      <p:sp>
        <p:nvSpPr>
          <p:cNvPr id="45" name="Rectangle 44"/>
          <p:cNvSpPr/>
          <p:nvPr/>
        </p:nvSpPr>
        <p:spPr>
          <a:xfrm>
            <a:off x="10469880" y="5065776"/>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10607040" y="5230368"/>
            <a:ext cx="3108960" cy="41148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4 / مراجعة الملف نفسه</a:t>
            </a:r>
          </a:p>
        </p:txBody>
      </p:sp>
      <p:sp>
        <p:nvSpPr>
          <p:cNvPr id="47" name="TextBox 46"/>
          <p:cNvSpPr txBox="1"/>
          <p:nvPr/>
        </p:nvSpPr>
        <p:spPr>
          <a:xfrm>
            <a:off x="822960" y="5157216"/>
            <a:ext cx="9326880" cy="64008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تلقَّ التعليقات على خطة PPTX نفسها دون نسخة مراجعة منفصلة مختلقة.</a:t>
            </a:r>
          </a:p>
        </p:txBody>
      </p:sp>
      <p:sp>
        <p:nvSpPr>
          <p:cNvPr id="48" name="Rectangle 47"/>
          <p:cNvSpPr/>
          <p:nvPr/>
        </p:nvSpPr>
        <p:spPr>
          <a:xfrm>
            <a:off x="10469880" y="6007608"/>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0607040" y="6172200"/>
            <a:ext cx="3108960" cy="411480"/>
          </a:xfrm>
          <a:prstGeom prst="rect">
            <a:avLst/>
          </a:prstGeom>
          <a:noFill/>
        </p:spPr>
        <p:txBody>
          <a:bodyPr wrap="square" lIns="27432" rIns="27432" tIns="0" bIns="0">
            <a:spAutoFit/>
          </a:bodyPr>
          <a:lstStyle/>
          <a:p>
            <a:pPr algn="r" rtl="1">
              <a:spcAft>
                <a:spcPts val="400"/>
              </a:spcAft>
              <a:defRPr sz="1300" b="1">
                <a:solidFill>
                  <a:srgbClr val="FFFFFF"/>
                </a:solidFill>
                <a:latin typeface="Montserrat"/>
              </a:defRPr>
            </a:pPr>
            <a:r>
              <a:rPr sz="1600">
                <a:latin typeface="IBM Plex Sans Arabic"/>
              </a:rPr>
              <a:t>5 / تنفيذ التعليقات</a:t>
            </a:r>
          </a:p>
        </p:txBody>
      </p:sp>
      <p:sp>
        <p:nvSpPr>
          <p:cNvPr id="50" name="TextBox 49"/>
          <p:cNvSpPr txBox="1"/>
          <p:nvPr/>
        </p:nvSpPr>
        <p:spPr>
          <a:xfrm>
            <a:off x="822960" y="6099048"/>
            <a:ext cx="9326880" cy="64008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نفذها وأبقِ المهمة مفتوحة حتى اجتياز المراجعات والاعتمادات.</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تسليم العمل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23</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التصميم والفيديو / أرشف النهائي المعتمد فقط</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509760"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9674353"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نفذ ووثّق</a:t>
            </a:r>
          </a:p>
        </p:txBody>
      </p:sp>
      <p:sp>
        <p:nvSpPr>
          <p:cNvPr id="39" name="TextBox 38"/>
          <p:cNvSpPr txBox="1"/>
          <p:nvPr/>
        </p:nvSpPr>
        <p:spPr>
          <a:xfrm>
            <a:off x="9674353" y="3456432"/>
            <a:ext cx="4059935" cy="25603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أنتج المخرج وحدّث سجل المهمة ومراجعه.</a:t>
            </a:r>
          </a:p>
        </p:txBody>
      </p:sp>
      <p:sp>
        <p:nvSpPr>
          <p:cNvPr id="40" name="Rectangle 39"/>
          <p:cNvSpPr/>
          <p:nvPr/>
        </p:nvSpPr>
        <p:spPr>
          <a:xfrm>
            <a:off x="4846321"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9180577"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5010914"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الجودة ← التسويق</a:t>
            </a:r>
          </a:p>
        </p:txBody>
      </p:sp>
      <p:sp>
        <p:nvSpPr>
          <p:cNvPr id="43" name="TextBox 42"/>
          <p:cNvSpPr txBox="1"/>
          <p:nvPr/>
        </p:nvSpPr>
        <p:spPr>
          <a:xfrm>
            <a:off x="5010914" y="3456432"/>
            <a:ext cx="4059935" cy="25603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رئيس التصميم لجودة التصميم، ومدير التسويق لجودة الفيديو والاعتماد الداخلي النهائي.</a:t>
            </a:r>
          </a:p>
        </p:txBody>
      </p:sp>
      <p:sp>
        <p:nvSpPr>
          <p:cNvPr id="44" name="Rectangle 43"/>
          <p:cNvSpPr/>
          <p:nvPr/>
        </p:nvSpPr>
        <p:spPr>
          <a:xfrm>
            <a:off x="182880"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4517136"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347473" y="2560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العميل ← الأرشيف النهائي</a:t>
            </a:r>
          </a:p>
        </p:txBody>
      </p:sp>
      <p:sp>
        <p:nvSpPr>
          <p:cNvPr id="47" name="TextBox 46"/>
          <p:cNvSpPr txBox="1"/>
          <p:nvPr/>
        </p:nvSpPr>
        <p:spPr>
          <a:xfrm>
            <a:off x="347473" y="3456432"/>
            <a:ext cx="4059935" cy="25603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يجمع الحساب عرضًا للعميل. بعد الداخل والعميل، تحفظ النسخ النهائية داخل الشهر الصحيح للتصميم أو الفيديو.</a:t>
            </a:r>
          </a:p>
        </p:txBody>
      </p:sp>
      <p:sp>
        <p:nvSpPr>
          <p:cNvPr id="48" name="Rectangle 47"/>
          <p:cNvSpPr/>
          <p:nvPr/>
        </p:nvSpPr>
        <p:spPr>
          <a:xfrm>
            <a:off x="777240" y="6537960"/>
            <a:ext cx="13075920" cy="65836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960120" y="6675120"/>
            <a:ext cx="1271016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المسودة ليست نسخة نهائية للأرشفة. مكان مراجعة المسودات لم يحدد؛ ولا يخترعه العرض.</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تسليم العمل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24</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التسليم / الشيت والخطة والملفات النهائية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738360" y="2194560"/>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921240" y="2331720"/>
            <a:ext cx="3794760" cy="530352"/>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شيت المهام</a:t>
            </a:r>
          </a:p>
        </p:txBody>
      </p:sp>
      <p:sp>
        <p:nvSpPr>
          <p:cNvPr id="38" name="TextBox 37"/>
          <p:cNvSpPr txBox="1"/>
          <p:nvPr/>
        </p:nvSpPr>
        <p:spPr>
          <a:xfrm>
            <a:off x="777240" y="2249424"/>
            <a:ext cx="8641080" cy="77724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مسؤول المهمة وتقدمها وتواريخها وملاحظاتها ومراجع مخرجاتها.</a:t>
            </a:r>
          </a:p>
        </p:txBody>
      </p:sp>
      <p:sp>
        <p:nvSpPr>
          <p:cNvPr id="39" name="Rectangle 38"/>
          <p:cNvSpPr/>
          <p:nvPr/>
        </p:nvSpPr>
        <p:spPr>
          <a:xfrm>
            <a:off x="9738360" y="3182112"/>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9921240" y="3319272"/>
            <a:ext cx="3794760" cy="530352"/>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خطة المحتوى بصيغة PPTX</a:t>
            </a:r>
          </a:p>
        </p:txBody>
      </p:sp>
      <p:sp>
        <p:nvSpPr>
          <p:cNvPr id="41" name="TextBox 40"/>
          <p:cNvSpPr txBox="1"/>
          <p:nvPr/>
        </p:nvSpPr>
        <p:spPr>
          <a:xfrm>
            <a:off x="777240" y="3236976"/>
            <a:ext cx="8641080" cy="77724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الخطة نفسها تحمل مراجعات المحتوى وتعديلاته.</a:t>
            </a:r>
          </a:p>
        </p:txBody>
      </p:sp>
      <p:sp>
        <p:nvSpPr>
          <p:cNvPr id="42" name="Rectangle 41"/>
          <p:cNvSpPr/>
          <p:nvPr/>
        </p:nvSpPr>
        <p:spPr>
          <a:xfrm>
            <a:off x="9738360" y="4169664"/>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9921240" y="4306824"/>
            <a:ext cx="3794760" cy="530352"/>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مجلدات التصميم والفيديو النهائية</a:t>
            </a:r>
          </a:p>
        </p:txBody>
      </p:sp>
      <p:sp>
        <p:nvSpPr>
          <p:cNvPr id="44" name="TextBox 43"/>
          <p:cNvSpPr txBox="1"/>
          <p:nvPr/>
        </p:nvSpPr>
        <p:spPr>
          <a:xfrm>
            <a:off x="777240" y="4224528"/>
            <a:ext cx="8641080" cy="77724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نسخ شهرية نهائية فقط بعد الاعتماد الداخلي وموافقة العميل.</a:t>
            </a:r>
          </a:p>
        </p:txBody>
      </p:sp>
      <p:sp>
        <p:nvSpPr>
          <p:cNvPr id="45" name="Rectangle 44"/>
          <p:cNvSpPr/>
          <p:nvPr/>
        </p:nvSpPr>
        <p:spPr>
          <a:xfrm>
            <a:off x="9738360" y="5157216"/>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9921240" y="5294376"/>
            <a:ext cx="3794760" cy="530352"/>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مدير الحساب</a:t>
            </a:r>
          </a:p>
        </p:txBody>
      </p:sp>
      <p:sp>
        <p:nvSpPr>
          <p:cNvPr id="47" name="TextBox 46"/>
          <p:cNvSpPr txBox="1"/>
          <p:nvPr/>
        </p:nvSpPr>
        <p:spPr>
          <a:xfrm>
            <a:off x="777240" y="5212080"/>
            <a:ext cx="8641080" cy="77724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يتابع التنفيذ ويجمع المنتهي في PPTX واحد ويؤمّن موافقة العميل.</a:t>
            </a:r>
          </a:p>
        </p:txBody>
      </p:sp>
      <p:sp>
        <p:nvSpPr>
          <p:cNvPr id="48" name="Rectangle 47"/>
          <p:cNvSpPr/>
          <p:nvPr/>
        </p:nvSpPr>
        <p:spPr>
          <a:xfrm>
            <a:off x="9738360" y="6144768"/>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9921240" y="6281928"/>
            <a:ext cx="3794760" cy="530352"/>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أخصائي التواصل الاجتماعي</a:t>
            </a:r>
          </a:p>
        </p:txBody>
      </p:sp>
      <p:sp>
        <p:nvSpPr>
          <p:cNvPr id="50" name="TextBox 49"/>
          <p:cNvSpPr txBox="1"/>
          <p:nvPr/>
        </p:nvSpPr>
        <p:spPr>
          <a:xfrm>
            <a:off x="777240" y="6199632"/>
            <a:ext cx="8641080" cy="77724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يتسلم المعتمد للتجميع والجدولة والنشر ويقدم التقارير ويدير التعليقات.</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سير التشغيل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25</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أخصائي التواصل / تشغيل العلامات الخاصة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509760"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9674353" y="242316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ضبط الخطط</a:t>
            </a:r>
          </a:p>
        </p:txBody>
      </p:sp>
      <p:sp>
        <p:nvSpPr>
          <p:cNvPr id="39" name="TextBox 38"/>
          <p:cNvSpPr txBox="1"/>
          <p:nvPr/>
        </p:nvSpPr>
        <p:spPr>
          <a:xfrm>
            <a:off x="9674353" y="3319272"/>
            <a:ext cx="4059935" cy="9601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جمع الخطط كلها وتوحيد متطلبات النشر.</a:t>
            </a:r>
          </a:p>
        </p:txBody>
      </p:sp>
      <p:sp>
        <p:nvSpPr>
          <p:cNvPr id="40" name="Rectangle 39"/>
          <p:cNvSpPr/>
          <p:nvPr/>
        </p:nvSpPr>
        <p:spPr>
          <a:xfrm>
            <a:off x="4846321"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9180577"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5010914" y="242316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الاستراتيجية</a:t>
            </a:r>
          </a:p>
        </p:txBody>
      </p:sp>
      <p:sp>
        <p:nvSpPr>
          <p:cNvPr id="43" name="TextBox 42"/>
          <p:cNvSpPr txBox="1"/>
          <p:nvPr/>
        </p:nvSpPr>
        <p:spPr>
          <a:xfrm>
            <a:off x="5010914" y="3319272"/>
            <a:ext cx="4059935" cy="9601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إعداد استراتيجيات اجتماعية بناء على أهداف الحساب وفهم الجمهور.</a:t>
            </a:r>
          </a:p>
        </p:txBody>
      </p:sp>
      <p:sp>
        <p:nvSpPr>
          <p:cNvPr id="44" name="Rectangle 43"/>
          <p:cNvSpPr/>
          <p:nvPr/>
        </p:nvSpPr>
        <p:spPr>
          <a:xfrm>
            <a:off x="182880"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4517136"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347473" y="242316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التبعية الإدارية</a:t>
            </a:r>
          </a:p>
        </p:txBody>
      </p:sp>
      <p:sp>
        <p:nvSpPr>
          <p:cNvPr id="47" name="TextBox 46"/>
          <p:cNvSpPr txBox="1"/>
          <p:nvPr/>
        </p:nvSpPr>
        <p:spPr>
          <a:xfrm>
            <a:off x="347473" y="3319272"/>
            <a:ext cx="4059935" cy="9601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إعداد تقارير الأداء والاستماع الاجتماعي.</a:t>
            </a:r>
          </a:p>
        </p:txBody>
      </p:sp>
      <p:sp>
        <p:nvSpPr>
          <p:cNvPr id="48" name="Rectangle 47"/>
          <p:cNvSpPr/>
          <p:nvPr/>
        </p:nvSpPr>
        <p:spPr>
          <a:xfrm>
            <a:off x="9509760"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13844016"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9674353" y="4846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النشر والجدولة</a:t>
            </a:r>
          </a:p>
        </p:txBody>
      </p:sp>
      <p:sp>
        <p:nvSpPr>
          <p:cNvPr id="51" name="TextBox 50"/>
          <p:cNvSpPr txBox="1"/>
          <p:nvPr/>
        </p:nvSpPr>
        <p:spPr>
          <a:xfrm>
            <a:off x="9674353" y="5742431"/>
            <a:ext cx="4059935" cy="9601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تسلّم عرض العميل المعتمد، وجدولة الخطط ونشر المحتوى المعتمد.</a:t>
            </a:r>
          </a:p>
        </p:txBody>
      </p:sp>
      <p:sp>
        <p:nvSpPr>
          <p:cNvPr id="52" name="Rectangle 51"/>
          <p:cNvSpPr/>
          <p:nvPr/>
        </p:nvSpPr>
        <p:spPr>
          <a:xfrm>
            <a:off x="4846321"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Rectangle 52"/>
          <p:cNvSpPr/>
          <p:nvPr/>
        </p:nvSpPr>
        <p:spPr>
          <a:xfrm>
            <a:off x="9180577"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4" name="TextBox 53"/>
          <p:cNvSpPr txBox="1"/>
          <p:nvPr/>
        </p:nvSpPr>
        <p:spPr>
          <a:xfrm>
            <a:off x="5010914" y="4846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ردود المجتمع</a:t>
            </a:r>
          </a:p>
        </p:txBody>
      </p:sp>
      <p:sp>
        <p:nvSpPr>
          <p:cNvPr id="55" name="TextBox 54"/>
          <p:cNvSpPr txBox="1"/>
          <p:nvPr/>
        </p:nvSpPr>
        <p:spPr>
          <a:xfrm>
            <a:off x="5010914" y="5742431"/>
            <a:ext cx="4059935" cy="9601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الرد على تعليقات صفحات العلامات الخاصة.</a:t>
            </a:r>
          </a:p>
        </p:txBody>
      </p:sp>
      <p:sp>
        <p:nvSpPr>
          <p:cNvPr id="56" name="Rectangle 55"/>
          <p:cNvSpPr/>
          <p:nvPr/>
        </p:nvSpPr>
        <p:spPr>
          <a:xfrm>
            <a:off x="182880"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7" name="Rectangle 56"/>
          <p:cNvSpPr/>
          <p:nvPr/>
        </p:nvSpPr>
        <p:spPr>
          <a:xfrm>
            <a:off x="4517136"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8" name="TextBox 57"/>
          <p:cNvSpPr txBox="1"/>
          <p:nvPr/>
        </p:nvSpPr>
        <p:spPr>
          <a:xfrm>
            <a:off x="347473" y="4846320"/>
            <a:ext cx="4059935"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دورة التغذية الراجعة</a:t>
            </a:r>
          </a:p>
        </p:txBody>
      </p:sp>
      <p:sp>
        <p:nvSpPr>
          <p:cNvPr id="59" name="TextBox 58"/>
          <p:cNvSpPr txBox="1"/>
          <p:nvPr/>
        </p:nvSpPr>
        <p:spPr>
          <a:xfrm>
            <a:off x="347473" y="5742431"/>
            <a:ext cx="4059935" cy="9601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إعادة نتائج الأداء والاستماع إلى الحساب والتسويق.</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سير التشغيل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26</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شيت المهام / الهيكل خلف العمل</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98080" y="2240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240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7662672" y="242316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التكليف</a:t>
            </a:r>
          </a:p>
        </p:txBody>
      </p:sp>
      <p:sp>
        <p:nvSpPr>
          <p:cNvPr id="39" name="TextBox 38"/>
          <p:cNvSpPr txBox="1"/>
          <p:nvPr/>
        </p:nvSpPr>
        <p:spPr>
          <a:xfrm>
            <a:off x="7662672" y="331927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التاريخ · الحساب/العلامة · المهمة/المحتوى · الموجز · الأولوية · المنفذ</a:t>
            </a:r>
          </a:p>
        </p:txBody>
      </p:sp>
      <p:sp>
        <p:nvSpPr>
          <p:cNvPr id="40" name="Rectangle 39"/>
          <p:cNvSpPr/>
          <p:nvPr/>
        </p:nvSpPr>
        <p:spPr>
          <a:xfrm>
            <a:off x="685800" y="2240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7031736" y="2240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850392" y="242316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التنفيذ</a:t>
            </a:r>
          </a:p>
        </p:txBody>
      </p:sp>
      <p:sp>
        <p:nvSpPr>
          <p:cNvPr id="43" name="TextBox 42"/>
          <p:cNvSpPr txBox="1"/>
          <p:nvPr/>
        </p:nvSpPr>
        <p:spPr>
          <a:xfrm>
            <a:off x="850392" y="331927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الحالة · الموعد · البدء · الانتهاء · رابط المخرج</a:t>
            </a:r>
          </a:p>
        </p:txBody>
      </p:sp>
      <p:sp>
        <p:nvSpPr>
          <p:cNvPr id="44" name="Rectangle 43"/>
          <p:cNvSpPr/>
          <p:nvPr/>
        </p:nvSpPr>
        <p:spPr>
          <a:xfrm>
            <a:off x="7498080" y="4526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13844016" y="4526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7662672" y="470916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المراجعة والتعديلات</a:t>
            </a:r>
          </a:p>
        </p:txBody>
      </p:sp>
      <p:sp>
        <p:nvSpPr>
          <p:cNvPr id="47" name="TextBox 46"/>
          <p:cNvSpPr txBox="1"/>
          <p:nvPr/>
        </p:nvSpPr>
        <p:spPr>
          <a:xfrm>
            <a:off x="7662672" y="560527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ملاحظات المراجع · رد المنفذ · ملف الأصل · ملف التعديل</a:t>
            </a:r>
          </a:p>
        </p:txBody>
      </p:sp>
      <p:sp>
        <p:nvSpPr>
          <p:cNvPr id="48" name="Rectangle 47"/>
          <p:cNvSpPr/>
          <p:nvPr/>
        </p:nvSpPr>
        <p:spPr>
          <a:xfrm>
            <a:off x="685800" y="4526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7031736" y="4526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850392" y="470916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المتابعة</a:t>
            </a:r>
          </a:p>
        </p:txBody>
      </p:sp>
      <p:sp>
        <p:nvSpPr>
          <p:cNvPr id="51" name="TextBox 50"/>
          <p:cNvSpPr txBox="1"/>
          <p:nvPr/>
        </p:nvSpPr>
        <p:spPr>
          <a:xfrm>
            <a:off x="850392" y="560527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تذكيرات الحساب ومتابعة التنفيذ؛ سجل الإنجاز نشاط لا دليل موافقة.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PMP / سير التشغيل المؤكد من المستخدم</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27</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الحالات / افصل دليل الاعتماد</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921240" y="2240280"/>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104120" y="2377440"/>
            <a:ext cx="3566160" cy="54864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لم يبدأ / قيد التنفيذ</a:t>
            </a:r>
          </a:p>
        </p:txBody>
      </p:sp>
      <p:sp>
        <p:nvSpPr>
          <p:cNvPr id="38" name="TextBox 37"/>
          <p:cNvSpPr txBox="1"/>
          <p:nvPr/>
        </p:nvSpPr>
        <p:spPr>
          <a:xfrm>
            <a:off x="822960" y="2313432"/>
            <a:ext cx="8778240" cy="68580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مرحلة العمل: في الانتظار أو التنفيذ.</a:t>
            </a:r>
          </a:p>
        </p:txBody>
      </p:sp>
      <p:sp>
        <p:nvSpPr>
          <p:cNvPr id="39" name="Rectangle 38"/>
          <p:cNvSpPr/>
          <p:nvPr/>
        </p:nvSpPr>
        <p:spPr>
          <a:xfrm>
            <a:off x="9921240" y="3182112"/>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10104120" y="3319272"/>
            <a:ext cx="3566160" cy="54864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قيد المراجعة / تحت المراجعة</a:t>
            </a:r>
          </a:p>
        </p:txBody>
      </p:sp>
      <p:sp>
        <p:nvSpPr>
          <p:cNvPr id="41" name="TextBox 40"/>
          <p:cNvSpPr txBox="1"/>
          <p:nvPr/>
        </p:nvSpPr>
        <p:spPr>
          <a:xfrm>
            <a:off x="822960" y="3255264"/>
            <a:ext cx="8778240" cy="68580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مراجعة معلقة؛ يجب تسجيل المراجع والمستوى.</a:t>
            </a:r>
          </a:p>
        </p:txBody>
      </p:sp>
      <p:sp>
        <p:nvSpPr>
          <p:cNvPr id="42" name="Rectangle 41"/>
          <p:cNvSpPr/>
          <p:nvPr/>
        </p:nvSpPr>
        <p:spPr>
          <a:xfrm>
            <a:off x="9921240" y="4123944"/>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10104120" y="4261104"/>
            <a:ext cx="3566160" cy="54864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اعتماد أول / اعتماد نهائي</a:t>
            </a:r>
          </a:p>
        </p:txBody>
      </p:sp>
      <p:sp>
        <p:nvSpPr>
          <p:cNvPr id="44" name="TextBox 43"/>
          <p:cNvSpPr txBox="1"/>
          <p:nvPr/>
        </p:nvSpPr>
        <p:spPr>
          <a:xfrm>
            <a:off x="822960" y="4197096"/>
            <a:ext cx="8778240" cy="68580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تسميات قديمة لا تحدد وحدها المعتمِد أو موافقة العميل.</a:t>
            </a:r>
          </a:p>
        </p:txBody>
      </p:sp>
      <p:sp>
        <p:nvSpPr>
          <p:cNvPr id="45" name="Rectangle 44"/>
          <p:cNvSpPr/>
          <p:nvPr/>
        </p:nvSpPr>
        <p:spPr>
          <a:xfrm>
            <a:off x="9921240" y="5065776"/>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10104120" y="5202936"/>
            <a:ext cx="3566160" cy="54864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مرفوض / يحتاج تعديلات</a:t>
            </a:r>
          </a:p>
        </p:txBody>
      </p:sp>
      <p:sp>
        <p:nvSpPr>
          <p:cNvPr id="47" name="TextBox 46"/>
          <p:cNvSpPr txBox="1"/>
          <p:nvPr/>
        </p:nvSpPr>
        <p:spPr>
          <a:xfrm>
            <a:off x="822960" y="5138928"/>
            <a:ext cx="8778240" cy="68580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المهمة مفتوحة؛ سجّل الكاتب والتعليق ورد المنفذ وإعادة المراجعة.</a:t>
            </a:r>
          </a:p>
        </p:txBody>
      </p:sp>
      <p:sp>
        <p:nvSpPr>
          <p:cNvPr id="48" name="Rectangle 47"/>
          <p:cNvSpPr/>
          <p:nvPr/>
        </p:nvSpPr>
        <p:spPr>
          <a:xfrm>
            <a:off x="9921240" y="6007608"/>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0104120" y="6144768"/>
            <a:ext cx="3566160" cy="548640"/>
          </a:xfrm>
          <a:prstGeom prst="rect">
            <a:avLst/>
          </a:prstGeom>
          <a:noFill/>
        </p:spPr>
        <p:txBody>
          <a:bodyPr wrap="square" lIns="27432" rIns="27432" tIns="0" bIns="0">
            <a:spAutoFit/>
          </a:bodyPr>
          <a:lstStyle/>
          <a:p>
            <a:pPr algn="r" rtl="1">
              <a:spcAft>
                <a:spcPts val="400"/>
              </a:spcAft>
              <a:defRPr sz="1400" b="1">
                <a:solidFill>
                  <a:srgbClr val="7D2B42"/>
                </a:solidFill>
                <a:latin typeface="Montserrat"/>
              </a:defRPr>
            </a:pPr>
            <a:r>
              <a:rPr sz="1600">
                <a:latin typeface="IBM Plex Sans Arabic"/>
              </a:rPr>
              <a:t>تم / منشور / معلق</a:t>
            </a:r>
          </a:p>
        </p:txBody>
      </p:sp>
      <p:sp>
        <p:nvSpPr>
          <p:cNvPr id="50" name="TextBox 49"/>
          <p:cNvSpPr txBox="1"/>
          <p:nvPr/>
        </p:nvSpPr>
        <p:spPr>
          <a:xfrm>
            <a:off x="822960" y="6080760"/>
            <a:ext cx="8778240" cy="68580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تم = إنجاز؛ منشور = تنفيذ؛ معلق = توقف. لا يستبدل أي منها إثبات الاعتماد.</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التشغيل ذو المراحل الست</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28</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01 / الاستكشاف</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lgn="r" rtl="1">
              <a:spcAft>
                <a:spcPts val="400"/>
              </a:spcAft>
              <a:defRPr sz="1700" b="1">
                <a:solidFill>
                  <a:srgbClr val="7D2B42"/>
                </a:solidFill>
                <a:latin typeface="Montserrat"/>
              </a:defRPr>
            </a:pPr>
            <a:r>
              <a:rPr sz="1250">
                <a:latin typeface="IBM Plex Sans Arabic"/>
              </a:rPr>
              <a:t>افهم قبل أن تتحرك.</a:t>
            </a:r>
          </a:p>
        </p:txBody>
      </p:sp>
      <p:sp>
        <p:nvSpPr>
          <p:cNvPr id="38" name="Rectangle 37"/>
          <p:cNvSpPr/>
          <p:nvPr/>
        </p:nvSpPr>
        <p:spPr>
          <a:xfrm>
            <a:off x="909828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TextBox 38"/>
          <p:cNvSpPr txBox="1"/>
          <p:nvPr/>
        </p:nvSpPr>
        <p:spPr>
          <a:xfrm>
            <a:off x="9326880" y="2953512"/>
            <a:ext cx="4297680" cy="320040"/>
          </a:xfrm>
          <a:prstGeom prst="rect">
            <a:avLst/>
          </a:prstGeom>
          <a:noFill/>
        </p:spPr>
        <p:txBody>
          <a:bodyPr wrap="square" lIns="27432" rIns="27432" tIns="0" bIns="0">
            <a:spAutoFit/>
          </a:bodyPr>
          <a:lstStyle/>
          <a:p>
            <a:pPr algn="r" rtl="1">
              <a:spcAft>
                <a:spcPts val="400"/>
              </a:spcAft>
              <a:defRPr sz="1300" b="1">
                <a:solidFill>
                  <a:srgbClr val="7D2B42"/>
                </a:solidFill>
                <a:latin typeface="Montserrat"/>
              </a:defRPr>
            </a:pPr>
            <a:r>
              <a:rPr sz="1500">
                <a:latin typeface="IBM Plex Sans Arabic"/>
              </a:rPr>
              <a:t>الأنشطة</a:t>
            </a:r>
          </a:p>
        </p:txBody>
      </p:sp>
      <p:sp>
        <p:nvSpPr>
          <p:cNvPr id="40" name="TextBox 39"/>
          <p:cNvSpPr txBox="1"/>
          <p:nvPr/>
        </p:nvSpPr>
        <p:spPr>
          <a:xfrm>
            <a:off x="9326880" y="3566160"/>
            <a:ext cx="4297680" cy="315468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اكتشاف النشاط وأهدافه</a:t>
            </a:r>
          </a:p>
          <a:p>
            <a:pPr algn="r" rtl="1">
              <a:spcAft>
                <a:spcPts val="400"/>
              </a:spcAft>
              <a:defRPr sz="1900" b="0">
                <a:solidFill>
                  <a:srgbClr val="202020"/>
                </a:solidFill>
                <a:latin typeface="Montserrat"/>
              </a:defRPr>
            </a:pPr>
            <a:r>
              <a:rPr sz="1600">
                <a:latin typeface="IBM Plex Sans Arabic"/>
              </a:rPr>
              <a:t>مقابلات أصحاب المصلحة</a:t>
            </a:r>
          </a:p>
          <a:p>
            <a:pPr algn="r" rtl="1">
              <a:spcAft>
                <a:spcPts val="400"/>
              </a:spcAft>
              <a:defRPr sz="1900" b="0">
                <a:solidFill>
                  <a:srgbClr val="202020"/>
                </a:solidFill>
                <a:latin typeface="Montserrat"/>
              </a:defRPr>
            </a:pPr>
            <a:r>
              <a:rPr sz="1600">
                <a:latin typeface="IBM Plex Sans Arabic"/>
              </a:rPr>
              <a:t>تدقيق العلامة</a:t>
            </a:r>
          </a:p>
          <a:p>
            <a:pPr algn="r" rtl="1">
              <a:spcAft>
                <a:spcPts val="400"/>
              </a:spcAft>
              <a:defRPr sz="1900" b="0">
                <a:solidFill>
                  <a:srgbClr val="202020"/>
                </a:solidFill>
                <a:latin typeface="Montserrat"/>
              </a:defRPr>
            </a:pPr>
            <a:r>
              <a:rPr sz="1600">
                <a:latin typeface="IBM Plex Sans Arabic"/>
              </a:rPr>
              <a:t>مقابلات العملاء</a:t>
            </a:r>
          </a:p>
          <a:p>
            <a:pPr algn="r" rtl="1">
              <a:spcAft>
                <a:spcPts val="400"/>
              </a:spcAft>
              <a:defRPr sz="1900" b="0">
                <a:solidFill>
                  <a:srgbClr val="202020"/>
                </a:solidFill>
                <a:latin typeface="Montserrat"/>
              </a:defRPr>
            </a:pPr>
            <a:r>
              <a:rPr sz="1600">
                <a:latin typeface="IBM Plex Sans Arabic"/>
              </a:rPr>
              <a:t>تحليل المنافسين</a:t>
            </a:r>
          </a:p>
          <a:p>
            <a:pPr algn="r" rtl="1">
              <a:spcAft>
                <a:spcPts val="400"/>
              </a:spcAft>
              <a:defRPr sz="1900" b="0">
                <a:solidFill>
                  <a:srgbClr val="202020"/>
                </a:solidFill>
                <a:latin typeface="Montserrat"/>
              </a:defRPr>
            </a:pPr>
            <a:r>
              <a:rPr sz="1600">
                <a:latin typeface="IBM Plex Sans Arabic"/>
              </a:rPr>
              <a:t>بحث السوق</a:t>
            </a:r>
          </a:p>
        </p:txBody>
      </p:sp>
      <p:sp>
        <p:nvSpPr>
          <p:cNvPr id="41" name="Rectangle 40"/>
          <p:cNvSpPr/>
          <p:nvPr/>
        </p:nvSpPr>
        <p:spPr>
          <a:xfrm>
            <a:off x="7772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1051560" y="2944368"/>
            <a:ext cx="7543800" cy="320040"/>
          </a:xfrm>
          <a:prstGeom prst="rect">
            <a:avLst/>
          </a:prstGeom>
          <a:noFill/>
        </p:spPr>
        <p:txBody>
          <a:bodyPr wrap="square" lIns="27432" rIns="27432" tIns="0" bIns="0">
            <a:spAutoFit/>
          </a:bodyPr>
          <a:lstStyle/>
          <a:p>
            <a:pPr algn="r" rtl="1">
              <a:spcAft>
                <a:spcPts val="400"/>
              </a:spcAft>
              <a:defRPr sz="1200" b="1">
                <a:solidFill>
                  <a:srgbClr val="7D2B42"/>
                </a:solidFill>
                <a:latin typeface="Montserrat"/>
              </a:defRPr>
            </a:pPr>
            <a:r>
              <a:rPr sz="1500">
                <a:latin typeface="IBM Plex Sans Arabic"/>
              </a:rPr>
              <a:t>المخرجات بحسب المصدر</a:t>
            </a:r>
          </a:p>
        </p:txBody>
      </p:sp>
      <p:sp>
        <p:nvSpPr>
          <p:cNvPr id="43" name="TextBox 42"/>
          <p:cNvSpPr txBox="1"/>
          <p:nvPr/>
        </p:nvSpPr>
        <p:spPr>
          <a:xfrm>
            <a:off x="1097281" y="3429000"/>
            <a:ext cx="7498079" cy="987552"/>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100">
                <a:latin typeface="IBM Plex Sans Arabic"/>
              </a:rPr>
              <a:t>تقرير اكتشاف النشاط</a:t>
            </a:r>
          </a:p>
          <a:p>
            <a:pPr algn="r" rtl="1">
              <a:spcAft>
                <a:spcPts val="400"/>
              </a:spcAft>
              <a:defRPr sz="1500" b="0">
                <a:solidFill>
                  <a:srgbClr val="202020"/>
                </a:solidFill>
                <a:latin typeface="Montserrat"/>
              </a:defRPr>
            </a:pPr>
            <a:r>
              <a:rPr sz="1100">
                <a:latin typeface="IBM Plex Sans Arabic"/>
              </a:rPr>
              <a:t>تحليل SWOT</a:t>
            </a:r>
          </a:p>
          <a:p>
            <a:pPr algn="r" rtl="1">
              <a:spcAft>
                <a:spcPts val="400"/>
              </a:spcAft>
              <a:defRPr sz="1500" b="0">
                <a:solidFill>
                  <a:srgbClr val="202020"/>
                </a:solidFill>
                <a:latin typeface="Montserrat"/>
              </a:defRPr>
            </a:pPr>
            <a:r>
              <a:rPr sz="1100">
                <a:latin typeface="IBM Plex Sans Arabic"/>
              </a:rPr>
              <a:t>خريطة فرص النمو</a:t>
            </a:r>
          </a:p>
          <a:p>
            <a:pPr algn="r" rtl="1">
              <a:spcAft>
                <a:spcPts val="400"/>
              </a:spcAft>
              <a:defRPr sz="1500" b="0">
                <a:solidFill>
                  <a:srgbClr val="202020"/>
                </a:solidFill>
                <a:latin typeface="Montserrat"/>
              </a:defRPr>
            </a:pPr>
            <a:r>
              <a:rPr sz="1100">
                <a:latin typeface="IBM Plex Sans Arabic"/>
              </a:rPr>
              <a:t>مشهد المنافسين</a:t>
            </a:r>
          </a:p>
        </p:txBody>
      </p:sp>
      <p:sp>
        <p:nvSpPr>
          <p:cNvPr id="44" name="TextBox 43"/>
          <p:cNvSpPr txBox="1"/>
          <p:nvPr/>
        </p:nvSpPr>
        <p:spPr>
          <a:xfrm>
            <a:off x="914400" y="470916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توزيع المسؤوليات المقترح</a:t>
            </a:r>
          </a:p>
        </p:txBody>
      </p:sp>
      <p:sp>
        <p:nvSpPr>
          <p:cNvPr id="45" name="TextBox 44"/>
          <p:cNvSpPr txBox="1"/>
          <p:nvPr/>
        </p:nvSpPr>
        <p:spPr>
          <a:xfrm>
            <a:off x="914400" y="5166360"/>
            <a:ext cx="7863840" cy="114300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يقود MM-01 الاستكشاف وينسق AM-01 المدخلات، ويسلّم BD-01 وSA-01 ملاحظات الاكتشاف والنطاق التجاري، ويساهم قادة المحتوى والتصميم بأدلة التدقيق.</a:t>
            </a:r>
          </a:p>
        </p:txBody>
      </p:sp>
      <p:sp>
        <p:nvSpPr>
          <p:cNvPr id="46" name="TextBox 45"/>
          <p:cNvSpPr txBox="1"/>
          <p:nvPr/>
        </p:nvSpPr>
        <p:spPr>
          <a:xfrm>
            <a:off x="914400" y="640080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شرط الخروج / التسليم التالي</a:t>
            </a:r>
          </a:p>
        </p:txBody>
      </p:sp>
      <p:sp>
        <p:nvSpPr>
          <p:cNvPr id="47" name="TextBox 46"/>
          <p:cNvSpPr txBox="1"/>
          <p:nvPr/>
        </p:nvSpPr>
        <p:spPr>
          <a:xfrm>
            <a:off x="914400" y="6784848"/>
            <a:ext cx="7863840" cy="777240"/>
          </a:xfrm>
          <a:prstGeom prst="rect">
            <a:avLst/>
          </a:prstGeom>
          <a:noFill/>
        </p:spPr>
        <p:txBody>
          <a:bodyPr wrap="square" lIns="27432" rIns="27432" tIns="0" bIns="0">
            <a:spAutoFit/>
          </a:bodyPr>
          <a:lstStyle/>
          <a:p>
            <a:pPr algn="r" rtl="1">
              <a:spcAft>
                <a:spcPts val="400"/>
              </a:spcAft>
              <a:defRPr sz="1200" b="0">
                <a:solidFill>
                  <a:srgbClr val="555555"/>
                </a:solidFill>
                <a:latin typeface="Montserrat"/>
              </a:defRPr>
            </a:pPr>
            <a:r>
              <a:rPr sz="1600">
                <a:latin typeface="IBM Plex Sans Arabic"/>
              </a:rPr>
              <a:t>حزمة اكتشاف مكتملة وأهداف مؤكدة ومواد متاحة؛ يراجع التسويق النتائج قبل التشخيص.</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التشغيل ذو المراحل الست</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29</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02 / التشخيص</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lgn="r" rtl="1">
              <a:spcAft>
                <a:spcPts val="400"/>
              </a:spcAft>
              <a:defRPr sz="1700" b="1">
                <a:solidFill>
                  <a:srgbClr val="7D2B42"/>
                </a:solidFill>
                <a:latin typeface="Montserrat"/>
              </a:defRPr>
            </a:pPr>
            <a:r>
              <a:rPr sz="1250">
                <a:latin typeface="IBM Plex Sans Arabic"/>
              </a:rPr>
              <a:t>حدّد سبب تعطل النمو.</a:t>
            </a:r>
          </a:p>
        </p:txBody>
      </p:sp>
      <p:sp>
        <p:nvSpPr>
          <p:cNvPr id="38" name="Rectangle 37"/>
          <p:cNvSpPr/>
          <p:nvPr/>
        </p:nvSpPr>
        <p:spPr>
          <a:xfrm>
            <a:off x="909828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TextBox 38"/>
          <p:cNvSpPr txBox="1"/>
          <p:nvPr/>
        </p:nvSpPr>
        <p:spPr>
          <a:xfrm>
            <a:off x="9326880" y="2953512"/>
            <a:ext cx="4297680" cy="320040"/>
          </a:xfrm>
          <a:prstGeom prst="rect">
            <a:avLst/>
          </a:prstGeom>
          <a:noFill/>
        </p:spPr>
        <p:txBody>
          <a:bodyPr wrap="square" lIns="27432" rIns="27432" tIns="0" bIns="0">
            <a:spAutoFit/>
          </a:bodyPr>
          <a:lstStyle/>
          <a:p>
            <a:pPr algn="r" rtl="1">
              <a:spcAft>
                <a:spcPts val="400"/>
              </a:spcAft>
              <a:defRPr sz="1300" b="1">
                <a:solidFill>
                  <a:srgbClr val="7D2B42"/>
                </a:solidFill>
                <a:latin typeface="Montserrat"/>
              </a:defRPr>
            </a:pPr>
            <a:r>
              <a:rPr sz="1500">
                <a:latin typeface="IBM Plex Sans Arabic"/>
              </a:rPr>
              <a:t>الأنشطة</a:t>
            </a:r>
          </a:p>
        </p:txBody>
      </p:sp>
      <p:sp>
        <p:nvSpPr>
          <p:cNvPr id="40" name="TextBox 39"/>
          <p:cNvSpPr txBox="1"/>
          <p:nvPr/>
        </p:nvSpPr>
        <p:spPr>
          <a:xfrm>
            <a:off x="9326880" y="3566160"/>
            <a:ext cx="4297680" cy="315468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التموضع والعلامة</a:t>
            </a:r>
          </a:p>
          <a:p>
            <a:pPr algn="r" rtl="1">
              <a:spcAft>
                <a:spcPts val="400"/>
              </a:spcAft>
              <a:defRPr sz="1900" b="0">
                <a:solidFill>
                  <a:srgbClr val="202020"/>
                </a:solidFill>
                <a:latin typeface="Montserrat"/>
              </a:defRPr>
            </a:pPr>
            <a:r>
              <a:rPr sz="1600">
                <a:latin typeface="IBM Plex Sans Arabic"/>
              </a:rPr>
              <a:t>المنتج والعرض</a:t>
            </a:r>
          </a:p>
          <a:p>
            <a:pPr algn="r" rtl="1">
              <a:spcAft>
                <a:spcPts val="400"/>
              </a:spcAft>
              <a:defRPr sz="1900" b="0">
                <a:solidFill>
                  <a:srgbClr val="202020"/>
                </a:solidFill>
                <a:latin typeface="Montserrat"/>
              </a:defRPr>
            </a:pPr>
            <a:r>
              <a:rPr sz="1600">
                <a:latin typeface="IBM Plex Sans Arabic"/>
              </a:rPr>
              <a:t>مسار التحويل والموقع</a:t>
            </a:r>
          </a:p>
          <a:p>
            <a:pPr algn="r" rtl="1">
              <a:spcAft>
                <a:spcPts val="400"/>
              </a:spcAft>
              <a:defRPr sz="1900" b="0">
                <a:solidFill>
                  <a:srgbClr val="202020"/>
                </a:solidFill>
                <a:latin typeface="Montserrat"/>
              </a:defRPr>
            </a:pPr>
            <a:r>
              <a:rPr sz="1600">
                <a:latin typeface="IBM Plex Sans Arabic"/>
              </a:rPr>
              <a:t>CRM وعملية المبيعات</a:t>
            </a:r>
          </a:p>
          <a:p>
            <a:pPr algn="r" rtl="1">
              <a:spcAft>
                <a:spcPts val="400"/>
              </a:spcAft>
              <a:defRPr sz="1900" b="0">
                <a:solidFill>
                  <a:srgbClr val="202020"/>
                </a:solidFill>
                <a:latin typeface="Montserrat"/>
              </a:defRPr>
            </a:pPr>
            <a:r>
              <a:rPr sz="1600">
                <a:latin typeface="IBM Plex Sans Arabic"/>
              </a:rPr>
              <a:t>كفاءة التسويق والإعلام</a:t>
            </a:r>
          </a:p>
        </p:txBody>
      </p:sp>
      <p:sp>
        <p:nvSpPr>
          <p:cNvPr id="41" name="Rectangle 40"/>
          <p:cNvSpPr/>
          <p:nvPr/>
        </p:nvSpPr>
        <p:spPr>
          <a:xfrm>
            <a:off x="7772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1051560" y="2944368"/>
            <a:ext cx="7543800" cy="320040"/>
          </a:xfrm>
          <a:prstGeom prst="rect">
            <a:avLst/>
          </a:prstGeom>
          <a:noFill/>
        </p:spPr>
        <p:txBody>
          <a:bodyPr wrap="square" lIns="27432" rIns="27432" tIns="0" bIns="0">
            <a:spAutoFit/>
          </a:bodyPr>
          <a:lstStyle/>
          <a:p>
            <a:pPr algn="r" rtl="1">
              <a:spcAft>
                <a:spcPts val="400"/>
              </a:spcAft>
              <a:defRPr sz="1200" b="1">
                <a:solidFill>
                  <a:srgbClr val="7D2B42"/>
                </a:solidFill>
                <a:latin typeface="Montserrat"/>
              </a:defRPr>
            </a:pPr>
            <a:r>
              <a:rPr sz="1500">
                <a:latin typeface="IBM Plex Sans Arabic"/>
              </a:rPr>
              <a:t>المخرجات بحسب المصدر</a:t>
            </a:r>
          </a:p>
        </p:txBody>
      </p:sp>
      <p:sp>
        <p:nvSpPr>
          <p:cNvPr id="43" name="TextBox 42"/>
          <p:cNvSpPr txBox="1"/>
          <p:nvPr/>
        </p:nvSpPr>
        <p:spPr>
          <a:xfrm>
            <a:off x="1097281" y="3429000"/>
            <a:ext cx="7498079" cy="987552"/>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550">
                <a:latin typeface="IBM Plex Sans Arabic"/>
              </a:rPr>
              <a:t>تشخيص النمو</a:t>
            </a:r>
          </a:p>
          <a:p>
            <a:pPr algn="r" rtl="1">
              <a:spcAft>
                <a:spcPts val="400"/>
              </a:spcAft>
              <a:defRPr sz="1500" b="0">
                <a:solidFill>
                  <a:srgbClr val="202020"/>
                </a:solidFill>
                <a:latin typeface="Montserrat"/>
              </a:defRPr>
            </a:pPr>
            <a:r>
              <a:rPr sz="1550">
                <a:latin typeface="IBM Plex Sans Arabic"/>
              </a:rPr>
              <a:t>مصفوفة الأولويات</a:t>
            </a:r>
          </a:p>
          <a:p>
            <a:pPr algn="r" rtl="1">
              <a:spcAft>
                <a:spcPts val="400"/>
              </a:spcAft>
              <a:defRPr sz="1500" b="0">
                <a:solidFill>
                  <a:srgbClr val="202020"/>
                </a:solidFill>
                <a:latin typeface="Montserrat"/>
              </a:defRPr>
            </a:pPr>
            <a:r>
              <a:rPr sz="1550">
                <a:latin typeface="IBM Plex Sans Arabic"/>
              </a:rPr>
              <a:t>قائمة المكاسب السريعة</a:t>
            </a:r>
          </a:p>
        </p:txBody>
      </p:sp>
      <p:sp>
        <p:nvSpPr>
          <p:cNvPr id="44" name="TextBox 43"/>
          <p:cNvSpPr txBox="1"/>
          <p:nvPr/>
        </p:nvSpPr>
        <p:spPr>
          <a:xfrm>
            <a:off x="914400" y="470916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توزيع المسؤوليات المقترح</a:t>
            </a:r>
          </a:p>
        </p:txBody>
      </p:sp>
      <p:sp>
        <p:nvSpPr>
          <p:cNvPr id="45" name="TextBox 44"/>
          <p:cNvSpPr txBox="1"/>
          <p:nvPr/>
        </p:nvSpPr>
        <p:spPr>
          <a:xfrm>
            <a:off x="914400" y="5166360"/>
            <a:ext cx="7863840" cy="114300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يقود MM-01 التشخيص، ويقدم MB-01 وSM-01 أدلة القنوات وSA-01 رؤية المبيعات؛ ويحضر AM-01 الاجتماعات ويكتب الموجز ويعالج فجوات المعلومات.</a:t>
            </a:r>
          </a:p>
        </p:txBody>
      </p:sp>
      <p:sp>
        <p:nvSpPr>
          <p:cNvPr id="46" name="TextBox 45"/>
          <p:cNvSpPr txBox="1"/>
          <p:nvPr/>
        </p:nvSpPr>
        <p:spPr>
          <a:xfrm>
            <a:off x="914400" y="640080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شرط الخروج / التسليم التالي</a:t>
            </a:r>
          </a:p>
        </p:txBody>
      </p:sp>
      <p:sp>
        <p:nvSpPr>
          <p:cNvPr id="47" name="TextBox 46"/>
          <p:cNvSpPr txBox="1"/>
          <p:nvPr/>
        </p:nvSpPr>
        <p:spPr>
          <a:xfrm>
            <a:off x="914400" y="6784848"/>
            <a:ext cx="7863840" cy="777240"/>
          </a:xfrm>
          <a:prstGeom prst="rect">
            <a:avLst/>
          </a:prstGeom>
          <a:noFill/>
        </p:spPr>
        <p:txBody>
          <a:bodyPr wrap="square" lIns="27432" rIns="27432" tIns="0" bIns="0">
            <a:spAutoFit/>
          </a:bodyPr>
          <a:lstStyle/>
          <a:p>
            <a:pPr algn="r" rtl="1">
              <a:spcAft>
                <a:spcPts val="400"/>
              </a:spcAft>
              <a:defRPr sz="1200" b="0">
                <a:solidFill>
                  <a:srgbClr val="555555"/>
                </a:solidFill>
                <a:latin typeface="Montserrat"/>
              </a:defRPr>
            </a:pPr>
            <a:r>
              <a:rPr sz="1600">
                <a:latin typeface="IBM Plex Sans Arabic"/>
              </a:rPr>
              <a:t>اتفق على القيود ذات الأولوية وأدلتها؛ وأسند خبرة الموقع/CRM الناقصة صراحة بدل افتراضها.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التشغيل ذو المراحل الست</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30</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03 / التصميم الاستراتيجي</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lgn="r" rtl="1">
              <a:spcAft>
                <a:spcPts val="400"/>
              </a:spcAft>
              <a:defRPr sz="1700" b="1">
                <a:solidFill>
                  <a:srgbClr val="7D2B42"/>
                </a:solidFill>
                <a:latin typeface="Montserrat"/>
              </a:defRPr>
            </a:pPr>
            <a:r>
              <a:rPr sz="1250">
                <a:latin typeface="IBM Plex Sans Arabic"/>
              </a:rPr>
              <a:t>صمّم الحل قبل البناء.</a:t>
            </a:r>
          </a:p>
        </p:txBody>
      </p:sp>
      <p:sp>
        <p:nvSpPr>
          <p:cNvPr id="38" name="Rectangle 37"/>
          <p:cNvSpPr/>
          <p:nvPr/>
        </p:nvSpPr>
        <p:spPr>
          <a:xfrm>
            <a:off x="909828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TextBox 38"/>
          <p:cNvSpPr txBox="1"/>
          <p:nvPr/>
        </p:nvSpPr>
        <p:spPr>
          <a:xfrm>
            <a:off x="9326880" y="2953512"/>
            <a:ext cx="4297680" cy="320040"/>
          </a:xfrm>
          <a:prstGeom prst="rect">
            <a:avLst/>
          </a:prstGeom>
          <a:noFill/>
        </p:spPr>
        <p:txBody>
          <a:bodyPr wrap="square" lIns="27432" rIns="27432" tIns="0" bIns="0">
            <a:spAutoFit/>
          </a:bodyPr>
          <a:lstStyle/>
          <a:p>
            <a:pPr algn="r" rtl="1">
              <a:spcAft>
                <a:spcPts val="400"/>
              </a:spcAft>
              <a:defRPr sz="1300" b="1">
                <a:solidFill>
                  <a:srgbClr val="7D2B42"/>
                </a:solidFill>
                <a:latin typeface="Montserrat"/>
              </a:defRPr>
            </a:pPr>
            <a:r>
              <a:rPr sz="1500">
                <a:latin typeface="IBM Plex Sans Arabic"/>
              </a:rPr>
              <a:t>الأنشطة</a:t>
            </a:r>
          </a:p>
        </p:txBody>
      </p:sp>
      <p:sp>
        <p:nvSpPr>
          <p:cNvPr id="40" name="TextBox 39"/>
          <p:cNvSpPr txBox="1"/>
          <p:nvPr/>
        </p:nvSpPr>
        <p:spPr>
          <a:xfrm>
            <a:off x="9326880" y="3566160"/>
            <a:ext cx="4297680" cy="315468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استراتيجية العلامة</a:t>
            </a:r>
          </a:p>
          <a:p>
            <a:pPr algn="r" rtl="1">
              <a:spcAft>
                <a:spcPts val="400"/>
              </a:spcAft>
              <a:defRPr sz="1900" b="0">
                <a:solidFill>
                  <a:srgbClr val="202020"/>
                </a:solidFill>
                <a:latin typeface="Montserrat"/>
              </a:defRPr>
            </a:pPr>
            <a:r>
              <a:rPr sz="1600">
                <a:latin typeface="IBM Plex Sans Arabic"/>
              </a:rPr>
              <a:t>استراتيجية المحتوى</a:t>
            </a:r>
          </a:p>
          <a:p>
            <a:pPr algn="r" rtl="1">
              <a:spcAft>
                <a:spcPts val="400"/>
              </a:spcAft>
              <a:defRPr sz="1900" b="0">
                <a:solidFill>
                  <a:srgbClr val="202020"/>
                </a:solidFill>
                <a:latin typeface="Montserrat"/>
              </a:defRPr>
            </a:pPr>
            <a:r>
              <a:rPr sz="1600">
                <a:latin typeface="IBM Plex Sans Arabic"/>
              </a:rPr>
              <a:t>استراتيجية الإعلام</a:t>
            </a:r>
          </a:p>
          <a:p>
            <a:pPr algn="r" rtl="1">
              <a:spcAft>
                <a:spcPts val="400"/>
              </a:spcAft>
              <a:defRPr sz="1900" b="0">
                <a:solidFill>
                  <a:srgbClr val="202020"/>
                </a:solidFill>
                <a:latin typeface="Montserrat"/>
              </a:defRPr>
            </a:pPr>
            <a:r>
              <a:rPr sz="1600">
                <a:latin typeface="IBM Plex Sans Arabic"/>
              </a:rPr>
              <a:t>رحلة العميل</a:t>
            </a:r>
          </a:p>
          <a:p>
            <a:pPr algn="r" rtl="1">
              <a:spcAft>
                <a:spcPts val="400"/>
              </a:spcAft>
              <a:defRPr sz="1900" b="0">
                <a:solidFill>
                  <a:srgbClr val="202020"/>
                </a:solidFill>
                <a:latin typeface="Montserrat"/>
              </a:defRPr>
            </a:pPr>
            <a:r>
              <a:rPr sz="1600">
                <a:latin typeface="IBM Plex Sans Arabic"/>
              </a:rPr>
              <a:t>إطار مؤشرات الأداء</a:t>
            </a:r>
          </a:p>
          <a:p>
            <a:pPr algn="r" rtl="1">
              <a:spcAft>
                <a:spcPts val="400"/>
              </a:spcAft>
              <a:defRPr sz="1900" b="0">
                <a:solidFill>
                  <a:srgbClr val="202020"/>
                </a:solidFill>
                <a:latin typeface="Montserrat"/>
              </a:defRPr>
            </a:pPr>
            <a:r>
              <a:rPr sz="1600">
                <a:latin typeface="IBM Plex Sans Arabic"/>
              </a:rPr>
              <a:t>توزيع الميزانية</a:t>
            </a:r>
          </a:p>
        </p:txBody>
      </p:sp>
      <p:sp>
        <p:nvSpPr>
          <p:cNvPr id="41" name="Rectangle 40"/>
          <p:cNvSpPr/>
          <p:nvPr/>
        </p:nvSpPr>
        <p:spPr>
          <a:xfrm>
            <a:off x="7772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1051560" y="2944368"/>
            <a:ext cx="7543800" cy="320040"/>
          </a:xfrm>
          <a:prstGeom prst="rect">
            <a:avLst/>
          </a:prstGeom>
          <a:noFill/>
        </p:spPr>
        <p:txBody>
          <a:bodyPr wrap="square" lIns="27432" rIns="27432" tIns="0" bIns="0">
            <a:spAutoFit/>
          </a:bodyPr>
          <a:lstStyle/>
          <a:p>
            <a:pPr algn="r" rtl="1">
              <a:spcAft>
                <a:spcPts val="400"/>
              </a:spcAft>
              <a:defRPr sz="1200" b="1">
                <a:solidFill>
                  <a:srgbClr val="7D2B42"/>
                </a:solidFill>
                <a:latin typeface="Montserrat"/>
              </a:defRPr>
            </a:pPr>
            <a:r>
              <a:rPr sz="1500">
                <a:latin typeface="IBM Plex Sans Arabic"/>
              </a:rPr>
              <a:t>المخرجات بحسب المصدر</a:t>
            </a:r>
          </a:p>
        </p:txBody>
      </p:sp>
      <p:sp>
        <p:nvSpPr>
          <p:cNvPr id="43" name="TextBox 42"/>
          <p:cNvSpPr txBox="1"/>
          <p:nvPr/>
        </p:nvSpPr>
        <p:spPr>
          <a:xfrm>
            <a:off x="1097281" y="3429000"/>
            <a:ext cx="7498079" cy="987552"/>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مخطط النمو™</a:t>
            </a:r>
          </a:p>
          <a:p>
            <a:pPr algn="r" rtl="1">
              <a:spcAft>
                <a:spcPts val="400"/>
              </a:spcAft>
              <a:defRPr sz="1500" b="0">
                <a:solidFill>
                  <a:srgbClr val="202020"/>
                </a:solidFill>
                <a:latin typeface="Montserrat"/>
              </a:defRPr>
            </a:pPr>
            <a:r>
              <a:rPr sz="1600">
                <a:latin typeface="IBM Plex Sans Arabic"/>
              </a:rPr>
              <a:t>خطة واحدة تربط الاستراتيجية والقنوات والمؤشرات والميزانية، وتُنقح مقابل موجز الاجتماع الفعلي.</a:t>
            </a:r>
          </a:p>
        </p:txBody>
      </p:sp>
      <p:sp>
        <p:nvSpPr>
          <p:cNvPr id="44" name="TextBox 43"/>
          <p:cNvSpPr txBox="1"/>
          <p:nvPr/>
        </p:nvSpPr>
        <p:spPr>
          <a:xfrm>
            <a:off x="914400" y="470916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توزيع المسؤوليات المقترح</a:t>
            </a:r>
          </a:p>
        </p:txBody>
      </p:sp>
      <p:sp>
        <p:nvSpPr>
          <p:cNvPr id="45" name="TextBox 44"/>
          <p:cNvSpPr txBox="1"/>
          <p:nvPr/>
        </p:nvSpPr>
        <p:spPr>
          <a:xfrm>
            <a:off x="914400" y="5166360"/>
            <a:ext cx="7863840" cy="114300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يتولى MM-01 القرارات الاستراتيجية والميزانية في التوزيع المقترح؛ HC-01 للمحتوى، وHD-01 للإبداع، وMB-01 للمدفوع، وينسق AM-01 اتفاق العميل.</a:t>
            </a:r>
          </a:p>
        </p:txBody>
      </p:sp>
      <p:sp>
        <p:nvSpPr>
          <p:cNvPr id="46" name="TextBox 45"/>
          <p:cNvSpPr txBox="1"/>
          <p:nvPr/>
        </p:nvSpPr>
        <p:spPr>
          <a:xfrm>
            <a:off x="914400" y="640080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شرط الخروج / التسليم التالي</a:t>
            </a:r>
          </a:p>
        </p:txBody>
      </p:sp>
      <p:sp>
        <p:nvSpPr>
          <p:cNvPr id="47" name="TextBox 46"/>
          <p:cNvSpPr txBox="1"/>
          <p:nvPr/>
        </p:nvSpPr>
        <p:spPr>
          <a:xfrm>
            <a:off x="914400" y="6784848"/>
            <a:ext cx="7863840" cy="777240"/>
          </a:xfrm>
          <a:prstGeom prst="rect">
            <a:avLst/>
          </a:prstGeom>
          <a:noFill/>
        </p:spPr>
        <p:txBody>
          <a:bodyPr wrap="square" lIns="27432" rIns="27432" tIns="0" bIns="0">
            <a:spAutoFit/>
          </a:bodyPr>
          <a:lstStyle/>
          <a:p>
            <a:pPr algn="r" rtl="1">
              <a:spcAft>
                <a:spcPts val="400"/>
              </a:spcAft>
              <a:defRPr sz="1200" b="0">
                <a:solidFill>
                  <a:srgbClr val="555555"/>
                </a:solidFill>
                <a:latin typeface="Montserrat"/>
              </a:defRPr>
            </a:pPr>
            <a:r>
              <a:rPr sz="1600">
                <a:latin typeface="IBM Plex Sans Arabic"/>
              </a:rPr>
              <a:t>قبول الخطة وتحديد النطاق والموارد وتسجيل اعتمادات العميل والميزانية. التصميم هنا تخطيط؛ والإنتاج الإبداعي في التنفيذ.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التشغيل ذو المراحل الست</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31</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04 / التنفيذ</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lgn="r" rtl="1">
              <a:spcAft>
                <a:spcPts val="400"/>
              </a:spcAft>
              <a:defRPr sz="1700" b="1">
                <a:solidFill>
                  <a:srgbClr val="7D2B42"/>
                </a:solidFill>
                <a:latin typeface="Montserrat"/>
              </a:defRPr>
            </a:pPr>
            <a:r>
              <a:rPr sz="1250">
                <a:latin typeface="IBM Plex Sans Arabic"/>
              </a:rPr>
              <a:t>تنفيذ بدقة.</a:t>
            </a:r>
          </a:p>
        </p:txBody>
      </p:sp>
      <p:sp>
        <p:nvSpPr>
          <p:cNvPr id="38" name="Rectangle 37"/>
          <p:cNvSpPr/>
          <p:nvPr/>
        </p:nvSpPr>
        <p:spPr>
          <a:xfrm>
            <a:off x="909828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TextBox 38"/>
          <p:cNvSpPr txBox="1"/>
          <p:nvPr/>
        </p:nvSpPr>
        <p:spPr>
          <a:xfrm>
            <a:off x="9326880" y="2953512"/>
            <a:ext cx="4297680" cy="320040"/>
          </a:xfrm>
          <a:prstGeom prst="rect">
            <a:avLst/>
          </a:prstGeom>
          <a:noFill/>
        </p:spPr>
        <p:txBody>
          <a:bodyPr wrap="square" lIns="27432" rIns="27432" tIns="0" bIns="0">
            <a:spAutoFit/>
          </a:bodyPr>
          <a:lstStyle/>
          <a:p>
            <a:pPr algn="r" rtl="1">
              <a:spcAft>
                <a:spcPts val="400"/>
              </a:spcAft>
              <a:defRPr sz="1300" b="1">
                <a:solidFill>
                  <a:srgbClr val="7D2B42"/>
                </a:solidFill>
                <a:latin typeface="Montserrat"/>
              </a:defRPr>
            </a:pPr>
            <a:r>
              <a:rPr sz="1500">
                <a:latin typeface="IBM Plex Sans Arabic"/>
              </a:rPr>
              <a:t>الأنشطة</a:t>
            </a:r>
          </a:p>
        </p:txBody>
      </p:sp>
      <p:sp>
        <p:nvSpPr>
          <p:cNvPr id="40" name="TextBox 39"/>
          <p:cNvSpPr txBox="1"/>
          <p:nvPr/>
        </p:nvSpPr>
        <p:spPr>
          <a:xfrm>
            <a:off x="9326880" y="3566160"/>
            <a:ext cx="4297680" cy="315468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الموقع وصفحات الهبوط</a:t>
            </a:r>
          </a:p>
          <a:p>
            <a:pPr algn="r" rtl="1">
              <a:spcAft>
                <a:spcPts val="400"/>
              </a:spcAft>
              <a:defRPr sz="1900" b="0">
                <a:solidFill>
                  <a:srgbClr val="202020"/>
                </a:solidFill>
                <a:latin typeface="Montserrat"/>
              </a:defRPr>
            </a:pPr>
            <a:r>
              <a:rPr sz="1600">
                <a:latin typeface="IBM Plex Sans Arabic"/>
              </a:rPr>
              <a:t>الهوية والإبداع</a:t>
            </a:r>
          </a:p>
          <a:p>
            <a:pPr algn="r" rtl="1">
              <a:spcAft>
                <a:spcPts val="400"/>
              </a:spcAft>
              <a:defRPr sz="1900" b="0">
                <a:solidFill>
                  <a:srgbClr val="202020"/>
                </a:solidFill>
                <a:latin typeface="Montserrat"/>
              </a:defRPr>
            </a:pPr>
            <a:r>
              <a:rPr sz="1600">
                <a:latin typeface="IBM Plex Sans Arabic"/>
              </a:rPr>
              <a:t>الحملات المدفوعة</a:t>
            </a:r>
          </a:p>
          <a:p>
            <a:pPr algn="r" rtl="1">
              <a:spcAft>
                <a:spcPts val="400"/>
              </a:spcAft>
              <a:defRPr sz="1900" b="0">
                <a:solidFill>
                  <a:srgbClr val="202020"/>
                </a:solidFill>
                <a:latin typeface="Montserrat"/>
              </a:defRPr>
            </a:pPr>
            <a:r>
              <a:rPr sz="1600">
                <a:latin typeface="IBM Plex Sans Arabic"/>
              </a:rPr>
              <a:t>التواصل والمحتوى</a:t>
            </a:r>
          </a:p>
          <a:p>
            <a:pPr algn="r" rtl="1">
              <a:spcAft>
                <a:spcPts val="400"/>
              </a:spcAft>
              <a:defRPr sz="1900" b="0">
                <a:solidFill>
                  <a:srgbClr val="202020"/>
                </a:solidFill>
                <a:latin typeface="Montserrat"/>
              </a:defRPr>
            </a:pPr>
            <a:r>
              <a:rPr sz="1600">
                <a:latin typeface="IBM Plex Sans Arabic"/>
              </a:rPr>
              <a:t>CRM والأتمتة</a:t>
            </a:r>
          </a:p>
        </p:txBody>
      </p:sp>
      <p:sp>
        <p:nvSpPr>
          <p:cNvPr id="41" name="Rectangle 40"/>
          <p:cNvSpPr/>
          <p:nvPr/>
        </p:nvSpPr>
        <p:spPr>
          <a:xfrm>
            <a:off x="7772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1051560" y="2944368"/>
            <a:ext cx="7543800" cy="320040"/>
          </a:xfrm>
          <a:prstGeom prst="rect">
            <a:avLst/>
          </a:prstGeom>
          <a:noFill/>
        </p:spPr>
        <p:txBody>
          <a:bodyPr wrap="square" lIns="27432" rIns="27432" tIns="0" bIns="0">
            <a:spAutoFit/>
          </a:bodyPr>
          <a:lstStyle/>
          <a:p>
            <a:pPr algn="r" rtl="1">
              <a:spcAft>
                <a:spcPts val="400"/>
              </a:spcAft>
              <a:defRPr sz="1200" b="1">
                <a:solidFill>
                  <a:srgbClr val="7D2B42"/>
                </a:solidFill>
                <a:latin typeface="Montserrat"/>
              </a:defRPr>
            </a:pPr>
            <a:r>
              <a:rPr sz="1500">
                <a:latin typeface="IBM Plex Sans Arabic"/>
              </a:rPr>
              <a:t>المخرجات بحسب المصدر</a:t>
            </a:r>
          </a:p>
        </p:txBody>
      </p:sp>
      <p:sp>
        <p:nvSpPr>
          <p:cNvPr id="43" name="TextBox 42"/>
          <p:cNvSpPr txBox="1"/>
          <p:nvPr/>
        </p:nvSpPr>
        <p:spPr>
          <a:xfrm>
            <a:off x="1097281" y="3429000"/>
            <a:ext cx="7498079" cy="987552"/>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550">
                <a:latin typeface="IBM Plex Sans Arabic"/>
              </a:rPr>
              <a:t>حملات منشورة وخطة محتوى</a:t>
            </a:r>
          </a:p>
          <a:p>
            <a:pPr algn="r" rtl="1">
              <a:spcAft>
                <a:spcPts val="400"/>
              </a:spcAft>
              <a:defRPr sz="1500" b="0">
                <a:solidFill>
                  <a:srgbClr val="202020"/>
                </a:solidFill>
                <a:latin typeface="Montserrat"/>
              </a:defRPr>
            </a:pPr>
            <a:r>
              <a:rPr sz="1550">
                <a:latin typeface="IBM Plex Sans Arabic"/>
              </a:rPr>
              <a:t>إعداد القياس والتحليلات</a:t>
            </a:r>
          </a:p>
          <a:p>
            <a:pPr algn="r" rtl="1">
              <a:spcAft>
                <a:spcPts val="400"/>
              </a:spcAft>
              <a:defRPr sz="1500" b="0">
                <a:solidFill>
                  <a:srgbClr val="202020"/>
                </a:solidFill>
                <a:latin typeface="Montserrat"/>
              </a:defRPr>
            </a:pPr>
            <a:r>
              <a:rPr sz="1550">
                <a:latin typeface="IBM Plex Sans Arabic"/>
              </a:rPr>
              <a:t>الأتمتة وتوجيه العملاء المحتملين</a:t>
            </a:r>
          </a:p>
        </p:txBody>
      </p:sp>
      <p:sp>
        <p:nvSpPr>
          <p:cNvPr id="44" name="TextBox 43"/>
          <p:cNvSpPr txBox="1"/>
          <p:nvPr/>
        </p:nvSpPr>
        <p:spPr>
          <a:xfrm>
            <a:off x="914400" y="470916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توزيع المسؤوليات المقترح</a:t>
            </a:r>
          </a:p>
        </p:txBody>
      </p:sp>
      <p:sp>
        <p:nvSpPr>
          <p:cNvPr id="45" name="TextBox 44"/>
          <p:cNvSpPr txBox="1"/>
          <p:nvPr/>
        </p:nvSpPr>
        <p:spPr>
          <a:xfrm>
            <a:off x="914400" y="5166360"/>
            <a:ext cx="7863840" cy="114300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ينسق AM-01 التسليم؛ وينتج المحتوى HC-01 والكتّاب، والإبداع HD-01 والمصممون والمحررون. يراجع التسويق جودة الفيديو؛ وينشر SM-01 ويشغّل MB-01 الإعلانات.</a:t>
            </a:r>
          </a:p>
        </p:txBody>
      </p:sp>
      <p:sp>
        <p:nvSpPr>
          <p:cNvPr id="46" name="TextBox 45"/>
          <p:cNvSpPr txBox="1"/>
          <p:nvPr/>
        </p:nvSpPr>
        <p:spPr>
          <a:xfrm>
            <a:off x="914400" y="640080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شرط الخروج / التسليم التالي</a:t>
            </a:r>
          </a:p>
        </p:txBody>
      </p:sp>
      <p:sp>
        <p:nvSpPr>
          <p:cNvPr id="47" name="TextBox 46"/>
          <p:cNvSpPr txBox="1"/>
          <p:nvPr/>
        </p:nvSpPr>
        <p:spPr>
          <a:xfrm>
            <a:off x="914400" y="6784848"/>
            <a:ext cx="7863840" cy="777240"/>
          </a:xfrm>
          <a:prstGeom prst="rect">
            <a:avLst/>
          </a:prstGeom>
          <a:noFill/>
        </p:spPr>
        <p:txBody>
          <a:bodyPr wrap="square" lIns="27432" rIns="27432" tIns="0" bIns="0">
            <a:spAutoFit/>
          </a:bodyPr>
          <a:lstStyle/>
          <a:p>
            <a:pPr algn="r" rtl="1">
              <a:spcAft>
                <a:spcPts val="400"/>
              </a:spcAft>
              <a:defRPr sz="1200" b="0">
                <a:solidFill>
                  <a:srgbClr val="555555"/>
                </a:solidFill>
                <a:latin typeface="Montserrat"/>
              </a:defRPr>
            </a:pPr>
            <a:r>
              <a:rPr sz="1600">
                <a:latin typeface="IBM Plex Sans Arabic"/>
              </a:rPr>
              <a:t>جودة الرئيس ← التسويق ← عرض الحساب ← العميل ← التواصل. المدفوع يحتاج أيضًا اعتماد الميزانية وفحص التتبع، مع تحديد مسؤول الموقع/CRM/الأتمتة.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التشغيل ذو المراحل الست</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32</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05 / التحسين</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lgn="r" rtl="1">
              <a:spcAft>
                <a:spcPts val="400"/>
              </a:spcAft>
              <a:defRPr sz="1700" b="1">
                <a:solidFill>
                  <a:srgbClr val="7D2B42"/>
                </a:solidFill>
                <a:latin typeface="Montserrat"/>
              </a:defRPr>
            </a:pPr>
            <a:r>
              <a:rPr sz="1250">
                <a:latin typeface="IBM Plex Sans Arabic"/>
              </a:rPr>
              <a:t>حسّن بالبيانات كل أسبوع.</a:t>
            </a:r>
          </a:p>
        </p:txBody>
      </p:sp>
      <p:sp>
        <p:nvSpPr>
          <p:cNvPr id="38" name="Rectangle 37"/>
          <p:cNvSpPr/>
          <p:nvPr/>
        </p:nvSpPr>
        <p:spPr>
          <a:xfrm>
            <a:off x="909828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TextBox 38"/>
          <p:cNvSpPr txBox="1"/>
          <p:nvPr/>
        </p:nvSpPr>
        <p:spPr>
          <a:xfrm>
            <a:off x="9326880" y="2953512"/>
            <a:ext cx="4297680" cy="320040"/>
          </a:xfrm>
          <a:prstGeom prst="rect">
            <a:avLst/>
          </a:prstGeom>
          <a:noFill/>
        </p:spPr>
        <p:txBody>
          <a:bodyPr wrap="square" lIns="27432" rIns="27432" tIns="0" bIns="0">
            <a:spAutoFit/>
          </a:bodyPr>
          <a:lstStyle/>
          <a:p>
            <a:pPr algn="r" rtl="1">
              <a:spcAft>
                <a:spcPts val="400"/>
              </a:spcAft>
              <a:defRPr sz="1300" b="1">
                <a:solidFill>
                  <a:srgbClr val="7D2B42"/>
                </a:solidFill>
                <a:latin typeface="Montserrat"/>
              </a:defRPr>
            </a:pPr>
            <a:r>
              <a:rPr sz="1500">
                <a:latin typeface="IBM Plex Sans Arabic"/>
              </a:rPr>
              <a:t>الأنشطة</a:t>
            </a:r>
          </a:p>
        </p:txBody>
      </p:sp>
      <p:sp>
        <p:nvSpPr>
          <p:cNvPr id="40" name="TextBox 39"/>
          <p:cNvSpPr txBox="1"/>
          <p:nvPr/>
        </p:nvSpPr>
        <p:spPr>
          <a:xfrm>
            <a:off x="9326880" y="3566160"/>
            <a:ext cx="4297680" cy="315468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تقارير أسبوعية وشهرية</a:t>
            </a:r>
          </a:p>
          <a:p>
            <a:pPr algn="r" rtl="1">
              <a:spcAft>
                <a:spcPts val="400"/>
              </a:spcAft>
              <a:defRPr sz="1900" b="0">
                <a:solidFill>
                  <a:srgbClr val="202020"/>
                </a:solidFill>
                <a:latin typeface="Montserrat"/>
              </a:defRPr>
            </a:pPr>
            <a:r>
              <a:rPr sz="1600">
                <a:latin typeface="IBM Plex Sans Arabic"/>
              </a:rPr>
              <a:t>لوحات متابعة حية</a:t>
            </a:r>
          </a:p>
          <a:p>
            <a:pPr algn="r" rtl="1">
              <a:spcAft>
                <a:spcPts val="400"/>
              </a:spcAft>
              <a:defRPr sz="1900" b="0">
                <a:solidFill>
                  <a:srgbClr val="202020"/>
                </a:solidFill>
                <a:latin typeface="Montserrat"/>
              </a:defRPr>
            </a:pPr>
            <a:r>
              <a:rPr sz="1600">
                <a:latin typeface="IBM Plex Sans Arabic"/>
              </a:rPr>
              <a:t>خرائط حرارية وتحليل السلوك</a:t>
            </a:r>
          </a:p>
          <a:p>
            <a:pPr algn="r" rtl="1">
              <a:spcAft>
                <a:spcPts val="400"/>
              </a:spcAft>
              <a:defRPr sz="1900" b="0">
                <a:solidFill>
                  <a:srgbClr val="202020"/>
                </a:solidFill>
                <a:latin typeface="Montserrat"/>
              </a:defRPr>
            </a:pPr>
            <a:r>
              <a:rPr sz="1600">
                <a:latin typeface="IBM Plex Sans Arabic"/>
              </a:rPr>
              <a:t>اختبار A/B</a:t>
            </a:r>
          </a:p>
          <a:p>
            <a:pPr algn="r" rtl="1">
              <a:spcAft>
                <a:spcPts val="400"/>
              </a:spcAft>
              <a:defRPr sz="1900" b="0">
                <a:solidFill>
                  <a:srgbClr val="202020"/>
                </a:solidFill>
                <a:latin typeface="Montserrat"/>
              </a:defRPr>
            </a:pPr>
            <a:r>
              <a:rPr sz="1600">
                <a:latin typeface="IBM Plex Sans Arabic"/>
              </a:rPr>
              <a:t>تحسين معدل التحويل CRO</a:t>
            </a:r>
          </a:p>
        </p:txBody>
      </p:sp>
      <p:sp>
        <p:nvSpPr>
          <p:cNvPr id="41" name="Rectangle 40"/>
          <p:cNvSpPr/>
          <p:nvPr/>
        </p:nvSpPr>
        <p:spPr>
          <a:xfrm>
            <a:off x="7772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1051560" y="2944368"/>
            <a:ext cx="7543800" cy="320040"/>
          </a:xfrm>
          <a:prstGeom prst="rect">
            <a:avLst/>
          </a:prstGeom>
          <a:noFill/>
        </p:spPr>
        <p:txBody>
          <a:bodyPr wrap="square" lIns="27432" rIns="27432" tIns="0" bIns="0">
            <a:spAutoFit/>
          </a:bodyPr>
          <a:lstStyle/>
          <a:p>
            <a:pPr algn="r" rtl="1">
              <a:spcAft>
                <a:spcPts val="400"/>
              </a:spcAft>
              <a:defRPr sz="1200" b="1">
                <a:solidFill>
                  <a:srgbClr val="7D2B42"/>
                </a:solidFill>
                <a:latin typeface="Montserrat"/>
              </a:defRPr>
            </a:pPr>
            <a:r>
              <a:rPr sz="1500">
                <a:latin typeface="IBM Plex Sans Arabic"/>
              </a:rPr>
              <a:t>المخرجات بحسب المصدر</a:t>
            </a:r>
          </a:p>
        </p:txBody>
      </p:sp>
      <p:sp>
        <p:nvSpPr>
          <p:cNvPr id="43" name="TextBox 42"/>
          <p:cNvSpPr txBox="1"/>
          <p:nvPr/>
        </p:nvSpPr>
        <p:spPr>
          <a:xfrm>
            <a:off x="1097281" y="3429000"/>
            <a:ext cx="7498079" cy="987552"/>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550">
                <a:latin typeface="IBM Plex Sans Arabic"/>
              </a:rPr>
              <a:t>تقارير أداء وتوصيات</a:t>
            </a:r>
          </a:p>
          <a:p>
            <a:pPr algn="r" rtl="1">
              <a:spcAft>
                <a:spcPts val="400"/>
              </a:spcAft>
              <a:defRPr sz="1500" b="0">
                <a:solidFill>
                  <a:srgbClr val="202020"/>
                </a:solidFill>
                <a:latin typeface="Montserrat"/>
              </a:defRPr>
            </a:pPr>
            <a:r>
              <a:rPr sz="1550">
                <a:latin typeface="IBM Plex Sans Arabic"/>
              </a:rPr>
              <a:t>سجل التحسين</a:t>
            </a:r>
          </a:p>
          <a:p>
            <a:pPr algn="r" rtl="1">
              <a:spcAft>
                <a:spcPts val="400"/>
              </a:spcAft>
              <a:defRPr sz="1500" b="0">
                <a:solidFill>
                  <a:srgbClr val="202020"/>
                </a:solidFill>
                <a:latin typeface="Montserrat"/>
              </a:defRPr>
            </a:pPr>
            <a:r>
              <a:rPr sz="1550">
                <a:latin typeface="IBM Plex Sans Arabic"/>
              </a:rPr>
              <a:t>أهداف تحسين CPL وCPM وROAS</a:t>
            </a:r>
          </a:p>
        </p:txBody>
      </p:sp>
      <p:sp>
        <p:nvSpPr>
          <p:cNvPr id="44" name="TextBox 43"/>
          <p:cNvSpPr txBox="1"/>
          <p:nvPr/>
        </p:nvSpPr>
        <p:spPr>
          <a:xfrm>
            <a:off x="914400" y="470916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توزيع المسؤوليات المقترح</a:t>
            </a:r>
          </a:p>
        </p:txBody>
      </p:sp>
      <p:sp>
        <p:nvSpPr>
          <p:cNvPr id="45" name="TextBox 44"/>
          <p:cNvSpPr txBox="1"/>
          <p:nvPr/>
        </p:nvSpPr>
        <p:spPr>
          <a:xfrm>
            <a:off x="914400" y="5166360"/>
            <a:ext cx="7863840" cy="114300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يحلل MB-01 المدفوع ويحسّنه، ويقدّم SM-01 العضوي، ويسلّم AM-01 التقارير، ويراجع MM-01 الأولويات والخطوات.</a:t>
            </a:r>
          </a:p>
        </p:txBody>
      </p:sp>
      <p:sp>
        <p:nvSpPr>
          <p:cNvPr id="46" name="TextBox 45"/>
          <p:cNvSpPr txBox="1"/>
          <p:nvPr/>
        </p:nvSpPr>
        <p:spPr>
          <a:xfrm>
            <a:off x="914400" y="640080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شرط الخروج / التسليم التالي</a:t>
            </a:r>
          </a:p>
        </p:txBody>
      </p:sp>
      <p:sp>
        <p:nvSpPr>
          <p:cNvPr id="47" name="TextBox 46"/>
          <p:cNvSpPr txBox="1"/>
          <p:nvPr/>
        </p:nvSpPr>
        <p:spPr>
          <a:xfrm>
            <a:off x="914400" y="6784848"/>
            <a:ext cx="7863840" cy="777240"/>
          </a:xfrm>
          <a:prstGeom prst="rect">
            <a:avLst/>
          </a:prstGeom>
          <a:noFill/>
        </p:spPr>
        <p:txBody>
          <a:bodyPr wrap="square" lIns="27432" rIns="27432" tIns="0" bIns="0">
            <a:spAutoFit/>
          </a:bodyPr>
          <a:lstStyle/>
          <a:p>
            <a:pPr algn="r" rtl="1">
              <a:spcAft>
                <a:spcPts val="400"/>
              </a:spcAft>
              <a:defRPr sz="1200" b="0">
                <a:solidFill>
                  <a:srgbClr val="555555"/>
                </a:solidFill>
                <a:latin typeface="Montserrat"/>
              </a:defRPr>
            </a:pPr>
            <a:r>
              <a:rPr sz="1600">
                <a:latin typeface="IBM Plex Sans Arabic"/>
              </a:rPr>
              <a:t>تقارير متحقق منها وسجل اختبارات وتغييرات؛ تعود النتائج للتشخيص والتصميم. الوتيرة الأسبوعية من المصدر، والمدد المحددة تحتاج تأكيدًا.</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التشغيل ذو المراحل الست</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33</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06 / التوسع</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lgn="r" rtl="1">
              <a:spcAft>
                <a:spcPts val="400"/>
              </a:spcAft>
              <a:defRPr sz="1700" b="1">
                <a:solidFill>
                  <a:srgbClr val="7D2B42"/>
                </a:solidFill>
                <a:latin typeface="Montserrat"/>
              </a:defRPr>
            </a:pPr>
            <a:r>
              <a:rPr sz="1250">
                <a:latin typeface="IBM Plex Sans Arabic"/>
              </a:rPr>
              <a:t>وسّع ما ينجح.</a:t>
            </a:r>
          </a:p>
        </p:txBody>
      </p:sp>
      <p:sp>
        <p:nvSpPr>
          <p:cNvPr id="38" name="Rectangle 37"/>
          <p:cNvSpPr/>
          <p:nvPr/>
        </p:nvSpPr>
        <p:spPr>
          <a:xfrm>
            <a:off x="909828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TextBox 38"/>
          <p:cNvSpPr txBox="1"/>
          <p:nvPr/>
        </p:nvSpPr>
        <p:spPr>
          <a:xfrm>
            <a:off x="9326880" y="2953512"/>
            <a:ext cx="4297680" cy="320040"/>
          </a:xfrm>
          <a:prstGeom prst="rect">
            <a:avLst/>
          </a:prstGeom>
          <a:noFill/>
        </p:spPr>
        <p:txBody>
          <a:bodyPr wrap="square" lIns="27432" rIns="27432" tIns="0" bIns="0">
            <a:spAutoFit/>
          </a:bodyPr>
          <a:lstStyle/>
          <a:p>
            <a:pPr algn="r" rtl="1">
              <a:spcAft>
                <a:spcPts val="400"/>
              </a:spcAft>
              <a:defRPr sz="1300" b="1">
                <a:solidFill>
                  <a:srgbClr val="7D2B42"/>
                </a:solidFill>
                <a:latin typeface="Montserrat"/>
              </a:defRPr>
            </a:pPr>
            <a:r>
              <a:rPr sz="1500">
                <a:latin typeface="IBM Plex Sans Arabic"/>
              </a:rPr>
              <a:t>الأنشطة</a:t>
            </a:r>
          </a:p>
        </p:txBody>
      </p:sp>
      <p:sp>
        <p:nvSpPr>
          <p:cNvPr id="40" name="TextBox 39"/>
          <p:cNvSpPr txBox="1"/>
          <p:nvPr/>
        </p:nvSpPr>
        <p:spPr>
          <a:xfrm>
            <a:off x="9326880" y="3566160"/>
            <a:ext cx="4297680" cy="315468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زيادة الميزانية خلف الناجح</a:t>
            </a:r>
          </a:p>
          <a:p>
            <a:pPr algn="r" rtl="1">
              <a:spcAft>
                <a:spcPts val="400"/>
              </a:spcAft>
              <a:defRPr sz="1900" b="0">
                <a:solidFill>
                  <a:srgbClr val="202020"/>
                </a:solidFill>
                <a:latin typeface="Montserrat"/>
              </a:defRPr>
            </a:pPr>
            <a:r>
              <a:rPr sz="1600">
                <a:latin typeface="IBM Plex Sans Arabic"/>
              </a:rPr>
              <a:t>دخول أسواق جديدة</a:t>
            </a:r>
          </a:p>
          <a:p>
            <a:pPr algn="r" rtl="1">
              <a:spcAft>
                <a:spcPts val="400"/>
              </a:spcAft>
              <a:defRPr sz="1900" b="0">
                <a:solidFill>
                  <a:srgbClr val="202020"/>
                </a:solidFill>
                <a:latin typeface="Montserrat"/>
              </a:defRPr>
            </a:pPr>
            <a:r>
              <a:rPr sz="1600">
                <a:latin typeface="IBM Plex Sans Arabic"/>
              </a:rPr>
              <a:t>إضافة قنوات جديدة</a:t>
            </a:r>
          </a:p>
          <a:p>
            <a:pPr algn="r" rtl="1">
              <a:spcAft>
                <a:spcPts val="400"/>
              </a:spcAft>
              <a:defRPr sz="1900" b="0">
                <a:solidFill>
                  <a:srgbClr val="202020"/>
                </a:solidFill>
                <a:latin typeface="Montserrat"/>
              </a:defRPr>
            </a:pPr>
            <a:r>
              <a:rPr sz="1600">
                <a:latin typeface="IBM Plex Sans Arabic"/>
              </a:rPr>
              <a:t>الاحتفاظ والولاء</a:t>
            </a:r>
          </a:p>
          <a:p>
            <a:pPr algn="r" rtl="1">
              <a:spcAft>
                <a:spcPts val="400"/>
              </a:spcAft>
              <a:defRPr sz="1900" b="0">
                <a:solidFill>
                  <a:srgbClr val="202020"/>
                </a:solidFill>
                <a:latin typeface="Montserrat"/>
              </a:defRPr>
            </a:pPr>
            <a:r>
              <a:rPr sz="1600">
                <a:latin typeface="IBM Plex Sans Arabic"/>
              </a:rPr>
              <a:t>التوسع ومصادر إيراد جديدة</a:t>
            </a:r>
          </a:p>
        </p:txBody>
      </p:sp>
      <p:sp>
        <p:nvSpPr>
          <p:cNvPr id="41" name="Rectangle 40"/>
          <p:cNvSpPr/>
          <p:nvPr/>
        </p:nvSpPr>
        <p:spPr>
          <a:xfrm>
            <a:off x="7772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1051560" y="2944368"/>
            <a:ext cx="7543800" cy="320040"/>
          </a:xfrm>
          <a:prstGeom prst="rect">
            <a:avLst/>
          </a:prstGeom>
          <a:noFill/>
        </p:spPr>
        <p:txBody>
          <a:bodyPr wrap="square" lIns="27432" rIns="27432" tIns="0" bIns="0">
            <a:spAutoFit/>
          </a:bodyPr>
          <a:lstStyle/>
          <a:p>
            <a:pPr algn="r" rtl="1">
              <a:spcAft>
                <a:spcPts val="400"/>
              </a:spcAft>
              <a:defRPr sz="1200" b="1">
                <a:solidFill>
                  <a:srgbClr val="7D2B42"/>
                </a:solidFill>
                <a:latin typeface="Montserrat"/>
              </a:defRPr>
            </a:pPr>
            <a:r>
              <a:rPr sz="1500">
                <a:latin typeface="IBM Plex Sans Arabic"/>
              </a:rPr>
              <a:t>المخرجات بحسب المصدر</a:t>
            </a:r>
          </a:p>
        </p:txBody>
      </p:sp>
      <p:sp>
        <p:nvSpPr>
          <p:cNvPr id="43" name="TextBox 42"/>
          <p:cNvSpPr txBox="1"/>
          <p:nvPr/>
        </p:nvSpPr>
        <p:spPr>
          <a:xfrm>
            <a:off x="1097281" y="3429000"/>
            <a:ext cx="7498079" cy="987552"/>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550">
                <a:latin typeface="IBM Plex Sans Arabic"/>
              </a:rPr>
              <a:t>خطة التوسع</a:t>
            </a:r>
          </a:p>
          <a:p>
            <a:pPr algn="r" rtl="1">
              <a:spcAft>
                <a:spcPts val="400"/>
              </a:spcAft>
              <a:defRPr sz="1500" b="0">
                <a:solidFill>
                  <a:srgbClr val="202020"/>
                </a:solidFill>
                <a:latin typeface="Montserrat"/>
              </a:defRPr>
            </a:pPr>
            <a:r>
              <a:rPr sz="1550">
                <a:latin typeface="IBM Plex Sans Arabic"/>
              </a:rPr>
              <a:t>خريطة التوسع</a:t>
            </a:r>
          </a:p>
          <a:p>
            <a:pPr algn="r" rtl="1">
              <a:spcAft>
                <a:spcPts val="400"/>
              </a:spcAft>
              <a:defRPr sz="1500" b="0">
                <a:solidFill>
                  <a:srgbClr val="202020"/>
                </a:solidFill>
                <a:latin typeface="Montserrat"/>
              </a:defRPr>
            </a:pPr>
            <a:r>
              <a:rPr sz="1550">
                <a:latin typeface="IBM Plex Sans Arabic"/>
              </a:rPr>
              <a:t>هدف النمو المستدام</a:t>
            </a:r>
          </a:p>
        </p:txBody>
      </p:sp>
      <p:sp>
        <p:nvSpPr>
          <p:cNvPr id="44" name="TextBox 43"/>
          <p:cNvSpPr txBox="1"/>
          <p:nvPr/>
        </p:nvSpPr>
        <p:spPr>
          <a:xfrm>
            <a:off x="914400" y="470916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توزيع المسؤوليات المقترح</a:t>
            </a:r>
          </a:p>
        </p:txBody>
      </p:sp>
      <p:sp>
        <p:nvSpPr>
          <p:cNvPr id="45" name="TextBox 44"/>
          <p:cNvSpPr txBox="1"/>
          <p:nvPr/>
        </p:nvSpPr>
        <p:spPr>
          <a:xfrm>
            <a:off x="914400" y="5166360"/>
            <a:ext cx="7863840" cy="1143000"/>
          </a:xfrm>
          <a:prstGeom prst="rect">
            <a:avLst/>
          </a:prstGeom>
          <a:noFill/>
        </p:spPr>
        <p:txBody>
          <a:bodyPr wrap="square" lIns="27432" rIns="27432" tIns="0" bIns="0">
            <a:spAutoFit/>
          </a:bodyPr>
          <a:lstStyle/>
          <a:p>
            <a:pPr algn="r" rtl="1">
              <a:spcAft>
                <a:spcPts val="400"/>
              </a:spcAft>
              <a:defRPr sz="1500" b="0">
                <a:solidFill>
                  <a:srgbClr val="202020"/>
                </a:solidFill>
                <a:latin typeface="Montserrat"/>
              </a:defRPr>
            </a:pPr>
            <a:r>
              <a:rPr sz="1600">
                <a:latin typeface="IBM Plex Sans Arabic"/>
              </a:rPr>
              <a:t>يقود MM-01 التوسع، ويقترح MB-01 القنوات والميزانيات، وينسق AM-01 النطاق والعميل؛ ويدعم BD-01 وSA-01 الفرص التجارية الجديدة.</a:t>
            </a:r>
          </a:p>
        </p:txBody>
      </p:sp>
      <p:sp>
        <p:nvSpPr>
          <p:cNvPr id="46" name="TextBox 45"/>
          <p:cNvSpPr txBox="1"/>
          <p:nvPr/>
        </p:nvSpPr>
        <p:spPr>
          <a:xfrm>
            <a:off x="914400" y="6400800"/>
            <a:ext cx="7863840" cy="27432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250">
                <a:latin typeface="IBM Plex Sans Arabic"/>
              </a:rPr>
              <a:t>شرط الخروج / التسليم التالي</a:t>
            </a:r>
          </a:p>
        </p:txBody>
      </p:sp>
      <p:sp>
        <p:nvSpPr>
          <p:cNvPr id="47" name="TextBox 46"/>
          <p:cNvSpPr txBox="1"/>
          <p:nvPr/>
        </p:nvSpPr>
        <p:spPr>
          <a:xfrm>
            <a:off x="914400" y="6784848"/>
            <a:ext cx="7863840" cy="777240"/>
          </a:xfrm>
          <a:prstGeom prst="rect">
            <a:avLst/>
          </a:prstGeom>
          <a:noFill/>
        </p:spPr>
        <p:txBody>
          <a:bodyPr wrap="square" lIns="27432" rIns="27432" tIns="0" bIns="0">
            <a:spAutoFit/>
          </a:bodyPr>
          <a:lstStyle/>
          <a:p>
            <a:pPr algn="r" rtl="1">
              <a:spcAft>
                <a:spcPts val="400"/>
              </a:spcAft>
              <a:defRPr sz="1200" b="0">
                <a:solidFill>
                  <a:srgbClr val="555555"/>
                </a:solidFill>
                <a:latin typeface="Montserrat"/>
              </a:defRPr>
            </a:pPr>
            <a:r>
              <a:rPr sz="1600">
                <a:latin typeface="IBM Plex Sans Arabic"/>
              </a:rPr>
              <a:t>دليل يدعم التوسع وميزانية مخولة ونطاق معدل موثق. تعود القنوات والأسواق الجديدة للاستكشاف؛ والنمو المستدام هدف لا ضمان.</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في PMP / العملية المتكاملة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34</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أين تقع مسارات المهام؟</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1109960" y="219456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1247120" y="2377440"/>
            <a:ext cx="2514600" cy="54864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ما قبل التعاقد</a:t>
            </a:r>
          </a:p>
        </p:txBody>
      </p:sp>
      <p:sp>
        <p:nvSpPr>
          <p:cNvPr id="38" name="TextBox 37"/>
          <p:cNvSpPr txBox="1"/>
          <p:nvPr/>
        </p:nvSpPr>
        <p:spPr>
          <a:xfrm>
            <a:off x="914401" y="2212848"/>
            <a:ext cx="9966960" cy="36576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Growth Score™ / Audit™ ← نطاق وإتمام تجاري</a:t>
            </a:r>
          </a:p>
        </p:txBody>
      </p:sp>
      <p:sp>
        <p:nvSpPr>
          <p:cNvPr id="39" name="TextBox 38"/>
          <p:cNvSpPr txBox="1"/>
          <p:nvPr/>
        </p:nvSpPr>
        <p:spPr>
          <a:xfrm>
            <a:off x="914401" y="2651760"/>
            <a:ext cx="9966960" cy="36576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600">
                <a:latin typeface="IBM Plex Sans Arabic"/>
              </a:rPr>
              <a:t>BD-01 / SA-01، بمدخلات استراتيجية من MM-01</a:t>
            </a:r>
          </a:p>
        </p:txBody>
      </p:sp>
      <p:sp>
        <p:nvSpPr>
          <p:cNvPr id="40" name="Rectangle 39"/>
          <p:cNvSpPr/>
          <p:nvPr/>
        </p:nvSpPr>
        <p:spPr>
          <a:xfrm>
            <a:off x="11109960" y="320040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TextBox 40"/>
          <p:cNvSpPr txBox="1"/>
          <p:nvPr/>
        </p:nvSpPr>
        <p:spPr>
          <a:xfrm>
            <a:off x="11247120" y="3383280"/>
            <a:ext cx="2514600" cy="54864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استكشاف ← تصميم استراتيجي</a:t>
            </a:r>
          </a:p>
        </p:txBody>
      </p:sp>
      <p:sp>
        <p:nvSpPr>
          <p:cNvPr id="42" name="TextBox 41"/>
          <p:cNvSpPr txBox="1"/>
          <p:nvPr/>
        </p:nvSpPr>
        <p:spPr>
          <a:xfrm>
            <a:off x="914401" y="3218688"/>
            <a:ext cx="9966960" cy="36576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تهيئة العميل والاستكشاف والتشخيص ومخطط النمو™</a:t>
            </a:r>
          </a:p>
        </p:txBody>
      </p:sp>
      <p:sp>
        <p:nvSpPr>
          <p:cNvPr id="43" name="TextBox 42"/>
          <p:cNvSpPr txBox="1"/>
          <p:nvPr/>
        </p:nvSpPr>
        <p:spPr>
          <a:xfrm>
            <a:off x="914401" y="3657600"/>
            <a:ext cx="9966960" cy="36576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600">
                <a:latin typeface="IBM Plex Sans Arabic"/>
              </a:rPr>
              <a:t>ينسق AM-01 ويقود MM-01 ويساهم قادة التخصصات.</a:t>
            </a:r>
          </a:p>
        </p:txBody>
      </p:sp>
      <p:sp>
        <p:nvSpPr>
          <p:cNvPr id="44" name="Rectangle 43"/>
          <p:cNvSpPr/>
          <p:nvPr/>
        </p:nvSpPr>
        <p:spPr>
          <a:xfrm>
            <a:off x="11109960" y="420624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TextBox 44"/>
          <p:cNvSpPr txBox="1"/>
          <p:nvPr/>
        </p:nvSpPr>
        <p:spPr>
          <a:xfrm>
            <a:off x="11247120" y="4389120"/>
            <a:ext cx="2514600" cy="54864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التنفيذ</a:t>
            </a:r>
          </a:p>
        </p:txBody>
      </p:sp>
      <p:sp>
        <p:nvSpPr>
          <p:cNvPr id="46" name="TextBox 45"/>
          <p:cNvSpPr txBox="1"/>
          <p:nvPr/>
        </p:nvSpPr>
        <p:spPr>
          <a:xfrm>
            <a:off x="914401" y="4224527"/>
            <a:ext cx="9966960" cy="36576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منشور · فيديو قصير · خطة شهرية · شرائح · حملة مدفوعة</a:t>
            </a:r>
          </a:p>
        </p:txBody>
      </p:sp>
      <p:sp>
        <p:nvSpPr>
          <p:cNvPr id="47" name="TextBox 46"/>
          <p:cNvSpPr txBox="1"/>
          <p:nvPr/>
        </p:nvSpPr>
        <p:spPr>
          <a:xfrm>
            <a:off x="914401" y="4663440"/>
            <a:ext cx="9966960" cy="36576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600">
                <a:latin typeface="IBM Plex Sans Arabic"/>
              </a:rPr>
              <a:t>جودة المحتوى/الإبداع ← موافقة العميل ← SM-01 / MB-01</a:t>
            </a:r>
          </a:p>
        </p:txBody>
      </p:sp>
      <p:sp>
        <p:nvSpPr>
          <p:cNvPr id="48" name="Rectangle 47"/>
          <p:cNvSpPr/>
          <p:nvPr/>
        </p:nvSpPr>
        <p:spPr>
          <a:xfrm>
            <a:off x="11109960" y="521208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11247120" y="5394960"/>
            <a:ext cx="2514600" cy="54864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تنفيذ ↔ تحسين</a:t>
            </a:r>
          </a:p>
        </p:txBody>
      </p:sp>
      <p:sp>
        <p:nvSpPr>
          <p:cNvPr id="50" name="TextBox 49"/>
          <p:cNvSpPr txBox="1"/>
          <p:nvPr/>
        </p:nvSpPr>
        <p:spPr>
          <a:xfrm>
            <a:off x="914401" y="5230368"/>
            <a:ext cx="9966960" cy="36576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تعديل العميل · طلب عاجل</a:t>
            </a:r>
          </a:p>
        </p:txBody>
      </p:sp>
      <p:sp>
        <p:nvSpPr>
          <p:cNvPr id="51" name="TextBox 50"/>
          <p:cNvSpPr txBox="1"/>
          <p:nvPr/>
        </p:nvSpPr>
        <p:spPr>
          <a:xfrm>
            <a:off x="914401" y="5669280"/>
            <a:ext cx="9966960" cy="36576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600">
                <a:latin typeface="IBM Plex Sans Arabic"/>
              </a:rPr>
              <a:t>أعده للمرحلة الصحيحة؛ تغيير الاستراتيجية يعود للتصميم.</a:t>
            </a:r>
          </a:p>
        </p:txBody>
      </p:sp>
      <p:sp>
        <p:nvSpPr>
          <p:cNvPr id="52" name="Rectangle 51"/>
          <p:cNvSpPr/>
          <p:nvPr/>
        </p:nvSpPr>
        <p:spPr>
          <a:xfrm>
            <a:off x="11109960" y="621792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11247120" y="6400800"/>
            <a:ext cx="2514600" cy="54864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تحسين ← توسع</a:t>
            </a:r>
          </a:p>
        </p:txBody>
      </p:sp>
      <p:sp>
        <p:nvSpPr>
          <p:cNvPr id="54" name="TextBox 53"/>
          <p:cNvSpPr txBox="1"/>
          <p:nvPr/>
        </p:nvSpPr>
        <p:spPr>
          <a:xfrm>
            <a:off x="914401" y="6236208"/>
            <a:ext cx="9966960" cy="36576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تقرير أداء ← قرار توسع بالأدلة</a:t>
            </a:r>
          </a:p>
        </p:txBody>
      </p:sp>
      <p:sp>
        <p:nvSpPr>
          <p:cNvPr id="55" name="TextBox 54"/>
          <p:cNvSpPr txBox="1"/>
          <p:nvPr/>
        </p:nvSpPr>
        <p:spPr>
          <a:xfrm>
            <a:off x="914401" y="6675120"/>
            <a:ext cx="9966960" cy="36576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600">
                <a:latin typeface="IBM Plex Sans Arabic"/>
              </a:rPr>
              <a:t>المتخصصون ← الحساب ← التسويق؛ بشروط النطاق والميزانية.</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في PMP / العملية المتكاملة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35</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نظام واحد ووحدات بحسب القطاع</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98080" y="2423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423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7662672" y="260604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وحدة نمو الرعاية الصحية™</a:t>
            </a:r>
          </a:p>
        </p:txBody>
      </p:sp>
      <p:sp>
        <p:nvSpPr>
          <p:cNvPr id="39" name="TextBox 38"/>
          <p:cNvSpPr txBox="1"/>
          <p:nvPr/>
        </p:nvSpPr>
        <p:spPr>
          <a:xfrm>
            <a:off x="7662672" y="350215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رحلة المريض · المرجعية الطبية</a:t>
            </a:r>
          </a:p>
          <a:p>
            <a:pPr algn="r" rtl="1">
              <a:spcAft>
                <a:spcPts val="400"/>
              </a:spcAft>
              <a:defRPr sz="1400" b="0">
                <a:solidFill>
                  <a:srgbClr val="555555"/>
                </a:solidFill>
                <a:latin typeface="Montserrat"/>
              </a:defRPr>
            </a:pPr>
            <a:r>
              <a:rPr sz="1600">
                <a:latin typeface="IBM Plex Sans Arabic"/>
              </a:rPr>
              <a:t>مسار المواعيد · الإحالات</a:t>
            </a:r>
          </a:p>
        </p:txBody>
      </p:sp>
      <p:sp>
        <p:nvSpPr>
          <p:cNvPr id="40" name="Rectangle 39"/>
          <p:cNvSpPr/>
          <p:nvPr/>
        </p:nvSpPr>
        <p:spPr>
          <a:xfrm>
            <a:off x="685800" y="2423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7031736" y="2423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850392" y="260604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وحدة النمو العقاري™</a:t>
            </a:r>
          </a:p>
        </p:txBody>
      </p:sp>
      <p:sp>
        <p:nvSpPr>
          <p:cNvPr id="43" name="TextBox 42"/>
          <p:cNvSpPr txBox="1"/>
          <p:nvPr/>
        </p:nvSpPr>
        <p:spPr>
          <a:xfrm>
            <a:off x="850392" y="350215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رحلة المشتري · تأهيل العملاء</a:t>
            </a:r>
          </a:p>
          <a:p>
            <a:pPr algn="r" rtl="1">
              <a:spcAft>
                <a:spcPts val="400"/>
              </a:spcAft>
              <a:defRPr sz="1400" b="0">
                <a:solidFill>
                  <a:srgbClr val="555555"/>
                </a:solidFill>
                <a:latin typeface="Montserrat"/>
              </a:defRPr>
            </a:pPr>
            <a:r>
              <a:rPr sz="1600">
                <a:latin typeface="IBM Plex Sans Arabic"/>
              </a:rPr>
              <a:t>CRM · مراحل المبيعات</a:t>
            </a:r>
          </a:p>
        </p:txBody>
      </p:sp>
      <p:sp>
        <p:nvSpPr>
          <p:cNvPr id="44" name="Rectangle 43"/>
          <p:cNvSpPr/>
          <p:nvPr/>
        </p:nvSpPr>
        <p:spPr>
          <a:xfrm>
            <a:off x="7498080" y="4709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13844016" y="4709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7662672" y="489204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وحدة نمو الضيافة™</a:t>
            </a:r>
          </a:p>
        </p:txBody>
      </p:sp>
      <p:sp>
        <p:nvSpPr>
          <p:cNvPr id="47" name="TextBox 46"/>
          <p:cNvSpPr txBox="1"/>
          <p:nvPr/>
        </p:nvSpPr>
        <p:spPr>
          <a:xfrm>
            <a:off x="7662672" y="578815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مسار الحجز · المراجعات</a:t>
            </a:r>
          </a:p>
          <a:p>
            <a:pPr algn="r" rtl="1">
              <a:spcAft>
                <a:spcPts val="400"/>
              </a:spcAft>
              <a:defRPr sz="1400" b="0">
                <a:solidFill>
                  <a:srgbClr val="555555"/>
                </a:solidFill>
                <a:latin typeface="Montserrat"/>
              </a:defRPr>
            </a:pPr>
            <a:r>
              <a:rPr sz="1600">
                <a:latin typeface="IBM Plex Sans Arabic"/>
              </a:rPr>
              <a:t>الولاء · الاحتفاظ</a:t>
            </a:r>
          </a:p>
        </p:txBody>
      </p:sp>
      <p:sp>
        <p:nvSpPr>
          <p:cNvPr id="48" name="Rectangle 47"/>
          <p:cNvSpPr/>
          <p:nvPr/>
        </p:nvSpPr>
        <p:spPr>
          <a:xfrm>
            <a:off x="685800" y="4709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7031736" y="4709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850392" y="489204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وحدة العلامات الفاخرة™</a:t>
            </a:r>
          </a:p>
        </p:txBody>
      </p:sp>
      <p:sp>
        <p:nvSpPr>
          <p:cNvPr id="51" name="TextBox 50"/>
          <p:cNvSpPr txBox="1"/>
          <p:nvPr/>
        </p:nvSpPr>
        <p:spPr>
          <a:xfrm>
            <a:off x="850392" y="578815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تجربة العلامة · السرد</a:t>
            </a:r>
          </a:p>
          <a:p>
            <a:pPr algn="r" rtl="1">
              <a:spcAft>
                <a:spcPts val="400"/>
              </a:spcAft>
              <a:defRPr sz="1400" b="0">
                <a:solidFill>
                  <a:srgbClr val="555555"/>
                </a:solidFill>
                <a:latin typeface="Montserrat"/>
              </a:defRPr>
            </a:pPr>
            <a:r>
              <a:rPr sz="1600">
                <a:latin typeface="IBM Plex Sans Arabic"/>
              </a:rPr>
              <a:t>المجتمع · التموضع الراقي</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FFFFFF"/>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نظام النمو في PMP / العملية المتكاملة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FFFFFF"/>
                </a:solidFill>
                <a:latin typeface="Montserrat"/>
              </a:defRPr>
            </a:pPr>
            <a:r>
              <a:rPr sz="1250">
                <a:latin typeface="IBM Plex Sans Arabic"/>
              </a:rPr>
              <a:t>36</a:t>
            </a:r>
          </a:p>
        </p:txBody>
      </p:sp>
      <p:cxnSp>
        <p:nvCxnSpPr>
          <p:cNvPr id="32" name="Connector 31"/>
          <p:cNvCxnSpPr/>
          <p:nvPr/>
        </p:nvCxnSpPr>
        <p:spPr>
          <a:xfrm flipH="1">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FFFFFF"/>
                </a:solidFill>
                <a:latin typeface="Bebas Neue"/>
              </a:defRPr>
            </a:pPr>
            <a:r>
              <a:rPr sz="1600">
                <a:latin typeface="IBM Plex Sans Arabic"/>
              </a:rPr>
              <a:t>بنية النمو المترابطة في PMP</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FFFFFF"/>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FFFFFF"/>
                </a:solidFill>
                <a:latin typeface="Montserrat"/>
              </a:defRPr>
            </a:pPr>
            <a:r>
              <a:rPr sz="1000">
                <a:latin typeface="IBM Plex Sans Arabic"/>
              </a:rPr>
              <a:t>مسودة قابلة للتعديل • التبعيات والسياسات الأخرى مقترحة</a:t>
            </a:r>
          </a:p>
        </p:txBody>
      </p:sp>
      <p:sp>
        <p:nvSpPr>
          <p:cNvPr id="36" name="Freeform 35"/>
          <p:cNvSpPr/>
          <p:nvPr/>
        </p:nvSpPr>
        <p:spPr>
          <a:xfrm>
            <a:off x="1001268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195560" y="2468880"/>
            <a:ext cx="3474720" cy="50292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ابدأ العلاقة</a:t>
            </a:r>
          </a:p>
        </p:txBody>
      </p:sp>
      <p:sp>
        <p:nvSpPr>
          <p:cNvPr id="38" name="TextBox 37"/>
          <p:cNvSpPr txBox="1"/>
          <p:nvPr/>
        </p:nvSpPr>
        <p:spPr>
          <a:xfrm>
            <a:off x="10195560" y="3108960"/>
            <a:ext cx="3474720" cy="91440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مقياس النمو™ + التدقيق™</a:t>
            </a:r>
          </a:p>
          <a:p>
            <a:pPr algn="r" rtl="1">
              <a:spcAft>
                <a:spcPts val="400"/>
              </a:spcAft>
              <a:defRPr sz="1700" b="0">
                <a:solidFill>
                  <a:srgbClr val="202020"/>
                </a:solidFill>
                <a:latin typeface="Montserrat"/>
              </a:defRPr>
            </a:pPr>
            <a:r>
              <a:rPr sz="1600">
                <a:latin typeface="IBM Plex Sans Arabic"/>
              </a:rPr>
              <a:t>اكتشف الاحتياج وأهّل الفرصة.</a:t>
            </a:r>
          </a:p>
        </p:txBody>
      </p:sp>
      <p:sp>
        <p:nvSpPr>
          <p:cNvPr id="39" name="Freeform 38"/>
          <p:cNvSpPr/>
          <p:nvPr/>
        </p:nvSpPr>
        <p:spPr>
          <a:xfrm>
            <a:off x="544068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5623560" y="2468880"/>
            <a:ext cx="3474720" cy="50292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خطط للتعاقد</a:t>
            </a:r>
          </a:p>
        </p:txBody>
      </p:sp>
      <p:sp>
        <p:nvSpPr>
          <p:cNvPr id="41" name="TextBox 40"/>
          <p:cNvSpPr txBox="1"/>
          <p:nvPr/>
        </p:nvSpPr>
        <p:spPr>
          <a:xfrm>
            <a:off x="5623560" y="3108960"/>
            <a:ext cx="3474720" cy="91440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500">
                <a:latin typeface="IBM Plex Sans Arabic"/>
              </a:rPr>
              <a:t>مخطط النمو™</a:t>
            </a:r>
          </a:p>
          <a:p>
            <a:pPr algn="r" rtl="1">
              <a:spcAft>
                <a:spcPts val="400"/>
              </a:spcAft>
              <a:defRPr sz="1700" b="0">
                <a:solidFill>
                  <a:srgbClr val="202020"/>
                </a:solidFill>
                <a:latin typeface="Montserrat"/>
              </a:defRPr>
            </a:pPr>
            <a:r>
              <a:rPr sz="1500">
                <a:latin typeface="IBM Plex Sans Arabic"/>
              </a:rPr>
              <a:t>طابق الاستراتيجية والقنوات والمؤشرات والميزانية.</a:t>
            </a:r>
          </a:p>
        </p:txBody>
      </p:sp>
      <p:sp>
        <p:nvSpPr>
          <p:cNvPr id="42" name="Freeform 41"/>
          <p:cNvSpPr/>
          <p:nvPr/>
        </p:nvSpPr>
        <p:spPr>
          <a:xfrm>
            <a:off x="86868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1051561" y="2468880"/>
            <a:ext cx="3474720" cy="502920"/>
          </a:xfrm>
          <a:prstGeom prst="rect">
            <a:avLst/>
          </a:prstGeom>
          <a:noFill/>
        </p:spPr>
        <p:txBody>
          <a:bodyPr wrap="square" lIns="27432" rIns="27432" tIns="0" bIns="0">
            <a:spAutoFit/>
          </a:bodyPr>
          <a:lstStyle/>
          <a:p>
            <a:pPr algn="r" rtl="1">
              <a:spcAft>
                <a:spcPts val="400"/>
              </a:spcAft>
              <a:defRPr sz="1600" b="1">
                <a:solidFill>
                  <a:srgbClr val="7D2B42"/>
                </a:solidFill>
                <a:latin typeface="Montserrat"/>
              </a:defRPr>
            </a:pPr>
            <a:r>
              <a:rPr sz="1600">
                <a:latin typeface="IBM Plex Sans Arabic"/>
              </a:rPr>
              <a:t>تعلّم وراكم التحسن</a:t>
            </a:r>
          </a:p>
        </p:txBody>
      </p:sp>
      <p:sp>
        <p:nvSpPr>
          <p:cNvPr id="44" name="TextBox 43"/>
          <p:cNvSpPr txBox="1"/>
          <p:nvPr/>
        </p:nvSpPr>
        <p:spPr>
          <a:xfrm>
            <a:off x="1051561" y="3108960"/>
            <a:ext cx="3474720" cy="91440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لوحة المتابعة™</a:t>
            </a:r>
          </a:p>
          <a:p>
            <a:pPr algn="r" rtl="1">
              <a:spcAft>
                <a:spcPts val="400"/>
              </a:spcAft>
              <a:defRPr sz="1700" b="0">
                <a:solidFill>
                  <a:srgbClr val="202020"/>
                </a:solidFill>
                <a:latin typeface="Montserrat"/>
              </a:defRPr>
            </a:pPr>
            <a:r>
              <a:rPr sz="1600">
                <a:latin typeface="IBM Plex Sans Arabic"/>
              </a:rPr>
              <a:t>قِس وحسّن وادعم التوسع.</a:t>
            </a:r>
          </a:p>
        </p:txBody>
      </p:sp>
      <p:cxnSp>
        <p:nvCxnSpPr>
          <p:cNvPr id="45" name="Connector 44"/>
          <p:cNvCxnSpPr/>
          <p:nvPr/>
        </p:nvCxnSpPr>
        <p:spPr>
          <a:xfrm flipH="1">
            <a:off x="9281160" y="3200400"/>
            <a:ext cx="731520" cy="0"/>
          </a:xfrm>
          <a:prstGeom prst="line">
            <a:avLst/>
          </a:prstGeom>
          <a:ln w="38100">
            <a:solidFill>
              <a:srgbClr val="FFCC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4709160" y="3200400"/>
            <a:ext cx="731520" cy="0"/>
          </a:xfrm>
          <a:prstGeom prst="line">
            <a:avLst/>
          </a:prstGeom>
          <a:ln w="38100">
            <a:solidFill>
              <a:srgbClr val="FFCC00"/>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822960" y="4846320"/>
            <a:ext cx="12984480"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8" name="TextBox 47"/>
          <p:cNvSpPr txBox="1"/>
          <p:nvPr/>
        </p:nvSpPr>
        <p:spPr>
          <a:xfrm>
            <a:off x="1005840" y="5029200"/>
            <a:ext cx="12618720" cy="365760"/>
          </a:xfrm>
          <a:prstGeom prst="rect">
            <a:avLst/>
          </a:prstGeom>
          <a:noFill/>
        </p:spPr>
        <p:txBody>
          <a:bodyPr wrap="square" lIns="27432" rIns="27432" tIns="0" bIns="0">
            <a:spAutoFit/>
          </a:bodyPr>
          <a:lstStyle/>
          <a:p>
            <a:pPr algn="r" rtl="1">
              <a:spcAft>
                <a:spcPts val="400"/>
              </a:spcAft>
              <a:defRPr sz="1800" b="1">
                <a:solidFill>
                  <a:srgbClr val="7D2B42"/>
                </a:solidFill>
                <a:latin typeface="Montserrat"/>
              </a:defRPr>
            </a:pPr>
            <a:r>
              <a:rPr sz="1600">
                <a:latin typeface="IBM Plex Sans Arabic"/>
              </a:rPr>
              <a:t>نظام النمو™ / استكشاف ← تشخيص ← تصميم ← تنفيذ ← تحسين ← توسع</a:t>
            </a:r>
          </a:p>
        </p:txBody>
      </p:sp>
      <p:sp>
        <p:nvSpPr>
          <p:cNvPr id="49" name="TextBox 48"/>
          <p:cNvSpPr txBox="1"/>
          <p:nvPr/>
        </p:nvSpPr>
        <p:spPr>
          <a:xfrm>
            <a:off x="1005840" y="5989320"/>
            <a:ext cx="12710160" cy="777240"/>
          </a:xfrm>
          <a:prstGeom prst="rect">
            <a:avLst/>
          </a:prstGeom>
          <a:noFill/>
        </p:spPr>
        <p:txBody>
          <a:bodyPr wrap="square" lIns="27432" rIns="27432" tIns="0" bIns="0">
            <a:spAutoFit/>
          </a:bodyPr>
          <a:lstStyle/>
          <a:p>
            <a:pPr algn="r" rtl="1">
              <a:spcAft>
                <a:spcPts val="400"/>
              </a:spcAft>
              <a:defRPr sz="2300" b="0">
                <a:solidFill>
                  <a:srgbClr val="FFFFFF"/>
                </a:solidFill>
                <a:latin typeface="Montserrat"/>
              </a:defRPr>
            </a:pPr>
            <a:r>
              <a:rPr sz="1600">
                <a:latin typeface="IBM Plex Sans Arabic"/>
              </a:rPr>
              <a:t>أدلة التنفيذ™ تجعل العمل قابلًا للتكرار؛ والأكاديمية™ تطوّر قدرات الفريق في كل مرحلة.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37</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الفريق / خريطة التبعيات المقترحة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TextBox 35"/>
          <p:cNvSpPr txBox="1"/>
          <p:nvPr/>
        </p:nvSpPr>
        <p:spPr>
          <a:xfrm>
            <a:off x="594360" y="1874519"/>
            <a:ext cx="13350240" cy="45720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600">
                <a:latin typeface="IBM Plex Sans Arabic"/>
              </a:rPr>
              <a:t>متصل = مؤكد؛ متقطع = مقترح. محررا الفيديو ← مدير التسويق، بتأكيد المستخدم. اضغط الوظيفة لفتح بطاقتها.</a:t>
            </a:r>
          </a:p>
        </p:txBody>
      </p:sp>
      <p:cxnSp>
        <p:nvCxnSpPr>
          <p:cNvPr id="37" name="Connector 36"/>
          <p:cNvCxnSpPr/>
          <p:nvPr/>
        </p:nvCxnSpPr>
        <p:spPr>
          <a:xfrm flipH="0">
            <a:off x="7863840" y="3337560"/>
            <a:ext cx="56235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348740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0">
            <a:off x="7863840" y="3337560"/>
            <a:ext cx="3840481"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0">
            <a:off x="7863840" y="3337560"/>
            <a:ext cx="205740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992124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992124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0">
            <a:off x="7863840" y="3337560"/>
            <a:ext cx="27432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813816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13816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2788920" y="3337560"/>
            <a:ext cx="507492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005840" y="3337560"/>
            <a:ext cx="685800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355080" y="3337560"/>
            <a:ext cx="15087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4572000" y="3337560"/>
            <a:ext cx="329184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sp>
        <p:nvSpPr>
          <p:cNvPr id="50" name="Rectangle 49">
            <a:hlinkClick action="ppaction://hlinksldjump" r:id="rId2"/>
          </p:cNvPr>
          <p:cNvSpPr/>
          <p:nvPr/>
        </p:nvSpPr>
        <p:spPr>
          <a:xfrm>
            <a:off x="7040880" y="2468880"/>
            <a:ext cx="1645920" cy="868680"/>
          </a:xfrm>
          <a:prstGeom prst="rect">
            <a:avLst/>
          </a:prstGeom>
          <a:solidFill>
            <a:srgbClr val="7D2B42"/>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1" name="TextBox 50">
            <a:hlinkClick action="ppaction://hlinksldjump" r:id="rId2"/>
          </p:cNvPr>
          <p:cNvSpPr txBox="1"/>
          <p:nvPr/>
        </p:nvSpPr>
        <p:spPr>
          <a:xfrm>
            <a:off x="7132320" y="2542032"/>
            <a:ext cx="1463040" cy="182880"/>
          </a:xfrm>
          <a:prstGeom prst="rect">
            <a:avLst/>
          </a:prstGeom>
          <a:noFill/>
        </p:spPr>
        <p:txBody>
          <a:bodyPr wrap="square" lIns="27432" rIns="27432" tIns="0" bIns="0">
            <a:spAutoFit/>
          </a:bodyPr>
          <a:lstStyle/>
          <a:p>
            <a:pPr algn="r" rtl="1">
              <a:spcAft>
                <a:spcPts val="400"/>
              </a:spcAft>
              <a:defRPr sz="900" b="1">
                <a:solidFill>
                  <a:srgbClr val="FFCC00"/>
                </a:solidFill>
                <a:latin typeface="Montserrat"/>
              </a:defRPr>
            </a:pPr>
            <a:r>
              <a:rPr sz="800">
                <a:latin typeface="IBM Plex Sans Arabic"/>
              </a:rPr>
              <a:t>MM-01</a:t>
            </a:r>
          </a:p>
        </p:txBody>
      </p:sp>
      <p:sp>
        <p:nvSpPr>
          <p:cNvPr id="52" name="TextBox 51">
            <a:hlinkClick action="ppaction://hlinksldjump" r:id="rId2"/>
          </p:cNvPr>
          <p:cNvSpPr txBox="1"/>
          <p:nvPr/>
        </p:nvSpPr>
        <p:spPr>
          <a:xfrm>
            <a:off x="7132320" y="2788920"/>
            <a:ext cx="1463040" cy="502920"/>
          </a:xfrm>
          <a:prstGeom prst="rect">
            <a:avLst/>
          </a:prstGeom>
          <a:noFill/>
        </p:spPr>
        <p:txBody>
          <a:bodyPr wrap="square" lIns="27432" rIns="27432" tIns="0" bIns="0">
            <a:spAutoFit/>
          </a:bodyPr>
          <a:lstStyle/>
          <a:p>
            <a:pPr algn="r" rtl="1">
              <a:spcAft>
                <a:spcPts val="400"/>
              </a:spcAft>
              <a:defRPr sz="1200" b="1">
                <a:solidFill>
                  <a:srgbClr val="FFFFFF"/>
                </a:solidFill>
                <a:latin typeface="Montserrat"/>
              </a:defRPr>
            </a:pPr>
            <a:r>
              <a:rPr sz="1600">
                <a:latin typeface="IBM Plex Sans Arabic"/>
              </a:rPr>
              <a:t>مدير التسويق</a:t>
            </a:r>
          </a:p>
        </p:txBody>
      </p:sp>
      <p:sp>
        <p:nvSpPr>
          <p:cNvPr id="53" name="Rectangle 52">
            <a:hlinkClick action="ppaction://hlinksldjump" r:id="rId3"/>
          </p:cNvPr>
          <p:cNvSpPr/>
          <p:nvPr/>
        </p:nvSpPr>
        <p:spPr>
          <a:xfrm>
            <a:off x="126644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4" name="TextBox 53">
            <a:hlinkClick action="ppaction://hlinksldjump" r:id="rId3"/>
          </p:cNvPr>
          <p:cNvSpPr txBox="1"/>
          <p:nvPr/>
        </p:nvSpPr>
        <p:spPr>
          <a:xfrm>
            <a:off x="12755881" y="38679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BD-01</a:t>
            </a:r>
          </a:p>
        </p:txBody>
      </p:sp>
      <p:sp>
        <p:nvSpPr>
          <p:cNvPr id="55" name="TextBox 54">
            <a:hlinkClick action="ppaction://hlinksldjump" r:id="rId3"/>
          </p:cNvPr>
          <p:cNvSpPr txBox="1"/>
          <p:nvPr/>
        </p:nvSpPr>
        <p:spPr>
          <a:xfrm>
            <a:off x="12755881" y="41148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300">
                <a:latin typeface="IBM Plex Sans Arabic"/>
              </a:rPr>
              <a:t>مسؤول تطوير الأعمال</a:t>
            </a:r>
          </a:p>
        </p:txBody>
      </p:sp>
      <p:sp>
        <p:nvSpPr>
          <p:cNvPr id="56" name="Rectangle 55">
            <a:hlinkClick action="ppaction://hlinksldjump" r:id="rId4"/>
          </p:cNvPr>
          <p:cNvSpPr/>
          <p:nvPr/>
        </p:nvSpPr>
        <p:spPr>
          <a:xfrm>
            <a:off x="1266444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7" name="TextBox 56">
            <a:hlinkClick action="ppaction://hlinksldjump" r:id="rId4"/>
          </p:cNvPr>
          <p:cNvSpPr txBox="1"/>
          <p:nvPr/>
        </p:nvSpPr>
        <p:spPr>
          <a:xfrm>
            <a:off x="12755881" y="528523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SA-01</a:t>
            </a:r>
          </a:p>
        </p:txBody>
      </p:sp>
      <p:sp>
        <p:nvSpPr>
          <p:cNvPr id="58" name="TextBox 57">
            <a:hlinkClick action="ppaction://hlinksldjump" r:id="rId4"/>
          </p:cNvPr>
          <p:cNvSpPr txBox="1"/>
          <p:nvPr/>
        </p:nvSpPr>
        <p:spPr>
          <a:xfrm>
            <a:off x="12755881" y="553212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600">
                <a:latin typeface="IBM Plex Sans Arabic"/>
              </a:rPr>
              <a:t>المبيعات</a:t>
            </a:r>
          </a:p>
        </p:txBody>
      </p:sp>
      <p:sp>
        <p:nvSpPr>
          <p:cNvPr id="59" name="Rectangle 58">
            <a:hlinkClick action="ppaction://hlinksldjump" r:id="rId5"/>
          </p:cNvPr>
          <p:cNvSpPr/>
          <p:nvPr/>
        </p:nvSpPr>
        <p:spPr>
          <a:xfrm>
            <a:off x="1088136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60" name="TextBox 59">
            <a:hlinkClick action="ppaction://hlinksldjump" r:id="rId5"/>
          </p:cNvPr>
          <p:cNvSpPr txBox="1"/>
          <p:nvPr/>
        </p:nvSpPr>
        <p:spPr>
          <a:xfrm>
            <a:off x="10972800" y="38679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AM-01</a:t>
            </a:r>
          </a:p>
        </p:txBody>
      </p:sp>
      <p:sp>
        <p:nvSpPr>
          <p:cNvPr id="61" name="TextBox 60">
            <a:hlinkClick action="ppaction://hlinksldjump" r:id="rId5"/>
          </p:cNvPr>
          <p:cNvSpPr txBox="1"/>
          <p:nvPr/>
        </p:nvSpPr>
        <p:spPr>
          <a:xfrm>
            <a:off x="10972800" y="41148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600">
                <a:latin typeface="IBM Plex Sans Arabic"/>
              </a:rPr>
              <a:t>مدير الحساب</a:t>
            </a:r>
          </a:p>
        </p:txBody>
      </p:sp>
      <p:sp>
        <p:nvSpPr>
          <p:cNvPr id="62" name="Rectangle 61">
            <a:hlinkClick action="ppaction://hlinksldjump" r:id="rId6"/>
          </p:cNvPr>
          <p:cNvSpPr/>
          <p:nvPr/>
        </p:nvSpPr>
        <p:spPr>
          <a:xfrm>
            <a:off x="909828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63" name="TextBox 62">
            <a:hlinkClick action="ppaction://hlinksldjump" r:id="rId6"/>
          </p:cNvPr>
          <p:cNvSpPr txBox="1"/>
          <p:nvPr/>
        </p:nvSpPr>
        <p:spPr>
          <a:xfrm>
            <a:off x="9189721" y="38679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HC-01</a:t>
            </a:r>
          </a:p>
        </p:txBody>
      </p:sp>
      <p:sp>
        <p:nvSpPr>
          <p:cNvPr id="64" name="TextBox 63">
            <a:hlinkClick action="ppaction://hlinksldjump" r:id="rId6"/>
          </p:cNvPr>
          <p:cNvSpPr txBox="1"/>
          <p:nvPr/>
        </p:nvSpPr>
        <p:spPr>
          <a:xfrm>
            <a:off x="9189721" y="41148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600">
                <a:latin typeface="IBM Plex Sans Arabic"/>
              </a:rPr>
              <a:t>رئيس المحتوى</a:t>
            </a:r>
          </a:p>
        </p:txBody>
      </p:sp>
      <p:sp>
        <p:nvSpPr>
          <p:cNvPr id="65" name="Rectangle 64">
            <a:hlinkClick action="ppaction://hlinksldjump" r:id="rId7"/>
          </p:cNvPr>
          <p:cNvSpPr/>
          <p:nvPr/>
        </p:nvSpPr>
        <p:spPr>
          <a:xfrm>
            <a:off x="909828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66" name="TextBox 65">
            <a:hlinkClick action="ppaction://hlinksldjump" r:id="rId7"/>
          </p:cNvPr>
          <p:cNvSpPr txBox="1"/>
          <p:nvPr/>
        </p:nvSpPr>
        <p:spPr>
          <a:xfrm>
            <a:off x="9189721" y="528523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CW-S01</a:t>
            </a:r>
          </a:p>
        </p:txBody>
      </p:sp>
      <p:sp>
        <p:nvSpPr>
          <p:cNvPr id="67" name="TextBox 66">
            <a:hlinkClick action="ppaction://hlinksldjump" r:id="rId7"/>
          </p:cNvPr>
          <p:cNvSpPr txBox="1"/>
          <p:nvPr/>
        </p:nvSpPr>
        <p:spPr>
          <a:xfrm>
            <a:off x="9189721" y="553212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600">
                <a:latin typeface="IBM Plex Sans Arabic"/>
              </a:rPr>
              <a:t>كاتب محتوى أول</a:t>
            </a:r>
          </a:p>
        </p:txBody>
      </p:sp>
      <p:sp>
        <p:nvSpPr>
          <p:cNvPr id="68" name="Rectangle 67">
            <a:hlinkClick action="ppaction://hlinksldjump" r:id="rId8"/>
          </p:cNvPr>
          <p:cNvSpPr/>
          <p:nvPr/>
        </p:nvSpPr>
        <p:spPr>
          <a:xfrm>
            <a:off x="909828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69" name="TextBox 68">
            <a:hlinkClick action="ppaction://hlinksldjump" r:id="rId8"/>
          </p:cNvPr>
          <p:cNvSpPr txBox="1"/>
          <p:nvPr/>
        </p:nvSpPr>
        <p:spPr>
          <a:xfrm>
            <a:off x="9189721" y="63825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CW-J01</a:t>
            </a:r>
          </a:p>
        </p:txBody>
      </p:sp>
      <p:sp>
        <p:nvSpPr>
          <p:cNvPr id="70" name="TextBox 69">
            <a:hlinkClick action="ppaction://hlinksldjump" r:id="rId8"/>
          </p:cNvPr>
          <p:cNvSpPr txBox="1"/>
          <p:nvPr/>
        </p:nvSpPr>
        <p:spPr>
          <a:xfrm>
            <a:off x="9189721" y="66294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450">
                <a:latin typeface="IBM Plex Sans Arabic"/>
              </a:rPr>
              <a:t>كاتب محتوى مبتدئ</a:t>
            </a:r>
          </a:p>
        </p:txBody>
      </p:sp>
      <p:sp>
        <p:nvSpPr>
          <p:cNvPr id="71" name="Rectangle 70">
            <a:hlinkClick action="ppaction://hlinksldjump" r:id="rId9"/>
          </p:cNvPr>
          <p:cNvSpPr/>
          <p:nvPr/>
        </p:nvSpPr>
        <p:spPr>
          <a:xfrm>
            <a:off x="7315201"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72" name="TextBox 71">
            <a:hlinkClick action="ppaction://hlinksldjump" r:id="rId9"/>
          </p:cNvPr>
          <p:cNvSpPr txBox="1"/>
          <p:nvPr/>
        </p:nvSpPr>
        <p:spPr>
          <a:xfrm>
            <a:off x="7406641" y="38679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HD-01</a:t>
            </a:r>
          </a:p>
        </p:txBody>
      </p:sp>
      <p:sp>
        <p:nvSpPr>
          <p:cNvPr id="73" name="TextBox 72">
            <a:hlinkClick action="ppaction://hlinksldjump" r:id="rId9"/>
          </p:cNvPr>
          <p:cNvSpPr txBox="1"/>
          <p:nvPr/>
        </p:nvSpPr>
        <p:spPr>
          <a:xfrm>
            <a:off x="7406641" y="41148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250">
                <a:latin typeface="IBM Plex Sans Arabic"/>
              </a:rPr>
              <a:t>رئيس فريق التصميم الجرافيكي</a:t>
            </a:r>
          </a:p>
        </p:txBody>
      </p:sp>
      <p:sp>
        <p:nvSpPr>
          <p:cNvPr id="74" name="Rectangle 73">
            <a:hlinkClick action="ppaction://hlinksldjump" r:id="rId10"/>
          </p:cNvPr>
          <p:cNvSpPr/>
          <p:nvPr/>
        </p:nvSpPr>
        <p:spPr>
          <a:xfrm>
            <a:off x="731520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75" name="TextBox 74">
            <a:hlinkClick action="ppaction://hlinksldjump" r:id="rId10"/>
          </p:cNvPr>
          <p:cNvSpPr txBox="1"/>
          <p:nvPr/>
        </p:nvSpPr>
        <p:spPr>
          <a:xfrm>
            <a:off x="7406640" y="528523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GD-01</a:t>
            </a:r>
          </a:p>
        </p:txBody>
      </p:sp>
      <p:sp>
        <p:nvSpPr>
          <p:cNvPr id="76" name="TextBox 75">
            <a:hlinkClick action="ppaction://hlinksldjump" r:id="rId10"/>
          </p:cNvPr>
          <p:cNvSpPr txBox="1"/>
          <p:nvPr/>
        </p:nvSpPr>
        <p:spPr>
          <a:xfrm>
            <a:off x="7406640" y="553212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600">
                <a:latin typeface="IBM Plex Sans Arabic"/>
              </a:rPr>
              <a:t>مصمم جرافيك 1</a:t>
            </a:r>
          </a:p>
        </p:txBody>
      </p:sp>
      <p:sp>
        <p:nvSpPr>
          <p:cNvPr id="77" name="Rectangle 76">
            <a:hlinkClick action="ppaction://hlinksldjump" r:id="rId11"/>
          </p:cNvPr>
          <p:cNvSpPr/>
          <p:nvPr/>
        </p:nvSpPr>
        <p:spPr>
          <a:xfrm>
            <a:off x="731520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78" name="TextBox 77">
            <a:hlinkClick action="ppaction://hlinksldjump" r:id="rId11"/>
          </p:cNvPr>
          <p:cNvSpPr txBox="1"/>
          <p:nvPr/>
        </p:nvSpPr>
        <p:spPr>
          <a:xfrm>
            <a:off x="7406640" y="63825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GD-02</a:t>
            </a:r>
          </a:p>
        </p:txBody>
      </p:sp>
      <p:sp>
        <p:nvSpPr>
          <p:cNvPr id="79" name="TextBox 78">
            <a:hlinkClick action="ppaction://hlinksldjump" r:id="rId11"/>
          </p:cNvPr>
          <p:cNvSpPr txBox="1"/>
          <p:nvPr/>
        </p:nvSpPr>
        <p:spPr>
          <a:xfrm>
            <a:off x="7406640" y="66294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600">
                <a:latin typeface="IBM Plex Sans Arabic"/>
              </a:rPr>
              <a:t>مصمم جرافيك 2</a:t>
            </a:r>
          </a:p>
        </p:txBody>
      </p:sp>
      <p:sp>
        <p:nvSpPr>
          <p:cNvPr id="80" name="Rectangle 79">
            <a:hlinkClick action="ppaction://hlinksldjump" r:id="rId12"/>
          </p:cNvPr>
          <p:cNvSpPr/>
          <p:nvPr/>
        </p:nvSpPr>
        <p:spPr>
          <a:xfrm>
            <a:off x="1965961"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81" name="TextBox 80">
            <a:hlinkClick action="ppaction://hlinksldjump" r:id="rId12"/>
          </p:cNvPr>
          <p:cNvSpPr txBox="1"/>
          <p:nvPr/>
        </p:nvSpPr>
        <p:spPr>
          <a:xfrm>
            <a:off x="2057401" y="38679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VE-01</a:t>
            </a:r>
          </a:p>
        </p:txBody>
      </p:sp>
      <p:sp>
        <p:nvSpPr>
          <p:cNvPr id="82" name="TextBox 81">
            <a:hlinkClick action="ppaction://hlinksldjump" r:id="rId12"/>
          </p:cNvPr>
          <p:cNvSpPr txBox="1"/>
          <p:nvPr/>
        </p:nvSpPr>
        <p:spPr>
          <a:xfrm>
            <a:off x="2057401" y="41148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600">
                <a:latin typeface="IBM Plex Sans Arabic"/>
              </a:rPr>
              <a:t>محرر فيديو 1</a:t>
            </a:r>
          </a:p>
        </p:txBody>
      </p:sp>
      <p:sp>
        <p:nvSpPr>
          <p:cNvPr id="83" name="Rectangle 82">
            <a:hlinkClick action="ppaction://hlinksldjump" r:id="rId13"/>
          </p:cNvPr>
          <p:cNvSpPr/>
          <p:nvPr/>
        </p:nvSpPr>
        <p:spPr>
          <a:xfrm>
            <a:off x="18288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84" name="TextBox 83">
            <a:hlinkClick action="ppaction://hlinksldjump" r:id="rId13"/>
          </p:cNvPr>
          <p:cNvSpPr txBox="1"/>
          <p:nvPr/>
        </p:nvSpPr>
        <p:spPr>
          <a:xfrm>
            <a:off x="274320" y="38679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VE-02</a:t>
            </a:r>
          </a:p>
        </p:txBody>
      </p:sp>
      <p:sp>
        <p:nvSpPr>
          <p:cNvPr id="85" name="TextBox 84">
            <a:hlinkClick action="ppaction://hlinksldjump" r:id="rId13"/>
          </p:cNvPr>
          <p:cNvSpPr txBox="1"/>
          <p:nvPr/>
        </p:nvSpPr>
        <p:spPr>
          <a:xfrm>
            <a:off x="274320" y="41148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600">
                <a:latin typeface="IBM Plex Sans Arabic"/>
              </a:rPr>
              <a:t>محرر فيديو 2</a:t>
            </a:r>
          </a:p>
        </p:txBody>
      </p:sp>
      <p:sp>
        <p:nvSpPr>
          <p:cNvPr id="86" name="Rectangle 85">
            <a:hlinkClick action="ppaction://hlinksldjump" r:id="rId14"/>
          </p:cNvPr>
          <p:cNvSpPr/>
          <p:nvPr/>
        </p:nvSpPr>
        <p:spPr>
          <a:xfrm>
            <a:off x="553212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87" name="TextBox 86">
            <a:hlinkClick action="ppaction://hlinksldjump" r:id="rId14"/>
          </p:cNvPr>
          <p:cNvSpPr txBox="1"/>
          <p:nvPr/>
        </p:nvSpPr>
        <p:spPr>
          <a:xfrm>
            <a:off x="5623560" y="38679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SM-01</a:t>
            </a:r>
          </a:p>
        </p:txBody>
      </p:sp>
      <p:sp>
        <p:nvSpPr>
          <p:cNvPr id="88" name="TextBox 87">
            <a:hlinkClick action="ppaction://hlinksldjump" r:id="rId14"/>
          </p:cNvPr>
          <p:cNvSpPr txBox="1"/>
          <p:nvPr/>
        </p:nvSpPr>
        <p:spPr>
          <a:xfrm>
            <a:off x="5623560" y="41148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250">
                <a:latin typeface="IBM Plex Sans Arabic"/>
              </a:rPr>
              <a:t>أخصائي التواصل الاجتماعي</a:t>
            </a:r>
          </a:p>
        </p:txBody>
      </p:sp>
      <p:sp>
        <p:nvSpPr>
          <p:cNvPr id="89" name="Rectangle 88">
            <a:hlinkClick action="ppaction://hlinksldjump" r:id="rId15"/>
          </p:cNvPr>
          <p:cNvSpPr/>
          <p:nvPr/>
        </p:nvSpPr>
        <p:spPr>
          <a:xfrm>
            <a:off x="37490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0" name="TextBox 89">
            <a:hlinkClick action="ppaction://hlinksldjump" r:id="rId15"/>
          </p:cNvPr>
          <p:cNvSpPr txBox="1"/>
          <p:nvPr/>
        </p:nvSpPr>
        <p:spPr>
          <a:xfrm>
            <a:off x="3840480" y="3867912"/>
            <a:ext cx="1463040" cy="182880"/>
          </a:xfrm>
          <a:prstGeom prst="rect">
            <a:avLst/>
          </a:prstGeom>
          <a:noFill/>
        </p:spPr>
        <p:txBody>
          <a:bodyPr wrap="square" lIns="27432" rIns="27432" tIns="0" bIns="0">
            <a:spAutoFit/>
          </a:bodyPr>
          <a:lstStyle/>
          <a:p>
            <a:pPr algn="r" rtl="1">
              <a:spcAft>
                <a:spcPts val="400"/>
              </a:spcAft>
              <a:defRPr sz="900" b="1">
                <a:solidFill>
                  <a:srgbClr val="7D2B42"/>
                </a:solidFill>
                <a:latin typeface="Montserrat"/>
              </a:defRPr>
            </a:pPr>
            <a:r>
              <a:rPr sz="800">
                <a:latin typeface="IBM Plex Sans Arabic"/>
              </a:rPr>
              <a:t>MB-01</a:t>
            </a:r>
          </a:p>
        </p:txBody>
      </p:sp>
      <p:sp>
        <p:nvSpPr>
          <p:cNvPr id="91" name="TextBox 90">
            <a:hlinkClick action="ppaction://hlinksldjump" r:id="rId15"/>
          </p:cNvPr>
          <p:cNvSpPr txBox="1"/>
          <p:nvPr/>
        </p:nvSpPr>
        <p:spPr>
          <a:xfrm>
            <a:off x="3840480" y="4114800"/>
            <a:ext cx="1463040" cy="502920"/>
          </a:xfrm>
          <a:prstGeom prst="rect">
            <a:avLst/>
          </a:prstGeom>
          <a:noFill/>
        </p:spPr>
        <p:txBody>
          <a:bodyPr wrap="square" lIns="27432" rIns="27432" tIns="0" bIns="0">
            <a:spAutoFit/>
          </a:bodyPr>
          <a:lstStyle/>
          <a:p>
            <a:pPr algn="r" rtl="1">
              <a:spcAft>
                <a:spcPts val="400"/>
              </a:spcAft>
              <a:defRPr sz="1200" b="1">
                <a:solidFill>
                  <a:srgbClr val="202020"/>
                </a:solidFill>
                <a:latin typeface="Montserrat"/>
              </a:defRPr>
            </a:pPr>
            <a:r>
              <a:rPr sz="1300">
                <a:latin typeface="IBM Plex Sans Arabic"/>
              </a:rPr>
              <a:t>مسؤول شراء الإعلانات</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MM-01 / القيادة</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38</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مدير التسويق</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MM-01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القيادة</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لا مدير محدد / القيادة الاستراتيجية العامة</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BD-01, AM-01, HC-01, HD-01, VE-01, VE-02, SM-01, MB-01</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الاستراتيجية والميزانيات والأولويات والموارد والاعتماد الداخلي النهائي بعد مراجعة جودة الرئيس.</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أهداف النشاط وطلبات الموارد</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اتجاه استراتيجي وقرارات الميزانية</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نتائج الحملات وطاقة الفريق</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BD-01 / النمو</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39</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تطوير الأعمال</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BD-01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النمو</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مدير التسويق</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SA-01</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300" b="0">
                <a:solidFill>
                  <a:srgbClr val="202020"/>
                </a:solidFill>
                <a:latin typeface="Montserrat"/>
              </a:defRPr>
            </a:pPr>
            <a:r>
              <a:rPr sz="1600">
                <a:latin typeface="IBM Plex Sans Arabic"/>
              </a:rPr>
              <a:t>تأهيل الفرص وإنشاء مجلدها داخل Quotations؛ وعند التوقيع نقل المجلد نفسه مستقلًا وتنظيم العمل.</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مصادر الفرص والعملاء المحتملون</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فرص مؤهلة وملاحظات الاكتشاف</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الفرص المؤهلة</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SA-01 / النمو</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40</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المبيعات</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SA-01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النمو</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مسؤول تطوير الأعمال</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العروض والإغلاق التجاري؛ إنشاء مجلد الفرصة ثم نقله مستقلًا عند التوقيع.</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فرص مؤهلة ومتطلبات</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نطاق موقّع وملخص العقد</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معدل التحويل</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AM-01 / الحسابات</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41</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مدير الحساب</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AM-01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الحسابات</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مدير التسويق</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300" b="0">
                <a:solidFill>
                  <a:srgbClr val="202020"/>
                </a:solidFill>
                <a:latin typeface="Montserrat"/>
              </a:defRPr>
            </a:pPr>
            <a:r>
              <a:rPr sz="1600">
                <a:latin typeface="IBM Plex Sans Arabic"/>
              </a:rPr>
              <a:t>بعد الاجتماع والاستعداد للتوقيع فقط: قارن المقترح والموجز وطوّر الاستراتيجية مع الفريق الرباعي، ثم نسّق الموجز والتنفيذ والاعتماد وعرض العميل.</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اجتماعات العميل والنطاق والملاحظات</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موجز مكتوب ومهام وعرض موحد وموافقة نهائية مسجلة</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رضا العميل وزمن الإنجاز</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HC-01 / المحتوى</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42</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رئيس المحتوى</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HC-01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المحتوى</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مدير التسويق</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CW-S01, CW-J01</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استراتيجية التحرير والتكليف وجودة النص</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موجز معتمد وتموضع</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خطة تحرير ونصوص معتمدة</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معدل التعديل وجودة التحرير</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CW-S01 / المحتوى</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43</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كاتب محتوى أول</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CW-S01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المحتوى</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رئيس المحتوى</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المفاهيم والنصوص المتقدمة والسيناريو والإرشاد</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موجز متقدم ومراجع</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مفاهيم وسيناريو ونص متقدم</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جودة النص وزمن الإنجاز</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CW-J01 / المحتوى</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44</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كاتب محتوى مبتدئ</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CW-J01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المحتوى</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رئيس المحتوى</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البحث والتعليقات النصية والتكييف</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موجز وتكليف محتوى</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مسودات تعليقات وبحث</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جودة المسودة والاكتمال</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HD-01 / الإبداع</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45</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رئيس فريق التصميم الجرافيكي</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HD-01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الإبداع</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مدير التسويق</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GD-01, GD-02</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إخراج فني وتكليف وجودة الإبداع</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موجز إبداعي ونص معتمدان</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مواد إبداعية مجتازة للجودة</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جودة الإبداع ومعدل التعديلات</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GD-01 / الإبداع</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46</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مصمم جرافيك 1</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GD-01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الإبداع</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رئيس فريق التصميم الجرافيكي</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منشورات ثابتة وشرائح ومواد إعلانية</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نص معتمد ومواصفات</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ملفات التصميم والصادرات الأصلية</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الجودة ووقت التسليم</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GD-02 / الإبداع</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47</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مصمم جرافيك 2</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GD-02</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الإبداع</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رئيس فريق التصميم الجرافيكي</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منشورات ثابتة ومقاسات وتعديلات</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نص معتمد ومواصفات</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ملفات التصميم والصادرات الأصلية</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الجودة ووقت التسليم</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VE-01 / الإبداع</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48</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محرر فيديو 1</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VE-01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الإبداع</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مؤكد</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مدير التسويق</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فيديوهات قصيرة وترجمة وتصدير وتعديلات</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سيناريو معتمد ولقطات</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نسخ للمراجعة وصادرات نهائية</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معدل التعديل وزمن الإنجاز</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VE-02 / الإبداع</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49</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محرر فيديو 2</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VE-02</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الإبداع</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مؤكد</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مدير التسويق</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فيديوهات قصيرة وترجمة وتصدير وتعديلات</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سيناريو معتمد ولقطات</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نسخ للمراجعة وصادرات نهائية</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معدل التعديل وزمن الإنجاز</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SM-01 / التوزيع</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50</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أخصائي التواصل الاجتماعي</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SM-01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التوزيع</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مدير التسويق</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300" b="0">
                <a:solidFill>
                  <a:srgbClr val="202020"/>
                </a:solidFill>
                <a:latin typeface="Montserrat"/>
              </a:defRPr>
            </a:pPr>
            <a:r>
              <a:rPr sz="1600">
                <a:latin typeface="IBM Plex Sans Arabic"/>
              </a:rPr>
              <a:t>جمع الخطط الخاصة، والاستراتيجية وتقارير الأداء والاستماع، وجدولة ونشر المعتمد والرد على تعليقات الصفحات.</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عرض معتمد وخطط معتمدة ومعرفة العلامات الخاصة</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600" b="0">
                <a:solidFill>
                  <a:srgbClr val="202020"/>
                </a:solidFill>
                <a:latin typeface="Montserrat"/>
              </a:defRPr>
            </a:pPr>
            <a:r>
              <a:rPr sz="1600">
                <a:latin typeface="IBM Plex Sans Arabic"/>
              </a:rPr>
              <a:t>خطط مجمعة واستراتيجيات وتقارير أداء واستماع ومحتوى مجدول/منشور وردود</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التفاعل والالتزام بالجدول</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MB-01 / التوزيع</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51</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مسؤول شراء الإعلانات</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01268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0351008" y="2423160"/>
            <a:ext cx="3291840" cy="548640"/>
          </a:xfrm>
          <a:prstGeom prst="rect">
            <a:avLst/>
          </a:prstGeom>
          <a:noFill/>
        </p:spPr>
        <p:txBody>
          <a:bodyPr wrap="square" lIns="27432" rIns="27432" tIns="0" bIns="0">
            <a:spAutoFit/>
          </a:bodyPr>
          <a:lstStyle/>
          <a:p>
            <a:pPr algn="r" rtl="1">
              <a:spcAft>
                <a:spcPts val="400"/>
              </a:spcAft>
              <a:defRPr sz="3600" b="1">
                <a:solidFill>
                  <a:srgbClr val="FFCC00"/>
                </a:solidFill>
                <a:latin typeface="Bebas Neue"/>
              </a:defRPr>
            </a:pPr>
            <a:r>
              <a:rPr sz="1600">
                <a:latin typeface="IBM Plex Sans Arabic"/>
              </a:rPr>
              <a:t>MB-01</a:t>
            </a:r>
          </a:p>
        </p:txBody>
      </p:sp>
      <p:sp>
        <p:nvSpPr>
          <p:cNvPr id="38" name="TextBox 37"/>
          <p:cNvSpPr txBox="1"/>
          <p:nvPr/>
        </p:nvSpPr>
        <p:spPr>
          <a:xfrm>
            <a:off x="10396728" y="3154680"/>
            <a:ext cx="3246120" cy="365760"/>
          </a:xfrm>
          <a:prstGeom prst="rect">
            <a:avLst/>
          </a:prstGeom>
          <a:noFill/>
        </p:spPr>
        <p:txBody>
          <a:bodyPr wrap="square" lIns="27432" rIns="27432" tIns="0" bIns="0">
            <a:spAutoFit/>
          </a:bodyPr>
          <a:lstStyle/>
          <a:p>
            <a:pPr algn="r" rtl="1">
              <a:spcAft>
                <a:spcPts val="400"/>
              </a:spcAft>
              <a:defRPr sz="1600" b="1">
                <a:solidFill>
                  <a:srgbClr val="FFFFFF"/>
                </a:solidFill>
                <a:latin typeface="Montserrat"/>
              </a:defRPr>
            </a:pPr>
            <a:r>
              <a:rPr sz="1600">
                <a:latin typeface="IBM Plex Sans Arabic"/>
              </a:rPr>
              <a:t>التوزيع</a:t>
            </a:r>
          </a:p>
        </p:txBody>
      </p:sp>
      <p:sp>
        <p:nvSpPr>
          <p:cNvPr id="39" name="TextBox 38"/>
          <p:cNvSpPr txBox="1"/>
          <p:nvPr/>
        </p:nvSpPr>
        <p:spPr>
          <a:xfrm>
            <a:off x="10396728" y="3931920"/>
            <a:ext cx="3246120" cy="32004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500">
                <a:latin typeface="IBM Plex Sans Arabic"/>
              </a:rPr>
              <a:t>يتبع إداريًا — مقترح</a:t>
            </a:r>
          </a:p>
        </p:txBody>
      </p:sp>
      <p:sp>
        <p:nvSpPr>
          <p:cNvPr id="40" name="TextBox 39"/>
          <p:cNvSpPr txBox="1"/>
          <p:nvPr/>
        </p:nvSpPr>
        <p:spPr>
          <a:xfrm>
            <a:off x="10396728" y="4434840"/>
            <a:ext cx="3246120" cy="960120"/>
          </a:xfrm>
          <a:prstGeom prst="rect">
            <a:avLst/>
          </a:prstGeom>
          <a:noFill/>
        </p:spPr>
        <p:txBody>
          <a:bodyPr wrap="square" lIns="27432" rIns="27432" tIns="0" bIns="0">
            <a:spAutoFit/>
          </a:bodyPr>
          <a:lstStyle/>
          <a:p>
            <a:pPr algn="r" rtl="1">
              <a:spcAft>
                <a:spcPts val="400"/>
              </a:spcAft>
              <a:defRPr sz="2000" b="1">
                <a:solidFill>
                  <a:srgbClr val="FFFFFF"/>
                </a:solidFill>
                <a:latin typeface="Montserrat"/>
              </a:defRPr>
            </a:pPr>
            <a:r>
              <a:rPr sz="1600">
                <a:latin typeface="IBM Plex Sans Arabic"/>
              </a:rPr>
              <a:t>مدير التسويق</a:t>
            </a:r>
          </a:p>
        </p:txBody>
      </p:sp>
      <p:sp>
        <p:nvSpPr>
          <p:cNvPr id="41" name="TextBox 40"/>
          <p:cNvSpPr txBox="1"/>
          <p:nvPr/>
        </p:nvSpPr>
        <p:spPr>
          <a:xfrm>
            <a:off x="10396728" y="5715000"/>
            <a:ext cx="3246120" cy="274320"/>
          </a:xfrm>
          <a:prstGeom prst="rect">
            <a:avLst/>
          </a:prstGeom>
          <a:noFill/>
        </p:spPr>
        <p:txBody>
          <a:bodyPr wrap="square" lIns="27432" rIns="27432" tIns="0" bIns="0">
            <a:spAutoFit/>
          </a:bodyPr>
          <a:lstStyle/>
          <a:p>
            <a:pPr algn="r" rtl="1">
              <a:spcAft>
                <a:spcPts val="400"/>
              </a:spcAft>
              <a:defRPr sz="1100" b="1">
                <a:solidFill>
                  <a:srgbClr val="FFCC00"/>
                </a:solidFill>
                <a:latin typeface="Montserrat"/>
              </a:defRPr>
            </a:pPr>
            <a:r>
              <a:rPr sz="1250">
                <a:latin typeface="IBM Plex Sans Arabic"/>
              </a:rPr>
              <a:t>التابعون مباشرة</a:t>
            </a:r>
          </a:p>
        </p:txBody>
      </p:sp>
      <p:sp>
        <p:nvSpPr>
          <p:cNvPr id="42" name="TextBox 41"/>
          <p:cNvSpPr txBox="1"/>
          <p:nvPr/>
        </p:nvSpPr>
        <p:spPr>
          <a:xfrm>
            <a:off x="10396728" y="6172200"/>
            <a:ext cx="3246120" cy="822960"/>
          </a:xfrm>
          <a:prstGeom prst="rect">
            <a:avLst/>
          </a:prstGeom>
          <a:noFill/>
        </p:spPr>
        <p:txBody>
          <a:bodyPr wrap="square" lIns="27432" rIns="27432" tIns="0" bIns="0">
            <a:spAutoFit/>
          </a:bodyPr>
          <a:lstStyle/>
          <a:p>
            <a:pPr algn="r" rtl="1">
              <a:spcAft>
                <a:spcPts val="400"/>
              </a:spcAft>
              <a:defRPr sz="1500" b="0">
                <a:solidFill>
                  <a:srgbClr val="FFFFFF"/>
                </a:solidFill>
                <a:latin typeface="Montserrat"/>
              </a:defRPr>
            </a:pPr>
            <a:r>
              <a:rPr sz="1600">
                <a:latin typeface="IBM Plex Sans Arabic"/>
              </a:rPr>
              <a:t>لا تابعين مقترحين</a:t>
            </a:r>
          </a:p>
        </p:txBody>
      </p:sp>
      <p:sp>
        <p:nvSpPr>
          <p:cNvPr id="43" name="Rectangle 42"/>
          <p:cNvSpPr/>
          <p:nvPr/>
        </p:nvSpPr>
        <p:spPr>
          <a:xfrm>
            <a:off x="5349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4" name="TextBox 43"/>
          <p:cNvSpPr txBox="1"/>
          <p:nvPr/>
        </p:nvSpPr>
        <p:spPr>
          <a:xfrm>
            <a:off x="5440680"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الغرض والمهام</a:t>
            </a:r>
          </a:p>
        </p:txBody>
      </p:sp>
      <p:sp>
        <p:nvSpPr>
          <p:cNvPr id="45" name="TextBox 44"/>
          <p:cNvSpPr txBox="1"/>
          <p:nvPr/>
        </p:nvSpPr>
        <p:spPr>
          <a:xfrm>
            <a:off x="5394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استراتيجية المدفوع وإعداده وتحسينه وتقاريره</a:t>
            </a:r>
          </a:p>
        </p:txBody>
      </p:sp>
      <p:sp>
        <p:nvSpPr>
          <p:cNvPr id="46" name="Rectangle 45"/>
          <p:cNvSpPr/>
          <p:nvPr/>
        </p:nvSpPr>
        <p:spPr>
          <a:xfrm>
            <a:off x="77724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868681" y="224027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المدخلات المطلوبة</a:t>
            </a:r>
          </a:p>
        </p:txBody>
      </p:sp>
      <p:sp>
        <p:nvSpPr>
          <p:cNvPr id="48" name="TextBox 47"/>
          <p:cNvSpPr txBox="1"/>
          <p:nvPr/>
        </p:nvSpPr>
        <p:spPr>
          <a:xfrm>
            <a:off x="822960" y="278892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خطة وميزانية ومواد معتمدة</a:t>
            </a:r>
          </a:p>
        </p:txBody>
      </p:sp>
      <p:sp>
        <p:nvSpPr>
          <p:cNvPr id="49" name="Rectangle 48"/>
          <p:cNvSpPr/>
          <p:nvPr/>
        </p:nvSpPr>
        <p:spPr>
          <a:xfrm>
            <a:off x="5349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5440680"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المخرجات المتوقعة</a:t>
            </a:r>
          </a:p>
        </p:txBody>
      </p:sp>
      <p:sp>
        <p:nvSpPr>
          <p:cNvPr id="51" name="TextBox 50"/>
          <p:cNvSpPr txBox="1"/>
          <p:nvPr/>
        </p:nvSpPr>
        <p:spPr>
          <a:xfrm>
            <a:off x="5394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إعداد الحملات وتقارير الأداء</a:t>
            </a:r>
          </a:p>
        </p:txBody>
      </p:sp>
      <p:sp>
        <p:nvSpPr>
          <p:cNvPr id="52" name="Rectangle 51"/>
          <p:cNvSpPr/>
          <p:nvPr/>
        </p:nvSpPr>
        <p:spPr>
          <a:xfrm>
            <a:off x="77724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868681" y="4251959"/>
            <a:ext cx="4114800" cy="228600"/>
          </a:xfrm>
          <a:prstGeom prst="rect">
            <a:avLst/>
          </a:prstGeom>
          <a:noFill/>
        </p:spPr>
        <p:txBody>
          <a:bodyPr wrap="square" lIns="27432" rIns="27432" tIns="0" bIns="0">
            <a:spAutoFit/>
          </a:bodyPr>
          <a:lstStyle/>
          <a:p>
            <a:pPr algn="r" rtl="1">
              <a:spcAft>
                <a:spcPts val="400"/>
              </a:spcAft>
              <a:defRPr sz="1100" b="1">
                <a:solidFill>
                  <a:srgbClr val="7D2B42"/>
                </a:solidFill>
                <a:latin typeface="Montserrat"/>
              </a:defRPr>
            </a:pPr>
            <a:r>
              <a:rPr sz="1000">
                <a:latin typeface="IBM Plex Sans Arabic"/>
              </a:rPr>
              <a:t>مقترحات مؤشرات الأداء</a:t>
            </a:r>
          </a:p>
        </p:txBody>
      </p:sp>
      <p:sp>
        <p:nvSpPr>
          <p:cNvPr id="54" name="TextBox 53"/>
          <p:cNvSpPr txBox="1"/>
          <p:nvPr/>
        </p:nvSpPr>
        <p:spPr>
          <a:xfrm>
            <a:off x="822960" y="4800600"/>
            <a:ext cx="4251960" cy="1188720"/>
          </a:xfrm>
          <a:prstGeom prst="rect">
            <a:avLst/>
          </a:prstGeom>
          <a:noFill/>
        </p:spPr>
        <p:txBody>
          <a:bodyPr wrap="square" lIns="27432" rIns="27432" tIns="0" bIns="0">
            <a:spAutoFit/>
          </a:bodyPr>
          <a:lstStyle/>
          <a:p>
            <a:pPr algn="r" rtl="1">
              <a:spcAft>
                <a:spcPts val="400"/>
              </a:spcAft>
              <a:defRPr sz="1900" b="0">
                <a:solidFill>
                  <a:srgbClr val="202020"/>
                </a:solidFill>
                <a:latin typeface="Montserrat"/>
              </a:defRPr>
            </a:pPr>
            <a:r>
              <a:rPr sz="1600">
                <a:latin typeface="IBM Plex Sans Arabic"/>
              </a:rPr>
              <a:t>أداء الحملة وضبط الإنفاق</a:t>
            </a:r>
          </a:p>
        </p:txBody>
      </p:sp>
      <p:sp>
        <p:nvSpPr>
          <p:cNvPr id="55" name="Rectangle 54">
            <a:hlinkClick action="ppaction://hlinksldjump" r:id="rId2"/>
          </p:cNvPr>
          <p:cNvSpPr/>
          <p:nvPr/>
        </p:nvSpPr>
        <p:spPr>
          <a:xfrm>
            <a:off x="8229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a:hlinkClick action="ppaction://hlinksldjump" r:id="rId2"/>
          </p:cNvPr>
          <p:cNvSpPr txBox="1"/>
          <p:nvPr/>
        </p:nvSpPr>
        <p:spPr>
          <a:xfrm>
            <a:off x="914400" y="6885432"/>
            <a:ext cx="2286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العودة لخريطة الفريق</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52</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خمس علاقات وخمسة معانٍ مختلفة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cxnSp>
        <p:nvCxnSpPr>
          <p:cNvPr id="36" name="Connector 35"/>
          <p:cNvCxnSpPr/>
          <p:nvPr/>
        </p:nvCxnSpPr>
        <p:spPr>
          <a:xfrm flipH="1">
            <a:off x="12435840" y="2468880"/>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458200" y="2240280"/>
            <a:ext cx="3657600" cy="36576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يتبع إداريًا</a:t>
            </a:r>
          </a:p>
        </p:txBody>
      </p:sp>
      <p:sp>
        <p:nvSpPr>
          <p:cNvPr id="38" name="TextBox 37"/>
          <p:cNvSpPr txBox="1"/>
          <p:nvPr/>
        </p:nvSpPr>
        <p:spPr>
          <a:xfrm>
            <a:off x="914400" y="2240280"/>
            <a:ext cx="7315200" cy="59436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تبعية رسمية. التنسيق لا يعني السلطة.</a:t>
            </a:r>
          </a:p>
        </p:txBody>
      </p:sp>
      <p:cxnSp>
        <p:nvCxnSpPr>
          <p:cNvPr id="39" name="Connector 38"/>
          <p:cNvCxnSpPr/>
          <p:nvPr/>
        </p:nvCxnSpPr>
        <p:spPr>
          <a:xfrm flipH="1">
            <a:off x="12435840" y="3456432"/>
            <a:ext cx="1371600" cy="0"/>
          </a:xfrm>
          <a:prstGeom prst="line">
            <a:avLst/>
          </a:prstGeom>
          <a:ln w="38100">
            <a:solidFill>
              <a:srgbClr val="20202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458200" y="3227832"/>
            <a:ext cx="3657600" cy="36576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يسلّم إلى</a:t>
            </a:r>
          </a:p>
        </p:txBody>
      </p:sp>
      <p:sp>
        <p:nvSpPr>
          <p:cNvPr id="41" name="TextBox 40"/>
          <p:cNvSpPr txBox="1"/>
          <p:nvPr/>
        </p:nvSpPr>
        <p:spPr>
          <a:xfrm>
            <a:off x="914400" y="3227832"/>
            <a:ext cx="7315200" cy="59436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المخرج المقبول ينتقل من مسؤول إلى التالي.</a:t>
            </a:r>
          </a:p>
        </p:txBody>
      </p:sp>
      <p:cxnSp>
        <p:nvCxnSpPr>
          <p:cNvPr id="42" name="Connector 41"/>
          <p:cNvCxnSpPr/>
          <p:nvPr/>
        </p:nvCxnSpPr>
        <p:spPr>
          <a:xfrm flipH="1">
            <a:off x="12435840" y="4443984"/>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458200" y="4215384"/>
            <a:ext cx="3657600" cy="36576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يتعاون مع</a:t>
            </a:r>
          </a:p>
        </p:txBody>
      </p:sp>
      <p:sp>
        <p:nvSpPr>
          <p:cNvPr id="44" name="TextBox 43"/>
          <p:cNvSpPr txBox="1"/>
          <p:nvPr/>
        </p:nvSpPr>
        <p:spPr>
          <a:xfrm>
            <a:off x="914400" y="4215384"/>
            <a:ext cx="7315200" cy="59436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تعاون زملاء دون سلطة إدارة مفترضة.</a:t>
            </a:r>
          </a:p>
        </p:txBody>
      </p:sp>
      <p:cxnSp>
        <p:nvCxnSpPr>
          <p:cNvPr id="45" name="Connector 44"/>
          <p:cNvCxnSpPr/>
          <p:nvPr/>
        </p:nvCxnSpPr>
        <p:spPr>
          <a:xfrm flipH="1">
            <a:off x="12435840" y="5431536"/>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458200" y="5202936"/>
            <a:ext cx="3657600" cy="36576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يعتمده</a:t>
            </a:r>
          </a:p>
        </p:txBody>
      </p:sp>
      <p:sp>
        <p:nvSpPr>
          <p:cNvPr id="47" name="TextBox 46"/>
          <p:cNvSpPr txBox="1"/>
          <p:nvPr/>
        </p:nvSpPr>
        <p:spPr>
          <a:xfrm>
            <a:off x="914400" y="5202936"/>
            <a:ext cx="7315200" cy="59436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مراجعة مستقلة قبل شرط التنفيذ التالي.</a:t>
            </a:r>
          </a:p>
        </p:txBody>
      </p:sp>
      <p:cxnSp>
        <p:nvCxnSpPr>
          <p:cNvPr id="48" name="Connector 47"/>
          <p:cNvCxnSpPr/>
          <p:nvPr/>
        </p:nvCxnSpPr>
        <p:spPr>
          <a:xfrm flipH="1">
            <a:off x="12435840" y="6419088"/>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458200" y="6190488"/>
            <a:ext cx="3657600" cy="365760"/>
          </a:xfrm>
          <a:prstGeom prst="rect">
            <a:avLst/>
          </a:prstGeom>
          <a:noFill/>
        </p:spPr>
        <p:txBody>
          <a:bodyPr wrap="square" lIns="27432" rIns="27432" tIns="0" bIns="0">
            <a:spAutoFit/>
          </a:bodyPr>
          <a:lstStyle/>
          <a:p>
            <a:pPr algn="r" rtl="1">
              <a:spcAft>
                <a:spcPts val="400"/>
              </a:spcAft>
              <a:defRPr sz="1900" b="1">
                <a:solidFill>
                  <a:srgbClr val="7D2B42"/>
                </a:solidFill>
                <a:latin typeface="Montserrat"/>
              </a:defRPr>
            </a:pPr>
            <a:r>
              <a:rPr sz="1600">
                <a:latin typeface="IBM Plex Sans Arabic"/>
              </a:rPr>
              <a:t>يصعّد إلى</a:t>
            </a:r>
          </a:p>
        </p:txBody>
      </p:sp>
      <p:sp>
        <p:nvSpPr>
          <p:cNvPr id="50" name="TextBox 49"/>
          <p:cNvSpPr txBox="1"/>
          <p:nvPr/>
        </p:nvSpPr>
        <p:spPr>
          <a:xfrm>
            <a:off x="914400" y="6190488"/>
            <a:ext cx="7315200" cy="594360"/>
          </a:xfrm>
          <a:prstGeom prst="rect">
            <a:avLst/>
          </a:prstGeom>
          <a:noFill/>
        </p:spPr>
        <p:txBody>
          <a:bodyPr wrap="square" lIns="27432" rIns="27432" tIns="0" bIns="0">
            <a:spAutoFit/>
          </a:bodyPr>
          <a:lstStyle/>
          <a:p>
            <a:pPr algn="r" rtl="1">
              <a:spcAft>
                <a:spcPts val="400"/>
              </a:spcAft>
              <a:defRPr sz="1700" b="0">
                <a:solidFill>
                  <a:srgbClr val="202020"/>
                </a:solidFill>
                <a:latin typeface="Montserrat"/>
              </a:defRPr>
            </a:pPr>
            <a:r>
              <a:rPr sz="1600">
                <a:latin typeface="IBM Plex Sans Arabic"/>
              </a:rPr>
              <a:t>مسار حل مقترح؛ التصعيد الآلي متوقف.</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53</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تفاصيل التسليم / داخل النظام ذي المراحل الست</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65276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2984480" y="2514600"/>
            <a:ext cx="731520" cy="502920"/>
          </a:xfrm>
          <a:prstGeom prst="rect">
            <a:avLst/>
          </a:prstGeom>
          <a:noFill/>
        </p:spPr>
        <p:txBody>
          <a:bodyPr wrap="square" lIns="27432" rIns="27432" tIns="0" bIns="0">
            <a:spAutoFit/>
          </a:bodyPr>
          <a:lstStyle/>
          <a:p>
            <a:pPr algn="r" rtl="1">
              <a:spcAft>
                <a:spcPts val="400"/>
              </a:spcAft>
              <a:defRPr sz="2700" b="1">
                <a:solidFill>
                  <a:srgbClr val="7D2B42"/>
                </a:solidFill>
                <a:latin typeface="Bebas Neue"/>
              </a:defRPr>
            </a:pPr>
            <a:r>
              <a:rPr sz="1600">
                <a:latin typeface="IBM Plex Sans Arabic"/>
              </a:rPr>
              <a:t>01</a:t>
            </a:r>
          </a:p>
        </p:txBody>
      </p:sp>
      <p:sp>
        <p:nvSpPr>
          <p:cNvPr id="38" name="TextBox 37"/>
          <p:cNvSpPr txBox="1"/>
          <p:nvPr/>
        </p:nvSpPr>
        <p:spPr>
          <a:xfrm>
            <a:off x="10835640" y="3154680"/>
            <a:ext cx="288036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تأهيل</a:t>
            </a:r>
          </a:p>
        </p:txBody>
      </p:sp>
      <p:sp>
        <p:nvSpPr>
          <p:cNvPr id="39" name="TextBox 38"/>
          <p:cNvSpPr txBox="1"/>
          <p:nvPr/>
        </p:nvSpPr>
        <p:spPr>
          <a:xfrm>
            <a:off x="10835640" y="3657600"/>
            <a:ext cx="2880360" cy="457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مسؤول تطوير الأعمال</a:t>
            </a:r>
          </a:p>
        </p:txBody>
      </p:sp>
      <p:cxnSp>
        <p:nvCxnSpPr>
          <p:cNvPr id="40" name="Connector 39"/>
          <p:cNvCxnSpPr/>
          <p:nvPr/>
        </p:nvCxnSpPr>
        <p:spPr>
          <a:xfrm flipH="1">
            <a:off x="10378440"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713232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9464040" y="2514600"/>
            <a:ext cx="731520" cy="502920"/>
          </a:xfrm>
          <a:prstGeom prst="rect">
            <a:avLst/>
          </a:prstGeom>
          <a:noFill/>
        </p:spPr>
        <p:txBody>
          <a:bodyPr wrap="square" lIns="27432" rIns="27432" tIns="0" bIns="0">
            <a:spAutoFit/>
          </a:bodyPr>
          <a:lstStyle/>
          <a:p>
            <a:pPr algn="r" rtl="1">
              <a:spcAft>
                <a:spcPts val="400"/>
              </a:spcAft>
              <a:defRPr sz="2700" b="1">
                <a:solidFill>
                  <a:srgbClr val="7D2B42"/>
                </a:solidFill>
                <a:latin typeface="Bebas Neue"/>
              </a:defRPr>
            </a:pPr>
            <a:r>
              <a:rPr sz="1600">
                <a:latin typeface="IBM Plex Sans Arabic"/>
              </a:rPr>
              <a:t>02</a:t>
            </a:r>
          </a:p>
        </p:txBody>
      </p:sp>
      <p:sp>
        <p:nvSpPr>
          <p:cNvPr id="43" name="TextBox 42"/>
          <p:cNvSpPr txBox="1"/>
          <p:nvPr/>
        </p:nvSpPr>
        <p:spPr>
          <a:xfrm>
            <a:off x="7315200" y="3154680"/>
            <a:ext cx="288036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الختام</a:t>
            </a:r>
          </a:p>
        </p:txBody>
      </p:sp>
      <p:sp>
        <p:nvSpPr>
          <p:cNvPr id="44" name="TextBox 43"/>
          <p:cNvSpPr txBox="1"/>
          <p:nvPr/>
        </p:nvSpPr>
        <p:spPr>
          <a:xfrm>
            <a:off x="7315200" y="3657600"/>
            <a:ext cx="2880360" cy="457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المبيعات</a:t>
            </a:r>
          </a:p>
        </p:txBody>
      </p:sp>
      <p:cxnSp>
        <p:nvCxnSpPr>
          <p:cNvPr id="45" name="Connector 44"/>
          <p:cNvCxnSpPr/>
          <p:nvPr/>
        </p:nvCxnSpPr>
        <p:spPr>
          <a:xfrm flipH="1">
            <a:off x="6858000"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361188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5943601" y="2514600"/>
            <a:ext cx="731520" cy="502920"/>
          </a:xfrm>
          <a:prstGeom prst="rect">
            <a:avLst/>
          </a:prstGeom>
          <a:noFill/>
        </p:spPr>
        <p:txBody>
          <a:bodyPr wrap="square" lIns="27432" rIns="27432" tIns="0" bIns="0">
            <a:spAutoFit/>
          </a:bodyPr>
          <a:lstStyle/>
          <a:p>
            <a:pPr algn="r" rtl="1">
              <a:spcAft>
                <a:spcPts val="400"/>
              </a:spcAft>
              <a:defRPr sz="2700" b="1">
                <a:solidFill>
                  <a:srgbClr val="7D2B42"/>
                </a:solidFill>
                <a:latin typeface="Bebas Neue"/>
              </a:defRPr>
            </a:pPr>
            <a:r>
              <a:rPr sz="1600">
                <a:latin typeface="IBM Plex Sans Arabic"/>
              </a:rPr>
              <a:t>03</a:t>
            </a:r>
          </a:p>
        </p:txBody>
      </p:sp>
      <p:sp>
        <p:nvSpPr>
          <p:cNvPr id="48" name="TextBox 47"/>
          <p:cNvSpPr txBox="1"/>
          <p:nvPr/>
        </p:nvSpPr>
        <p:spPr>
          <a:xfrm>
            <a:off x="3794761" y="3154680"/>
            <a:ext cx="288036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موجز</a:t>
            </a:r>
          </a:p>
        </p:txBody>
      </p:sp>
      <p:sp>
        <p:nvSpPr>
          <p:cNvPr id="49" name="TextBox 48"/>
          <p:cNvSpPr txBox="1"/>
          <p:nvPr/>
        </p:nvSpPr>
        <p:spPr>
          <a:xfrm>
            <a:off x="3794761" y="3657600"/>
            <a:ext cx="2880360" cy="457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مدير الحساب</a:t>
            </a:r>
          </a:p>
        </p:txBody>
      </p:sp>
      <p:cxnSp>
        <p:nvCxnSpPr>
          <p:cNvPr id="50" name="Connector 49"/>
          <p:cNvCxnSpPr/>
          <p:nvPr/>
        </p:nvCxnSpPr>
        <p:spPr>
          <a:xfrm flipH="1">
            <a:off x="3337560" y="3337560"/>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9144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2" name="TextBox 51"/>
          <p:cNvSpPr txBox="1"/>
          <p:nvPr/>
        </p:nvSpPr>
        <p:spPr>
          <a:xfrm>
            <a:off x="2423160" y="2514600"/>
            <a:ext cx="731520" cy="502920"/>
          </a:xfrm>
          <a:prstGeom prst="rect">
            <a:avLst/>
          </a:prstGeom>
          <a:noFill/>
        </p:spPr>
        <p:txBody>
          <a:bodyPr wrap="square" lIns="27432" rIns="27432" tIns="0" bIns="0">
            <a:spAutoFit/>
          </a:bodyPr>
          <a:lstStyle/>
          <a:p>
            <a:pPr algn="r" rtl="1">
              <a:spcAft>
                <a:spcPts val="400"/>
              </a:spcAft>
              <a:defRPr sz="2700" b="1">
                <a:solidFill>
                  <a:srgbClr val="7D2B42"/>
                </a:solidFill>
                <a:latin typeface="Bebas Neue"/>
              </a:defRPr>
            </a:pPr>
            <a:r>
              <a:rPr sz="1600">
                <a:latin typeface="IBM Plex Sans Arabic"/>
              </a:rPr>
              <a:t>04</a:t>
            </a:r>
          </a:p>
        </p:txBody>
      </p:sp>
      <p:sp>
        <p:nvSpPr>
          <p:cNvPr id="53" name="TextBox 52"/>
          <p:cNvSpPr txBox="1"/>
          <p:nvPr/>
        </p:nvSpPr>
        <p:spPr>
          <a:xfrm>
            <a:off x="274320" y="3154680"/>
            <a:ext cx="288036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مواءمة</a:t>
            </a:r>
          </a:p>
        </p:txBody>
      </p:sp>
      <p:sp>
        <p:nvSpPr>
          <p:cNvPr id="54" name="TextBox 53"/>
          <p:cNvSpPr txBox="1"/>
          <p:nvPr/>
        </p:nvSpPr>
        <p:spPr>
          <a:xfrm>
            <a:off x="274320" y="3657600"/>
            <a:ext cx="2880360" cy="457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مدير التسويق</a:t>
            </a:r>
          </a:p>
        </p:txBody>
      </p:sp>
      <p:sp>
        <p:nvSpPr>
          <p:cNvPr id="55" name="Rectangle 54"/>
          <p:cNvSpPr/>
          <p:nvPr/>
        </p:nvSpPr>
        <p:spPr>
          <a:xfrm>
            <a:off x="1065276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6" name="TextBox 55"/>
          <p:cNvSpPr txBox="1"/>
          <p:nvPr/>
        </p:nvSpPr>
        <p:spPr>
          <a:xfrm>
            <a:off x="12984480" y="4800600"/>
            <a:ext cx="731520" cy="502920"/>
          </a:xfrm>
          <a:prstGeom prst="rect">
            <a:avLst/>
          </a:prstGeom>
          <a:noFill/>
        </p:spPr>
        <p:txBody>
          <a:bodyPr wrap="square" lIns="27432" rIns="27432" tIns="0" bIns="0">
            <a:spAutoFit/>
          </a:bodyPr>
          <a:lstStyle/>
          <a:p>
            <a:pPr algn="r" rtl="1">
              <a:spcAft>
                <a:spcPts val="400"/>
              </a:spcAft>
              <a:defRPr sz="2700" b="1">
                <a:solidFill>
                  <a:srgbClr val="7D2B42"/>
                </a:solidFill>
                <a:latin typeface="Bebas Neue"/>
              </a:defRPr>
            </a:pPr>
            <a:r>
              <a:rPr sz="1600">
                <a:latin typeface="IBM Plex Sans Arabic"/>
              </a:rPr>
              <a:t>05</a:t>
            </a:r>
          </a:p>
        </p:txBody>
      </p:sp>
      <p:sp>
        <p:nvSpPr>
          <p:cNvPr id="57" name="TextBox 56"/>
          <p:cNvSpPr txBox="1"/>
          <p:nvPr/>
        </p:nvSpPr>
        <p:spPr>
          <a:xfrm>
            <a:off x="10835640" y="5440679"/>
            <a:ext cx="288036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إنتاج</a:t>
            </a:r>
          </a:p>
        </p:txBody>
      </p:sp>
      <p:sp>
        <p:nvSpPr>
          <p:cNvPr id="58" name="TextBox 57"/>
          <p:cNvSpPr txBox="1"/>
          <p:nvPr/>
        </p:nvSpPr>
        <p:spPr>
          <a:xfrm>
            <a:off x="10835640" y="5943600"/>
            <a:ext cx="2880360" cy="457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محتوى وإبداع</a:t>
            </a:r>
          </a:p>
        </p:txBody>
      </p:sp>
      <p:cxnSp>
        <p:nvCxnSpPr>
          <p:cNvPr id="59" name="Connector 58"/>
          <p:cNvCxnSpPr/>
          <p:nvPr/>
        </p:nvCxnSpPr>
        <p:spPr>
          <a:xfrm flipH="1">
            <a:off x="10378440"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713232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61" name="TextBox 60"/>
          <p:cNvSpPr txBox="1"/>
          <p:nvPr/>
        </p:nvSpPr>
        <p:spPr>
          <a:xfrm>
            <a:off x="9464040" y="4800600"/>
            <a:ext cx="731520" cy="502920"/>
          </a:xfrm>
          <a:prstGeom prst="rect">
            <a:avLst/>
          </a:prstGeom>
          <a:noFill/>
        </p:spPr>
        <p:txBody>
          <a:bodyPr wrap="square" lIns="27432" rIns="27432" tIns="0" bIns="0">
            <a:spAutoFit/>
          </a:bodyPr>
          <a:lstStyle/>
          <a:p>
            <a:pPr algn="r" rtl="1">
              <a:spcAft>
                <a:spcPts val="400"/>
              </a:spcAft>
              <a:defRPr sz="2700" b="1">
                <a:solidFill>
                  <a:srgbClr val="7D2B42"/>
                </a:solidFill>
                <a:latin typeface="Bebas Neue"/>
              </a:defRPr>
            </a:pPr>
            <a:r>
              <a:rPr sz="1600">
                <a:latin typeface="IBM Plex Sans Arabic"/>
              </a:rPr>
              <a:t>06</a:t>
            </a:r>
          </a:p>
        </p:txBody>
      </p:sp>
      <p:sp>
        <p:nvSpPr>
          <p:cNvPr id="62" name="TextBox 61"/>
          <p:cNvSpPr txBox="1"/>
          <p:nvPr/>
        </p:nvSpPr>
        <p:spPr>
          <a:xfrm>
            <a:off x="7315200" y="5440679"/>
            <a:ext cx="288036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المراجعة</a:t>
            </a:r>
          </a:p>
        </p:txBody>
      </p:sp>
      <p:sp>
        <p:nvSpPr>
          <p:cNvPr id="63" name="TextBox 62"/>
          <p:cNvSpPr txBox="1"/>
          <p:nvPr/>
        </p:nvSpPr>
        <p:spPr>
          <a:xfrm>
            <a:off x="7315200" y="5943600"/>
            <a:ext cx="2880360" cy="457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جودة داخلية وعميل</a:t>
            </a:r>
          </a:p>
        </p:txBody>
      </p:sp>
      <p:cxnSp>
        <p:nvCxnSpPr>
          <p:cNvPr id="64" name="Connector 63"/>
          <p:cNvCxnSpPr/>
          <p:nvPr/>
        </p:nvCxnSpPr>
        <p:spPr>
          <a:xfrm flipH="1">
            <a:off x="6858000"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361188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66" name="TextBox 65"/>
          <p:cNvSpPr txBox="1"/>
          <p:nvPr/>
        </p:nvSpPr>
        <p:spPr>
          <a:xfrm>
            <a:off x="5943601" y="4800600"/>
            <a:ext cx="731520" cy="502920"/>
          </a:xfrm>
          <a:prstGeom prst="rect">
            <a:avLst/>
          </a:prstGeom>
          <a:noFill/>
        </p:spPr>
        <p:txBody>
          <a:bodyPr wrap="square" lIns="27432" rIns="27432" tIns="0" bIns="0">
            <a:spAutoFit/>
          </a:bodyPr>
          <a:lstStyle/>
          <a:p>
            <a:pPr algn="r" rtl="1">
              <a:spcAft>
                <a:spcPts val="400"/>
              </a:spcAft>
              <a:defRPr sz="2700" b="1">
                <a:solidFill>
                  <a:srgbClr val="7D2B42"/>
                </a:solidFill>
                <a:latin typeface="Bebas Neue"/>
              </a:defRPr>
            </a:pPr>
            <a:r>
              <a:rPr sz="1600">
                <a:latin typeface="IBM Plex Sans Arabic"/>
              </a:rPr>
              <a:t>07</a:t>
            </a:r>
          </a:p>
        </p:txBody>
      </p:sp>
      <p:sp>
        <p:nvSpPr>
          <p:cNvPr id="67" name="TextBox 66"/>
          <p:cNvSpPr txBox="1"/>
          <p:nvPr/>
        </p:nvSpPr>
        <p:spPr>
          <a:xfrm>
            <a:off x="3794761" y="5440679"/>
            <a:ext cx="288036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التنفيذ</a:t>
            </a:r>
          </a:p>
        </p:txBody>
      </p:sp>
      <p:sp>
        <p:nvSpPr>
          <p:cNvPr id="68" name="TextBox 67"/>
          <p:cNvSpPr txBox="1"/>
          <p:nvPr/>
        </p:nvSpPr>
        <p:spPr>
          <a:xfrm>
            <a:off x="3794761" y="5943600"/>
            <a:ext cx="2880360" cy="457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اجتماعي ومدفوع</a:t>
            </a:r>
          </a:p>
        </p:txBody>
      </p:sp>
      <p:cxnSp>
        <p:nvCxnSpPr>
          <p:cNvPr id="69" name="Connector 68"/>
          <p:cNvCxnSpPr/>
          <p:nvPr/>
        </p:nvCxnSpPr>
        <p:spPr>
          <a:xfrm flipH="1">
            <a:off x="3337560" y="5623559"/>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9144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71" name="TextBox 70"/>
          <p:cNvSpPr txBox="1"/>
          <p:nvPr/>
        </p:nvSpPr>
        <p:spPr>
          <a:xfrm>
            <a:off x="2423160" y="4800600"/>
            <a:ext cx="731520" cy="502920"/>
          </a:xfrm>
          <a:prstGeom prst="rect">
            <a:avLst/>
          </a:prstGeom>
          <a:noFill/>
        </p:spPr>
        <p:txBody>
          <a:bodyPr wrap="square" lIns="27432" rIns="27432" tIns="0" bIns="0">
            <a:spAutoFit/>
          </a:bodyPr>
          <a:lstStyle/>
          <a:p>
            <a:pPr algn="r" rtl="1">
              <a:spcAft>
                <a:spcPts val="400"/>
              </a:spcAft>
              <a:defRPr sz="2700" b="1">
                <a:solidFill>
                  <a:srgbClr val="7D2B42"/>
                </a:solidFill>
                <a:latin typeface="Bebas Neue"/>
              </a:defRPr>
            </a:pPr>
            <a:r>
              <a:rPr sz="1600">
                <a:latin typeface="IBM Plex Sans Arabic"/>
              </a:rPr>
              <a:t>08</a:t>
            </a:r>
          </a:p>
        </p:txBody>
      </p:sp>
      <p:sp>
        <p:nvSpPr>
          <p:cNvPr id="72" name="TextBox 71"/>
          <p:cNvSpPr txBox="1"/>
          <p:nvPr/>
        </p:nvSpPr>
        <p:spPr>
          <a:xfrm>
            <a:off x="274320" y="5440679"/>
            <a:ext cx="288036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التقرير</a:t>
            </a:r>
          </a:p>
        </p:txBody>
      </p:sp>
      <p:sp>
        <p:nvSpPr>
          <p:cNvPr id="73" name="TextBox 72"/>
          <p:cNvSpPr txBox="1"/>
          <p:nvPr/>
        </p:nvSpPr>
        <p:spPr>
          <a:xfrm>
            <a:off x="274320" y="5943600"/>
            <a:ext cx="2880360" cy="45720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حساب وتسويق</a:t>
            </a:r>
          </a:p>
        </p:txBody>
      </p:sp>
      <p:sp>
        <p:nvSpPr>
          <p:cNvPr id="74" name="TextBox 73"/>
          <p:cNvSpPr txBox="1"/>
          <p:nvPr/>
        </p:nvSpPr>
        <p:spPr>
          <a:xfrm>
            <a:off x="1005840" y="7178040"/>
            <a:ext cx="12801600" cy="32004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500">
                <a:latin typeface="IBM Plex Sans Arabic"/>
              </a:rPr>
              <a:t>مسار شرطي يتفرع للثابت والفيديو والمدفوع؛ ويمكن الإنتاج بالتوازي بعد قبول المدخلات.</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54</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التنفيذ / إنتاج متوازٍ وشروط مشتركة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1155680" y="3200400"/>
            <a:ext cx="274320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11320272" y="3383280"/>
            <a:ext cx="2414016" cy="640080"/>
          </a:xfrm>
          <a:prstGeom prst="rect">
            <a:avLst/>
          </a:prstGeom>
          <a:noFill/>
        </p:spPr>
        <p:txBody>
          <a:bodyPr wrap="square" lIns="27432" rIns="27432" tIns="0" bIns="0">
            <a:spAutoFit/>
          </a:bodyPr>
          <a:lstStyle/>
          <a:p>
            <a:pPr algn="r" rtl="1">
              <a:spcAft>
                <a:spcPts val="400"/>
              </a:spcAft>
              <a:defRPr sz="1800" b="1">
                <a:solidFill>
                  <a:srgbClr val="7D2B42"/>
                </a:solidFill>
                <a:latin typeface="Montserrat"/>
              </a:defRPr>
            </a:pPr>
            <a:r>
              <a:rPr sz="1600">
                <a:latin typeface="IBM Plex Sans Arabic"/>
              </a:rPr>
              <a:t>موجز معتمد</a:t>
            </a:r>
          </a:p>
        </p:txBody>
      </p:sp>
      <p:sp>
        <p:nvSpPr>
          <p:cNvPr id="38" name="TextBox 37"/>
          <p:cNvSpPr txBox="1"/>
          <p:nvPr/>
        </p:nvSpPr>
        <p:spPr>
          <a:xfrm>
            <a:off x="11320272" y="4096512"/>
            <a:ext cx="2414016" cy="73152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مدير الحساب ← رئيس المحتوى</a:t>
            </a:r>
          </a:p>
        </p:txBody>
      </p:sp>
      <p:sp>
        <p:nvSpPr>
          <p:cNvPr id="39" name="Rectangle 38"/>
          <p:cNvSpPr/>
          <p:nvPr/>
        </p:nvSpPr>
        <p:spPr>
          <a:xfrm>
            <a:off x="6400800" y="2286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6565392" y="2468880"/>
            <a:ext cx="3328416" cy="640080"/>
          </a:xfrm>
          <a:prstGeom prst="rect">
            <a:avLst/>
          </a:prstGeom>
          <a:noFill/>
        </p:spPr>
        <p:txBody>
          <a:bodyPr wrap="square" lIns="27432" rIns="27432" tIns="0" bIns="0">
            <a:spAutoFit/>
          </a:bodyPr>
          <a:lstStyle/>
          <a:p>
            <a:pPr algn="r" rtl="1">
              <a:spcAft>
                <a:spcPts val="400"/>
              </a:spcAft>
              <a:defRPr sz="1800" b="1">
                <a:solidFill>
                  <a:srgbClr val="7D2B42"/>
                </a:solidFill>
                <a:latin typeface="Montserrat"/>
              </a:defRPr>
            </a:pPr>
            <a:r>
              <a:rPr sz="1600">
                <a:latin typeface="IBM Plex Sans Arabic"/>
              </a:rPr>
              <a:t>ثابت / منشور شرائح</a:t>
            </a:r>
          </a:p>
        </p:txBody>
      </p:sp>
      <p:sp>
        <p:nvSpPr>
          <p:cNvPr id="41" name="TextBox 40"/>
          <p:cNvSpPr txBox="1"/>
          <p:nvPr/>
        </p:nvSpPr>
        <p:spPr>
          <a:xfrm>
            <a:off x="6565392" y="3182112"/>
            <a:ext cx="3328416" cy="73152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كاتب ← جودة المحتوى ← مصمم ← جودة التصميم</a:t>
            </a:r>
          </a:p>
        </p:txBody>
      </p:sp>
      <p:sp>
        <p:nvSpPr>
          <p:cNvPr id="42" name="Rectangle 41"/>
          <p:cNvSpPr/>
          <p:nvPr/>
        </p:nvSpPr>
        <p:spPr>
          <a:xfrm>
            <a:off x="6400800" y="4572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6565392" y="4754880"/>
            <a:ext cx="3328416" cy="640080"/>
          </a:xfrm>
          <a:prstGeom prst="rect">
            <a:avLst/>
          </a:prstGeom>
          <a:noFill/>
        </p:spPr>
        <p:txBody>
          <a:bodyPr wrap="square" lIns="27432" rIns="27432" tIns="0" bIns="0">
            <a:spAutoFit/>
          </a:bodyPr>
          <a:lstStyle/>
          <a:p>
            <a:pPr algn="r" rtl="1">
              <a:spcAft>
                <a:spcPts val="400"/>
              </a:spcAft>
              <a:defRPr sz="1800" b="1">
                <a:solidFill>
                  <a:srgbClr val="7D2B42"/>
                </a:solidFill>
                <a:latin typeface="Montserrat"/>
              </a:defRPr>
            </a:pPr>
            <a:r>
              <a:rPr sz="1600">
                <a:latin typeface="IBM Plex Sans Arabic"/>
              </a:rPr>
              <a:t>فيديو / مقطع قصير</a:t>
            </a:r>
          </a:p>
        </p:txBody>
      </p:sp>
      <p:sp>
        <p:nvSpPr>
          <p:cNvPr id="44" name="TextBox 43"/>
          <p:cNvSpPr txBox="1"/>
          <p:nvPr/>
        </p:nvSpPr>
        <p:spPr>
          <a:xfrm>
            <a:off x="6565392" y="5468112"/>
            <a:ext cx="3328416" cy="73152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اعتماد السيناريو ← اللقطات ← المحرر ← جودة مدير التسويق</a:t>
            </a:r>
          </a:p>
        </p:txBody>
      </p:sp>
      <p:sp>
        <p:nvSpPr>
          <p:cNvPr id="45" name="Rectangle 44"/>
          <p:cNvSpPr/>
          <p:nvPr/>
        </p:nvSpPr>
        <p:spPr>
          <a:xfrm>
            <a:off x="822961" y="3200400"/>
            <a:ext cx="3749039"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987552" y="3383280"/>
            <a:ext cx="3419856" cy="640080"/>
          </a:xfrm>
          <a:prstGeom prst="rect">
            <a:avLst/>
          </a:prstGeom>
          <a:noFill/>
        </p:spPr>
        <p:txBody>
          <a:bodyPr wrap="square" lIns="27432" rIns="27432" tIns="0" bIns="0">
            <a:spAutoFit/>
          </a:bodyPr>
          <a:lstStyle/>
          <a:p>
            <a:pPr algn="r" rtl="1">
              <a:spcAft>
                <a:spcPts val="400"/>
              </a:spcAft>
              <a:defRPr sz="1800" b="1">
                <a:solidFill>
                  <a:srgbClr val="7D2B42"/>
                </a:solidFill>
                <a:latin typeface="Montserrat"/>
              </a:defRPr>
            </a:pPr>
            <a:r>
              <a:rPr sz="1600">
                <a:latin typeface="IBM Plex Sans Arabic"/>
              </a:rPr>
              <a:t>تصريح العميل</a:t>
            </a:r>
          </a:p>
        </p:txBody>
      </p:sp>
      <p:sp>
        <p:nvSpPr>
          <p:cNvPr id="47" name="TextBox 46"/>
          <p:cNvSpPr txBox="1"/>
          <p:nvPr/>
        </p:nvSpPr>
        <p:spPr>
          <a:xfrm>
            <a:off x="987552" y="4096512"/>
            <a:ext cx="3419856" cy="731520"/>
          </a:xfrm>
          <a:prstGeom prst="rect">
            <a:avLst/>
          </a:prstGeom>
          <a:noFill/>
        </p:spPr>
        <p:txBody>
          <a:bodyPr wrap="square" lIns="27432" rIns="27432" tIns="0" bIns="0">
            <a:spAutoFit/>
          </a:bodyPr>
          <a:lstStyle/>
          <a:p>
            <a:pPr algn="r" rtl="1">
              <a:spcAft>
                <a:spcPts val="400"/>
              </a:spcAft>
              <a:defRPr sz="1400" b="0">
                <a:solidFill>
                  <a:srgbClr val="202020"/>
                </a:solidFill>
                <a:latin typeface="Montserrat"/>
              </a:defRPr>
            </a:pPr>
            <a:r>
              <a:rPr sz="1600">
                <a:latin typeface="IBM Plex Sans Arabic"/>
              </a:rPr>
              <a:t>يجمع الحساب المعتمد من التسويق في PPTX واحد، ثم يوافق العميل قبل النشر.</a:t>
            </a:r>
          </a:p>
        </p:txBody>
      </p:sp>
      <p:cxnSp>
        <p:nvCxnSpPr>
          <p:cNvPr id="48" name="Connector 47"/>
          <p:cNvCxnSpPr/>
          <p:nvPr/>
        </p:nvCxnSpPr>
        <p:spPr>
          <a:xfrm flipV="1" flipH="1">
            <a:off x="10058400" y="3108960"/>
            <a:ext cx="109728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058400" y="4114800"/>
            <a:ext cx="109728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4572000" y="3108960"/>
            <a:ext cx="182880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flipH="1">
            <a:off x="4572000" y="4114800"/>
            <a:ext cx="182880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822960" y="667512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1005840" y="6858000"/>
            <a:ext cx="12618720" cy="32004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500">
                <a:latin typeface="IBM Plex Sans Arabic"/>
              </a:rPr>
              <a:t>مدخلات ناقصة؟ أوقف التسليم وسجّل المعوق واطلب المواد وقدّر أثره على العمل اللاحق.</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55</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التسليم التفصيلي / تسعة قوالب مسار</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50976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646920" y="235915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01 / تهيئة عميل جديد</a:t>
            </a:r>
          </a:p>
        </p:txBody>
      </p:sp>
      <p:sp>
        <p:nvSpPr>
          <p:cNvPr id="38" name="TextBox 37"/>
          <p:cNvSpPr txBox="1"/>
          <p:nvPr/>
        </p:nvSpPr>
        <p:spPr>
          <a:xfrm>
            <a:off x="9646920" y="289864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300">
                <a:latin typeface="IBM Plex Sans Arabic"/>
              </a:rPr>
              <a:t>BD-01 ← SA-01 ← AM-01 ← BD-01 ← SA-01 ← AM-01 ← HC-01 ← HD-01 ← MM-01 ← AM-01 ← SM-01</a:t>
            </a:r>
          </a:p>
        </p:txBody>
      </p:sp>
      <p:sp>
        <p:nvSpPr>
          <p:cNvPr id="39" name="Rectangle 38"/>
          <p:cNvSpPr/>
          <p:nvPr/>
        </p:nvSpPr>
        <p:spPr>
          <a:xfrm>
            <a:off x="4846321"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4983480" y="235915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02 / منشور اجتماعي</a:t>
            </a:r>
          </a:p>
        </p:txBody>
      </p:sp>
      <p:sp>
        <p:nvSpPr>
          <p:cNvPr id="41" name="TextBox 40"/>
          <p:cNvSpPr txBox="1"/>
          <p:nvPr/>
        </p:nvSpPr>
        <p:spPr>
          <a:xfrm>
            <a:off x="4983480" y="289864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600">
                <a:latin typeface="IBM Plex Sans Arabic"/>
              </a:rPr>
              <a:t>AM-01 ← CW-J01 ← HC-01 ← GD-01 ← HD-01 ← MM-01 ← AM-01 ← SM-01</a:t>
            </a:r>
          </a:p>
        </p:txBody>
      </p:sp>
      <p:sp>
        <p:nvSpPr>
          <p:cNvPr id="42" name="Rectangle 41"/>
          <p:cNvSpPr/>
          <p:nvPr/>
        </p:nvSpPr>
        <p:spPr>
          <a:xfrm>
            <a:off x="18288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320040" y="235915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03 / فيديو قصير</a:t>
            </a:r>
          </a:p>
        </p:txBody>
      </p:sp>
      <p:sp>
        <p:nvSpPr>
          <p:cNvPr id="44" name="TextBox 43"/>
          <p:cNvSpPr txBox="1"/>
          <p:nvPr/>
        </p:nvSpPr>
        <p:spPr>
          <a:xfrm>
            <a:off x="320040" y="289864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600">
                <a:latin typeface="IBM Plex Sans Arabic"/>
              </a:rPr>
              <a:t>AM-01 ← CW-S01 ← HC-01 ← VE-01 ← MM-01 ← AM-01 ← SM-01</a:t>
            </a:r>
          </a:p>
        </p:txBody>
      </p:sp>
      <p:sp>
        <p:nvSpPr>
          <p:cNvPr id="45" name="Rectangle 44"/>
          <p:cNvSpPr/>
          <p:nvPr/>
        </p:nvSpPr>
        <p:spPr>
          <a:xfrm>
            <a:off x="950976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9646920" y="400507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04 / حملة مدفوعة</a:t>
            </a:r>
          </a:p>
        </p:txBody>
      </p:sp>
      <p:sp>
        <p:nvSpPr>
          <p:cNvPr id="47" name="TextBox 46"/>
          <p:cNvSpPr txBox="1"/>
          <p:nvPr/>
        </p:nvSpPr>
        <p:spPr>
          <a:xfrm>
            <a:off x="9646920" y="454456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600">
                <a:latin typeface="IBM Plex Sans Arabic"/>
              </a:rPr>
              <a:t>AM-01 ← MB-01 ← MM-01 ← HC-01 ← HD-01 ← MM-01 ← AM-01 ← MB-01</a:t>
            </a:r>
          </a:p>
        </p:txBody>
      </p:sp>
      <p:sp>
        <p:nvSpPr>
          <p:cNvPr id="48" name="Rectangle 47"/>
          <p:cNvSpPr/>
          <p:nvPr/>
        </p:nvSpPr>
        <p:spPr>
          <a:xfrm>
            <a:off x="4846321"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TextBox 48"/>
          <p:cNvSpPr txBox="1"/>
          <p:nvPr/>
        </p:nvSpPr>
        <p:spPr>
          <a:xfrm>
            <a:off x="4983480" y="400507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05 / خطة شهرية</a:t>
            </a:r>
          </a:p>
        </p:txBody>
      </p:sp>
      <p:sp>
        <p:nvSpPr>
          <p:cNvPr id="50" name="TextBox 49"/>
          <p:cNvSpPr txBox="1"/>
          <p:nvPr/>
        </p:nvSpPr>
        <p:spPr>
          <a:xfrm>
            <a:off x="4983480" y="454456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600">
                <a:latin typeface="IBM Plex Sans Arabic"/>
              </a:rPr>
              <a:t>SM-01 ← AM-01 ← CW-J01 ← HC-01 ← HD-01 ← MM-01 ← AM-01 ← SM-01</a:t>
            </a:r>
          </a:p>
        </p:txBody>
      </p:sp>
      <p:sp>
        <p:nvSpPr>
          <p:cNvPr id="51" name="Rectangle 50"/>
          <p:cNvSpPr/>
          <p:nvPr/>
        </p:nvSpPr>
        <p:spPr>
          <a:xfrm>
            <a:off x="18288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2" name="TextBox 51"/>
          <p:cNvSpPr txBox="1"/>
          <p:nvPr/>
        </p:nvSpPr>
        <p:spPr>
          <a:xfrm>
            <a:off x="320040" y="400507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06 / منشور متعدد الشرائح</a:t>
            </a:r>
          </a:p>
        </p:txBody>
      </p:sp>
      <p:sp>
        <p:nvSpPr>
          <p:cNvPr id="53" name="TextBox 52"/>
          <p:cNvSpPr txBox="1"/>
          <p:nvPr/>
        </p:nvSpPr>
        <p:spPr>
          <a:xfrm>
            <a:off x="320040" y="454456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600">
                <a:latin typeface="IBM Plex Sans Arabic"/>
              </a:rPr>
              <a:t>AM-01 ← CW-S01 ← HC-01 ← GD-02 ← HD-01 ← MM-01 ← AM-01 ← SM-01</a:t>
            </a:r>
          </a:p>
        </p:txBody>
      </p:sp>
      <p:sp>
        <p:nvSpPr>
          <p:cNvPr id="54" name="Rectangle 53"/>
          <p:cNvSpPr/>
          <p:nvPr/>
        </p:nvSpPr>
        <p:spPr>
          <a:xfrm>
            <a:off x="950976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5" name="TextBox 54"/>
          <p:cNvSpPr txBox="1"/>
          <p:nvPr/>
        </p:nvSpPr>
        <p:spPr>
          <a:xfrm>
            <a:off x="9646920" y="565099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07 / تعديل العميل</a:t>
            </a:r>
          </a:p>
        </p:txBody>
      </p:sp>
      <p:sp>
        <p:nvSpPr>
          <p:cNvPr id="56" name="TextBox 55"/>
          <p:cNvSpPr txBox="1"/>
          <p:nvPr/>
        </p:nvSpPr>
        <p:spPr>
          <a:xfrm>
            <a:off x="9646920" y="619048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600">
                <a:latin typeface="IBM Plex Sans Arabic"/>
              </a:rPr>
              <a:t>AM-01 ← GD-01 ← HD-01 ← MM-01 ← AM-01 ← SM-01</a:t>
            </a:r>
          </a:p>
        </p:txBody>
      </p:sp>
      <p:sp>
        <p:nvSpPr>
          <p:cNvPr id="57" name="Rectangle 56"/>
          <p:cNvSpPr/>
          <p:nvPr/>
        </p:nvSpPr>
        <p:spPr>
          <a:xfrm>
            <a:off x="4846321"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8" name="TextBox 57"/>
          <p:cNvSpPr txBox="1"/>
          <p:nvPr/>
        </p:nvSpPr>
        <p:spPr>
          <a:xfrm>
            <a:off x="4983480" y="565099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08 / تقرير الأداء</a:t>
            </a:r>
          </a:p>
        </p:txBody>
      </p:sp>
      <p:sp>
        <p:nvSpPr>
          <p:cNvPr id="59" name="TextBox 58"/>
          <p:cNvSpPr txBox="1"/>
          <p:nvPr/>
        </p:nvSpPr>
        <p:spPr>
          <a:xfrm>
            <a:off x="4983480" y="619048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600">
                <a:latin typeface="IBM Plex Sans Arabic"/>
              </a:rPr>
              <a:t>SM-01 ← MM-01 ← AM-01</a:t>
            </a:r>
          </a:p>
        </p:txBody>
      </p:sp>
      <p:sp>
        <p:nvSpPr>
          <p:cNvPr id="60" name="Rectangle 59"/>
          <p:cNvSpPr/>
          <p:nvPr/>
        </p:nvSpPr>
        <p:spPr>
          <a:xfrm>
            <a:off x="18288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61" name="TextBox 60"/>
          <p:cNvSpPr txBox="1"/>
          <p:nvPr/>
        </p:nvSpPr>
        <p:spPr>
          <a:xfrm>
            <a:off x="320040" y="5650992"/>
            <a:ext cx="411480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09 / طلب عميل عاجل</a:t>
            </a:r>
          </a:p>
        </p:txBody>
      </p:sp>
      <p:sp>
        <p:nvSpPr>
          <p:cNvPr id="62" name="TextBox 61"/>
          <p:cNvSpPr txBox="1"/>
          <p:nvPr/>
        </p:nvSpPr>
        <p:spPr>
          <a:xfrm>
            <a:off x="320040" y="6190488"/>
            <a:ext cx="4114800" cy="640080"/>
          </a:xfrm>
          <a:prstGeom prst="rect">
            <a:avLst/>
          </a:prstGeom>
          <a:noFill/>
        </p:spPr>
        <p:txBody>
          <a:bodyPr wrap="square" lIns="27432" rIns="27432" tIns="0" bIns="0">
            <a:spAutoFit/>
          </a:bodyPr>
          <a:lstStyle/>
          <a:p>
            <a:pPr algn="r" rtl="1">
              <a:spcAft>
                <a:spcPts val="400"/>
              </a:spcAft>
              <a:defRPr sz="1100" b="0">
                <a:solidFill>
                  <a:srgbClr val="555555"/>
                </a:solidFill>
                <a:latin typeface="Montserrat"/>
              </a:defRPr>
            </a:pPr>
            <a:r>
              <a:rPr sz="1600">
                <a:latin typeface="IBM Plex Sans Arabic"/>
              </a:rPr>
              <a:t>AM-01 ← HC-01 ← HD-01 ← MM-01 ← AM-01 ← SM-01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FFFFFF"/>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FFFFFF"/>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FFFFFF"/>
                </a:solidFill>
                <a:latin typeface="Montserrat"/>
              </a:defRPr>
            </a:pPr>
            <a:r>
              <a:rPr sz="1250">
                <a:latin typeface="IBM Plex Sans Arabic"/>
              </a:rPr>
              <a:t>56</a:t>
            </a:r>
          </a:p>
        </p:txBody>
      </p:sp>
      <p:cxnSp>
        <p:nvCxnSpPr>
          <p:cNvPr id="32" name="Connector 31"/>
          <p:cNvCxnSpPr/>
          <p:nvPr/>
        </p:nvCxnSpPr>
        <p:spPr>
          <a:xfrm flipH="1">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FFFFFF"/>
                </a:solidFill>
                <a:latin typeface="Bebas Neue"/>
              </a:defRPr>
            </a:pPr>
            <a:r>
              <a:rPr sz="1600">
                <a:latin typeface="IBM Plex Sans Arabic"/>
              </a:rPr>
              <a:t>الاعتمادات شروط انتقال حقيقية</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FFFFFF"/>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FFFFFF"/>
                </a:solidFill>
                <a:latin typeface="Montserrat"/>
              </a:defRPr>
            </a:pPr>
            <a:r>
              <a:rPr sz="1000">
                <a:latin typeface="IBM Plex Sans Arabic"/>
              </a:rPr>
              <a:t>مسودة قابلة للتعديل • التبعيات والسياسات الأخرى مقترحة</a:t>
            </a:r>
          </a:p>
        </p:txBody>
      </p:sp>
      <p:sp>
        <p:nvSpPr>
          <p:cNvPr id="36" name="Freeform 35"/>
          <p:cNvSpPr/>
          <p:nvPr/>
        </p:nvSpPr>
        <p:spPr>
          <a:xfrm>
            <a:off x="749808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7726680" y="2514600"/>
            <a:ext cx="594360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01 / المدخلات</a:t>
            </a:r>
          </a:p>
        </p:txBody>
      </p:sp>
      <p:sp>
        <p:nvSpPr>
          <p:cNvPr id="38" name="TextBox 37"/>
          <p:cNvSpPr txBox="1"/>
          <p:nvPr/>
        </p:nvSpPr>
        <p:spPr>
          <a:xfrm>
            <a:off x="7726680" y="3154680"/>
            <a:ext cx="5943600" cy="86868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لا تسلّم مدخلات ناقصة أو اعتماديات لم تُحسم.</a:t>
            </a:r>
          </a:p>
        </p:txBody>
      </p:sp>
      <p:sp>
        <p:nvSpPr>
          <p:cNvPr id="39" name="Freeform 38"/>
          <p:cNvSpPr/>
          <p:nvPr/>
        </p:nvSpPr>
        <p:spPr>
          <a:xfrm>
            <a:off x="68580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0" name="TextBox 39"/>
          <p:cNvSpPr txBox="1"/>
          <p:nvPr/>
        </p:nvSpPr>
        <p:spPr>
          <a:xfrm>
            <a:off x="914400" y="2514600"/>
            <a:ext cx="594360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02 / الجودة الداخلية</a:t>
            </a:r>
          </a:p>
        </p:txBody>
      </p:sp>
      <p:sp>
        <p:nvSpPr>
          <p:cNvPr id="41" name="TextBox 40"/>
          <p:cNvSpPr txBox="1"/>
          <p:nvPr/>
        </p:nvSpPr>
        <p:spPr>
          <a:xfrm>
            <a:off x="914400" y="3154680"/>
            <a:ext cx="5943600" cy="86868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الكتّاب ← رئيس المحتوى. المصممون ← رئيس التصميم. المحررون ← مدير التسويق.</a:t>
            </a:r>
          </a:p>
        </p:txBody>
      </p:sp>
      <p:sp>
        <p:nvSpPr>
          <p:cNvPr id="42" name="Freeform 41"/>
          <p:cNvSpPr/>
          <p:nvPr/>
        </p:nvSpPr>
        <p:spPr>
          <a:xfrm>
            <a:off x="749808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7726680" y="4754880"/>
            <a:ext cx="594360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03 / العميل</a:t>
            </a:r>
          </a:p>
        </p:txBody>
      </p:sp>
      <p:sp>
        <p:nvSpPr>
          <p:cNvPr id="44" name="TextBox 43"/>
          <p:cNvSpPr txBox="1"/>
          <p:nvPr/>
        </p:nvSpPr>
        <p:spPr>
          <a:xfrm>
            <a:off x="7726680" y="5394960"/>
            <a:ext cx="5943600" cy="86868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يعتمد التسويق بعد الجودة، ثم يعرض الحساب PPTX المجمع لموافقة العميل النهائية.</a:t>
            </a:r>
          </a:p>
        </p:txBody>
      </p:sp>
      <p:sp>
        <p:nvSpPr>
          <p:cNvPr id="45" name="Freeform 44"/>
          <p:cNvSpPr/>
          <p:nvPr/>
        </p:nvSpPr>
        <p:spPr>
          <a:xfrm>
            <a:off x="68580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914400" y="4754880"/>
            <a:ext cx="5943600" cy="36576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04 / التنفيذ</a:t>
            </a:r>
          </a:p>
        </p:txBody>
      </p:sp>
      <p:sp>
        <p:nvSpPr>
          <p:cNvPr id="47" name="TextBox 46"/>
          <p:cNvSpPr txBox="1"/>
          <p:nvPr/>
        </p:nvSpPr>
        <p:spPr>
          <a:xfrm>
            <a:off x="914400" y="5394960"/>
            <a:ext cx="5943600" cy="868680"/>
          </a:xfrm>
          <a:prstGeom prst="rect">
            <a:avLst/>
          </a:prstGeom>
          <a:noFill/>
        </p:spPr>
        <p:txBody>
          <a:bodyPr wrap="square" lIns="27432" rIns="27432" tIns="0" bIns="0">
            <a:spAutoFit/>
          </a:bodyPr>
          <a:lstStyle/>
          <a:p>
            <a:pPr algn="r" rtl="1">
              <a:spcAft>
                <a:spcPts val="400"/>
              </a:spcAft>
              <a:defRPr sz="1800" b="0">
                <a:solidFill>
                  <a:srgbClr val="202020"/>
                </a:solidFill>
                <a:latin typeface="Montserrat"/>
              </a:defRPr>
            </a:pPr>
            <a:r>
              <a:rPr sz="1600">
                <a:latin typeface="IBM Plex Sans Arabic"/>
              </a:rPr>
              <a:t>العضوي: تصريح النشر. المدفوع: اعتماد الميزانية وفحص التتبع.</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57</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ارفض واشرح وأعد ثم حسّن</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1065276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10817352" y="2606040"/>
            <a:ext cx="291693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01 / التسليم</a:t>
            </a:r>
          </a:p>
        </p:txBody>
      </p:sp>
      <p:sp>
        <p:nvSpPr>
          <p:cNvPr id="39" name="TextBox 38"/>
          <p:cNvSpPr txBox="1"/>
          <p:nvPr/>
        </p:nvSpPr>
        <p:spPr>
          <a:xfrm>
            <a:off x="10817352" y="3502152"/>
            <a:ext cx="2916936" cy="3017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يوفر المنفذ المخرج ومرجع الموجز والملفات وقائمة القبول.</a:t>
            </a:r>
          </a:p>
        </p:txBody>
      </p:sp>
      <p:sp>
        <p:nvSpPr>
          <p:cNvPr id="40" name="Rectangle 39"/>
          <p:cNvSpPr/>
          <p:nvPr/>
        </p:nvSpPr>
        <p:spPr>
          <a:xfrm>
            <a:off x="713232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10323576"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7296912" y="2606040"/>
            <a:ext cx="291693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02 / المراجعة</a:t>
            </a:r>
          </a:p>
        </p:txBody>
      </p:sp>
      <p:sp>
        <p:nvSpPr>
          <p:cNvPr id="43" name="TextBox 42"/>
          <p:cNvSpPr txBox="1"/>
          <p:nvPr/>
        </p:nvSpPr>
        <p:spPr>
          <a:xfrm>
            <a:off x="7296912" y="3502152"/>
            <a:ext cx="2916936" cy="3017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يفحص المراجع المستقل الدقة والهوية والاكتمال.</a:t>
            </a:r>
          </a:p>
        </p:txBody>
      </p:sp>
      <p:sp>
        <p:nvSpPr>
          <p:cNvPr id="44" name="Rectangle 43"/>
          <p:cNvSpPr/>
          <p:nvPr/>
        </p:nvSpPr>
        <p:spPr>
          <a:xfrm>
            <a:off x="361188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6803136"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3776472" y="2606040"/>
            <a:ext cx="291693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03 / التعديل</a:t>
            </a:r>
          </a:p>
        </p:txBody>
      </p:sp>
      <p:sp>
        <p:nvSpPr>
          <p:cNvPr id="47" name="TextBox 46"/>
          <p:cNvSpPr txBox="1"/>
          <p:nvPr/>
        </p:nvSpPr>
        <p:spPr>
          <a:xfrm>
            <a:off x="3776472" y="3502152"/>
            <a:ext cx="2916936" cy="3017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تُعاد المهمة لصاحبها بملاحظات قابلة للتنفيذ مع تسجيل حدث التعديل.</a:t>
            </a:r>
          </a:p>
        </p:txBody>
      </p:sp>
      <p:sp>
        <p:nvSpPr>
          <p:cNvPr id="48" name="Rectangle 47"/>
          <p:cNvSpPr/>
          <p:nvPr/>
        </p:nvSpPr>
        <p:spPr>
          <a:xfrm>
            <a:off x="9144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3282696"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256032" y="2606040"/>
            <a:ext cx="291693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04 / إعادة التسليم</a:t>
            </a:r>
          </a:p>
        </p:txBody>
      </p:sp>
      <p:sp>
        <p:nvSpPr>
          <p:cNvPr id="51" name="TextBox 50"/>
          <p:cNvSpPr txBox="1"/>
          <p:nvPr/>
        </p:nvSpPr>
        <p:spPr>
          <a:xfrm>
            <a:off x="256032" y="3502152"/>
            <a:ext cx="2916936" cy="301752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ينفذ المسؤول كل تعليق، وتتكرر الجودة والتسويق، ويعود العرض المعدل للعميل عند الحاجة.</a:t>
            </a:r>
          </a:p>
        </p:txBody>
      </p:sp>
      <p:sp>
        <p:nvSpPr>
          <p:cNvPr id="52" name="Rectangle 51"/>
          <p:cNvSpPr/>
          <p:nvPr/>
        </p:nvSpPr>
        <p:spPr>
          <a:xfrm>
            <a:off x="822960" y="6903720"/>
            <a:ext cx="12984480" cy="4114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3" name="TextBox 52"/>
          <p:cNvSpPr txBox="1"/>
          <p:nvPr/>
        </p:nvSpPr>
        <p:spPr>
          <a:xfrm>
            <a:off x="1005840" y="6986016"/>
            <a:ext cx="12618720" cy="274320"/>
          </a:xfrm>
          <a:prstGeom prst="rect">
            <a:avLst/>
          </a:prstGeom>
          <a:noFill/>
        </p:spPr>
        <p:txBody>
          <a:bodyPr wrap="square" lIns="27432" rIns="27432" tIns="0" bIns="0">
            <a:spAutoFit/>
          </a:bodyPr>
          <a:lstStyle/>
          <a:p>
            <a:pPr algn="r" rtl="1">
              <a:spcAft>
                <a:spcPts val="400"/>
              </a:spcAft>
              <a:defRPr sz="1300" b="1">
                <a:solidFill>
                  <a:srgbClr val="7D2B42"/>
                </a:solidFill>
                <a:latin typeface="Montserrat"/>
              </a:defRPr>
            </a:pPr>
            <a:r>
              <a:rPr sz="1250">
                <a:latin typeface="IBM Plex Sans Arabic"/>
              </a:rPr>
              <a:t>مثال: صحّح السعر ليطابق الموجز المعتمد، ثم أعده لمراجعة جودة التصميم.</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58</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اجعل العرض أداة عملك</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749808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Rectangle 36"/>
          <p:cNvSpPr/>
          <p:nvPr/>
        </p:nvSpPr>
        <p:spPr>
          <a:xfrm>
            <a:off x="13844016"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8" name="TextBox 37"/>
          <p:cNvSpPr txBox="1"/>
          <p:nvPr/>
        </p:nvSpPr>
        <p:spPr>
          <a:xfrm>
            <a:off x="766267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تحرير المحتوى</a:t>
            </a:r>
          </a:p>
        </p:txBody>
      </p:sp>
      <p:sp>
        <p:nvSpPr>
          <p:cNvPr id="39" name="TextBox 38"/>
          <p:cNvSpPr txBox="1"/>
          <p:nvPr/>
        </p:nvSpPr>
        <p:spPr>
          <a:xfrm>
            <a:off x="7662672" y="3364991"/>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اضغط العنوان أو الحقل وعدّله؛ المحتوى الأساسي نص PowerPoint أصلي قابل للتحرير.</a:t>
            </a:r>
          </a:p>
        </p:txBody>
      </p:sp>
      <p:sp>
        <p:nvSpPr>
          <p:cNvPr id="40" name="Rectangle 39"/>
          <p:cNvSpPr/>
          <p:nvPr/>
        </p:nvSpPr>
        <p:spPr>
          <a:xfrm>
            <a:off x="685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Rectangle 40"/>
          <p:cNvSpPr/>
          <p:nvPr/>
        </p:nvSpPr>
        <p:spPr>
          <a:xfrm>
            <a:off x="7031736"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2" name="TextBox 41"/>
          <p:cNvSpPr txBox="1"/>
          <p:nvPr/>
        </p:nvSpPr>
        <p:spPr>
          <a:xfrm>
            <a:off x="850392" y="2468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تعديل الهيكل</a:t>
            </a:r>
          </a:p>
        </p:txBody>
      </p:sp>
      <p:sp>
        <p:nvSpPr>
          <p:cNvPr id="43" name="TextBox 42"/>
          <p:cNvSpPr txBox="1"/>
          <p:nvPr/>
        </p:nvSpPr>
        <p:spPr>
          <a:xfrm>
            <a:off x="850392" y="3364991"/>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حرّك بطاقات الأدوار واضبط الموصلات؛ واستخدم جزء التحديد للعناصر المتداخلة.</a:t>
            </a:r>
          </a:p>
        </p:txBody>
      </p:sp>
      <p:sp>
        <p:nvSpPr>
          <p:cNvPr id="44" name="Rectangle 43"/>
          <p:cNvSpPr/>
          <p:nvPr/>
        </p:nvSpPr>
        <p:spPr>
          <a:xfrm>
            <a:off x="749808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Rectangle 44"/>
          <p:cNvSpPr/>
          <p:nvPr/>
        </p:nvSpPr>
        <p:spPr>
          <a:xfrm>
            <a:off x="13844016"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6" name="TextBox 45"/>
          <p:cNvSpPr txBox="1"/>
          <p:nvPr/>
        </p:nvSpPr>
        <p:spPr>
          <a:xfrm>
            <a:off x="7662672" y="4754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تأكيد السياسة</a:t>
            </a:r>
          </a:p>
        </p:txBody>
      </p:sp>
      <p:sp>
        <p:nvSpPr>
          <p:cNvPr id="47" name="TextBox 46"/>
          <p:cNvSpPr txBox="1"/>
          <p:nvPr/>
        </p:nvSpPr>
        <p:spPr>
          <a:xfrm>
            <a:off x="7662672" y="565099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التبعيات والصلاحيات والمدد غير المؤكدة تظل مقترحة حتى تعتمدها PMP.</a:t>
            </a:r>
          </a:p>
        </p:txBody>
      </p:sp>
      <p:sp>
        <p:nvSpPr>
          <p:cNvPr id="48" name="Rectangle 47"/>
          <p:cNvSpPr/>
          <p:nvPr/>
        </p:nvSpPr>
        <p:spPr>
          <a:xfrm>
            <a:off x="68580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9" name="Rectangle 48"/>
          <p:cNvSpPr/>
          <p:nvPr/>
        </p:nvSpPr>
        <p:spPr>
          <a:xfrm>
            <a:off x="7031736"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0" name="TextBox 49"/>
          <p:cNvSpPr txBox="1"/>
          <p:nvPr/>
        </p:nvSpPr>
        <p:spPr>
          <a:xfrm>
            <a:off x="850392" y="4754880"/>
            <a:ext cx="6071616" cy="731520"/>
          </a:xfrm>
          <a:prstGeom prst="rect">
            <a:avLst/>
          </a:prstGeom>
          <a:noFill/>
        </p:spPr>
        <p:txBody>
          <a:bodyPr wrap="square" lIns="27432" rIns="27432" tIns="0" bIns="0">
            <a:spAutoFit/>
          </a:bodyPr>
          <a:lstStyle/>
          <a:p>
            <a:pPr algn="r" rtl="1">
              <a:spcAft>
                <a:spcPts val="400"/>
              </a:spcAft>
              <a:defRPr sz="2000" b="1">
                <a:solidFill>
                  <a:srgbClr val="7D2B42"/>
                </a:solidFill>
                <a:latin typeface="Montserrat"/>
              </a:defRPr>
            </a:pPr>
            <a:r>
              <a:rPr sz="1600">
                <a:latin typeface="IBM Plex Sans Arabic"/>
              </a:rPr>
              <a:t>الحفاظ على الهوية</a:t>
            </a:r>
          </a:p>
        </p:txBody>
      </p:sp>
      <p:sp>
        <p:nvSpPr>
          <p:cNvPr id="51" name="TextBox 50"/>
          <p:cNvSpPr txBox="1"/>
          <p:nvPr/>
        </p:nvSpPr>
        <p:spPr>
          <a:xfrm>
            <a:off x="850392" y="5650992"/>
            <a:ext cx="6071616" cy="822960"/>
          </a:xfrm>
          <a:prstGeom prst="rect">
            <a:avLst/>
          </a:prstGeom>
          <a:noFill/>
        </p:spPr>
        <p:txBody>
          <a:bodyPr wrap="square" lIns="27432" rIns="27432" tIns="0" bIns="0">
            <a:spAutoFit/>
          </a:bodyPr>
          <a:lstStyle/>
          <a:p>
            <a:pPr algn="r" rtl="1">
              <a:spcAft>
                <a:spcPts val="400"/>
              </a:spcAft>
              <a:defRPr sz="1400" b="0">
                <a:solidFill>
                  <a:srgbClr val="555555"/>
                </a:solidFill>
                <a:latin typeface="Montserrat"/>
              </a:defRPr>
            </a:pPr>
            <a:r>
              <a:rPr sz="1600">
                <a:latin typeface="IBM Plex Sans Arabic"/>
              </a:rPr>
              <a:t>استخدم الألوان الستة المرفقة. الخط العربي IBM Plex Sans Arabic مكمّل، والخطان الإنجليزيان Montserrat وBebas Neue من مرجع الهوية.</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flipH="1">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2710160" y="256032"/>
            <a:ext cx="1371600" cy="384048"/>
          </a:xfrm>
          <a:prstGeom prst="rect">
            <a:avLst/>
          </a:prstGeom>
          <a:noFill/>
        </p:spPr>
        <p:txBody>
          <a:bodyPr wrap="square" lIns="27432" rIns="27432" tIns="0" bIns="0">
            <a:spAutoFit/>
          </a:bodyPr>
          <a:lstStyle/>
          <a:p>
            <a:pPr algn="r" rtl="1">
              <a:spcAft>
                <a:spcPts val="400"/>
              </a:spcAft>
              <a:defRPr sz="2400" b="1">
                <a:solidFill>
                  <a:srgbClr val="7D2B42"/>
                </a:solidFill>
                <a:latin typeface="Montserrat"/>
              </a:defRPr>
            </a:pPr>
            <a:r>
              <a:rPr sz="1600">
                <a:latin typeface="IBM Plex Sans Arabic"/>
              </a:rPr>
              <a:t>PMP</a:t>
            </a:r>
          </a:p>
        </p:txBody>
      </p:sp>
      <p:sp>
        <p:nvSpPr>
          <p:cNvPr id="30" name="TextBox 29"/>
          <p:cNvSpPr txBox="1"/>
          <p:nvPr/>
        </p:nvSpPr>
        <p:spPr>
          <a:xfrm>
            <a:off x="3520440" y="365760"/>
            <a:ext cx="9144000" cy="228600"/>
          </a:xfrm>
          <a:prstGeom prst="rect">
            <a:avLst/>
          </a:prstGeom>
          <a:noFill/>
        </p:spPr>
        <p:txBody>
          <a:bodyPr wrap="square" lIns="27432" rIns="27432" tIns="0" bIns="0">
            <a:spAutoFit/>
          </a:bodyPr>
          <a:lstStyle/>
          <a:p>
            <a:pPr algn="r" rtl="1">
              <a:spcAft>
                <a:spcPts val="400"/>
              </a:spcAft>
              <a:defRPr sz="1000" b="1">
                <a:solidFill>
                  <a:srgbClr val="7D2B42"/>
                </a:solidFill>
                <a:latin typeface="Montserrat"/>
              </a:defRPr>
            </a:pPr>
            <a:r>
              <a:rPr sz="1000">
                <a:latin typeface="IBM Plex Sans Arabic"/>
              </a:rPr>
              <a:t>نظام النمو والتشغيل في PMP</a:t>
            </a:r>
          </a:p>
        </p:txBody>
      </p:sp>
      <p:sp>
        <p:nvSpPr>
          <p:cNvPr id="31" name="TextBox 30"/>
          <p:cNvSpPr txBox="1"/>
          <p:nvPr/>
        </p:nvSpPr>
        <p:spPr>
          <a:xfrm>
            <a:off x="548640" y="320040"/>
            <a:ext cx="822960" cy="274320"/>
          </a:xfrm>
          <a:prstGeom prst="rect">
            <a:avLst/>
          </a:prstGeom>
          <a:noFill/>
        </p:spPr>
        <p:txBody>
          <a:bodyPr wrap="square" lIns="27432" rIns="27432" tIns="0" bIns="0">
            <a:spAutoFit/>
          </a:bodyPr>
          <a:lstStyle/>
          <a:p>
            <a:pPr algn="r" rtl="1">
              <a:spcAft>
                <a:spcPts val="400"/>
              </a:spcAft>
              <a:defRPr sz="1100" b="0">
                <a:solidFill>
                  <a:srgbClr val="7D2B42"/>
                </a:solidFill>
                <a:latin typeface="Montserrat"/>
              </a:defRPr>
            </a:pPr>
            <a:r>
              <a:rPr sz="1250">
                <a:latin typeface="IBM Plex Sans Arabic"/>
              </a:rPr>
              <a:t>59</a:t>
            </a:r>
          </a:p>
        </p:txBody>
      </p:sp>
      <p:cxnSp>
        <p:nvCxnSpPr>
          <p:cNvPr id="32" name="Connector 31"/>
          <p:cNvCxnSpPr/>
          <p:nvPr/>
        </p:nvCxnSpPr>
        <p:spPr>
          <a:xfrm flipH="1">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1143000"/>
            <a:ext cx="13258800" cy="777240"/>
          </a:xfrm>
          <a:prstGeom prst="rect">
            <a:avLst/>
          </a:prstGeom>
          <a:noFill/>
        </p:spPr>
        <p:txBody>
          <a:bodyPr wrap="square" lIns="27432" rIns="27432" tIns="0" bIns="0">
            <a:spAutoFit/>
          </a:bodyPr>
          <a:lstStyle/>
          <a:p>
            <a:pPr algn="r" rtl="1">
              <a:spcAft>
                <a:spcPts val="400"/>
              </a:spcAft>
              <a:defRPr sz="3800" b="1">
                <a:solidFill>
                  <a:srgbClr val="7D2B42"/>
                </a:solidFill>
                <a:latin typeface="Bebas Neue"/>
              </a:defRPr>
            </a:pPr>
            <a:r>
              <a:rPr sz="1600">
                <a:latin typeface="IBM Plex Sans Arabic"/>
              </a:rPr>
              <a:t>رموز الهوية / الاتجاه 01</a:t>
            </a:r>
          </a:p>
        </p:txBody>
      </p:sp>
      <p:sp>
        <p:nvSpPr>
          <p:cNvPr id="34" name="TextBox 33"/>
          <p:cNvSpPr txBox="1"/>
          <p:nvPr/>
        </p:nvSpPr>
        <p:spPr>
          <a:xfrm>
            <a:off x="7589520" y="7772400"/>
            <a:ext cx="6400800" cy="228600"/>
          </a:xfrm>
          <a:prstGeom prst="rect">
            <a:avLst/>
          </a:prstGeom>
          <a:noFill/>
        </p:spPr>
        <p:txBody>
          <a:bodyPr wrap="square" lIns="27432" rIns="27432" tIns="0" bIns="0">
            <a:spAutoFit/>
          </a:bodyPr>
          <a:lstStyle/>
          <a:p>
            <a:pPr algn="r" rtl="1">
              <a:spcAft>
                <a:spcPts val="400"/>
              </a:spcAft>
              <a:defRPr sz="900" b="0">
                <a:solidFill>
                  <a:srgbClr val="555555"/>
                </a:solidFill>
                <a:latin typeface="Montserrat"/>
              </a:defRPr>
            </a:pPr>
            <a:r>
              <a:rPr sz="1000">
                <a:latin typeface="IBM Plex Sans Arabic"/>
              </a:rPr>
              <a:t>نموّك هو نبضنا</a:t>
            </a:r>
          </a:p>
        </p:txBody>
      </p:sp>
      <p:sp>
        <p:nvSpPr>
          <p:cNvPr id="35" name="TextBox 34"/>
          <p:cNvSpPr txBox="1"/>
          <p:nvPr/>
        </p:nvSpPr>
        <p:spPr>
          <a:xfrm>
            <a:off x="640081" y="7772400"/>
            <a:ext cx="6492240" cy="228600"/>
          </a:xfrm>
          <a:prstGeom prst="rect">
            <a:avLst/>
          </a:prstGeom>
          <a:noFill/>
        </p:spPr>
        <p:txBody>
          <a:bodyPr wrap="square" lIns="27432" rIns="27432" tIns="0" bIns="0">
            <a:spAutoFit/>
          </a:bodyPr>
          <a:lstStyle/>
          <a:p>
            <a:pPr algn="r" rtl="1">
              <a:spcAft>
                <a:spcPts val="400"/>
              </a:spcAft>
              <a:defRPr sz="800" b="0">
                <a:solidFill>
                  <a:srgbClr val="555555"/>
                </a:solidFill>
                <a:latin typeface="Montserrat"/>
              </a:defRPr>
            </a:pPr>
            <a:r>
              <a:rPr sz="1000">
                <a:latin typeface="IBM Plex Sans Arabic"/>
              </a:rPr>
              <a:t>مسودة قابلة للتعديل • التبعيات والسياسات الأخرى مقترحة</a:t>
            </a:r>
          </a:p>
        </p:txBody>
      </p:sp>
      <p:sp>
        <p:nvSpPr>
          <p:cNvPr id="36" name="Rectangle 35"/>
          <p:cNvSpPr/>
          <p:nvPr/>
        </p:nvSpPr>
        <p:spPr>
          <a:xfrm>
            <a:off x="9509760" y="2240280"/>
            <a:ext cx="4389120" cy="1051560"/>
          </a:xfrm>
          <a:prstGeom prst="rect">
            <a:avLst/>
          </a:prstGeom>
          <a:solidFill>
            <a:srgbClr val="7D2B42"/>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7" name="TextBox 36"/>
          <p:cNvSpPr txBox="1"/>
          <p:nvPr/>
        </p:nvSpPr>
        <p:spPr>
          <a:xfrm>
            <a:off x="9509760" y="3429000"/>
            <a:ext cx="438912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عنابي داكن / #7D2B42</a:t>
            </a:r>
          </a:p>
        </p:txBody>
      </p:sp>
      <p:sp>
        <p:nvSpPr>
          <p:cNvPr id="38" name="Rectangle 37"/>
          <p:cNvSpPr/>
          <p:nvPr/>
        </p:nvSpPr>
        <p:spPr>
          <a:xfrm>
            <a:off x="4846321" y="2240280"/>
            <a:ext cx="4389120" cy="1051560"/>
          </a:xfrm>
          <a:prstGeom prst="rect">
            <a:avLst/>
          </a:prstGeom>
          <a:solidFill>
            <a:srgbClr val="FFFFFF"/>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39" name="TextBox 38"/>
          <p:cNvSpPr txBox="1"/>
          <p:nvPr/>
        </p:nvSpPr>
        <p:spPr>
          <a:xfrm>
            <a:off x="4846321" y="3429000"/>
            <a:ext cx="438912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أبيض نقي / #FFFFFF</a:t>
            </a:r>
          </a:p>
        </p:txBody>
      </p:sp>
      <p:sp>
        <p:nvSpPr>
          <p:cNvPr id="40" name="Rectangle 39"/>
          <p:cNvSpPr/>
          <p:nvPr/>
        </p:nvSpPr>
        <p:spPr>
          <a:xfrm>
            <a:off x="182880" y="2240280"/>
            <a:ext cx="4389120" cy="1051560"/>
          </a:xfrm>
          <a:prstGeom prst="rect">
            <a:avLst/>
          </a:prstGeom>
          <a:solidFill>
            <a:srgbClr val="20202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1" name="TextBox 40"/>
          <p:cNvSpPr txBox="1"/>
          <p:nvPr/>
        </p:nvSpPr>
        <p:spPr>
          <a:xfrm>
            <a:off x="182880" y="3429000"/>
            <a:ext cx="438912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فحمي غني / #202020</a:t>
            </a:r>
          </a:p>
        </p:txBody>
      </p:sp>
      <p:sp>
        <p:nvSpPr>
          <p:cNvPr id="42" name="Rectangle 41"/>
          <p:cNvSpPr/>
          <p:nvPr/>
        </p:nvSpPr>
        <p:spPr>
          <a:xfrm>
            <a:off x="9509760" y="4160520"/>
            <a:ext cx="4389120" cy="1051560"/>
          </a:xfrm>
          <a:prstGeom prst="rect">
            <a:avLst/>
          </a:prstGeom>
          <a:solidFill>
            <a:srgbClr val="FFCC0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3" name="TextBox 42"/>
          <p:cNvSpPr txBox="1"/>
          <p:nvPr/>
        </p:nvSpPr>
        <p:spPr>
          <a:xfrm>
            <a:off x="9509760" y="5349240"/>
            <a:ext cx="438912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أصفر خردلي / #FFCC00</a:t>
            </a:r>
          </a:p>
        </p:txBody>
      </p:sp>
      <p:sp>
        <p:nvSpPr>
          <p:cNvPr id="44" name="Rectangle 43"/>
          <p:cNvSpPr/>
          <p:nvPr/>
        </p:nvSpPr>
        <p:spPr>
          <a:xfrm>
            <a:off x="4846321" y="4160520"/>
            <a:ext cx="4389120" cy="1051560"/>
          </a:xfrm>
          <a:prstGeom prst="rect">
            <a:avLst/>
          </a:prstGeom>
          <a:solidFill>
            <a:srgbClr val="D5D5D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5" name="TextBox 44"/>
          <p:cNvSpPr txBox="1"/>
          <p:nvPr/>
        </p:nvSpPr>
        <p:spPr>
          <a:xfrm>
            <a:off x="4846321" y="5349240"/>
            <a:ext cx="438912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رمادي فاتح / #D5D5D5</a:t>
            </a:r>
          </a:p>
        </p:txBody>
      </p:sp>
      <p:sp>
        <p:nvSpPr>
          <p:cNvPr id="46" name="Rectangle 45"/>
          <p:cNvSpPr/>
          <p:nvPr/>
        </p:nvSpPr>
        <p:spPr>
          <a:xfrm>
            <a:off x="182880" y="4160520"/>
            <a:ext cx="4389120" cy="1051560"/>
          </a:xfrm>
          <a:prstGeom prst="rect">
            <a:avLst/>
          </a:prstGeom>
          <a:solidFill>
            <a:srgbClr val="55555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47" name="TextBox 46"/>
          <p:cNvSpPr txBox="1"/>
          <p:nvPr/>
        </p:nvSpPr>
        <p:spPr>
          <a:xfrm>
            <a:off x="182880" y="5349240"/>
            <a:ext cx="4389120" cy="457200"/>
          </a:xfrm>
          <a:prstGeom prst="rect">
            <a:avLst/>
          </a:prstGeom>
          <a:noFill/>
        </p:spPr>
        <p:txBody>
          <a:bodyPr wrap="square" lIns="27432" rIns="27432" tIns="0" bIns="0">
            <a:spAutoFit/>
          </a:bodyPr>
          <a:lstStyle/>
          <a:p>
            <a:pPr algn="r" rtl="1">
              <a:spcAft>
                <a:spcPts val="400"/>
              </a:spcAft>
              <a:defRPr sz="1500" b="1">
                <a:solidFill>
                  <a:srgbClr val="7D2B42"/>
                </a:solidFill>
                <a:latin typeface="Montserrat"/>
              </a:defRPr>
            </a:pPr>
            <a:r>
              <a:rPr sz="1600">
                <a:latin typeface="IBM Plex Sans Arabic"/>
              </a:rPr>
              <a:t>رمادي أردوازي / #555555</a:t>
            </a:r>
          </a:p>
        </p:txBody>
      </p:sp>
      <p:sp>
        <p:nvSpPr>
          <p:cNvPr id="48" name="TextBox 47"/>
          <p:cNvSpPr txBox="1"/>
          <p:nvPr/>
        </p:nvSpPr>
        <p:spPr>
          <a:xfrm>
            <a:off x="822960" y="6949440"/>
            <a:ext cx="12984480" cy="548640"/>
          </a:xfrm>
          <a:prstGeom prst="rect">
            <a:avLst/>
          </a:prstGeom>
          <a:noFill/>
        </p:spPr>
        <p:txBody>
          <a:bodyPr wrap="square" lIns="27432" rIns="27432" tIns="0" bIns="0">
            <a:spAutoFit/>
          </a:bodyPr>
          <a:lstStyle/>
          <a:p>
            <a:pPr algn="r" rtl="1">
              <a:spcAft>
                <a:spcPts val="400"/>
              </a:spcAft>
              <a:defRPr sz="1300" b="0">
                <a:solidFill>
                  <a:srgbClr val="555555"/>
                </a:solidFill>
                <a:latin typeface="Montserrat"/>
              </a:defRPr>
            </a:pPr>
            <a:r>
              <a:rPr sz="1400">
                <a:latin typeface="IBM Plex Sans Arabic"/>
              </a:rP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188720" y="320040"/>
            <a:ext cx="12801600" cy="365760"/>
          </a:xfrm>
          <a:prstGeom prst="rect">
            <a:avLst/>
          </a:prstGeom>
          <a:noFill/>
        </p:spPr>
        <p:txBody>
          <a:bodyPr wrap="square">
            <a:spAutoFit/>
          </a:bodyPr>
          <a:lstStyle/>
          <a:p>
            <a:pPr algn="r" rtl="1">
              <a:defRPr sz="1200" b="1">
                <a:solidFill>
                  <a:srgbClr val="7D2B42"/>
                </a:solidFill>
                <a:latin typeface="Montserrat"/>
              </a:defRPr>
            </a:pPr>
            <a:r>
              <a:rPr sz="1550">
                <a:latin typeface="IBM Plex Sans Arabic"/>
              </a:rPr>
              <a:t>PMP / المراجعة الشهرية للموظفين</a:t>
            </a:r>
          </a:p>
        </p:txBody>
      </p:sp>
      <p:sp>
        <p:nvSpPr>
          <p:cNvPr id="3" name="TextBox 2"/>
          <p:cNvSpPr txBox="1"/>
          <p:nvPr/>
        </p:nvSpPr>
        <p:spPr>
          <a:xfrm>
            <a:off x="731520" y="1188720"/>
            <a:ext cx="13167360" cy="914400"/>
          </a:xfrm>
          <a:prstGeom prst="rect">
            <a:avLst/>
          </a:prstGeom>
          <a:noFill/>
        </p:spPr>
        <p:txBody>
          <a:bodyPr wrap="square">
            <a:spAutoFit/>
          </a:bodyPr>
          <a:lstStyle/>
          <a:p>
            <a:pPr algn="r" rtl="1">
              <a:defRPr sz="3400" b="1">
                <a:solidFill>
                  <a:srgbClr val="7D2B42"/>
                </a:solidFill>
                <a:latin typeface="Montserrat"/>
              </a:defRPr>
            </a:pPr>
            <a:r>
              <a:rPr sz="1600">
                <a:latin typeface="IBM Plex Sans Arabic"/>
              </a:rPr>
              <a:t>تقييم أداء الفريق شهرياً</a:t>
            </a:r>
          </a:p>
        </p:txBody>
      </p:sp>
      <p:sp>
        <p:nvSpPr>
          <p:cNvPr id="4" name="TextBox 3"/>
          <p:cNvSpPr txBox="1"/>
          <p:nvPr/>
        </p:nvSpPr>
        <p:spPr>
          <a:xfrm>
            <a:off x="10698480" y="2468880"/>
            <a:ext cx="3108960" cy="731520"/>
          </a:xfrm>
          <a:prstGeom prst="rect">
            <a:avLst/>
          </a:prstGeom>
          <a:noFill/>
        </p:spPr>
        <p:txBody>
          <a:bodyPr wrap="square">
            <a:spAutoFit/>
          </a:bodyPr>
          <a:lstStyle/>
          <a:p>
            <a:pPr algn="r" rtl="1">
              <a:defRPr sz="1600" b="1">
                <a:solidFill>
                  <a:srgbClr val="7D2B42"/>
                </a:solidFill>
                <a:latin typeface="Montserrat"/>
              </a:defRPr>
            </a:pPr>
            <a:r>
              <a:rPr sz="1600">
                <a:latin typeface="IBM Plex Sans Arabic"/>
              </a:rPr>
              <a:t>كل شهر</a:t>
            </a:r>
          </a:p>
        </p:txBody>
      </p:sp>
      <p:sp>
        <p:nvSpPr>
          <p:cNvPr id="5" name="TextBox 4"/>
          <p:cNvSpPr txBox="1"/>
          <p:nvPr/>
        </p:nvSpPr>
        <p:spPr>
          <a:xfrm>
            <a:off x="914400" y="2468880"/>
            <a:ext cx="9601200" cy="822960"/>
          </a:xfrm>
          <a:prstGeom prst="rect">
            <a:avLst/>
          </a:prstGeom>
          <a:noFill/>
        </p:spPr>
        <p:txBody>
          <a:bodyPr wrap="square">
            <a:spAutoFit/>
          </a:bodyPr>
          <a:lstStyle/>
          <a:p>
            <a:pPr algn="r" rtl="1">
              <a:defRPr sz="1600" b="0">
                <a:solidFill>
                  <a:srgbClr val="202020"/>
                </a:solidFill>
                <a:latin typeface="Montserrat"/>
              </a:defRPr>
            </a:pPr>
            <a:r>
              <a:rPr sz="1600">
                <a:latin typeface="IBM Plex Sans Arabic"/>
              </a:rPr>
              <a:t>استخدم النموذج الوظيفي المعتمد والشهر الفعلي؛ وأكد المقيّم والتخزين الخاص.</a:t>
            </a:r>
          </a:p>
        </p:txBody>
      </p:sp>
      <p:sp>
        <p:nvSpPr>
          <p:cNvPr id="6" name="TextBox 5"/>
          <p:cNvSpPr txBox="1"/>
          <p:nvPr/>
        </p:nvSpPr>
        <p:spPr>
          <a:xfrm>
            <a:off x="10698480" y="3429000"/>
            <a:ext cx="3108960" cy="731520"/>
          </a:xfrm>
          <a:prstGeom prst="rect">
            <a:avLst/>
          </a:prstGeom>
          <a:noFill/>
        </p:spPr>
        <p:txBody>
          <a:bodyPr wrap="square">
            <a:spAutoFit/>
          </a:bodyPr>
          <a:lstStyle/>
          <a:p>
            <a:pPr algn="r" rtl="1">
              <a:defRPr sz="1600" b="1">
                <a:solidFill>
                  <a:srgbClr val="7D2B42"/>
                </a:solidFill>
                <a:latin typeface="Montserrat"/>
              </a:defRPr>
            </a:pPr>
            <a:r>
              <a:rPr sz="1600">
                <a:latin typeface="IBM Plex Sans Arabic"/>
              </a:rPr>
              <a:t>الموظف والمدير</a:t>
            </a:r>
          </a:p>
        </p:txBody>
      </p:sp>
      <p:sp>
        <p:nvSpPr>
          <p:cNvPr id="7" name="TextBox 6"/>
          <p:cNvSpPr txBox="1"/>
          <p:nvPr/>
        </p:nvSpPr>
        <p:spPr>
          <a:xfrm>
            <a:off x="914400" y="3429000"/>
            <a:ext cx="9601200" cy="822960"/>
          </a:xfrm>
          <a:prstGeom prst="rect">
            <a:avLst/>
          </a:prstGeom>
          <a:noFill/>
        </p:spPr>
        <p:txBody>
          <a:bodyPr wrap="square">
            <a:spAutoFit/>
          </a:bodyPr>
          <a:lstStyle/>
          <a:p>
            <a:pPr algn="r" rtl="1">
              <a:defRPr sz="1600" b="0">
                <a:solidFill>
                  <a:srgbClr val="202020"/>
                </a:solidFill>
                <a:latin typeface="Montserrat"/>
              </a:defRPr>
            </a:pPr>
            <a:r>
              <a:rPr sz="1600">
                <a:latin typeface="IBM Plex Sans Arabic"/>
              </a:rPr>
              <a:t>التقييم الذاتي قبل الاجتماع؛ ثم تقييم المدير ونقاش الفجوة والأدلة. برر الدرجات 1 و2 و5.</a:t>
            </a:r>
          </a:p>
        </p:txBody>
      </p:sp>
      <p:sp>
        <p:nvSpPr>
          <p:cNvPr id="8" name="TextBox 7"/>
          <p:cNvSpPr txBox="1"/>
          <p:nvPr/>
        </p:nvSpPr>
        <p:spPr>
          <a:xfrm>
            <a:off x="10698480" y="4389120"/>
            <a:ext cx="3108960" cy="731520"/>
          </a:xfrm>
          <a:prstGeom prst="rect">
            <a:avLst/>
          </a:prstGeom>
          <a:noFill/>
        </p:spPr>
        <p:txBody>
          <a:bodyPr wrap="square">
            <a:spAutoFit/>
          </a:bodyPr>
          <a:lstStyle/>
          <a:p>
            <a:pPr algn="r" rtl="1">
              <a:defRPr sz="1600" b="1">
                <a:solidFill>
                  <a:srgbClr val="7D2B42"/>
                </a:solidFill>
                <a:latin typeface="Montserrat"/>
              </a:defRPr>
            </a:pPr>
            <a:r>
              <a:rPr sz="1600">
                <a:latin typeface="IBM Plex Sans Arabic"/>
              </a:rPr>
              <a:t>الأوزان والمقياس</a:t>
            </a:r>
          </a:p>
        </p:txBody>
      </p:sp>
      <p:sp>
        <p:nvSpPr>
          <p:cNvPr id="9" name="TextBox 8"/>
          <p:cNvSpPr txBox="1"/>
          <p:nvPr/>
        </p:nvSpPr>
        <p:spPr>
          <a:xfrm>
            <a:off x="914400" y="4389120"/>
            <a:ext cx="9601200" cy="822960"/>
          </a:xfrm>
          <a:prstGeom prst="rect">
            <a:avLst/>
          </a:prstGeom>
          <a:noFill/>
        </p:spPr>
        <p:txBody>
          <a:bodyPr wrap="square">
            <a:spAutoFit/>
          </a:bodyPr>
          <a:lstStyle/>
          <a:p>
            <a:pPr algn="r" rtl="1">
              <a:defRPr sz="1600" b="0">
                <a:solidFill>
                  <a:srgbClr val="202020"/>
                </a:solidFill>
                <a:latin typeface="Montserrat"/>
              </a:defRPr>
            </a:pPr>
            <a:r>
              <a:rPr sz="1600">
                <a:latin typeface="IBM Plex Sans Arabic"/>
              </a:rPr>
              <a:t>30% للكفاءات الأساسية، و50% لمؤشرات الدور، و10% للتطوير، و10% للثقافة. المقياس المرفق 1–5.</a:t>
            </a:r>
          </a:p>
        </p:txBody>
      </p:sp>
      <p:sp>
        <p:nvSpPr>
          <p:cNvPr id="10" name="TextBox 9"/>
          <p:cNvSpPr txBox="1"/>
          <p:nvPr/>
        </p:nvSpPr>
        <p:spPr>
          <a:xfrm>
            <a:off x="10698480" y="5349240"/>
            <a:ext cx="3108960" cy="731520"/>
          </a:xfrm>
          <a:prstGeom prst="rect">
            <a:avLst/>
          </a:prstGeom>
          <a:noFill/>
        </p:spPr>
        <p:txBody>
          <a:bodyPr wrap="square">
            <a:spAutoFit/>
          </a:bodyPr>
          <a:lstStyle/>
          <a:p>
            <a:pPr algn="r" rtl="1">
              <a:defRPr sz="1600" b="1">
                <a:solidFill>
                  <a:srgbClr val="7D2B42"/>
                </a:solidFill>
                <a:latin typeface="Montserrat"/>
              </a:defRPr>
            </a:pPr>
            <a:r>
              <a:rPr sz="1600">
                <a:latin typeface="IBM Plex Sans Arabic"/>
              </a:rPr>
              <a:t>الاكتمال قبل التقدير</a:t>
            </a:r>
          </a:p>
        </p:txBody>
      </p:sp>
      <p:sp>
        <p:nvSpPr>
          <p:cNvPr id="11" name="TextBox 10"/>
          <p:cNvSpPr txBox="1"/>
          <p:nvPr/>
        </p:nvSpPr>
        <p:spPr>
          <a:xfrm>
            <a:off x="914400" y="5349240"/>
            <a:ext cx="9601200" cy="822960"/>
          </a:xfrm>
          <a:prstGeom prst="rect">
            <a:avLst/>
          </a:prstGeom>
          <a:noFill/>
        </p:spPr>
        <p:txBody>
          <a:bodyPr wrap="square">
            <a:spAutoFit/>
          </a:bodyPr>
          <a:lstStyle/>
          <a:p>
            <a:pPr algn="r" rtl="1">
              <a:defRPr sz="1600" b="0">
                <a:solidFill>
                  <a:srgbClr val="202020"/>
                </a:solidFill>
                <a:latin typeface="Montserrat"/>
              </a:defRPr>
            </a:pPr>
            <a:r>
              <a:rPr sz="1600">
                <a:latin typeface="IBM Plex Sans Arabic"/>
              </a:rPr>
              <a:t>قد تنتج خانات تقييم المدير الفارغة مساهمات صفرية. لا تعتبر النماذج الناقصة تقييمات مكتملة.</a:t>
            </a:r>
          </a:p>
        </p:txBody>
      </p:sp>
      <p:sp>
        <p:nvSpPr>
          <p:cNvPr id="12" name="TextBox 11"/>
          <p:cNvSpPr txBox="1"/>
          <p:nvPr/>
        </p:nvSpPr>
        <p:spPr>
          <a:xfrm>
            <a:off x="10698480" y="6309360"/>
            <a:ext cx="3108960" cy="731520"/>
          </a:xfrm>
          <a:prstGeom prst="rect">
            <a:avLst/>
          </a:prstGeom>
          <a:noFill/>
        </p:spPr>
        <p:txBody>
          <a:bodyPr wrap="square">
            <a:spAutoFit/>
          </a:bodyPr>
          <a:lstStyle/>
          <a:p>
            <a:pPr algn="r" rtl="1">
              <a:defRPr sz="1600" b="1">
                <a:solidFill>
                  <a:srgbClr val="7D2B42"/>
                </a:solidFill>
                <a:latin typeface="Montserrat"/>
              </a:defRPr>
            </a:pPr>
            <a:r>
              <a:rPr sz="1600">
                <a:latin typeface="IBM Plex Sans Arabic"/>
              </a:rPr>
              <a:t>الفترة التالية</a:t>
            </a:r>
          </a:p>
        </p:txBody>
      </p:sp>
      <p:sp>
        <p:nvSpPr>
          <p:cNvPr id="13" name="TextBox 12"/>
          <p:cNvSpPr txBox="1"/>
          <p:nvPr/>
        </p:nvSpPr>
        <p:spPr>
          <a:xfrm>
            <a:off x="914400" y="6309360"/>
            <a:ext cx="9601200" cy="822960"/>
          </a:xfrm>
          <a:prstGeom prst="rect">
            <a:avLst/>
          </a:prstGeom>
          <a:noFill/>
        </p:spPr>
        <p:txBody>
          <a:bodyPr wrap="square">
            <a:spAutoFit/>
          </a:bodyPr>
          <a:lstStyle/>
          <a:p>
            <a:pPr algn="r" rtl="1">
              <a:defRPr sz="1600" b="0">
                <a:solidFill>
                  <a:srgbClr val="202020"/>
                </a:solidFill>
                <a:latin typeface="Montserrat"/>
              </a:defRPr>
            </a:pPr>
            <a:r>
              <a:rPr sz="1600">
                <a:latin typeface="IBM Plex Sans Arabic"/>
              </a:rPr>
              <a:t>سجّل الملاحظات وأهداف SMART والتدريب. تابع الأهداف ربع السنوية ضمن المراجعات الشهرية؛ وقرارات الراتب والترقية ليست تلقائية.</a:t>
            </a:r>
          </a:p>
        </p:txBody>
      </p:sp>
      <p:sp>
        <p:nvSpPr>
          <p:cNvPr id="14" name="TextBox 13"/>
          <p:cNvSpPr txBox="1"/>
          <p:nvPr/>
        </p:nvSpPr>
        <p:spPr>
          <a:xfrm>
            <a:off x="1097280" y="7726679"/>
            <a:ext cx="12801600" cy="274320"/>
          </a:xfrm>
          <a:prstGeom prst="rect">
            <a:avLst/>
          </a:prstGeom>
          <a:noFill/>
        </p:spPr>
        <p:txBody>
          <a:bodyPr wrap="square">
            <a:spAutoFit/>
          </a:bodyPr>
          <a:lstStyle/>
          <a:p>
            <a:pPr algn="r" rtl="1">
              <a:defRPr sz="900" b="0">
                <a:solidFill>
                  <a:srgbClr val="555555"/>
                </a:solidFill>
                <a:latin typeface="Montserrat"/>
              </a:defRPr>
            </a:pPr>
            <a:r>
              <a:rPr sz="1000">
                <a:latin typeface="IBM Plex Sans Arabic"/>
              </a:rPr>
              <a:t>الإجراء فقط: لا تتضمن الحزمة تقييمات موظفين مكتملة أو رواتب أو ملفات المصدر الخاصة.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