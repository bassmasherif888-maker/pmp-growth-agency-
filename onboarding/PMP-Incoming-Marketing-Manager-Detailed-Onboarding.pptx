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companion to the detailed runbook. Confirmed rules derive from user instructions; manager inspection aids and routines are recommendations. No real client data, completion claim, live authority or actual access is implied. Use the corresponding runbook chapter for full procedure, evidence and exceptions.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FFFFFF"/>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FFFFFF"/>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FFFFFF"/>
                </a:solidFill>
                <a:latin typeface="Bebas Neue"/>
              </a:defRPr>
            </a:pPr>
            <a:r>
              <a:t>MARKETING MANAGER</a:t>
            </a:r>
          </a:p>
          <a:p>
            <a:pPr>
              <a:spcAft>
                <a:spcPts val="600"/>
              </a:spcAft>
              <a:defRPr sz="3500" b="1">
                <a:solidFill>
                  <a:srgbClr val="FFFFFF"/>
                </a:solidFill>
                <a:latin typeface="Bebas Neue"/>
              </a:defRPr>
            </a:pPr>
            <a:r>
              <a:t>ONBOARDING &amp; OPERATING RUNBOOK</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FFFFFF"/>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FFFFFF"/>
                </a:solidFill>
                <a:latin typeface="Montserrat"/>
              </a:defRPr>
            </a:pPr>
            <a:r>
              <a:t>01</a:t>
            </a:r>
          </a:p>
        </p:txBody>
      </p:sp>
      <p:sp>
        <p:nvSpPr>
          <p:cNvPr id="8" name="TextBox 7"/>
          <p:cNvSpPr txBox="1"/>
          <p:nvPr/>
        </p:nvSpPr>
        <p:spPr>
          <a:xfrm>
            <a:off x="822960" y="3474720"/>
            <a:ext cx="12801600" cy="2011680"/>
          </a:xfrm>
          <a:prstGeom prst="rect">
            <a:avLst/>
          </a:prstGeom>
          <a:noFill/>
        </p:spPr>
        <p:txBody>
          <a:bodyPr wrap="square" lIns="18288" rIns="18288" tIns="0" bIns="0">
            <a:spAutoFit/>
          </a:bodyPr>
          <a:lstStyle/>
          <a:p>
            <a:pPr>
              <a:spcAft>
                <a:spcPts val="600"/>
              </a:spcAft>
              <a:defRPr sz="3900" b="1">
                <a:solidFill>
                  <a:srgbClr val="FFCC00"/>
                </a:solidFill>
                <a:latin typeface="Montserrat"/>
              </a:defRPr>
            </a:pPr>
            <a:r>
              <a:t>Learn the system. Inspect the evidence.</a:t>
            </a:r>
          </a:p>
          <a:p>
            <a:pPr>
              <a:spcAft>
                <a:spcPts val="600"/>
              </a:spcAft>
              <a:defRPr sz="3900" b="1">
                <a:solidFill>
                  <a:srgbClr val="FFCC00"/>
                </a:solidFill>
                <a:latin typeface="Montserrat"/>
              </a:defRPr>
            </a:pPr>
            <a:r>
              <a:t>Lead the daily workflow.</a:t>
            </a:r>
          </a:p>
        </p:txBody>
      </p:sp>
      <p:sp>
        <p:nvSpPr>
          <p:cNvPr id="9" name="TextBox 8"/>
          <p:cNvSpPr txBox="1"/>
          <p:nvPr/>
        </p:nvSpPr>
        <p:spPr>
          <a:xfrm>
            <a:off x="822960" y="6309360"/>
            <a:ext cx="12801600" cy="914400"/>
          </a:xfrm>
          <a:prstGeom prst="rect">
            <a:avLst/>
          </a:prstGeom>
          <a:noFill/>
        </p:spPr>
        <p:txBody>
          <a:bodyPr wrap="square" lIns="18288" rIns="18288" tIns="0" bIns="0">
            <a:spAutoFit/>
          </a:bodyPr>
          <a:lstStyle/>
          <a:p>
            <a:pPr>
              <a:spcAft>
                <a:spcPts val="600"/>
              </a:spcAft>
              <a:defRPr sz="2000" b="0">
                <a:solidFill>
                  <a:srgbClr val="FFFFFF"/>
                </a:solidFill>
                <a:latin typeface="Montserrat"/>
              </a:defRPr>
            </a:pPr>
            <a:r>
              <a:t>Detailed training companion • Practical playbooks • Worked examples • Reusable templates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HOW TO USE THIS PACK</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02</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THE MANUAL</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Detailed DOCX/PDF: procedures, manager checks, tools, review rubrics, scenarios, templates and answer keys.</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THE TRAINING DECK</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Walk the sequence with the assessor. Every gate must be demonstrated against real records privately; training is not authority by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YOUR MANDATE AND YOUR LIMITS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03</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MM RESPONSIBILITY</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Strategy leadership, final internal approval and direct video-quality review.</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WORK WITH AM</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distributes, monitors and collects work; maintain one execution picture.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WORK WITH HEADS</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Content/Design heads review their teams before MM final internal approval.</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DO NOT ASSUME</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Financial/platform authority, backup reviewers, SLAs and unconfirmed reporting lines.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NO FALSE READINESS</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Owner/assessor confirms competence and delegated authority explicitly.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THE FIRST 30 DAYS / RECOMMENDED, NOT COMPANY SLA</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04</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DAYS 1–2</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Read map; verify authorized access; trace one actual account with AM.</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DAYS 3–5</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Shadow quality reviews, revision loops and AM client-pack assembly.</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WEEK 2</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Run supervised daily checks and sample review decisions.</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WEEK 3</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Coordinate a small approved scope and report evidence-led actions.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WEEK 4</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Demonstrate end-to-end reasoning and exceptions; record gaps and delegation.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MILESTONES YOU MUST KEEP SEPARATE</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05</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READY TO SIGN</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After meeting one: only now start AM-led actual strategy with SM/MM/MB.</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CONTRACT SIGNED</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Move same folder out of Quotations; payment remains a separate gate.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FUNDS VERIFIED</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Signed pack + required upfront payment enables contracted delivery.</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INTERNALLY APPROVED</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may gather finalized work into one client PPTX.</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CLIENT APPROVED</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SM receives approved version; final Design/Video archive allowed.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PEOPLE AND RELATIONSHIPS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06</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14 POSITIONS</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Keep Graphic Designers 1/2 and Video Editors 1/2 distinct.</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REPORTING</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Editors directly report to MM. Other lines remain proposed until confirmed.</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COORDINATION</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coordinates work; does not automatically line-manage production.</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ACCOUNTABILITY</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One holder per task; collaborators do not erase ownership.</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APPROVAL</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Quality, MM final internal and final client decisions are different.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WHERE TO FIND THE ANSWER</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07</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ACTUAL NEED</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Meeting brief, actual strategy and signed scope—not only initial proposal.</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CURRENT WORK</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Task sheet, holder, inputs/dependencies, dates and current output.</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REVIEW</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Comment author, holder response, reviewer decision and version.</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CLIENT RELEASE</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presentation/version, final client decision and approved assets.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RESULTS / SPEND</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Dated performance/listening sources and verified actual media expenses.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DRIVE AND SUBMISSION / THE IMPORTANT EXCEPTION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08</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CONTENT WORKING CALENDAR</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Submit on the sheet + upload monthly calendar PPTX to Drive. Comments stay on that same calendar.</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DESIGN / VIDEO FINAL ARCHIVE</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Store final copies only after internal and client approval. Draft-review location still needs confirmation.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DAILY LOOP / PROPOSED FOR CONFIRMATION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09</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OPEN</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AM/heads/MM check due work, missing inputs, owners and waiting decisions.</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EXECUTE</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Holders update tasks and references; AM coordinates blockers and scope.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REVIEW</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Heads/MM give executable feedback tied to current output/version.</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RELEASE</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checks client approval; SM checks calendar, assets and community issues.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CLOSE</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Reconcile sheet and daily-finished log; carry open comments and next owners forward.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SOP-01 / PROSPECT AND QUALIFY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10</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 potentially suitable business or an inbound lead is identified.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Use on-ground visits, researched cold calls, LinkedIn search, email campaigns or calls to leads generated by PMP media buying.</a:t>
            </a:r>
          </a:p>
          <a:p>
            <a:pPr>
              <a:spcAft>
                <a:spcPts val="600"/>
              </a:spcAft>
              <a:defRPr sz="1600" b="0">
                <a:solidFill>
                  <a:srgbClr val="202020"/>
                </a:solidFill>
                <a:latin typeface="Montserrat"/>
              </a:defRPr>
            </a:pPr>
            <a:r>
              <a:t>2. Record the opportunity, contact, need, outreach outcome and next action in the agreed lead register. The lead-register tool and fields are proposed pending owner confirmation.</a:t>
            </a:r>
          </a:p>
          <a:p>
            <a:pPr>
              <a:spcAft>
                <a:spcPts val="600"/>
              </a:spcAft>
              <a:defRPr sz="1600" b="0">
                <a:solidFill>
                  <a:srgbClr val="202020"/>
                </a:solidFill>
                <a:latin typeface="Montserrat"/>
              </a:defRPr>
            </a:pPr>
            <a:r>
              <a:t>3. Book an online or offline first meeting. Keep the Account Manager involved.</a:t>
            </a:r>
          </a:p>
          <a:p>
            <a:pPr>
              <a:spcAft>
                <a:spcPts val="600"/>
              </a:spcAft>
              <a:defRPr sz="1600" b="0">
                <a:solidFill>
                  <a:srgbClr val="202020"/>
                </a:solidFill>
                <a:latin typeface="Montserrat"/>
              </a:defRPr>
            </a:pPr>
            <a:r>
              <a:t>4. Prepare a prospect/client-named folder inside PMP Drive / Quotations. Sales or BD is accountable for folder setup.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SOP-01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Check why the business is a suitable prospect, which channel produced the lead and who owns the next action.</a:t>
            </a:r>
          </a:p>
          <a:p>
            <a:pPr>
              <a:spcAft>
                <a:spcPts val="600"/>
              </a:spcAft>
              <a:defRPr sz="2100" b="0">
                <a:solidFill>
                  <a:srgbClr val="202020"/>
                </a:solidFill>
                <a:latin typeface="Montserrat"/>
              </a:defRPr>
            </a:pPr>
            <a:r>
              <a:t>• Ask Sales/BD to distinguish a response, a booked meeting, interest, readiness to sign and a signed contract.</a:t>
            </a:r>
          </a:p>
          <a:p>
            <a:pPr>
              <a:spcAft>
                <a:spcPts val="600"/>
              </a:spcAft>
              <a:defRPr sz="2100" b="0">
                <a:solidFill>
                  <a:srgbClr val="202020"/>
                </a:solidFill>
                <a:latin typeface="Montserrat"/>
              </a:defRPr>
            </a:pPr>
            <a:r>
              <a:t>• Check that AM has context before the client meeting, rather than receiving the account after closing.</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No clear service need or next owner: return for qualification; do not represent it as a won account.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SOP-02 / PREPARE THE AUDIT AND INITIAL PROPOSAL</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12</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First meeting booked.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Use supplied SKILL-1.md (SSM Strategy): confirm scope, format, language and available access.</a:t>
            </a:r>
          </a:p>
          <a:p>
            <a:pPr>
              <a:spcAft>
                <a:spcPts val="600"/>
              </a:spcAft>
              <a:defRPr sz="1600" b="0">
                <a:solidFill>
                  <a:srgbClr val="202020"/>
                </a:solidFill>
                <a:latin typeface="Montserrat"/>
              </a:defRPr>
            </a:pPr>
            <a:r>
              <a:t>2. Research before prescribing: brief, social channels, website, assets, competitors and category context. Record dated sources and what cannot be verified.</a:t>
            </a:r>
          </a:p>
          <a:p>
            <a:pPr>
              <a:spcAft>
                <a:spcPts val="600"/>
              </a:spcAft>
              <a:defRPr sz="1600" b="0">
                <a:solidFill>
                  <a:srgbClr val="202020"/>
                </a:solidFill>
                <a:latin typeface="Montserrat"/>
              </a:defRPr>
            </a:pPr>
            <a:r>
              <a:t>3. Label Observed facts, Interpretation and Recommendation separately. Public views alone do not prove paid boosting.</a:t>
            </a:r>
          </a:p>
          <a:p>
            <a:pPr>
              <a:spcAft>
                <a:spcPts val="600"/>
              </a:spcAft>
              <a:defRPr sz="1600" b="0">
                <a:solidFill>
                  <a:srgbClr val="202020"/>
                </a:solidFill>
                <a:latin typeface="Montserrat"/>
              </a:defRPr>
            </a:pPr>
            <a:r>
              <a:t>4. Prepare an initial strategy/proposal and three quotation tiers after the audit. Use actual market ranges, previous PMP prices, client industry/class and proposed scope.</a:t>
            </a:r>
          </a:p>
          <a:p>
            <a:pPr>
              <a:spcAft>
                <a:spcPts val="600"/>
              </a:spcAft>
              <a:defRPr sz="1600" b="0">
                <a:solidFill>
                  <a:srgbClr val="202020"/>
                </a:solidFill>
                <a:latin typeface="Montserrat"/>
              </a:defRPr>
            </a:pPr>
            <a:r>
              <a:t>5. Study the actual problems and proposed solutions carefully before meeting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SOP-02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Open the actual source notes and proposal; a polished deck alone does not demonstrate research.</a:t>
            </a:r>
          </a:p>
          <a:p>
            <a:pPr>
              <a:spcAft>
                <a:spcPts val="600"/>
              </a:spcAft>
              <a:defRPr sz="2100" b="0">
                <a:solidFill>
                  <a:srgbClr val="202020"/>
                </a:solidFill>
                <a:latin typeface="Montserrat"/>
              </a:defRPr>
            </a:pPr>
            <a:r>
              <a:t>• Check that every claim is labeled as Observed, Interpretation or Recommendation. Inspect source dates and inaccessible-source disclosures.</a:t>
            </a:r>
          </a:p>
          <a:p>
            <a:pPr>
              <a:spcAft>
                <a:spcPts val="600"/>
              </a:spcAft>
              <a:defRPr sz="2100" b="0">
                <a:solidFill>
                  <a:srgbClr val="202020"/>
                </a:solidFill>
                <a:latin typeface="Montserrat"/>
              </a:defRPr>
            </a:pPr>
            <a:r>
              <a:t>• Compare proposed deliverables to the available assets and capacity. Do not approve a plan that assumes nonexistent footage or capabilities.</a:t>
            </a:r>
          </a:p>
          <a:p>
            <a:pPr>
              <a:spcAft>
                <a:spcPts val="600"/>
              </a:spcAft>
              <a:defRPr sz="2100" b="0">
                <a:solidFill>
                  <a:srgbClr val="202020"/>
                </a:solidFill>
                <a:latin typeface="Montserrat"/>
              </a:defRPr>
            </a:pPr>
            <a:r>
              <a:t>• Check the three tiers against proposed scope, actual market-range evidence and previous-price records. No invented market rates.</a:t>
            </a:r>
          </a:p>
          <a:p>
            <a:pPr>
              <a:spcAft>
                <a:spcPts val="600"/>
              </a:spcAft>
              <a:defRPr sz="2100" b="0">
                <a:solidFill>
                  <a:srgbClr val="202020"/>
                </a:solidFill>
                <a:latin typeface="Montserrat"/>
              </a:defRPr>
            </a:pPr>
            <a:r>
              <a:t>• Ensure Sales/BD has studied the problems and solutions rather than simply forwarding skill output.</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Unsupported claim: relabel or verify. Missing pricing evidence: do not present an invented price as market-validated.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SOP-03 / FIRST MEETING AND READINESS TO SIGN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14</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Prepared first meeting takes place online or offline.</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Present observed problems, proposed solutions and scope options.</a:t>
            </a:r>
          </a:p>
          <a:p>
            <a:pPr>
              <a:spcAft>
                <a:spcPts val="600"/>
              </a:spcAft>
              <a:defRPr sz="1600" b="0">
                <a:solidFill>
                  <a:srgbClr val="202020"/>
                </a:solidFill>
                <a:latin typeface="Montserrat"/>
              </a:defRPr>
            </a:pPr>
            <a:r>
              <a:t>2. Capture the actual client brief: objectives, priorities, constraints, service needs and information that differs from the initial assumptions.</a:t>
            </a:r>
          </a:p>
          <a:p>
            <a:pPr>
              <a:spcAft>
                <a:spcPts val="600"/>
              </a:spcAft>
              <a:defRPr sz="1600" b="0">
                <a:solidFill>
                  <a:srgbClr val="202020"/>
                </a:solidFill>
                <a:latin typeface="Montserrat"/>
              </a:defRPr>
            </a:pPr>
            <a:r>
              <a:t>3. Establish whether the client is ready to sign the contract. Record that readiness separately from actual signature.</a:t>
            </a:r>
          </a:p>
          <a:p>
            <a:pPr>
              <a:spcAft>
                <a:spcPts val="600"/>
              </a:spcAft>
              <a:defRPr sz="1600" b="0">
                <a:solidFill>
                  <a:srgbClr val="202020"/>
                </a:solidFill>
                <a:latin typeface="Montserrat"/>
              </a:defRPr>
            </a:pPr>
            <a:r>
              <a:t>4. If not ready, keep the opportunity in pre-sales follow-up; actual-strategy development remains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SOP-03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Read the meeting brief and identify what changed from the initial assumptions.</a:t>
            </a:r>
          </a:p>
          <a:p>
            <a:pPr>
              <a:spcAft>
                <a:spcPts val="600"/>
              </a:spcAft>
              <a:defRPr sz="2100" b="0">
                <a:solidFill>
                  <a:srgbClr val="202020"/>
                </a:solidFill>
                <a:latin typeface="Montserrat"/>
              </a:defRPr>
            </a:pPr>
            <a:r>
              <a:t>• Look for an explicit client-readiness-to-sign record; interest or a successful meeting is not the same milestone.</a:t>
            </a:r>
          </a:p>
          <a:p>
            <a:pPr>
              <a:spcAft>
                <a:spcPts val="600"/>
              </a:spcAft>
              <a:defRPr sz="2100" b="0">
                <a:solidFill>
                  <a:srgbClr val="202020"/>
                </a:solidFill>
                <a:latin typeface="Montserrat"/>
              </a:defRPr>
            </a:pPr>
            <a:r>
              <a:t>• If readiness is absent, keep the actual-strategy working group pending. Sales/BD and AM retain the next pre-sales action.</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Client not ready: remain in pre-sales. Do not start actual-strategy development simply because meeting one happened.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SOP-04 / DEVELOP THE ACTUAL STRATEGY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16</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Meeting one completed AND client confirms readiness to sign.</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AM compares the initial proposal with the actual brief and identifies mismatches, new requirements and assumptions needing correction.</a:t>
            </a:r>
          </a:p>
          <a:p>
            <a:pPr>
              <a:spcAft>
                <a:spcPts val="600"/>
              </a:spcAft>
              <a:defRPr sz="1600" b="0">
                <a:solidFill>
                  <a:srgbClr val="202020"/>
                </a:solidFill>
                <a:latin typeface="Montserrat"/>
              </a:defRPr>
            </a:pPr>
            <a:r>
              <a:t>2. AM develops the actual strategy with Social Media Specialist, Marketing Manager and Media Buyer.</a:t>
            </a:r>
          </a:p>
          <a:p>
            <a:pPr>
              <a:spcAft>
                <a:spcPts val="600"/>
              </a:spcAft>
              <a:defRPr sz="1600" b="0">
                <a:solidFill>
                  <a:srgbClr val="202020"/>
                </a:solidFill>
                <a:latin typeface="Montserrat"/>
              </a:defRPr>
            </a:pPr>
            <a:r>
              <a:t>3. Apply the supplied strategy method to the agreed scope; revisit evidence and disclose gaps rather than carrying unsupported proposal assumptions forward.</a:t>
            </a:r>
          </a:p>
          <a:p>
            <a:pPr>
              <a:spcAft>
                <a:spcPts val="600"/>
              </a:spcAft>
              <a:defRPr sz="1600" b="0">
                <a:solidFill>
                  <a:srgbClr val="202020"/>
                </a:solidFill>
                <a:latin typeface="Montserrat"/>
              </a:defRPr>
            </a:pPr>
            <a:r>
              <a:t>4. Reconcile strategy-driven scope changes with the agreed quotation before printing the second-meeting pack.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SOP-04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Ask AM for a proposal-versus-actual-brief comparison before accepting the actual strategy.</a:t>
            </a:r>
          </a:p>
          <a:p>
            <a:pPr>
              <a:spcAft>
                <a:spcPts val="600"/>
              </a:spcAft>
              <a:defRPr sz="2100" b="0">
                <a:solidFill>
                  <a:srgbClr val="202020"/>
                </a:solidFill>
                <a:latin typeface="Montserrat"/>
              </a:defRPr>
            </a:pPr>
            <a:r>
              <a:t>• Work with AM, SM and MB to resolve mismatches in objective, channel, audience, resources, measurement and paid-media assumptions.</a:t>
            </a:r>
          </a:p>
          <a:p>
            <a:pPr>
              <a:spcAft>
                <a:spcPts val="600"/>
              </a:spcAft>
              <a:defRPr sz="2100" b="0">
                <a:solidFill>
                  <a:srgbClr val="202020"/>
                </a:solidFill>
                <a:latin typeface="Montserrat"/>
              </a:defRPr>
            </a:pPr>
            <a:r>
              <a:t>• Check whether changes affect deliverable quantities, production effort, scope or quotation; do not silently add work.</a:t>
            </a:r>
          </a:p>
          <a:p>
            <a:pPr>
              <a:spcAft>
                <a:spcPts val="600"/>
              </a:spcAft>
              <a:defRPr sz="2100" b="0">
                <a:solidFill>
                  <a:srgbClr val="202020"/>
                </a:solidFill>
                <a:latin typeface="Montserrat"/>
              </a:defRPr>
            </a:pPr>
            <a:r>
              <a:t>• Keep the proposal, actual strategy and agreed quotation distinguishable. The final strategy in the signing pack must reflect the actual brief.</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Readiness not confirmed: stop this preparation step. Conflicting requirements: AM resolves them with client before promising delivery.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SOP-05 / SECOND MEETING, SIGNATURES AND FOLDER MOVE</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18</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Client ready to sign; actual strategy and agreed scope/quotation prepared.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Present all four printed materials at meeting two.</a:t>
            </a:r>
          </a:p>
          <a:p>
            <a:pPr>
              <a:spcAft>
                <a:spcPts val="600"/>
              </a:spcAft>
              <a:defRPr sz="1600" b="0">
                <a:solidFill>
                  <a:srgbClr val="202020"/>
                </a:solidFill>
                <a:latin typeface="Montserrat"/>
              </a:defRPr>
            </a:pPr>
            <a:r>
              <a:t>2. Client signs the client brief, actual strategy, agreed quotation and contract.</a:t>
            </a:r>
          </a:p>
          <a:p>
            <a:pPr>
              <a:spcAft>
                <a:spcPts val="600"/>
              </a:spcAft>
              <a:defRPr sz="1600" b="0">
                <a:solidFill>
                  <a:srgbClr val="202020"/>
                </a:solidFill>
                <a:latin typeface="Montserrat"/>
              </a:defRPr>
            </a:pPr>
            <a:r>
              <a:t>3. On contract signing, Sales or BD moves the SAME folder from PMP Drive / Quotations / [Client name] to PMP Drive / [Client name]. Do not duplicate it.</a:t>
            </a:r>
          </a:p>
          <a:p>
            <a:pPr>
              <a:spcAft>
                <a:spcPts val="600"/>
              </a:spcAft>
              <a:defRPr sz="1600" b="0">
                <a:solidFill>
                  <a:srgbClr val="202020"/>
                </a:solidFill>
                <a:latin typeface="Montserrat"/>
              </a:defRPr>
            </a:pPr>
            <a:r>
              <a:t>4. Retain quotation records and organize Start Strategy, Client Brief, Content/monthly calendars, Design/monthly final designs, Videos/monthly final videos and other scope-specific work.</a:t>
            </a:r>
          </a:p>
          <a:p>
            <a:pPr>
              <a:spcAft>
                <a:spcPts val="600"/>
              </a:spcAft>
              <a:defRPr sz="1600" b="0">
                <a:solidFill>
                  <a:srgbClr val="202020"/>
                </a:solidFill>
                <a:latin typeface="Montserrat"/>
              </a:defRPr>
            </a:pPr>
            <a:r>
              <a:t>5. AM opens the project WhatsApp group with client, PMP owner, Marketing Manager and relevant stakeholders.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SOP-05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19</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Check the printed brief, actual strategy, agreed quotation and contract refer to the same account and scope; all four must be signed.</a:t>
            </a:r>
          </a:p>
          <a:p>
            <a:pPr>
              <a:spcAft>
                <a:spcPts val="600"/>
              </a:spcAft>
              <a:defRPr sz="2100" b="0">
                <a:solidFill>
                  <a:srgbClr val="202020"/>
                </a:solidFill>
                <a:latin typeface="Montserrat"/>
              </a:defRPr>
            </a:pPr>
            <a:r>
              <a:t>• Confirm the folder was moved, not copied: before PMP Drive / Quotations / [Client]; after PMP Drive / [Client].</a:t>
            </a:r>
          </a:p>
          <a:p>
            <a:pPr>
              <a:spcAft>
                <a:spcPts val="600"/>
              </a:spcAft>
              <a:defRPr sz="2100" b="0">
                <a:solidFill>
                  <a:srgbClr val="202020"/>
                </a:solidFill>
                <a:latin typeface="Montserrat"/>
              </a:defRPr>
            </a:pPr>
            <a:r>
              <a:t>• Check quotation records are retained and production folders are organized for the correct client/month.</a:t>
            </a:r>
          </a:p>
          <a:p>
            <a:pPr>
              <a:spcAft>
                <a:spcPts val="600"/>
              </a:spcAft>
              <a:defRPr sz="2100" b="0">
                <a:solidFill>
                  <a:srgbClr val="202020"/>
                </a:solidFill>
                <a:latin typeface="Montserrat"/>
              </a:defRPr>
            </a:pPr>
            <a:r>
              <a:t>• Confirm AM established the client WhatsApp group and the appropriate stakeholders are included.</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Folder moved but signatures/payment missing: do not infer delivery readiness from folder location.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SOP-06 / CONFIRM PAYMENT BEFORE CONTRACTED DELIVERY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20</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Commercial materials signed.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For SOCIAL MEDIA MANAGEMENT ONLY: require 100% of the agreed contract amount before contracted work starts.</a:t>
            </a:r>
          </a:p>
          <a:p>
            <a:pPr>
              <a:spcAft>
                <a:spcPts val="600"/>
              </a:spcAft>
              <a:defRPr sz="1600" b="0">
                <a:solidFill>
                  <a:srgbClr val="202020"/>
                </a:solidFill>
                <a:latin typeface="Montserrat"/>
              </a:defRPr>
            </a:pPr>
            <a:r>
              <a:t>2. For a contract INCLUDING OTHER SERVICES: require at least 50% of the agreed contract amount before contracted work starts.</a:t>
            </a:r>
          </a:p>
          <a:p>
            <a:pPr>
              <a:spcAft>
                <a:spcPts val="600"/>
              </a:spcAft>
              <a:defRPr sz="1600" b="0">
                <a:solidFill>
                  <a:srgbClr val="202020"/>
                </a:solidFill>
                <a:latin typeface="Montserrat"/>
              </a:defRPr>
            </a:pPr>
            <a:r>
              <a:t>3. Record payment evidence and confirmation from the authorized verifier. A verbal claim or demo calculator is not verification of funds.</a:t>
            </a:r>
          </a:p>
          <a:p>
            <a:pPr>
              <a:spcAft>
                <a:spcPts val="600"/>
              </a:spcAft>
              <a:defRPr sz="1600" b="0">
                <a:solidFill>
                  <a:srgbClr val="202020"/>
                </a:solidFill>
                <a:latin typeface="Montserrat"/>
              </a:defRPr>
            </a:pPr>
            <a:r>
              <a:t>4. Treat the media-buying fee separately: after executing the plan, calculate the user-described 25% retainer on verified ACTUAL media expenses.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SOP-06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Determine contract category from the agreed scope, not an assumption about the client.</a:t>
            </a:r>
          </a:p>
          <a:p>
            <a:pPr>
              <a:spcAft>
                <a:spcPts val="600"/>
              </a:spcAft>
              <a:defRPr sz="2100" b="0">
                <a:solidFill>
                  <a:srgbClr val="202020"/>
                </a:solidFill>
                <a:latin typeface="Montserrat"/>
              </a:defRPr>
            </a:pPr>
            <a:r>
              <a:t>• Social-management-only: require the full contract amount before delivery. Other-services-included: require at least half.</a:t>
            </a:r>
          </a:p>
          <a:p>
            <a:pPr>
              <a:spcAft>
                <a:spcPts val="600"/>
              </a:spcAft>
              <a:defRPr sz="2100" b="0">
                <a:solidFill>
                  <a:srgbClr val="202020"/>
                </a:solidFill>
                <a:latin typeface="Montserrat"/>
              </a:defRPr>
            </a:pPr>
            <a:r>
              <a:t>• Identify the authorized payment verifier with the owner; this manual does not assign that financial authority automatically to MM or AM.</a:t>
            </a:r>
          </a:p>
          <a:p>
            <a:pPr>
              <a:spcAft>
                <a:spcPts val="600"/>
              </a:spcAft>
              <a:defRPr sz="2100" b="0">
                <a:solidFill>
                  <a:srgbClr val="202020"/>
                </a:solidFill>
                <a:latin typeface="Montserrat"/>
              </a:defRPr>
            </a:pPr>
            <a:r>
              <a:t>• Separate the post-execution 25% media fee from the upfront contract gate and from the media budget.</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Missing verification: hold contracted production. Do not invent balance dates, tax rules or media funding terms.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SOP-07 / BRIEF, ASSIGN AND MONITOR PRODUCTION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22</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Signed pack and required upfront payment confirmed.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AM writes the actionable production brief and distributes tasks to Content, Design and Editing.</a:t>
            </a:r>
          </a:p>
          <a:p>
            <a:pPr>
              <a:spcAft>
                <a:spcPts val="600"/>
              </a:spcAft>
              <a:defRPr sz="1600" b="0">
                <a:solidFill>
                  <a:srgbClr val="202020"/>
                </a:solidFill>
                <a:latin typeface="Montserrat"/>
              </a:defRPr>
            </a:pPr>
            <a:r>
              <a:t>2. Give every task one accountable holder. Include account, priority, deadline, task brief, inputs, output/reference and required reviewer.</a:t>
            </a:r>
          </a:p>
          <a:p>
            <a:pPr>
              <a:spcAft>
                <a:spcPts val="600"/>
              </a:spcAft>
              <a:defRPr sz="1600" b="0">
                <a:solidFill>
                  <a:srgbClr val="202020"/>
                </a:solidFill>
                <a:latin typeface="Montserrat"/>
              </a:defRPr>
            </a:pPr>
            <a:r>
              <a:t>3. Record start/end dates as work progresses and keep task links, reviewer notes and task-holder notes current.</a:t>
            </a:r>
          </a:p>
          <a:p>
            <a:pPr>
              <a:spcAft>
                <a:spcPts val="600"/>
              </a:spcAft>
              <a:defRPr sz="1600" b="0">
                <a:solidFill>
                  <a:srgbClr val="202020"/>
                </a:solidFill>
                <a:latin typeface="Montserrat"/>
              </a:defRPr>
            </a:pPr>
            <a:r>
              <a:t>4. AM monitors execution, follows up on blockers and keeps the client context connected to the work.</a:t>
            </a:r>
          </a:p>
          <a:p>
            <a:pPr>
              <a:spcAft>
                <a:spcPts val="600"/>
              </a:spcAft>
              <a:defRPr sz="1600" b="0">
                <a:solidFill>
                  <a:srgbClr val="202020"/>
                </a:solidFill>
                <a:latin typeface="Montserrat"/>
              </a:defRPr>
            </a:pPr>
            <a:r>
              <a:t>5. Where a task has multiple contributors, identify one accountable owner; do not silently treat a shared sheet entry as ownership by everyone.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SOP-07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Check every task has one accountable holder, its actual brief, a usable output definition, priority, deadline, input links and reviewer.</a:t>
            </a:r>
          </a:p>
          <a:p>
            <a:pPr>
              <a:spcAft>
                <a:spcPts val="600"/>
              </a:spcAft>
              <a:defRPr sz="2100" b="0">
                <a:solidFill>
                  <a:srgbClr val="202020"/>
                </a:solidFill>
                <a:latin typeface="Montserrat"/>
              </a:defRPr>
            </a:pPr>
            <a:r>
              <a:t>• Check upstream dependencies: the next person should not have to infer missing copy, dimensions, footage, terms or client instructions.</a:t>
            </a:r>
          </a:p>
          <a:p>
            <a:pPr>
              <a:spcAft>
                <a:spcPts val="600"/>
              </a:spcAft>
              <a:defRPr sz="2100" b="0">
                <a:solidFill>
                  <a:srgbClr val="202020"/>
                </a:solidFill>
                <a:latin typeface="Montserrat"/>
              </a:defRPr>
            </a:pPr>
            <a:r>
              <a:t>• Work through AM to maintain one execution view while heads manage their quality work.</a:t>
            </a:r>
          </a:p>
          <a:p>
            <a:pPr>
              <a:spcAft>
                <a:spcPts val="600"/>
              </a:spcAft>
              <a:defRPr sz="2100" b="0">
                <a:solidFill>
                  <a:srgbClr val="202020"/>
                </a:solidFill>
                <a:latin typeface="Montserrat"/>
              </a:defRPr>
            </a:pPr>
            <a:r>
              <a:t>• Review workload before promising a date; any numeric capacity limit or SLA must be agreed rather than assumed.</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Missing inputs: block and assign follow-up. Multiple contributors without one accountable holder: clarify ownership before handoff.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SOP-08 / SUBMIT WORK AND EXECUTE COMMENTS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24</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Assigned output is ready for review or a reviewer requests changes.</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Content submits work on the sheet and uploads the working calendar PPTX to Content / relevant month; comments and revisions remain on that SAME calendar PPTX.</a:t>
            </a:r>
          </a:p>
          <a:p>
            <a:pPr>
              <a:spcAft>
                <a:spcPts val="600"/>
              </a:spcAft>
              <a:defRPr sz="1600" b="0">
                <a:solidFill>
                  <a:srgbClr val="202020"/>
                </a:solidFill>
                <a:latin typeface="Montserrat"/>
              </a:defRPr>
            </a:pPr>
            <a:r>
              <a:t>2. Design and Video submit work for review and update task-sheet references. The draft-review location is not specified; do not invent a mandatory Drive draft folder.</a:t>
            </a:r>
          </a:p>
          <a:p>
            <a:pPr>
              <a:spcAft>
                <a:spcPts val="600"/>
              </a:spcAft>
              <a:defRPr sz="1600" b="0">
                <a:solidFill>
                  <a:srgbClr val="202020"/>
                </a:solidFill>
                <a:latin typeface="Montserrat"/>
              </a:defRPr>
            </a:pPr>
            <a:r>
              <a:t>3. AM, Marketing Manager and relevant heads write actionable comments. Record author and context, not just a generic rejected status.</a:t>
            </a:r>
          </a:p>
          <a:p>
            <a:pPr>
              <a:spcAft>
                <a:spcPts val="600"/>
              </a:spcAft>
              <a:defRPr sz="1600" b="0">
                <a:solidFill>
                  <a:srgbClr val="202020"/>
                </a:solidFill>
                <a:latin typeface="Montserrat"/>
              </a:defRPr>
            </a:pPr>
            <a:r>
              <a:t>4. The task remains open until its accountable holder executes every comment and records the response.</a:t>
            </a:r>
          </a:p>
          <a:p>
            <a:pPr>
              <a:spcAft>
                <a:spcPts val="600"/>
              </a:spcAft>
              <a:defRPr sz="1600" b="0">
                <a:solidFill>
                  <a:srgbClr val="202020"/>
                </a:solidFill>
                <a:latin typeface="Montserrat"/>
              </a:defRPr>
            </a:pPr>
            <a:r>
              <a:t>5. Resubmit corrected work for review; do not assume a previous approval still covers revised material.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SOP-08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For content, open the same monthly calendar PPTX used by the team; connect comments to the correct task/item.</a:t>
            </a:r>
          </a:p>
          <a:p>
            <a:pPr>
              <a:spcAft>
                <a:spcPts val="600"/>
              </a:spcAft>
              <a:defRPr sz="2100" b="0">
                <a:solidFill>
                  <a:srgbClr val="202020"/>
                </a:solidFill>
                <a:latin typeface="Montserrat"/>
              </a:defRPr>
            </a:pPr>
            <a:r>
              <a:t>• For Design/Video, inspect the task/reference and actual revision state; do not demand final Drive archival before final client approval.</a:t>
            </a:r>
          </a:p>
          <a:p>
            <a:pPr>
              <a:spcAft>
                <a:spcPts val="600"/>
              </a:spcAft>
              <a:defRPr sz="2100" b="0">
                <a:solidFill>
                  <a:srgbClr val="202020"/>
                </a:solidFill>
                <a:latin typeface="Montserrat"/>
              </a:defRPr>
            </a:pPr>
            <a:r>
              <a:t>• Make each comment executable: identify the item, problem, expected change and reason. Record the reviewer and owner response.</a:t>
            </a:r>
          </a:p>
          <a:p>
            <a:pPr>
              <a:spcAft>
                <a:spcPts val="600"/>
              </a:spcAft>
              <a:defRPr sz="2100" b="0">
                <a:solidFill>
                  <a:srgbClr val="202020"/>
                </a:solidFill>
                <a:latin typeface="Montserrat"/>
              </a:defRPr>
            </a:pPr>
            <a:r>
              <a:t>• Do not close a task because the holder says edits are done; verify through the required review decisions.</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Conflicting comments: coordinate one resolved direction before asking the holder to execute both. Unresolved comment: task remains open.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SOP-09 / QUALITY AND FINAL INTERNAL APPROVAL</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26</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Work submitted with comments addressed.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Content work: Head of Content reviews quality, then Marketing Manager approves.</a:t>
            </a:r>
          </a:p>
          <a:p>
            <a:pPr>
              <a:spcAft>
                <a:spcPts val="600"/>
              </a:spcAft>
              <a:defRPr sz="1600" b="0">
                <a:solidFill>
                  <a:srgbClr val="202020"/>
                </a:solidFill>
                <a:latin typeface="Montserrat"/>
              </a:defRPr>
            </a:pPr>
            <a:r>
              <a:t>2. Design work: Head of Design reviews quality, then Marketing Manager approves.</a:t>
            </a:r>
          </a:p>
          <a:p>
            <a:pPr>
              <a:spcAft>
                <a:spcPts val="600"/>
              </a:spcAft>
              <a:defRPr sz="1600" b="0">
                <a:solidFill>
                  <a:srgbClr val="202020"/>
                </a:solidFill>
                <a:latin typeface="Montserrat"/>
              </a:defRPr>
            </a:pPr>
            <a:r>
              <a:t>3. Video work: Marketing Manager performs video-quality review and final internal approval. Editors report directly to Marketing Manager.</a:t>
            </a:r>
          </a:p>
          <a:p>
            <a:pPr>
              <a:spcAft>
                <a:spcPts val="600"/>
              </a:spcAft>
              <a:defRPr sz="1600" b="0">
                <a:solidFill>
                  <a:srgbClr val="202020"/>
                </a:solidFill>
                <a:latin typeface="Montserrat"/>
              </a:defRPr>
            </a:pPr>
            <a:r>
              <a:t>4. Record the quality-review result and Marketing approval as distinct decisions even when the same Marketing Manager performs both video checks.</a:t>
            </a:r>
          </a:p>
          <a:p>
            <a:pPr>
              <a:spcAft>
                <a:spcPts val="600"/>
              </a:spcAft>
              <a:defRPr sz="1600" b="0">
                <a:solidFill>
                  <a:srgbClr val="202020"/>
                </a:solidFill>
                <a:latin typeface="Montserrat"/>
              </a:defRPr>
            </a:pPr>
            <a:r>
              <a:t>5. If any reviewer rejects the task, return it to its holder with comments and repeat the required review after correction.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SOP-09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Content: confirm Head of Content review first. Design: confirm Head of Design review first.</a:t>
            </a:r>
          </a:p>
          <a:p>
            <a:pPr>
              <a:spcAft>
                <a:spcPts val="600"/>
              </a:spcAft>
              <a:defRPr sz="2100" b="0">
                <a:solidFill>
                  <a:srgbClr val="202020"/>
                </a:solidFill>
                <a:latin typeface="Montserrat"/>
              </a:defRPr>
            </a:pPr>
            <a:r>
              <a:t>• Video: perform video-quality review yourself as MM and record it; then record the final internal approval as its own decision.</a:t>
            </a:r>
          </a:p>
          <a:p>
            <a:pPr>
              <a:spcAft>
                <a:spcPts val="600"/>
              </a:spcAft>
              <a:defRPr sz="2100" b="0">
                <a:solidFill>
                  <a:srgbClr val="202020"/>
                </a:solidFill>
                <a:latin typeface="Montserrat"/>
              </a:defRPr>
            </a:pPr>
            <a:r>
              <a:t>• Review the current output against brief, strategy, accuracy, brand requirements, completeness and the comment history.</a:t>
            </a:r>
          </a:p>
          <a:p>
            <a:pPr>
              <a:spcAft>
                <a:spcPts val="600"/>
              </a:spcAft>
              <a:defRPr sz="2100" b="0">
                <a:solidFill>
                  <a:srgbClr val="202020"/>
                </a:solidFill>
                <a:latin typeface="Montserrat"/>
              </a:defRPr>
            </a:pPr>
            <a:r>
              <a:t>• Do not treat head approval or MM approval as external client approval.</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Quality fails: return to holder with comments. You are unavailable: use only a confirmed delegate; do not invent an override.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SOP-10 / COLLECT ONE PRESENTATION AND OBTAIN CLIENT APPROVAL</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28</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All included work has passed quality review and Marketing approval.</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AM gathers the finalized deliverables into ONE client PPTX and checks that it matches the approved brief and scope.</a:t>
            </a:r>
          </a:p>
          <a:p>
            <a:pPr>
              <a:spcAft>
                <a:spcPts val="600"/>
              </a:spcAft>
              <a:defRPr sz="1600" b="0">
                <a:solidFill>
                  <a:srgbClr val="202020"/>
                </a:solidFill>
                <a:latin typeface="Montserrat"/>
              </a:defRPr>
            </a:pPr>
            <a:r>
              <a:t>2. AM presents that PPTX to the client and records the client’s final approval for the presented version.</a:t>
            </a:r>
          </a:p>
          <a:p>
            <a:pPr>
              <a:spcAft>
                <a:spcPts val="600"/>
              </a:spcAft>
              <a:defRPr sz="1600" b="0">
                <a:solidFill>
                  <a:srgbClr val="202020"/>
                </a:solidFill>
                <a:latin typeface="Montserrat"/>
              </a:defRPr>
            </a:pPr>
            <a:r>
              <a:t>3. If the client rejects or requests changes, AM logs the comments, routes affected tasks back to their holders and monitors correction.</a:t>
            </a:r>
          </a:p>
          <a:p>
            <a:pPr>
              <a:spcAft>
                <a:spcPts val="600"/>
              </a:spcAft>
              <a:defRPr sz="1600" b="0">
                <a:solidFill>
                  <a:srgbClr val="202020"/>
                </a:solidFill>
                <a:latin typeface="Montserrat"/>
              </a:defRPr>
            </a:pPr>
            <a:r>
              <a:t>4. Repeat applicable internal reviews and collect the corrected presentation for renewed client approval.</a:t>
            </a:r>
          </a:p>
          <a:p>
            <a:pPr>
              <a:spcAft>
                <a:spcPts val="600"/>
              </a:spcAft>
              <a:defRPr sz="1600" b="0">
                <a:solidFill>
                  <a:srgbClr val="202020"/>
                </a:solidFill>
                <a:latin typeface="Montserrat"/>
              </a:defRPr>
            </a:pPr>
            <a:r>
              <a:t>5. After internal and client approval, archive final Design and Video copies in the correct monthly folders. Content calendars retain their working-review role.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SOP-10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29</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Inspect AM’s presentation manifest: every included deliverable must have its required internal reviews.</a:t>
            </a:r>
          </a:p>
          <a:p>
            <a:pPr>
              <a:spcAft>
                <a:spcPts val="600"/>
              </a:spcAft>
              <a:defRPr sz="2100" b="0">
                <a:solidFill>
                  <a:srgbClr val="202020"/>
                </a:solidFill>
                <a:latin typeface="Montserrat"/>
              </a:defRPr>
            </a:pPr>
            <a:r>
              <a:t>• Check the presented version is identifiable and the client approval refers to that version and included scope.</a:t>
            </a:r>
          </a:p>
          <a:p>
            <a:pPr>
              <a:spcAft>
                <a:spcPts val="600"/>
              </a:spcAft>
              <a:defRPr sz="2100" b="0">
                <a:solidFill>
                  <a:srgbClr val="202020"/>
                </a:solidFill>
                <a:latin typeface="Montserrat"/>
              </a:defRPr>
            </a:pPr>
            <a:r>
              <a:t>• If the client rejects one item, ensure AM routes that item to the correct holder and coordinates the required re-review and renewed client decision.</a:t>
            </a:r>
          </a:p>
          <a:p>
            <a:pPr>
              <a:spcAft>
                <a:spcPts val="600"/>
              </a:spcAft>
              <a:defRPr sz="2100" b="0">
                <a:solidFill>
                  <a:srgbClr val="202020"/>
                </a:solidFill>
                <a:latin typeface="Montserrat"/>
              </a:defRPr>
            </a:pPr>
            <a:r>
              <a:t>• After approval, confirm final Design/Video archive links correspond to approved copies. Content’s working calendar exception remains.</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Client approval not evidenced: hold publication. Material changed after approval: prior approval does not automatically cover that change.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SOP-11 / SCHEDULE, PUBLISH AND MANAGE THE COMMUNITY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30</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AM hands over the client-approved presentation/calendar.</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Social Media Specialist gathers private-label calendars and consolidates scheduling requirements.</a:t>
            </a:r>
          </a:p>
          <a:p>
            <a:pPr>
              <a:spcAft>
                <a:spcPts val="600"/>
              </a:spcAft>
              <a:defRPr sz="1600" b="0">
                <a:solidFill>
                  <a:srgbClr val="202020"/>
                </a:solidFill>
                <a:latin typeface="Montserrat"/>
              </a:defRPr>
            </a:pPr>
            <a:r>
              <a:t>2. Schedule and publish the approved calendars; retain publication references.</a:t>
            </a:r>
          </a:p>
          <a:p>
            <a:pPr>
              <a:spcAft>
                <a:spcPts val="600"/>
              </a:spcAft>
              <a:defRPr sz="1600" b="0">
                <a:solidFill>
                  <a:srgbClr val="202020"/>
                </a:solidFill>
                <a:latin typeface="Montserrat"/>
              </a:defRPr>
            </a:pPr>
            <a:r>
              <a:t>3. Reply to comments on private-label pages. Maintain the account’s agreed voice and route issues outside approved responses to AM/MM. Exact response-time targets are not yet confirmed.</a:t>
            </a:r>
          </a:p>
          <a:p>
            <a:pPr>
              <a:spcAft>
                <a:spcPts val="600"/>
              </a:spcAft>
              <a:defRPr sz="1600" b="0">
                <a:solidFill>
                  <a:srgbClr val="202020"/>
                </a:solidFill>
                <a:latin typeface="Montserrat"/>
              </a:defRPr>
            </a:pPr>
            <a:r>
              <a:t>4. Keep organic publication separate from paid activation. Paid work requires its agreed media plan, authorizations and funding; exact financial approval ownership must be confirmed.</a:t>
            </a:r>
          </a:p>
          <a:p>
            <a:pPr>
              <a:spcAft>
                <a:spcPts val="600"/>
              </a:spcAft>
              <a:defRPr sz="1600" b="0">
                <a:solidFill>
                  <a:srgbClr val="202020"/>
                </a:solidFill>
                <a:latin typeface="Montserrat"/>
              </a:defRPr>
            </a:pPr>
            <a:r>
              <a:t>5. If material changes after approval, return through the relevant review chain before publication.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SOP-11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Check SM has the approved calendar/presentation and final assets for the correct account and platform.</a:t>
            </a:r>
          </a:p>
          <a:p>
            <a:pPr>
              <a:spcAft>
                <a:spcPts val="600"/>
              </a:spcAft>
              <a:defRPr sz="2100" b="0">
                <a:solidFill>
                  <a:srgbClr val="202020"/>
                </a:solidFill>
                <a:latin typeface="Montserrat"/>
              </a:defRPr>
            </a:pPr>
            <a:r>
              <a:t>• Review the publishing schedule, live/scheduled references and community exceptions; SM also handles private-label page replies.</a:t>
            </a:r>
          </a:p>
          <a:p>
            <a:pPr>
              <a:spcAft>
                <a:spcPts val="600"/>
              </a:spcAft>
              <a:defRPr sz="2100" b="0">
                <a:solidFill>
                  <a:srgbClr val="202020"/>
                </a:solidFill>
                <a:latin typeface="Montserrat"/>
              </a:defRPr>
            </a:pPr>
            <a:r>
              <a:t>• Keep paid activation separate from organic publication. Confirm the applicable agreed plan, authorizations and funding with MB.</a:t>
            </a:r>
          </a:p>
          <a:p>
            <a:pPr>
              <a:spcAft>
                <a:spcPts val="600"/>
              </a:spcAft>
              <a:defRPr sz="2100" b="0">
                <a:solidFill>
                  <a:srgbClr val="202020"/>
                </a:solidFill>
                <a:latin typeface="Montserrat"/>
              </a:defRPr>
            </a:pPr>
            <a:r>
              <a:t>• If someone asks for an urgent unapproved change, route it back through the relevant reviews; urgency is not an approval state.</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Wrong account, asset, version or approval: do not proceed. Incident already live: use the agreed platform/account authority; document and escalate, not an invented blanket delete rule.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SOP-12 / REPORT, OPTIMISE AND INFORM SCALE</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32</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Activity is live and performance/listening evidence becomes available.</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Social Media Specialist creates performance reports, listening reports and social strategy updates, in addition to calendar and community duties.</a:t>
            </a:r>
          </a:p>
          <a:p>
            <a:pPr>
              <a:spcAft>
                <a:spcPts val="600"/>
              </a:spcAft>
              <a:defRPr sz="1600" b="0">
                <a:solidFill>
                  <a:srgbClr val="202020"/>
                </a:solidFill>
                <a:latin typeface="Montserrat"/>
              </a:defRPr>
            </a:pPr>
            <a:r>
              <a:t>2. Media Buyer provides paid performance and verified actual media expenses; calculate the 25% post-execution fee from the agreed actual-expense basis.</a:t>
            </a:r>
          </a:p>
          <a:p>
            <a:pPr>
              <a:spcAft>
                <a:spcPts val="600"/>
              </a:spcAft>
              <a:defRPr sz="1600" b="0">
                <a:solidFill>
                  <a:srgbClr val="202020"/>
                </a:solidFill>
                <a:latin typeface="Montserrat"/>
              </a:defRPr>
            </a:pPr>
            <a:r>
              <a:t>3. AM gathers the client-facing reporting narrative; MM reviews strategic implications and next actions.</a:t>
            </a:r>
          </a:p>
          <a:p>
            <a:pPr>
              <a:spcAft>
                <a:spcPts val="600"/>
              </a:spcAft>
              <a:defRPr sz="1600" b="0">
                <a:solidFill>
                  <a:srgbClr val="202020"/>
                </a:solidFill>
                <a:latin typeface="Montserrat"/>
              </a:defRPr>
            </a:pPr>
            <a:r>
              <a:t>4. Feed findings into Diagnose, Design and Optimise. Scale only on supporting evidence and agreed scope; do not promise growth, ROAS or other results without evidence.</a:t>
            </a:r>
          </a:p>
          <a:p>
            <a:pPr>
              <a:spcAft>
                <a:spcPts val="600"/>
              </a:spcAft>
              <a:defRPr sz="1600" b="0">
                <a:solidFill>
                  <a:srgbClr val="202020"/>
                </a:solidFill>
                <a:latin typeface="Montserrat"/>
              </a:defRPr>
            </a:pPr>
            <a:r>
              <a:t>5. Record data gaps, recommendations and decisions. Weekly/monthly reporting appears in the supplied strategy framework; account-specific deadlines must be agreed.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SOP-12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Ask SM for performance and listening reports, not only publication counts. Ask MB for paid performance and actual-spend evidence.</a:t>
            </a:r>
          </a:p>
          <a:p>
            <a:pPr>
              <a:spcAft>
                <a:spcPts val="600"/>
              </a:spcAft>
              <a:defRPr sz="2100" b="0">
                <a:solidFill>
                  <a:srgbClr val="202020"/>
                </a:solidFill>
                <a:latin typeface="Montserrat"/>
              </a:defRPr>
            </a:pPr>
            <a:r>
              <a:t>• Validate source dates, reporting period, metric definitions and missing-data labels before discussing results.</a:t>
            </a:r>
          </a:p>
          <a:p>
            <a:pPr>
              <a:spcAft>
                <a:spcPts val="600"/>
              </a:spcAft>
              <a:defRPr sz="2100" b="0">
                <a:solidFill>
                  <a:srgbClr val="202020"/>
                </a:solidFill>
                <a:latin typeface="Montserrat"/>
              </a:defRPr>
            </a:pPr>
            <a:r>
              <a:t>• Calculate the post-execution media fee from the agreed actual-expense basis; do not use planned or unused budget as actual spend.</a:t>
            </a:r>
          </a:p>
          <a:p>
            <a:pPr>
              <a:spcAft>
                <a:spcPts val="600"/>
              </a:spcAft>
              <a:defRPr sz="2100" b="0">
                <a:solidFill>
                  <a:srgbClr val="202020"/>
                </a:solidFill>
                <a:latin typeface="Montserrat"/>
              </a:defRPr>
            </a:pPr>
            <a:r>
              <a:t>• Translate findings into owned actions and a next-cycle recommendation; do not guarantee growth or fabricate baselines.</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Data missing: mark unverified and assign the access/evidence action. Unagreed fee basis: resolve with authorized commercial/financial authority before final billing.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SOP-13 / COORDINATE SHOOTS, COLLECT MEDIA AND CONTROL EQUIPMENT</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34</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A scoped shoot, photography assignment, podcast recording or related production is being arranged.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AM arranges with the outsourced videography/photography team, podcast guests and PR person. Do not treat scheduling coordination as unrestricted contracting or financial authority.</a:t>
            </a:r>
          </a:p>
          <a:p>
            <a:pPr>
              <a:spcAft>
                <a:spcPts val="600"/>
              </a:spcAft>
              <a:defRPr sz="1600" b="0">
                <a:solidFill>
                  <a:srgbClr val="202020"/>
                </a:solidFill>
                <a:latin typeface="Montserrat"/>
              </a:defRPr>
            </a:pPr>
            <a:r>
              <a:t>2. SM plans and captures behind-the-scenes content within the agreed shoot scope.</a:t>
            </a:r>
          </a:p>
          <a:p>
            <a:pPr>
              <a:spcAft>
                <a:spcPts val="600"/>
              </a:spcAft>
              <a:defRPr sz="1600" b="0">
                <a:solidFill>
                  <a:srgbClr val="202020"/>
                </a:solidFill>
                <a:latin typeface="Montserrat"/>
              </a:defRPr>
            </a:pPr>
            <a:r>
              <a:t>3. SM collects photo/video data from the videographer/photographer and hands the relevant files/references to the assigned editors/designers.</a:t>
            </a:r>
          </a:p>
          <a:p>
            <a:pPr>
              <a:spcAft>
                <a:spcPts val="600"/>
              </a:spcAft>
              <a:defRPr sz="1600" b="0">
                <a:solidFill>
                  <a:srgbClr val="202020"/>
                </a:solidFill>
                <a:latin typeface="Montserrat"/>
              </a:defRPr>
            </a:pPr>
            <a:r>
              <a:t>4. SM takes full accountability for memory cards and studio tools; record custody and any issue so equipment responsibility does not disappear in the handoff.</a:t>
            </a:r>
          </a:p>
          <a:p>
            <a:pPr>
              <a:spcAft>
                <a:spcPts val="600"/>
              </a:spcAft>
              <a:defRPr sz="1600" b="0">
                <a:solidFill>
                  <a:srgbClr val="202020"/>
                </a:solidFill>
                <a:latin typeface="Montserrat"/>
              </a:defRPr>
            </a:pPr>
            <a:r>
              <a:t>5. Editors/designers acknowledge receipt through the agreed task/reference route. Verification and detailed issue/return logs are recommended controls to adopt.</a:t>
            </a:r>
          </a:p>
          <a:p>
            <a:pPr>
              <a:spcAft>
                <a:spcPts val="600"/>
              </a:spcAft>
              <a:defRPr sz="1600" b="0">
                <a:solidFill>
                  <a:srgbClr val="202020"/>
                </a:solidFill>
                <a:latin typeface="Montserrat"/>
              </a:defRPr>
            </a:pPr>
            <a:r>
              <a:t>6. If company hard drives are used, record the specific drive/location and named custodian. Several drives exist; their custody and backup policy still need confirmation.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SOP-13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Ask AM for the outsourced crew, guest and PR arrangements, the task brief and expected outputs.</a:t>
            </a:r>
          </a:p>
          <a:p>
            <a:pPr>
              <a:spcAft>
                <a:spcPts val="600"/>
              </a:spcAft>
              <a:defRPr sz="2100" b="0">
                <a:solidFill>
                  <a:srgbClr val="202020"/>
                </a:solidFill>
                <a:latin typeface="Montserrat"/>
              </a:defRPr>
            </a:pPr>
            <a:r>
              <a:t>• Ask SM where the collected originals, recipient handoff and BTS output are referenced.</a:t>
            </a:r>
          </a:p>
          <a:p>
            <a:pPr>
              <a:spcAft>
                <a:spcPts val="600"/>
              </a:spcAft>
              <a:defRPr sz="2100" b="0">
                <a:solidFill>
                  <a:srgbClr val="202020"/>
                </a:solidFill>
                <a:latin typeface="Montserrat"/>
              </a:defRPr>
            </a:pPr>
            <a:r>
              <a:t>• Confirm SM can account for issued/returned memory cards and studio tools; a data handoff does not erase equipment accountability.</a:t>
            </a:r>
          </a:p>
          <a:p>
            <a:pPr>
              <a:spcAft>
                <a:spcPts val="600"/>
              </a:spcAft>
              <a:defRPr sz="2100" b="0">
                <a:solidFill>
                  <a:srgbClr val="202020"/>
                </a:solidFill>
                <a:latin typeface="Montserrat"/>
              </a:defRPr>
            </a:pPr>
            <a:r>
              <a:t>• If hard drives are used, identify the specific drive and named custodian. Do not assume a universal backup policy or SM custody of all drives.</a:t>
            </a:r>
          </a:p>
          <a:p>
            <a:pPr>
              <a:spcAft>
                <a:spcPts val="600"/>
              </a:spcAft>
              <a:defRPr sz="2100" b="0">
                <a:solidFill>
                  <a:srgbClr val="202020"/>
                </a:solidFill>
                <a:latin typeface="Montserrat"/>
              </a:defRPr>
            </a:pPr>
            <a:r>
              <a:t>• Enforce the documented role rule: Higgsfield account is only for the two video-editor positions.</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Missing data, unreadable files or unaccounted equipment: record the issue, involve AM/SM and authorized leadership; do not format, overwrite or claim completion as a workaround. Backup/format controls must be explicitly adopted.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SOP-14 / RUN THE MONTHLY TEAM PERFORMANCE APPRAISAL</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36</a:t>
            </a:r>
          </a:p>
        </p:txBody>
      </p:sp>
      <p:sp>
        <p:nvSpPr>
          <p:cNvPr id="8" name="Rectangle 7"/>
          <p:cNvSpPr/>
          <p:nvPr/>
        </p:nvSpPr>
        <p:spPr>
          <a:xfrm>
            <a:off x="77724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3383280" cy="548640"/>
          </a:xfrm>
          <a:prstGeom prst="rect">
            <a:avLst/>
          </a:prstGeom>
          <a:noFill/>
        </p:spPr>
        <p:txBody>
          <a:bodyPr wrap="square" lIns="18288" rIns="18288" tIns="0" bIns="0">
            <a:spAutoFit/>
          </a:bodyPr>
          <a:lstStyle/>
          <a:p>
            <a:pPr>
              <a:spcAft>
                <a:spcPts val="600"/>
              </a:spcAft>
              <a:defRPr sz="1700" b="1">
                <a:solidFill>
                  <a:srgbClr val="FFCC00"/>
                </a:solidFill>
                <a:latin typeface="Montserrat"/>
              </a:defRPr>
            </a:pPr>
            <a:r>
              <a:t>WHEN IT STARTS</a:t>
            </a:r>
          </a:p>
        </p:txBody>
      </p:sp>
      <p:sp>
        <p:nvSpPr>
          <p:cNvPr id="10" name="TextBox 9"/>
          <p:cNvSpPr txBox="1"/>
          <p:nvPr/>
        </p:nvSpPr>
        <p:spPr>
          <a:xfrm>
            <a:off x="1005840" y="3429000"/>
            <a:ext cx="3383280" cy="2286000"/>
          </a:xfrm>
          <a:prstGeom prst="rect">
            <a:avLst/>
          </a:prstGeom>
          <a:noFill/>
        </p:spPr>
        <p:txBody>
          <a:bodyPr wrap="square" lIns="18288" rIns="18288" tIns="0" bIns="0">
            <a:spAutoFit/>
          </a:bodyPr>
          <a:lstStyle/>
          <a:p>
            <a:pPr>
              <a:spcAft>
                <a:spcPts val="600"/>
              </a:spcAft>
              <a:defRPr sz="1900" b="0">
                <a:solidFill>
                  <a:srgbClr val="FFFFFF"/>
                </a:solidFill>
                <a:latin typeface="Montserrat"/>
              </a:defRPr>
            </a:pPr>
            <a:r>
              <a:t>Each monthly employee review cycle; exact dates to be agreed.</a:t>
            </a:r>
          </a:p>
        </p:txBody>
      </p:sp>
      <p:sp>
        <p:nvSpPr>
          <p:cNvPr id="11" name="TextBox 10"/>
          <p:cNvSpPr txBox="1"/>
          <p:nvPr/>
        </p:nvSpPr>
        <p:spPr>
          <a:xfrm>
            <a:off x="1005840" y="6355080"/>
            <a:ext cx="3383280" cy="320040"/>
          </a:xfrm>
          <a:prstGeom prst="rect">
            <a:avLst/>
          </a:prstGeom>
          <a:noFill/>
        </p:spPr>
        <p:txBody>
          <a:bodyPr wrap="square" lIns="18288" rIns="18288" tIns="0" bIns="0">
            <a:spAutoFit/>
          </a:bodyPr>
          <a:lstStyle/>
          <a:p>
            <a:pPr>
              <a:spcAft>
                <a:spcPts val="600"/>
              </a:spcAft>
              <a:defRPr sz="1000" b="1">
                <a:solidFill>
                  <a:srgbClr val="FFCC00"/>
                </a:solidFill>
                <a:latin typeface="Montserrat"/>
              </a:defRPr>
            </a:pPr>
            <a:r>
              <a:t>FULL STEPS IN RUNBOOK</a:t>
            </a:r>
          </a:p>
        </p:txBody>
      </p:sp>
      <p:sp>
        <p:nvSpPr>
          <p:cNvPr id="12" name="TextBox 11"/>
          <p:cNvSpPr txBox="1"/>
          <p:nvPr/>
        </p:nvSpPr>
        <p:spPr>
          <a:xfrm>
            <a:off x="5029200" y="2560320"/>
            <a:ext cx="8686800" cy="4526280"/>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1. Select the approved role-specific form and record employee, actual review month and confirmed direct reviewer privately. Do not infer a reviewer from coordination responsibilities.</a:t>
            </a:r>
          </a:p>
          <a:p>
            <a:pPr>
              <a:spcAft>
                <a:spcPts val="600"/>
              </a:spcAft>
              <a:defRPr sz="1600" b="0">
                <a:solidFill>
                  <a:srgbClr val="202020"/>
                </a:solidFill>
                <a:latin typeface="Montserrat"/>
              </a:defRPr>
            </a:pPr>
            <a:r>
              <a:t>2. Collect month-specific evidence from tasks, quality/revision records, outputs and role-appropriate results. Distinguish missing inputs or changed scope from individual execution.</a:t>
            </a:r>
          </a:p>
          <a:p>
            <a:pPr>
              <a:spcAft>
                <a:spcPts val="600"/>
              </a:spcAft>
              <a:defRPr sz="1600" b="0">
                <a:solidFill>
                  <a:srgbClr val="202020"/>
                </a:solidFill>
                <a:latin typeface="Montserrat"/>
              </a:defRPr>
            </a:pPr>
            <a:r>
              <a:t>3. Employee completes Self-Rating before the review meeting. Manager completes Manager Rating; compare the gap rather than assuming agreement.</a:t>
            </a:r>
          </a:p>
          <a:p>
            <a:pPr>
              <a:spcAft>
                <a:spcPts val="600"/>
              </a:spcAft>
              <a:defRPr sz="1600" b="0">
                <a:solidFill>
                  <a:srgbClr val="202020"/>
                </a:solidFill>
                <a:latin typeface="Montserrat"/>
              </a:defRPr>
            </a:pPr>
            <a:r>
              <a:t>4. Use the supplied 1–5 scale and behavioral anchors. Ratings 1, 2 and 5 require a brief evidence-based justification in the Notes field/section.</a:t>
            </a:r>
          </a:p>
          <a:p>
            <a:pPr>
              <a:spcAft>
                <a:spcPts val="600"/>
              </a:spcAft>
              <a:defRPr sz="1600" b="0">
                <a:solidFill>
                  <a:srgbClr val="202020"/>
                </a:solidFill>
                <a:latin typeface="Montserrat"/>
              </a:defRPr>
            </a:pPr>
            <a:r>
              <a:t>5. Check the role-specific weights and calculations. Supplied Excel uses Gap = Manager minus Self and weighted contribution = KPI weight × Manager Rating / 5. Confirm completion before interpreting totals: blank manager ratings are treated as zero in the supplied formulas.</a:t>
            </a:r>
          </a:p>
          <a:p>
            <a:pPr>
              <a:spcAft>
                <a:spcPts val="600"/>
              </a:spcAft>
              <a:defRPr sz="1600" b="0">
                <a:solidFill>
                  <a:srgbClr val="202020"/>
                </a:solidFill>
                <a:latin typeface="Montserrat"/>
              </a:defRPr>
            </a:pPr>
            <a:r>
              <a:t>6. Hold the monthly review conversation, record achievements, blockers, strengths, improvement areas and employee feedback. Track the template's quarterly OKRs within the monthly conversation; do not confuse the two cadences.</a:t>
            </a:r>
          </a:p>
          <a:p>
            <a:pPr>
              <a:spcAft>
                <a:spcPts val="600"/>
              </a:spcAft>
              <a:defRPr sz="1600" b="0">
                <a:solidFill>
                  <a:srgbClr val="202020"/>
                </a:solidFill>
                <a:latin typeface="Montserrat"/>
              </a:defRPr>
            </a:pPr>
            <a:r>
              <a:t>7. Agree SMART goals and development/training actions for the next period, with accountable action owners and agreed follow-up. Record the signatures/decisions required by the adopted process.</a:t>
            </a:r>
          </a:p>
          <a:p>
            <a:pPr>
              <a:spcAft>
                <a:spcPts val="600"/>
              </a:spcAft>
              <a:defRPr sz="1600" b="0">
                <a:solidFill>
                  <a:srgbClr val="202020"/>
                </a:solidFill>
                <a:latin typeface="Montserrat"/>
              </a:defRPr>
            </a:pPr>
            <a:r>
              <a:t>8. Keep completed appraisals and salary/career information in private authorized storage; carry goals into the following monthly review. Promotion, salary, succession and HR fields are not automatic decisions or approvals.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SOP-14 / WHAT THE MANAGER CHECKS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spcAft>
                <a:spcPts val="600"/>
              </a:spcAft>
              <a:defRPr sz="2100" b="0">
                <a:solidFill>
                  <a:srgbClr val="202020"/>
                </a:solidFill>
                <a:latin typeface="Montserrat"/>
              </a:defRPr>
            </a:pPr>
            <a:r>
              <a:t>• Confirm the actual review month, correct approved role template and confirmed reviewer; do not force a combined-role or missing-role mapping.</a:t>
            </a:r>
          </a:p>
          <a:p>
            <a:pPr>
              <a:spcAft>
                <a:spcPts val="600"/>
              </a:spcAft>
              <a:defRPr sz="2100" b="0">
                <a:solidFill>
                  <a:srgbClr val="202020"/>
                </a:solidFill>
                <a:latin typeface="Montserrat"/>
              </a:defRPr>
            </a:pPr>
            <a:r>
              <a:t>• Review employee self-rating, manager rating and evidence. Ratings 1, 2 and 5 need justification; use behavioral anchors.</a:t>
            </a:r>
          </a:p>
          <a:p>
            <a:pPr>
              <a:spcAft>
                <a:spcPts val="600"/>
              </a:spcAft>
              <a:defRPr sz="2100" b="0">
                <a:solidFill>
                  <a:srgbClr val="202020"/>
                </a:solidFill>
                <a:latin typeface="Montserrat"/>
              </a:defRPr>
            </a:pPr>
            <a:r>
              <a:t>• Check weights and completeness before totals. Supplied formulas use blank manager ratings as zero; do not confuse an incomplete form with poor performance.</a:t>
            </a:r>
          </a:p>
          <a:p>
            <a:pPr>
              <a:spcAft>
                <a:spcPts val="600"/>
              </a:spcAft>
              <a:defRPr sz="2100" b="0">
                <a:solidFill>
                  <a:srgbClr val="202020"/>
                </a:solidFill>
                <a:latin typeface="Montserrat"/>
              </a:defRPr>
            </a:pPr>
            <a:r>
              <a:t>• Discuss gaps and blockers, record employee feedback and agree next SMART goals/training actions.</a:t>
            </a:r>
          </a:p>
          <a:p>
            <a:pPr>
              <a:spcAft>
                <a:spcPts val="600"/>
              </a:spcAft>
              <a:defRPr sz="2100" b="0">
                <a:solidFill>
                  <a:srgbClr val="202020"/>
                </a:solidFill>
                <a:latin typeface="Montserrat"/>
              </a:defRPr>
            </a:pPr>
            <a:r>
              <a:t>• Keep salary, career and completed review records private. Reviewer/HR authority and monthly deadlines still require confirmation.</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spcAft>
                <a:spcPts val="600"/>
              </a:spcAft>
              <a:defRPr sz="1600" b="1">
                <a:solidFill>
                  <a:srgbClr val="7D2B42"/>
                </a:solidFill>
                <a:latin typeface="Montserrat"/>
              </a:defRPr>
            </a:pPr>
            <a:r>
              <a:t>HOLD / RETURN: Missing ratings, unsupported extreme scores or unconfirmed reviewer/template: do not finalize a score. Resolve the gap; do not auto-trigger salary, promotion or employment decisions.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QUALITY / CONTENT AND DESIGN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38</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CONTENT</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Brief/strategy match; accurate facts and terms; brand voice; complete caption/script/CTA; comments executed; HC then MM.</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DESIGN</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Correct copy/offer; brand and legibility; agreed dimensions/exports; source inputs; HD then MM; no premature final archive.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QUALITY / VIDEO AND CLIENT PRESENTATION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39</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VIDEO: DIRECT MM REVIEW</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Check script, footage, timing, audio, subtitles, text/price accuracy and agreed export requirements. Record quality and internal approval separately.</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CLIENT PACK: AM COORDINATION</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Manifest matches internally approved work. Client approval covers the presented version; revised content goes back through relevant reviews.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REVISIONS / KEEP THE TASK OPEN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40</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COMMENT</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 MM or relevant head identifies item, issue, change and reason.</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EXECUTE</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Accountable holder implements every comment and records response.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RE-REVIEW</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Required quality/MM layers decide current version.</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CLIENT</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Affected changed work returns to client through AM where approval is needed.</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DO NOT EQUATE</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Edits done or a green cell with final client approval.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EXCEPTIONS / YOUR DECISION QUESTIONS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41</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PRE-SALES</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Is readiness to sign actually confirmed? If not, actual strategy stays pending.</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DELIVERY</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Are signed pack, verified payment and required inputs present?</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RELEASE</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Is this exact version client-approved? If not, hold.</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AUTHORITY</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Is a delegate and scope confirmed? If not, ask owner rather than bypass.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EVIDENCE</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Can the result/spend be verified? If not, label the gap and obtain sources.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REPORTING / MORE THAN POSTS AND VIEWS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42</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SOCIAL MEDIA SPECIALIST</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Calendars, strategies, performance reports, listening reports, scheduling/publication and private-label page replies.</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MEDIA BUYER + AM/MM</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Paid performance and actual expenses; AM/MM coordinate evidence-led recommendations. No invented baselines, spend or guaranteed outcomes.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COMMERCIAL ARITHMETIC / TRAINING ONLY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43</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CONTRACT EXAMPLE</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10,000 units: social-only needs 10,000; other-services-included needs at least 5,000. Signed pack and authorized verification still required.</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MEDIA EXAMPLE</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After execution, 8,000 verified actual-expense units × 25% = 2,000 fee. These are examples, not prices or market ranges.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WORKED CASE / ORBIT STUDIO IS FICTIONAL</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44</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MEETING ONE</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Actual audience/assets differ from Sales/BD proposal; capture real brief.</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NOT READY</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Actual-strategy group stays pending until client readiness is confirmed.</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READY → SIGN</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AM/SM/MM/MB develop actual strategy; align scope; sign four materials.</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PAY → PRODUCE</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Verify required upfront amount; AM assigns; missing footage blocks reel.</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REVIEW → RELEASE</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Comments executed → quality/MM → AM pack → client approval → archive/publish.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TEMPLATES YOU CAN REUSE</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45</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CONTROL</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Access/authority inventory; client snapshot; proposal-vs-brief comparison.</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EXECUTION</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Task/handoff card; comment and execution response; daily control note.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APPROVAL</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Client pack manifest; quality/MM/client decision record.</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EXCEPTIONS</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Payment/spend evidence; incident/escalation note; performance/listening review.</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ONBOARDING</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Competency demonstration and explicit authority/constraints sign-off.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DEMONSTRATE BEFORE UNSUPERVISED OPERATION</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46</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TRACE</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Locate actual brief, strategy, task, review chain and client approval privately.</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DECIDE</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Explain next permitted action and hold condition for each milestone.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REVIEW</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Give executable feedback and keep unresolved comments visible.</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REPORT</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Separate observed evidence, interpretation and proposed action.</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SIGN OFF</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Assessor records competence, gaps and delegated authority—not just quiz completion.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OWNER DECISIONS STILL REQUIRED</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47</a:t>
            </a:r>
          </a:p>
        </p:txBody>
      </p:sp>
      <p:sp>
        <p:nvSpPr>
          <p:cNvPr id="8" name="Rectangle 7"/>
          <p:cNvSpPr/>
          <p:nvPr/>
        </p:nvSpPr>
        <p:spPr>
          <a:xfrm>
            <a:off x="77724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PEOPLE AND OPERATING LIMITS</a:t>
            </a:r>
          </a:p>
        </p:txBody>
      </p:sp>
      <p:sp>
        <p:nvSpPr>
          <p:cNvPr id="10" name="TextBox 9"/>
          <p:cNvSpPr txBox="1"/>
          <p:nvPr/>
        </p:nvSpPr>
        <p:spPr>
          <a:xfrm>
            <a:off x="100584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MM authority, payment verifier, platform/financial limits, backup reviewers, reporting lines, draft-review location, SLAs and escalation route.</a:t>
            </a:r>
          </a:p>
        </p:txBody>
      </p:sp>
      <p:sp>
        <p:nvSpPr>
          <p:cNvPr id="11" name="Rectangle 10"/>
          <p:cNvSpPr/>
          <p:nvPr/>
        </p:nvSpPr>
        <p:spPr>
          <a:xfrm>
            <a:off x="7543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743200"/>
            <a:ext cx="5943600" cy="822960"/>
          </a:xfrm>
          <a:prstGeom prst="rect">
            <a:avLst/>
          </a:prstGeom>
          <a:noFill/>
        </p:spPr>
        <p:txBody>
          <a:bodyPr wrap="square" lIns="18288" rIns="18288" tIns="0" bIns="0">
            <a:spAutoFit/>
          </a:bodyPr>
          <a:lstStyle/>
          <a:p>
            <a:pPr>
              <a:spcAft>
                <a:spcPts val="600"/>
              </a:spcAft>
              <a:defRPr sz="2200" b="1">
                <a:solidFill>
                  <a:srgbClr val="7D2B42"/>
                </a:solidFill>
                <a:latin typeface="Montserrat"/>
              </a:defRPr>
            </a:pPr>
            <a:r>
              <a:t>COMMERCIAL AND TRAINING</a:t>
            </a:r>
          </a:p>
        </p:txBody>
      </p:sp>
      <p:sp>
        <p:nvSpPr>
          <p:cNvPr id="13" name="TextBox 12"/>
          <p:cNvSpPr txBox="1"/>
          <p:nvPr/>
        </p:nvSpPr>
        <p:spPr>
          <a:xfrm>
            <a:off x="7772400" y="3767328"/>
            <a:ext cx="5943600" cy="2926080"/>
          </a:xfrm>
          <a:prstGeom prst="rect">
            <a:avLst/>
          </a:prstGeom>
          <a:noFill/>
        </p:spPr>
        <p:txBody>
          <a:bodyPr wrap="square" lIns="18288" rIns="18288" tIns="0" bIns="0">
            <a:spAutoFit/>
          </a:bodyPr>
          <a:lstStyle/>
          <a:p>
            <a:pPr>
              <a:spcAft>
                <a:spcPts val="600"/>
              </a:spcAft>
              <a:defRPr sz="1900" b="0">
                <a:solidFill>
                  <a:srgbClr val="202020"/>
                </a:solidFill>
                <a:latin typeface="Montserrat"/>
              </a:defRPr>
            </a:pPr>
            <a:r>
              <a:t>Remaining balance terms, media funding/taxes/expense basis; assessor and competence sign-off. No policy is invented to fill the gaps.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COMPANY SOFTWARE / KNOW THE ACCESS BOUNDARY</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48</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HIGGSFIELD</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VE-01/VE-02 ONLY. Forbidden for every other team member; MM is not an exception.</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CLAUDE + CHATGPT</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Company subscriptions. Verify assigned seat, administrator and approved data use.</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CANVA + ADOBE</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Company-provided programs. Confirm exact licences/applications and seat assignments.</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NO PASSWORDS HERE</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Keep credentials in the approved secure route, not this manual or task sheet.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SHOOTING / COORDINATION, MEDIA AND EQUIPMENT</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49</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AM</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Arranges outsourced videography/photography, podcast guests and PR person.</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SM</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Collects source data, hands to assigned editors/designers and captures BTS.</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SM CUSTODY</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Full accountability for memory cards and studio tools; issue/return record is recommended.</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HARD DRIVES</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Several company drives exist. Name each custodian/location; backup policy is not yet confirmed.</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RECEIVER CHECK</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Recommended: confirm files open and are complete before clearing cards; adopt authorization and backup rules.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7D2B42"/>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7D2B42"/>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7D2B42"/>
                </a:solidFill>
                <a:latin typeface="Bebas Neue"/>
              </a:defRPr>
            </a:pPr>
            <a:r>
              <a:t>MONTHLY APPRAISALS / PEOPLE DEVELOPMENT, NOT CLIENT REPORTING</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555555"/>
                </a:solidFill>
                <a:latin typeface="Montserrat"/>
              </a:defRPr>
            </a:pPr>
            <a:r>
              <a:t>50</a:t>
            </a:r>
          </a:p>
        </p:txBody>
      </p:sp>
      <p:sp>
        <p:nvSpPr>
          <p:cNvPr id="8" name="Rectangle 7"/>
          <p:cNvSpPr/>
          <p:nvPr/>
        </p:nvSpPr>
        <p:spPr>
          <a:xfrm>
            <a:off x="77724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8716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MONTHLY</a:t>
            </a:r>
          </a:p>
        </p:txBody>
      </p:sp>
      <p:sp>
        <p:nvSpPr>
          <p:cNvPr id="10" name="TextBox 9"/>
          <p:cNvSpPr txBox="1"/>
          <p:nvPr/>
        </p:nvSpPr>
        <p:spPr>
          <a:xfrm>
            <a:off x="4114800" y="245059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Select approved role template and actual month; reviewer assignments confirmed.</a:t>
            </a:r>
          </a:p>
        </p:txBody>
      </p:sp>
      <p:sp>
        <p:nvSpPr>
          <p:cNvPr id="11" name="Rectangle 10"/>
          <p:cNvSpPr/>
          <p:nvPr/>
        </p:nvSpPr>
        <p:spPr>
          <a:xfrm>
            <a:off x="77724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9300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RATE / EXPLAIN</a:t>
            </a:r>
          </a:p>
        </p:txBody>
      </p:sp>
      <p:sp>
        <p:nvSpPr>
          <p:cNvPr id="13" name="TextBox 12"/>
          <p:cNvSpPr txBox="1"/>
          <p:nvPr/>
        </p:nvSpPr>
        <p:spPr>
          <a:xfrm>
            <a:off x="4114800" y="345643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Self-rating before meeting; manager rating, gap and evidence; justify 1/2/5.</a:t>
            </a:r>
          </a:p>
        </p:txBody>
      </p:sp>
      <p:sp>
        <p:nvSpPr>
          <p:cNvPr id="14" name="Rectangle 13"/>
          <p:cNvSpPr/>
          <p:nvPr/>
        </p:nvSpPr>
        <p:spPr>
          <a:xfrm>
            <a:off x="77724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WEIGHTS</a:t>
            </a:r>
          </a:p>
        </p:txBody>
      </p:sp>
      <p:sp>
        <p:nvSpPr>
          <p:cNvPr id="16" name="TextBox 15"/>
          <p:cNvSpPr txBox="1"/>
          <p:nvPr/>
        </p:nvSpPr>
        <p:spPr>
          <a:xfrm>
            <a:off x="4114800" y="446227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30% core, 50% role KPIs, 10% development, 10% culture; use supplied 1–5 anchors.</a:t>
            </a:r>
          </a:p>
        </p:txBody>
      </p:sp>
      <p:sp>
        <p:nvSpPr>
          <p:cNvPr id="17" name="Rectangle 16"/>
          <p:cNvSpPr/>
          <p:nvPr/>
        </p:nvSpPr>
        <p:spPr>
          <a:xfrm>
            <a:off x="77724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0468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COMPLETE FIRST</a:t>
            </a:r>
          </a:p>
        </p:txBody>
      </p:sp>
      <p:sp>
        <p:nvSpPr>
          <p:cNvPr id="19" name="TextBox 18"/>
          <p:cNvSpPr txBox="1"/>
          <p:nvPr/>
        </p:nvSpPr>
        <p:spPr>
          <a:xfrm>
            <a:off x="4114800" y="546811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Blank-as-zero totals are not completed assessments; verify before interpreting grades.</a:t>
            </a:r>
          </a:p>
        </p:txBody>
      </p:sp>
      <p:sp>
        <p:nvSpPr>
          <p:cNvPr id="20" name="Rectangle 19"/>
          <p:cNvSpPr/>
          <p:nvPr/>
        </p:nvSpPr>
        <p:spPr>
          <a:xfrm>
            <a:off x="77724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510528"/>
            <a:ext cx="2788920" cy="822960"/>
          </a:xfrm>
          <a:prstGeom prst="rect">
            <a:avLst/>
          </a:prstGeom>
          <a:noFill/>
        </p:spPr>
        <p:txBody>
          <a:bodyPr wrap="square" lIns="18288" rIns="18288" tIns="0" bIns="0">
            <a:spAutoFit/>
          </a:bodyPr>
          <a:lstStyle/>
          <a:p>
            <a:pPr>
              <a:spcAft>
                <a:spcPts val="600"/>
              </a:spcAft>
              <a:defRPr sz="1300" b="1">
                <a:solidFill>
                  <a:srgbClr val="FFFFFF"/>
                </a:solidFill>
                <a:latin typeface="Montserrat"/>
              </a:defRPr>
            </a:pPr>
            <a:r>
              <a:t>NEXT PERIOD</a:t>
            </a:r>
          </a:p>
        </p:txBody>
      </p:sp>
      <p:sp>
        <p:nvSpPr>
          <p:cNvPr id="22" name="TextBox 21"/>
          <p:cNvSpPr txBox="1"/>
          <p:nvPr/>
        </p:nvSpPr>
        <p:spPr>
          <a:xfrm>
            <a:off x="4114800" y="6473952"/>
            <a:ext cx="9646920" cy="841248"/>
          </a:xfrm>
          <a:prstGeom prst="rect">
            <a:avLst/>
          </a:prstGeom>
          <a:noFill/>
        </p:spPr>
        <p:txBody>
          <a:bodyPr wrap="square" lIns="18288" rIns="18288" tIns="0" bIns="0">
            <a:spAutoFit/>
          </a:bodyPr>
          <a:lstStyle/>
          <a:p>
            <a:pPr>
              <a:spcAft>
                <a:spcPts val="600"/>
              </a:spcAft>
              <a:defRPr sz="1600" b="0">
                <a:solidFill>
                  <a:srgbClr val="202020"/>
                </a:solidFill>
                <a:latin typeface="Montserrat"/>
              </a:defRPr>
            </a:pPr>
            <a:r>
              <a:t>Private feedback, SMART goals and training; follow quarterly OKRs within monthly reviews.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640080" y="274320"/>
            <a:ext cx="1097280" cy="457200"/>
          </a:xfrm>
          <a:prstGeom prst="rect">
            <a:avLst/>
          </a:prstGeom>
          <a:noFill/>
        </p:spPr>
        <p:txBody>
          <a:bodyPr wrap="square" lIns="18288" rIns="18288" tIns="0" bIns="0">
            <a:spAutoFit/>
          </a:bodyPr>
          <a:lstStyle/>
          <a:p>
            <a:pPr>
              <a:spcAft>
                <a:spcPts val="600"/>
              </a:spcAft>
              <a:defRPr sz="2500" b="1">
                <a:solidFill>
                  <a:srgbClr val="FFFFFF"/>
                </a:solidFill>
                <a:latin typeface="Montserrat"/>
              </a:defRPr>
            </a:pPr>
            <a: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spcAft>
                <a:spcPts val="600"/>
              </a:spcAft>
              <a:defRPr sz="1000" b="1">
                <a:solidFill>
                  <a:srgbClr val="FFFFFF"/>
                </a:solidFill>
                <a:latin typeface="Montserrat"/>
              </a:defRPr>
            </a:pPr>
            <a:r>
              <a:t>INCOMING MARKETING MANAGER / DETAILED ONBOARDING</a:t>
            </a:r>
          </a:p>
        </p:txBody>
      </p:sp>
      <p:sp>
        <p:nvSpPr>
          <p:cNvPr id="4" name="Rectangle 3"/>
          <p:cNvSpPr/>
          <p:nvPr/>
        </p:nvSpPr>
        <p:spPr>
          <a:xfrm>
            <a:off x="685800" y="896112"/>
            <a:ext cx="1325880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spcAft>
                <a:spcPts val="600"/>
              </a:spcAft>
              <a:defRPr sz="3500" b="1">
                <a:solidFill>
                  <a:srgbClr val="FFFFFF"/>
                </a:solidFill>
                <a:latin typeface="Bebas Neue"/>
              </a:defRPr>
            </a:pPr>
            <a:r>
              <a:t>RUN THE SYSTEM THROUGH EVIDENCE, OWNERS AND DECISIONS</a:t>
            </a:r>
          </a:p>
        </p:txBody>
      </p:sp>
      <p:sp>
        <p:nvSpPr>
          <p:cNvPr id="6" name="TextBox 5"/>
          <p:cNvSpPr txBox="1"/>
          <p:nvPr/>
        </p:nvSpPr>
        <p:spPr>
          <a:xfrm>
            <a:off x="731520" y="7772400"/>
            <a:ext cx="11887200" cy="274320"/>
          </a:xfrm>
          <a:prstGeom prst="rect">
            <a:avLst/>
          </a:prstGeom>
          <a:noFill/>
        </p:spPr>
        <p:txBody>
          <a:bodyPr wrap="square" lIns="18288" rIns="18288" tIns="0" bIns="0">
            <a:spAutoFit/>
          </a:bodyPr>
          <a:lstStyle/>
          <a:p>
            <a:pPr>
              <a:spcAft>
                <a:spcPts val="600"/>
              </a:spcAft>
              <a:defRPr sz="900" b="0">
                <a:solidFill>
                  <a:srgbClr val="FFFFFF"/>
                </a:solidFill>
                <a:latin typeface="Montserrat"/>
              </a:defRPr>
            </a:pPr>
            <a:r>
              <a:t>V1.0 • USE THE RUNBOOK FOR FULL STEPS • LIVE READINESS NOT ASSESSED</a:t>
            </a:r>
          </a:p>
        </p:txBody>
      </p:sp>
      <p:sp>
        <p:nvSpPr>
          <p:cNvPr id="7" name="TextBox 6"/>
          <p:cNvSpPr txBox="1"/>
          <p:nvPr/>
        </p:nvSpPr>
        <p:spPr>
          <a:xfrm>
            <a:off x="13350240" y="7772400"/>
            <a:ext cx="548640" cy="274320"/>
          </a:xfrm>
          <a:prstGeom prst="rect">
            <a:avLst/>
          </a:prstGeom>
          <a:noFill/>
        </p:spPr>
        <p:txBody>
          <a:bodyPr wrap="square" lIns="18288" rIns="18288" tIns="0" bIns="0">
            <a:spAutoFit/>
          </a:bodyPr>
          <a:lstStyle/>
          <a:p>
            <a:pPr>
              <a:spcAft>
                <a:spcPts val="600"/>
              </a:spcAft>
              <a:defRPr sz="900" b="0">
                <a:solidFill>
                  <a:srgbClr val="FFFFFF"/>
                </a:solidFill>
                <a:latin typeface="Montserrat"/>
              </a:defRPr>
            </a:pPr>
            <a:r>
              <a:t>51</a:t>
            </a:r>
          </a:p>
        </p:txBody>
      </p:sp>
      <p:sp>
        <p:nvSpPr>
          <p:cNvPr id="8" name="TextBox 7"/>
          <p:cNvSpPr txBox="1"/>
          <p:nvPr/>
        </p:nvSpPr>
        <p:spPr>
          <a:xfrm>
            <a:off x="868680" y="2651760"/>
            <a:ext cx="12801600" cy="2926080"/>
          </a:xfrm>
          <a:prstGeom prst="rect">
            <a:avLst/>
          </a:prstGeom>
          <a:noFill/>
        </p:spPr>
        <p:txBody>
          <a:bodyPr wrap="square" lIns="18288" rIns="18288" tIns="0" bIns="0">
            <a:spAutoFit/>
          </a:bodyPr>
          <a:lstStyle/>
          <a:p>
            <a:pPr>
              <a:spcAft>
                <a:spcPts val="600"/>
              </a:spcAft>
              <a:defRPr sz="4300" b="1">
                <a:solidFill>
                  <a:srgbClr val="FFCC00"/>
                </a:solidFill>
                <a:latin typeface="Montserrat"/>
              </a:defRPr>
            </a:pPr>
            <a:r>
              <a:t>Know the next gate.</a:t>
            </a:r>
          </a:p>
          <a:p>
            <a:pPr>
              <a:spcAft>
                <a:spcPts val="600"/>
              </a:spcAft>
              <a:defRPr sz="4300" b="1">
                <a:solidFill>
                  <a:srgbClr val="FFCC00"/>
                </a:solidFill>
                <a:latin typeface="Montserrat"/>
              </a:defRPr>
            </a:pPr>
            <a:r>
              <a:t>Keep one accountable holder.</a:t>
            </a:r>
          </a:p>
          <a:p>
            <a:pPr>
              <a:spcAft>
                <a:spcPts val="600"/>
              </a:spcAft>
              <a:defRPr sz="4300" b="1">
                <a:solidFill>
                  <a:srgbClr val="FFCC00"/>
                </a:solidFill>
                <a:latin typeface="Montserrat"/>
              </a:defRPr>
            </a:pPr>
            <a:r>
              <a:t>Never lose the approval trail.</a:t>
            </a:r>
          </a:p>
        </p:txBody>
      </p:sp>
      <p:sp>
        <p:nvSpPr>
          <p:cNvPr id="9" name="TextBox 8"/>
          <p:cNvSpPr txBox="1"/>
          <p:nvPr/>
        </p:nvSpPr>
        <p:spPr>
          <a:xfrm>
            <a:off x="868680" y="6263640"/>
            <a:ext cx="12801600" cy="822960"/>
          </a:xfrm>
          <a:prstGeom prst="rect">
            <a:avLst/>
          </a:prstGeom>
          <a:noFill/>
        </p:spPr>
        <p:txBody>
          <a:bodyPr wrap="square" lIns="18288" rIns="18288" tIns="0" bIns="0">
            <a:spAutoFit/>
          </a:bodyPr>
          <a:lstStyle/>
          <a:p>
            <a:pPr>
              <a:spcAft>
                <a:spcPts val="600"/>
              </a:spcAft>
              <a:defRPr sz="2200" b="0">
                <a:solidFill>
                  <a:srgbClr val="FFFFFF"/>
                </a:solidFill>
                <a:latin typeface="Montserrat"/>
              </a:defRPr>
            </a:pPr>
            <a:r>
              <a:t>Use the full manual, practise with the assessor and confirm authority before live operation.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