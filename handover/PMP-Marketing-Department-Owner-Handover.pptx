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Owner briefing. The DOCX SOP contains triggers, steps, exit gates and required records. Confirmed workflow derives from user instructions. Proposed controls and unresolved authority remain marked; no live access transfer, owner acceptance or actual client records are implied.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Owner briefing. The DOCX SOP contains triggers, steps, exit gates and required records. Confirmed workflow derives from user instructions. Proposed controls and unresolved authority remain marked; no live access transfer, owner acceptance or actual client records are implied.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Owner briefing. The DOCX SOP contains triggers, steps, exit gates and required records. Confirmed workflow derives from user instructions. Proposed controls and unresolved authority remain marked; no live access transfer, owner acceptance or actual client records are implied.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Owner briefing. The DOCX SOP contains triggers, steps, exit gates and required records. Confirmed workflow derives from user instructions. Proposed controls and unresolved authority remain marked; no live access transfer, owner acceptance or actual client records are implied.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Owner briefing. The DOCX SOP contains triggers, steps, exit gates and required records. Confirmed workflow derives from user instructions. Proposed controls and unresolved authority remain marked; no live access transfer, owner acceptance or actual client records are implied.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Owner briefing. The DOCX SOP contains triggers, steps, exit gates and required records. Confirmed workflow derives from user instructions. Proposed controls and unresolved authority remain marked; no live access transfer, owner acceptance or actual client records are implied.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Owner briefing. The DOCX SOP contains triggers, steps, exit gates and required records. Confirmed workflow derives from user instructions. Proposed controls and unresolved authority remain marked; no live access transfer, owner acceptance or actual client records are implied.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Owner briefing. The DOCX SOP contains triggers, steps, exit gates and required records. Confirmed workflow derives from user instructions. Proposed controls and unresolved authority remain marked; no live access transfer, owner acceptance or actual client records are implied.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Owner briefing. The DOCX SOP contains triggers, steps, exit gates and required records. Confirmed workflow derives from user instructions. Proposed controls and unresolved authority remain marked; no live access transfer, owner acceptance or actual client records are implied.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Owner briefing. The DOCX SOP contains triggers, steps, exit gates and required records. Confirmed workflow derives from user instructions. Proposed controls and unresolved authority remain marked; no live access transfer, owner acceptance or actual client records are implied.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Owner briefing. The DOCX SOP contains triggers, steps, exit gates and required records. Confirmed workflow derives from user instructions. Proposed controls and unresolved authority remain marked; no live access transfer, owner acceptance or actual client records are implied.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Owner briefing. The DOCX SOP contains triggers, steps, exit gates and required records. Confirmed workflow derives from user instructions. Proposed controls and unresolved authority remain marked; no live access transfer, owner acceptance or actual client records are implied.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Owner briefing. The DOCX SOP contains triggers, steps, exit gates and required records. Confirmed workflow derives from user instructions. Proposed controls and unresolved authority remain marked; no live access transfer, owner acceptance or actual client records are implied.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Owner briefing. The DOCX SOP contains triggers, steps, exit gates and required records. Confirmed workflow derives from user instructions. Proposed controls and unresolved authority remain marked; no live access transfer, owner acceptance or actual client records are implied.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Owner briefing. The DOCX SOP contains triggers, steps, exit gates and required records. Confirmed workflow derives from user instructions. Proposed controls and unresolved authority remain marked; no live access transfer, owner acceptance or actual client records are implied.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Owner briefing. The DOCX SOP contains triggers, steps, exit gates and required records. Confirmed workflow derives from user instructions. Proposed controls and unresolved authority remain marked; no live access transfer, owner acceptance or actual client records are implied.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Owner briefing. The DOCX SOP contains triggers, steps, exit gates and required records. Confirmed workflow derives from user instructions. Proposed controls and unresolved authority remain marked; no live access transfer, owner acceptance or actual client records are implied.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Owner briefing. The DOCX SOP contains triggers, steps, exit gates and required records. Confirmed workflow derives from user instructions. Proposed controls and unresolved authority remain marked; no live access transfer, owner acceptance or actual client records are implied.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Owner briefing. The DOCX SOP contains triggers, steps, exit gates and required records. Confirmed workflow derives from user instructions. Proposed controls and unresolved authority remain marked; no live access transfer, owner acceptance or actual client records are implied.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Owner briefing. The DOCX SOP contains triggers, steps, exit gates and required records. Confirmed workflow derives from user instructions. Proposed controls and unresolved authority remain marked; no live access transfer, owner acceptance or actual client records are implied.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D2B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" cy="411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PMP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84048"/>
            <a:ext cx="109728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FFFFF"/>
                </a:solidFill>
                <a:latin typeface="Montserrat"/>
              </a:defRPr>
            </a:pPr>
            <a:r>
              <a:t>MARKETING DEPARTMENT / OWNER HANDOVER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13350240" cy="137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13258800" cy="9144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3800" b="1">
                <a:solidFill>
                  <a:srgbClr val="FFFFFF"/>
                </a:solidFill>
                <a:latin typeface="Bebas Neue"/>
              </a:defRPr>
            </a:pPr>
            <a:r>
              <a:t>MARKETING DEPARTMENT</a:t>
            </a:r>
          </a:p>
          <a:p>
            <a:pPr>
              <a:spcAft>
                <a:spcPts val="800"/>
              </a:spcAft>
              <a:defRPr sz="3800" b="1">
                <a:solidFill>
                  <a:srgbClr val="FFFFFF"/>
                </a:solidFill>
                <a:latin typeface="Bebas Neue"/>
              </a:defRPr>
            </a:pPr>
            <a:r>
              <a:t>MODE OF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772400"/>
            <a:ext cx="109728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FFFFFF"/>
                </a:solidFill>
                <a:latin typeface="Montserrat"/>
              </a:defRPr>
            </a:pPr>
            <a:r>
              <a:t>MODE OF OPERATIONS • V1.0 • OWNER ACCEPTANCE PENDING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0" y="7726679"/>
            <a:ext cx="59436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FFFFFF"/>
                </a:solidFill>
                <a:latin typeface="Montserrat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83280"/>
            <a:ext cx="10972800" cy="8229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FFCC00"/>
                </a:solidFill>
                <a:latin typeface="Montserrat"/>
              </a:defRPr>
            </a:pPr>
            <a:r>
              <a:t>Owner handover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663440"/>
            <a:ext cx="12618720" cy="1554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700" b="0">
                <a:solidFill>
                  <a:srgbClr val="FFFFFF"/>
                </a:solidFill>
                <a:latin typeface="Montserrat"/>
              </a:defRPr>
            </a:pPr>
            <a:r>
              <a:t>How we acquire clients, organize daily work, review quality,</a:t>
            </a:r>
          </a:p>
          <a:p>
            <a:pPr>
              <a:spcAft>
                <a:spcPts val="800"/>
              </a:spcAft>
              <a:defRPr sz="2700" b="0">
                <a:solidFill>
                  <a:srgbClr val="FFFFFF"/>
                </a:solidFill>
                <a:latin typeface="Montserrat"/>
              </a:defRPr>
            </a:pPr>
            <a:r>
              <a:t>secure approvals and deliver campaigns.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629400"/>
            <a:ext cx="12344400" cy="411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FFFFFF"/>
                </a:solidFill>
                <a:latin typeface="Montserrat"/>
              </a:defRPr>
            </a:pPr>
            <a:r>
              <a:t>Editable operating manual + concise briefing | 30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" cy="411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7D2B42"/>
                </a:solidFill>
                <a:latin typeface="Montserrat"/>
              </a:defRPr>
            </a:pPr>
            <a:r>
              <a:t>PMP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84048"/>
            <a:ext cx="109728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7D2B42"/>
                </a:solidFill>
                <a:latin typeface="Montserrat"/>
              </a:defRPr>
            </a:pPr>
            <a:r>
              <a:t>MARKETING DEPARTMENT / OWNER HANDOVER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13350240" cy="13716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13258800" cy="9144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3800" b="1">
                <a:solidFill>
                  <a:srgbClr val="7D2B42"/>
                </a:solidFill>
                <a:latin typeface="Bebas Neue"/>
              </a:defRPr>
            </a:pPr>
            <a:r>
              <a:t>WHAT THE OWNER IS RECEIVING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772400"/>
            <a:ext cx="109728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55555"/>
                </a:solidFill>
                <a:latin typeface="Montserrat"/>
              </a:defRPr>
            </a:pPr>
            <a:r>
              <a:t>MODE OF OPERATIONS • V1.0 • OWNER ACCEPTANCE PENDING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0" y="7726679"/>
            <a:ext cx="59436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7D2B42"/>
                </a:solidFill>
                <a:latin typeface="Montserrat"/>
              </a:defRPr>
            </a:pPr>
            <a: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31720"/>
            <a:ext cx="4190999" cy="4983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532888"/>
            <a:ext cx="3788663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7D2B42"/>
                </a:solidFill>
                <a:latin typeface="Montserrat"/>
              </a:defRPr>
            </a:pPr>
            <a:r>
              <a:t>THE OPERATING BLUEPRINT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429000"/>
            <a:ext cx="3788663" cy="374903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020"/>
                </a:solidFill>
                <a:latin typeface="Montserrat"/>
              </a:defRPr>
            </a:pPr>
            <a:r>
              <a:t>Full start-to-end process, roles, tools, handoffs and controls.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51120" y="2331720"/>
            <a:ext cx="4190999" cy="4983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52287" y="2532888"/>
            <a:ext cx="3788663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7D2B42"/>
                </a:solidFill>
                <a:latin typeface="Montserrat"/>
              </a:defRPr>
            </a:pPr>
            <a:r>
              <a:t>THE DAILY SOP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52287" y="3429000"/>
            <a:ext cx="3788663" cy="374903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020"/>
                </a:solidFill>
                <a:latin typeface="Montserrat"/>
              </a:defRPr>
            </a:pPr>
            <a:r>
              <a:t>12 procedures with triggers, inputs, steps, outputs, approval gates and records.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70720" y="2331720"/>
            <a:ext cx="4190999" cy="4983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71888" y="2532888"/>
            <a:ext cx="3788663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7D2B42"/>
                </a:solidFill>
                <a:latin typeface="Montserrat"/>
              </a:defRPr>
            </a:pPr>
            <a:r>
              <a:t>THE HANDOVER CHECKLIST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71888" y="3429000"/>
            <a:ext cx="3788663" cy="374903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020"/>
                </a:solidFill>
                <a:latin typeface="Montserrat"/>
              </a:defRPr>
            </a:pPr>
            <a:r>
              <a:t>Access, open work, client state, successor authority and acceptance still need verification.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" cy="411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7D2B42"/>
                </a:solidFill>
                <a:latin typeface="Montserrat"/>
              </a:defRPr>
            </a:pPr>
            <a:r>
              <a:t>PMP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84048"/>
            <a:ext cx="109728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7D2B42"/>
                </a:solidFill>
                <a:latin typeface="Montserrat"/>
              </a:defRPr>
            </a:pPr>
            <a:r>
              <a:t>MARKETING DEPARTMENT / OWNER HANDOVER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13350240" cy="13716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13258800" cy="9144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3800" b="1">
                <a:solidFill>
                  <a:srgbClr val="7D2B42"/>
                </a:solidFill>
                <a:latin typeface="Bebas Neue"/>
              </a:defRPr>
            </a:pPr>
            <a:r>
              <a:t>THE COMPLETE JOURNEY / FROM OPPORTUNITY TO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772400"/>
            <a:ext cx="109728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55555"/>
                </a:solidFill>
                <a:latin typeface="Montserrat"/>
              </a:defRPr>
            </a:pPr>
            <a:r>
              <a:t>MODE OF OPERATIONS • V1.0 • OWNER ACCEPTANCE PENDING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0" y="7726679"/>
            <a:ext cx="59436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7D2B42"/>
                </a:solidFill>
                <a:latin typeface="Montserrat"/>
              </a:defRPr>
            </a:pPr>
            <a: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31720"/>
            <a:ext cx="3383280" cy="734567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478024"/>
            <a:ext cx="3054096" cy="606551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01 / ACQUIRE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423160"/>
            <a:ext cx="9464040" cy="68884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020"/>
                </a:solidFill>
                <a:latin typeface="Montserrat"/>
              </a:defRPr>
            </a:pPr>
            <a:r>
              <a:t>Sales or BD prospects, researches, prepares audit and initial proposal; AM is involved.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185159"/>
            <a:ext cx="3383280" cy="734567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331464"/>
            <a:ext cx="3054096" cy="606551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02 / ALIGN &amp; 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276599"/>
            <a:ext cx="9464040" cy="68884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020"/>
                </a:solidFill>
                <a:latin typeface="Montserrat"/>
              </a:defRPr>
            </a:pPr>
            <a:r>
              <a:t>Meeting one → client ready to sign → actual strategy with AM/SM/MM/MB → signed pack.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038599"/>
            <a:ext cx="3383280" cy="734567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184903"/>
            <a:ext cx="3054096" cy="606551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03 / ACTIVATE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4130039"/>
            <a:ext cx="9464040" cy="68884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020"/>
                </a:solidFill>
                <a:latin typeface="Montserrat"/>
              </a:defRPr>
            </a:pPr>
            <a:r>
              <a:t>Signed contract moves folder; verified upfront payment gates contracted delivery.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892040"/>
            <a:ext cx="3383280" cy="734567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5038344"/>
            <a:ext cx="3054096" cy="606551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04 / PRODUCE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983479"/>
            <a:ext cx="9464040" cy="68884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020"/>
                </a:solidFill>
                <a:latin typeface="Montserrat"/>
              </a:defRPr>
            </a:pPr>
            <a:r>
              <a:t>AM briefs and distributes tasks; holders execute; heads/MM review and comment.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745480"/>
            <a:ext cx="3383280" cy="734567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5891784"/>
            <a:ext cx="3054096" cy="606551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05 / APPROVE &amp; RELEASE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5836920"/>
            <a:ext cx="9464040" cy="68884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020"/>
                </a:solidFill>
                <a:latin typeface="Montserrat"/>
              </a:defRPr>
            </a:pPr>
            <a:r>
              <a:t>Marketing approval → AM one PPTX → final client approval → archive/schedule/publish.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6598919"/>
            <a:ext cx="3383280" cy="734567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6745223"/>
            <a:ext cx="3054096" cy="606551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06 / LEARN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6690359"/>
            <a:ext cx="9464040" cy="68884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020"/>
                </a:solidFill>
                <a:latin typeface="Montserrat"/>
              </a:defRPr>
            </a:pPr>
            <a:r>
              <a:t>Performance and listening reports, paid-spend evidence, actions for next cycle.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" cy="411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7D2B42"/>
                </a:solidFill>
                <a:latin typeface="Montserrat"/>
              </a:defRPr>
            </a:pPr>
            <a:r>
              <a:t>PMP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84048"/>
            <a:ext cx="109728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7D2B42"/>
                </a:solidFill>
                <a:latin typeface="Montserrat"/>
              </a:defRPr>
            </a:pPr>
            <a:r>
              <a:t>MARKETING DEPARTMENT / OWNER HANDOVER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13350240" cy="13716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13258800" cy="9144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3800" b="1">
                <a:solidFill>
                  <a:srgbClr val="7D2B42"/>
                </a:solidFill>
                <a:latin typeface="Bebas Neue"/>
              </a:defRPr>
            </a:pPr>
            <a:r>
              <a:t>THREE MILESTONES THAT MUST NEVER BE MERGED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772400"/>
            <a:ext cx="109728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55555"/>
                </a:solidFill>
                <a:latin typeface="Montserrat"/>
              </a:defRPr>
            </a:pPr>
            <a:r>
              <a:t>MODE OF OPERATIONS • V1.0 • OWNER ACCEPTANCE PENDING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0" y="7726679"/>
            <a:ext cx="59436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7D2B42"/>
                </a:solidFill>
                <a:latin typeface="Montserrat"/>
              </a:defRPr>
            </a:pPr>
            <a: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31720"/>
            <a:ext cx="4190999" cy="4983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532888"/>
            <a:ext cx="3788663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7D2B42"/>
                </a:solidFill>
                <a:latin typeface="Montserrat"/>
              </a:defRPr>
            </a:pPr>
            <a:r>
              <a:t>READY TO 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429000"/>
            <a:ext cx="3788663" cy="374903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020"/>
                </a:solidFill>
                <a:latin typeface="Montserrat"/>
              </a:defRPr>
            </a:pPr>
            <a:r>
              <a:t>Only now does AM start actual-strategy development with SM, MM and MB after meeting one.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51120" y="2331720"/>
            <a:ext cx="4190999" cy="4983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52287" y="2532888"/>
            <a:ext cx="3788663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7D2B42"/>
                </a:solidFill>
                <a:latin typeface="Montserrat"/>
              </a:defRPr>
            </a:pPr>
            <a:r>
              <a:t>CONTRACT SIGNED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52287" y="3429000"/>
            <a:ext cx="3788663" cy="374903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020"/>
                </a:solidFill>
                <a:latin typeface="Montserrat"/>
              </a:defRPr>
            </a:pPr>
            <a:r>
              <a:t>Move the SAME client folder out of Quotations to stand alone. Retain its records.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70720" y="2331720"/>
            <a:ext cx="4190999" cy="4983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71888" y="2532888"/>
            <a:ext cx="3788663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7D2B42"/>
                </a:solidFill>
                <a:latin typeface="Montserrat"/>
              </a:defRPr>
            </a:pPr>
            <a:r>
              <a:t>PAYMENT VERIFIED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71888" y="3429000"/>
            <a:ext cx="3788663" cy="374903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020"/>
                </a:solidFill>
                <a:latin typeface="Montserrat"/>
              </a:defRPr>
            </a:pPr>
            <a:r>
              <a:t>Start contracted delivery only after required upfront funds and the signed pack are confirmed.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" cy="411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7D2B42"/>
                </a:solidFill>
                <a:latin typeface="Montserrat"/>
              </a:defRPr>
            </a:pPr>
            <a:r>
              <a:t>PMP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84048"/>
            <a:ext cx="109728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7D2B42"/>
                </a:solidFill>
                <a:latin typeface="Montserrat"/>
              </a:defRPr>
            </a:pPr>
            <a:r>
              <a:t>MARKETING DEPARTMENT / OWNER HANDOVER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13350240" cy="13716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13258800" cy="9144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3800" b="1">
                <a:solidFill>
                  <a:srgbClr val="7D2B42"/>
                </a:solidFill>
                <a:latin typeface="Bebas Neue"/>
              </a:defRPr>
            </a:pPr>
            <a:r>
              <a:t>ACQUISITION / SALES OR BD LEADS, AM STAYS INVOLVED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772400"/>
            <a:ext cx="109728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55555"/>
                </a:solidFill>
                <a:latin typeface="Montserrat"/>
              </a:defRPr>
            </a:pPr>
            <a:r>
              <a:t>MODE OF OPERATIONS • V1.0 • OWNER ACCEPTANCE PENDING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0" y="7726679"/>
            <a:ext cx="59436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7D2B42"/>
                </a:solidFill>
                <a:latin typeface="Montserrat"/>
              </a:defRPr>
            </a:pPr>
            <a: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31720"/>
            <a:ext cx="3383280" cy="886968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478024"/>
            <a:ext cx="3054096" cy="75895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OUTREACH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423160"/>
            <a:ext cx="9464040" cy="8412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020"/>
                </a:solidFill>
                <a:latin typeface="Montserrat"/>
              </a:defRPr>
            </a:pPr>
            <a:r>
              <a:t>Visits, researched cold calls, LinkedIn, email campaigns and calls to PMP paid-media leads.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337560"/>
            <a:ext cx="3383280" cy="886968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483864"/>
            <a:ext cx="3054096" cy="75895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MEETING PREP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429000"/>
            <a:ext cx="9464040" cy="8412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020"/>
                </a:solidFill>
                <a:latin typeface="Montserrat"/>
              </a:defRPr>
            </a:pPr>
            <a:r>
              <a:t>SSM audit → initial strategy/proposal → three pricing tiers; study problems and solutions.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343400"/>
            <a:ext cx="3383280" cy="886968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489704"/>
            <a:ext cx="3054096" cy="75895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MEETING 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4434840"/>
            <a:ext cx="9464040" cy="8412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020"/>
                </a:solidFill>
                <a:latin typeface="Montserrat"/>
              </a:defRPr>
            </a:pPr>
            <a:r>
              <a:t>Online/offline presentation; capture actual client brief; record readiness to sign.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349240"/>
            <a:ext cx="3383280" cy="886968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5495544"/>
            <a:ext cx="3054096" cy="75895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ACTUAL 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5440679"/>
            <a:ext cx="9464040" cy="8412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020"/>
                </a:solidFill>
                <a:latin typeface="Montserrat"/>
              </a:defRPr>
            </a:pPr>
            <a:r>
              <a:t>Only if ready: AM compares proposal vs brief, then works with SM, MM and MB.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6355080"/>
            <a:ext cx="3383280" cy="886968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6501384"/>
            <a:ext cx="3054096" cy="75895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MEETING TWO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6446520"/>
            <a:ext cx="9464040" cy="8412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020"/>
                </a:solidFill>
                <a:latin typeface="Montserrat"/>
              </a:defRPr>
            </a:pPr>
            <a:r>
              <a:t>Printed brief, actual strategy, agreed quotation and contract; client signs all four.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" cy="411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7D2B42"/>
                </a:solidFill>
                <a:latin typeface="Montserrat"/>
              </a:defRPr>
            </a:pPr>
            <a:r>
              <a:t>PMP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84048"/>
            <a:ext cx="109728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7D2B42"/>
                </a:solidFill>
                <a:latin typeface="Montserrat"/>
              </a:defRPr>
            </a:pPr>
            <a:r>
              <a:t>MARKETING DEPARTMENT / OWNER HANDOVER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13350240" cy="13716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13258800" cy="9144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3800" b="1">
                <a:solidFill>
                  <a:srgbClr val="7D2B42"/>
                </a:solidFill>
                <a:latin typeface="Bebas Neue"/>
              </a:defRPr>
            </a:pPr>
            <a:r>
              <a:t>COMMERCIAL START CONDITIONS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772400"/>
            <a:ext cx="109728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55555"/>
                </a:solidFill>
                <a:latin typeface="Montserrat"/>
              </a:defRPr>
            </a:pPr>
            <a:r>
              <a:t>MODE OF OPERATIONS • V1.0 • OWNER ACCEPTANCE PENDING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0" y="7726679"/>
            <a:ext cx="59436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7D2B42"/>
                </a:solidFill>
                <a:latin typeface="Montserrat"/>
              </a:defRPr>
            </a:pPr>
            <a: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31720"/>
            <a:ext cx="4190999" cy="4983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532888"/>
            <a:ext cx="3788663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7D2B42"/>
                </a:solidFill>
                <a:latin typeface="Montserrat"/>
              </a:defRPr>
            </a:pPr>
            <a:r>
              <a:t>SOCIAL MANAGEMENT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429000"/>
            <a:ext cx="3788663" cy="374903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020"/>
                </a:solidFill>
                <a:latin typeface="Montserrat"/>
              </a:defRPr>
            </a:pPr>
            <a:r>
              <a:t>100% of the agreed contract amount before contracted delivery begins.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51120" y="2331720"/>
            <a:ext cx="4190999" cy="4983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52287" y="2532888"/>
            <a:ext cx="3788663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7D2B42"/>
                </a:solidFill>
                <a:latin typeface="Montserrat"/>
              </a:defRPr>
            </a:pPr>
            <a:r>
              <a:t>OTHER SERVICES INCLUDED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52287" y="3429000"/>
            <a:ext cx="3788663" cy="374903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020"/>
                </a:solidFill>
                <a:latin typeface="Montserrat"/>
              </a:defRPr>
            </a:pPr>
            <a:r>
              <a:t>At least 50% of the agreed contract amount before contracted delivery begins.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70720" y="2331720"/>
            <a:ext cx="4190999" cy="4983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71888" y="2532888"/>
            <a:ext cx="3788663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7D2B42"/>
                </a:solidFill>
                <a:latin typeface="Montserrat"/>
              </a:defRPr>
            </a:pPr>
            <a:r>
              <a:t>MEDIA FEE AFTER EXECUTION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71888" y="3429000"/>
            <a:ext cx="3788663" cy="374903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020"/>
                </a:solidFill>
                <a:latin typeface="Montserrat"/>
              </a:defRPr>
            </a:pPr>
            <a:r>
              <a:t>25% of actual media expenses. Actual-expense basis, taxes and billing terms follow the agreement.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" cy="411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7D2B42"/>
                </a:solidFill>
                <a:latin typeface="Montserrat"/>
              </a:defRPr>
            </a:pPr>
            <a:r>
              <a:t>PMP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84048"/>
            <a:ext cx="109728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7D2B42"/>
                </a:solidFill>
                <a:latin typeface="Montserrat"/>
              </a:defRPr>
            </a:pPr>
            <a:r>
              <a:t>MARKETING DEPARTMENT / OWNER HANDOVER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13350240" cy="13716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13258800" cy="9144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3800" b="1">
                <a:solidFill>
                  <a:srgbClr val="7D2B42"/>
                </a:solidFill>
                <a:latin typeface="Bebas Neue"/>
              </a:defRPr>
            </a:pPr>
            <a:r>
              <a:t>TOOLS / EACH RECORD HAS A PLACE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772400"/>
            <a:ext cx="109728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55555"/>
                </a:solidFill>
                <a:latin typeface="Montserrat"/>
              </a:defRPr>
            </a:pPr>
            <a:r>
              <a:t>MODE OF OPERATIONS • V1.0 • OWNER ACCEPTANCE PENDING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0" y="7726679"/>
            <a:ext cx="59436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7D2B42"/>
                </a:solidFill>
                <a:latin typeface="Montserrat"/>
              </a:defRPr>
            </a:pPr>
            <a: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31720"/>
            <a:ext cx="3383280" cy="734567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478024"/>
            <a:ext cx="3054096" cy="606551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WHATSAPP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423160"/>
            <a:ext cx="9464040" cy="68884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020"/>
                </a:solidFill>
                <a:latin typeface="Montserrat"/>
              </a:defRPr>
            </a:pPr>
            <a:r>
              <a:t>AM’s client communication group: client, PMP owner, MM and relevant stakeholders.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185159"/>
            <a:ext cx="3383280" cy="734567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331464"/>
            <a:ext cx="3054096" cy="606551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TASK SHEET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276599"/>
            <a:ext cx="9464040" cy="68884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020"/>
                </a:solidFill>
                <a:latin typeface="Montserrat"/>
              </a:defRPr>
            </a:pPr>
            <a:r>
              <a:t>Execution stage, accountable holder, priority, dates, deliverable links, reviewer/holder notes.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038599"/>
            <a:ext cx="3383280" cy="734567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184903"/>
            <a:ext cx="3054096" cy="606551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DRIVE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4130039"/>
            <a:ext cx="9464040" cy="68884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020"/>
                </a:solidFill>
                <a:latin typeface="Montserrat"/>
              </a:defRPr>
            </a:pPr>
            <a:r>
              <a:t>Quotations before signing; standalone client folder after signing; monthly production folders.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892040"/>
            <a:ext cx="3383280" cy="734567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5038344"/>
            <a:ext cx="3054096" cy="606551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CONTENT CALENDAR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983479"/>
            <a:ext cx="9464040" cy="68884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020"/>
                </a:solidFill>
                <a:latin typeface="Montserrat"/>
              </a:defRPr>
            </a:pPr>
            <a:r>
              <a:t>Working PPTX on Drive; review comments stay on the same calendar.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745480"/>
            <a:ext cx="3383280" cy="734567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5891784"/>
            <a:ext cx="3054096" cy="606551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CLIENT PRESENTATION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5836920"/>
            <a:ext cx="9464040" cy="68884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020"/>
                </a:solidFill>
                <a:latin typeface="Montserrat"/>
              </a:defRPr>
            </a:pPr>
            <a:r>
              <a:t>AM collects finalized work into one PPTX; approval must reference the presented version.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6598919"/>
            <a:ext cx="3383280" cy="734567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6745223"/>
            <a:ext cx="3054096" cy="606551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DEMO WEBSITE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6690359"/>
            <a:ext cx="9464040" cy="68884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020"/>
                </a:solidFill>
                <a:latin typeface="Montserrat"/>
              </a:defRPr>
            </a:pPr>
            <a:r>
              <a:t>Training/reference only; not verified finance, shared task data, real publication or Drive automation.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" cy="411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7D2B42"/>
                </a:solidFill>
                <a:latin typeface="Montserrat"/>
              </a:defRPr>
            </a:pPr>
            <a:r>
              <a:t>PMP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84048"/>
            <a:ext cx="109728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7D2B42"/>
                </a:solidFill>
                <a:latin typeface="Montserrat"/>
              </a:defRPr>
            </a:pPr>
            <a:r>
              <a:t>MARKETING DEPARTMENT / OWNER HANDOVER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13350240" cy="13716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13258800" cy="9144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3800" b="1">
                <a:solidFill>
                  <a:srgbClr val="7D2B42"/>
                </a:solidFill>
                <a:latin typeface="Bebas Neue"/>
              </a:defRPr>
            </a:pPr>
            <a:r>
              <a:t>ACCOUNT MANAGER / THE EXECUTION COORDINATOR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772400"/>
            <a:ext cx="109728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55555"/>
                </a:solidFill>
                <a:latin typeface="Montserrat"/>
              </a:defRPr>
            </a:pPr>
            <a:r>
              <a:t>MODE OF OPERATIONS • V1.0 • OWNER ACCEPTANCE PENDING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0" y="7726679"/>
            <a:ext cx="59436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7D2B42"/>
                </a:solidFill>
                <a:latin typeface="Montserrat"/>
              </a:defRPr>
            </a:pPr>
            <a: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31720"/>
            <a:ext cx="4190999" cy="4983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532888"/>
            <a:ext cx="3788663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7D2B42"/>
                </a:solidFill>
                <a:latin typeface="Montserrat"/>
              </a:defRPr>
            </a:pPr>
            <a:r>
              <a:t>BEFORE THE SALE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429000"/>
            <a:ext cx="3788663" cy="374903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020"/>
                </a:solidFill>
                <a:latin typeface="Montserrat"/>
              </a:defRPr>
            </a:pPr>
            <a:r>
              <a:t>Involved in preparation and meetings; captures actual brief and leads readiness-gated actual strategy.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51120" y="2331720"/>
            <a:ext cx="4190999" cy="4983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52287" y="2532888"/>
            <a:ext cx="3788663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7D2B42"/>
                </a:solidFill>
                <a:latin typeface="Montserrat"/>
              </a:defRPr>
            </a:pPr>
            <a:r>
              <a:t>DURING PRODUCTION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52287" y="3429000"/>
            <a:ext cx="3788663" cy="374903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020"/>
                </a:solidFill>
                <a:latin typeface="Montserrat"/>
              </a:defRPr>
            </a:pPr>
            <a:r>
              <a:t>Writes/distributes briefs, assigns accountable tasks, monitors dates/inputs and follows comments.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70720" y="2331720"/>
            <a:ext cx="4190999" cy="4983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71888" y="2532888"/>
            <a:ext cx="3788663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7D2B42"/>
                </a:solidFill>
                <a:latin typeface="Montserrat"/>
              </a:defRPr>
            </a:pPr>
            <a:r>
              <a:t>AT CLIENT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71888" y="3429000"/>
            <a:ext cx="3788663" cy="374903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020"/>
                </a:solidFill>
                <a:latin typeface="Montserrat"/>
              </a:defRPr>
            </a:pPr>
            <a:r>
              <a:t>Gathers finalized work in one PPTX, presents, records approval and routes rejected tasks back.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" cy="411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7D2B42"/>
                </a:solidFill>
                <a:latin typeface="Montserrat"/>
              </a:defRPr>
            </a:pPr>
            <a:r>
              <a:t>PMP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84048"/>
            <a:ext cx="109728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7D2B42"/>
                </a:solidFill>
                <a:latin typeface="Montserrat"/>
              </a:defRPr>
            </a:pPr>
            <a:r>
              <a:t>MARKETING DEPARTMENT / OWNER HANDOVER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13350240" cy="13716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13258800" cy="9144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3800" b="1">
                <a:solidFill>
                  <a:srgbClr val="7D2B42"/>
                </a:solidFill>
                <a:latin typeface="Bebas Neue"/>
              </a:defRPr>
            </a:pPr>
            <a:r>
              <a:t>WHO DOES WHAT / TEAM RELATIONS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772400"/>
            <a:ext cx="109728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55555"/>
                </a:solidFill>
                <a:latin typeface="Montserrat"/>
              </a:defRPr>
            </a:pPr>
            <a:r>
              <a:t>MODE OF OPERATIONS • V1.0 • OWNER ACCEPTANCE PENDING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0" y="7726679"/>
            <a:ext cx="59436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7D2B42"/>
                </a:solidFill>
                <a:latin typeface="Montserrat"/>
              </a:defRPr>
            </a:pPr>
            <a: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31720"/>
            <a:ext cx="3383280" cy="734567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478024"/>
            <a:ext cx="3054096" cy="606551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LEADERSHIP &amp; GROWTH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423160"/>
            <a:ext cx="9464040" cy="68884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020"/>
                </a:solidFill>
                <a:latin typeface="Montserrat"/>
              </a:defRPr>
            </a:pPr>
            <a:r>
              <a:t>MM: strategy, internal approval and video quality. BD/Sales: acquisition and commercial materials.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185159"/>
            <a:ext cx="3383280" cy="734567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331464"/>
            <a:ext cx="3054096" cy="606551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ACCOUNTS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276599"/>
            <a:ext cx="9464040" cy="68884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020"/>
                </a:solidFill>
                <a:latin typeface="Montserrat"/>
              </a:defRPr>
            </a:pPr>
            <a:r>
              <a:t>AM coordinates the project across teams; coordination does not automatically create line authority.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038599"/>
            <a:ext cx="3383280" cy="734567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184903"/>
            <a:ext cx="3054096" cy="606551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CONTENT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4130039"/>
            <a:ext cx="9464040" cy="68884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020"/>
                </a:solidFill>
                <a:latin typeface="Montserrat"/>
              </a:defRPr>
            </a:pPr>
            <a:r>
              <a:t>Head of Content + Senior and Junior Writers: create, submit and quality-review copy/calendars.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892040"/>
            <a:ext cx="3383280" cy="734567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5038344"/>
            <a:ext cx="3054096" cy="606551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983479"/>
            <a:ext cx="9464040" cy="68884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020"/>
                </a:solidFill>
                <a:latin typeface="Montserrat"/>
              </a:defRPr>
            </a:pPr>
            <a:r>
              <a:t>Head of Design + Graphic Designers 1/2: create, correct and quality-review design work.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745480"/>
            <a:ext cx="3383280" cy="734567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5891784"/>
            <a:ext cx="3054096" cy="606551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VIDEO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5836920"/>
            <a:ext cx="9464040" cy="68884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020"/>
                </a:solidFill>
                <a:latin typeface="Montserrat"/>
              </a:defRPr>
            </a:pPr>
            <a:r>
              <a:t>Video Editors 1/2 report directly to MM; MM performs video-quality review and internal approval.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6598919"/>
            <a:ext cx="3383280" cy="734567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6745223"/>
            <a:ext cx="3054096" cy="606551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DISTRIBUTION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6690359"/>
            <a:ext cx="9464040" cy="68884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020"/>
                </a:solidFill>
                <a:latin typeface="Montserrat"/>
              </a:defRPr>
            </a:pPr>
            <a:r>
              <a:t>SM: calendar/strategy/reporting/community and publishing. MB: actual strategy and paid execution.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" cy="411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7D2B42"/>
                </a:solidFill>
                <a:latin typeface="Montserrat"/>
              </a:defRPr>
            </a:pPr>
            <a:r>
              <a:t>PMP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84048"/>
            <a:ext cx="109728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7D2B42"/>
                </a:solidFill>
                <a:latin typeface="Montserrat"/>
              </a:defRPr>
            </a:pPr>
            <a:r>
              <a:t>MARKETING DEPARTMENT / OWNER HANDOVER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13350240" cy="13716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13258800" cy="9144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3800" b="1">
                <a:solidFill>
                  <a:srgbClr val="7D2B42"/>
                </a:solidFill>
                <a:latin typeface="Bebas Neue"/>
              </a:defRPr>
            </a:pPr>
            <a:r>
              <a:t>TASK CREATION / MAKE OWNERSHIP TRACEABLE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772400"/>
            <a:ext cx="109728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55555"/>
                </a:solidFill>
                <a:latin typeface="Montserrat"/>
              </a:defRPr>
            </a:pPr>
            <a:r>
              <a:t>MODE OF OPERATIONS • V1.0 • OWNER ACCEPTANCE PENDING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0" y="7726679"/>
            <a:ext cx="59436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7D2B42"/>
                </a:solidFill>
                <a:latin typeface="Montserrat"/>
              </a:defRPr>
            </a:pPr>
            <a: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31720"/>
            <a:ext cx="3383280" cy="886968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478024"/>
            <a:ext cx="3054096" cy="75895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BEFORE ASSIGNMENT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423160"/>
            <a:ext cx="9464040" cy="8412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020"/>
                </a:solidFill>
                <a:latin typeface="Montserrat"/>
              </a:defRPr>
            </a:pPr>
            <a:r>
              <a:t>Actual brief, scope and inputs available; signed pack and required payment confirmed.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337560"/>
            <a:ext cx="3383280" cy="886968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483864"/>
            <a:ext cx="3054096" cy="75895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ONE ACCOUNTABLE HOLDER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429000"/>
            <a:ext cx="9464040" cy="8412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020"/>
                </a:solidFill>
                <a:latin typeface="Montserrat"/>
              </a:defRPr>
            </a:pPr>
            <a:r>
              <a:t>Task ID, account, task/brief, priority, deadline and expected output/reference.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343400"/>
            <a:ext cx="3383280" cy="886968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489704"/>
            <a:ext cx="3054096" cy="75895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WHILE EXECUTING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4434840"/>
            <a:ext cx="9464040" cy="8412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020"/>
                </a:solidFill>
                <a:latin typeface="Montserrat"/>
              </a:defRPr>
            </a:pPr>
            <a:r>
              <a:t>Update start/end dates, stage, blockers, output link and holder notes.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349240"/>
            <a:ext cx="3383280" cy="886968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5495544"/>
            <a:ext cx="3054096" cy="75895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BEFORE HANDOFF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5440679"/>
            <a:ext cx="9464040" cy="8412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020"/>
                </a:solidFill>
                <a:latin typeface="Montserrat"/>
              </a:defRPr>
            </a:pPr>
            <a:r>
              <a:t>Check completeness; route to the named reviewer rather than assuming a finished file is approved.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6355080"/>
            <a:ext cx="3383280" cy="886968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6501384"/>
            <a:ext cx="3054096" cy="75895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AM FOLLOW-UP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6446520"/>
            <a:ext cx="9464040" cy="8412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020"/>
                </a:solidFill>
                <a:latin typeface="Montserrat"/>
              </a:defRPr>
            </a:pPr>
            <a:r>
              <a:t>Track missing inputs, review queues, client decisions and carryovers. Exact SLAs remain unconfirmed.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" cy="411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7D2B42"/>
                </a:solidFill>
                <a:latin typeface="Montserrat"/>
              </a:defRPr>
            </a:pPr>
            <a:r>
              <a:t>PMP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84048"/>
            <a:ext cx="109728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7D2B42"/>
                </a:solidFill>
                <a:latin typeface="Montserrat"/>
              </a:defRPr>
            </a:pPr>
            <a:r>
              <a:t>MARKETING DEPARTMENT / OWNER HANDOVER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13350240" cy="13716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13258800" cy="9144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3800" b="1">
                <a:solidFill>
                  <a:srgbClr val="7D2B42"/>
                </a:solidFill>
                <a:latin typeface="Bebas Neue"/>
              </a:defRPr>
            </a:pPr>
            <a:r>
              <a:t>SUBMISSION / CONTENT AND CREATIVE ARE DIFFERENT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772400"/>
            <a:ext cx="109728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55555"/>
                </a:solidFill>
                <a:latin typeface="Montserrat"/>
              </a:defRPr>
            </a:pPr>
            <a:r>
              <a:t>MODE OF OPERATIONS • V1.0 • OWNER ACCEPTANCE PENDING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0" y="7726679"/>
            <a:ext cx="59436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7D2B42"/>
                </a:solidFill>
                <a:latin typeface="Montserrat"/>
              </a:defRPr>
            </a:pPr>
            <a: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31720"/>
            <a:ext cx="4190999" cy="4983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532888"/>
            <a:ext cx="3788663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7D2B42"/>
                </a:solidFill>
                <a:latin typeface="Montserrat"/>
              </a:defRPr>
            </a:pPr>
            <a:r>
              <a:t>CONTENT WORKING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429000"/>
            <a:ext cx="3788663" cy="374903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020"/>
                </a:solidFill>
                <a:latin typeface="Montserrat"/>
              </a:defRPr>
            </a:pPr>
            <a:r>
              <a:t>Submit on sheet + upload monthly calendar PPTX to Drive. Receive/execute comments in that same calendar.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51120" y="2331720"/>
            <a:ext cx="4190999" cy="4983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52287" y="2532888"/>
            <a:ext cx="3788663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7D2B42"/>
                </a:solidFill>
                <a:latin typeface="Montserrat"/>
              </a:defRPr>
            </a:pPr>
            <a:r>
              <a:t>DESIGN &amp; VIDEO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52287" y="3429000"/>
            <a:ext cx="3788663" cy="374903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020"/>
                </a:solidFill>
                <a:latin typeface="Montserrat"/>
              </a:defRPr>
            </a:pPr>
            <a:r>
              <a:t>Keep sheet and references current. Draft-review location is not yet confirmed; do not invent one.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70720" y="2331720"/>
            <a:ext cx="4190999" cy="4983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71888" y="2532888"/>
            <a:ext cx="3788663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7D2B42"/>
                </a:solidFill>
                <a:latin typeface="Montserrat"/>
              </a:defRPr>
            </a:pPr>
            <a:r>
              <a:t>FINAL CREATIVE ARCHIVE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71888" y="3429000"/>
            <a:ext cx="3788663" cy="374903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020"/>
                </a:solidFill>
                <a:latin typeface="Montserrat"/>
              </a:defRPr>
            </a:pPr>
            <a:r>
              <a:t>Monthly Design/Video folders contain only final internally and client-approved copies.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" cy="411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7D2B42"/>
                </a:solidFill>
                <a:latin typeface="Montserrat"/>
              </a:defRPr>
            </a:pPr>
            <a:r>
              <a:t>PMP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84048"/>
            <a:ext cx="109728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7D2B42"/>
                </a:solidFill>
                <a:latin typeface="Montserrat"/>
              </a:defRPr>
            </a:pPr>
            <a:r>
              <a:t>MARKETING DEPARTMENT / OWNER HANDOVER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13350240" cy="13716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13258800" cy="9144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3800" b="1">
                <a:solidFill>
                  <a:srgbClr val="7D2B42"/>
                </a:solidFill>
                <a:latin typeface="Bebas Neue"/>
              </a:defRPr>
            </a:pPr>
            <a:r>
              <a:t>THE APPROVAL CHAIN / NO SKIPPED LAYERS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772400"/>
            <a:ext cx="109728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55555"/>
                </a:solidFill>
                <a:latin typeface="Montserrat"/>
              </a:defRPr>
            </a:pPr>
            <a:r>
              <a:t>MODE OF OPERATIONS • V1.0 • OWNER ACCEPTANCE PENDING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0" y="7726679"/>
            <a:ext cx="59436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7D2B42"/>
                </a:solidFill>
                <a:latin typeface="Montserrat"/>
              </a:defRPr>
            </a:pPr>
            <a: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31720"/>
            <a:ext cx="3383280" cy="734567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478024"/>
            <a:ext cx="3054096" cy="606551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CONTENT QUALITY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423160"/>
            <a:ext cx="9464040" cy="68884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020"/>
                </a:solidFill>
                <a:latin typeface="Montserrat"/>
              </a:defRPr>
            </a:pPr>
            <a:r>
              <a:t>Head of Content reviews the writers’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185159"/>
            <a:ext cx="3383280" cy="734567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331464"/>
            <a:ext cx="3054096" cy="606551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DESIGN QUALITY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276599"/>
            <a:ext cx="9464040" cy="68884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020"/>
                </a:solidFill>
                <a:latin typeface="Montserrat"/>
              </a:defRPr>
            </a:pPr>
            <a:r>
              <a:t>Head of Design reviews Graphic Designers 1/2 output.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038599"/>
            <a:ext cx="3383280" cy="734567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184903"/>
            <a:ext cx="3054096" cy="606551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VIDEO QUALITY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4130039"/>
            <a:ext cx="9464040" cy="68884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020"/>
                </a:solidFill>
                <a:latin typeface="Montserrat"/>
              </a:defRPr>
            </a:pPr>
            <a:r>
              <a:t>Marketing Manager reviews Video Editors 1/2 output.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892040"/>
            <a:ext cx="3383280" cy="734567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5038344"/>
            <a:ext cx="3054096" cy="606551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FINAL INTERNAL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983479"/>
            <a:ext cx="9464040" cy="68884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020"/>
                </a:solidFill>
                <a:latin typeface="Montserrat"/>
              </a:defRPr>
            </a:pPr>
            <a:r>
              <a:t>Marketing Manager approves after quality review; record video checks as distinct decisions.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745480"/>
            <a:ext cx="3383280" cy="734567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5891784"/>
            <a:ext cx="3054096" cy="606551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CLIENT APPROVAL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5836920"/>
            <a:ext cx="9464040" cy="68884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020"/>
                </a:solidFill>
                <a:latin typeface="Montserrat"/>
              </a:defRPr>
            </a:pPr>
            <a:r>
              <a:t>AM gathers ONE PPTX; client approves the presented version.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6598919"/>
            <a:ext cx="3383280" cy="734567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6745223"/>
            <a:ext cx="3054096" cy="606551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PUBLICATION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6690359"/>
            <a:ext cx="9464040" cy="68884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020"/>
                </a:solidFill>
                <a:latin typeface="Montserrat"/>
              </a:defRPr>
            </a:pPr>
            <a:r>
              <a:t>SM receives approved calendar/presentation. Paid work remains a separate MB execution path.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" cy="411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7D2B42"/>
                </a:solidFill>
                <a:latin typeface="Montserrat"/>
              </a:defRPr>
            </a:pPr>
            <a:r>
              <a:t>PMP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84048"/>
            <a:ext cx="109728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7D2B42"/>
                </a:solidFill>
                <a:latin typeface="Montserrat"/>
              </a:defRPr>
            </a:pPr>
            <a:r>
              <a:t>MARKETING DEPARTMENT / OWNER HANDOVER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13350240" cy="13716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13258800" cy="9144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3800" b="1">
                <a:solidFill>
                  <a:srgbClr val="7D2B42"/>
                </a:solidFill>
                <a:latin typeface="Bebas Neue"/>
              </a:defRPr>
            </a:pPr>
            <a:r>
              <a:t>REVISIONS / THE TASK STAYS OPEN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772400"/>
            <a:ext cx="109728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55555"/>
                </a:solidFill>
                <a:latin typeface="Montserrat"/>
              </a:defRPr>
            </a:pPr>
            <a:r>
              <a:t>MODE OF OPERATIONS • V1.0 • OWNER ACCEPTANCE PENDING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0" y="7726679"/>
            <a:ext cx="59436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7D2B42"/>
                </a:solidFill>
                <a:latin typeface="Montserrat"/>
              </a:defRPr>
            </a:pPr>
            <a: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31720"/>
            <a:ext cx="4190999" cy="4983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532888"/>
            <a:ext cx="3788663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7D2B42"/>
                </a:solidFill>
                <a:latin typeface="Montserrat"/>
              </a:defRPr>
            </a:pPr>
            <a:r>
              <a:t>REVIEWERS COMMENT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429000"/>
            <a:ext cx="3788663" cy="374903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020"/>
                </a:solidFill>
                <a:latin typeface="Montserrat"/>
              </a:defRPr>
            </a:pPr>
            <a:r>
              <a:t>AM, MM and relevant heads give actionable feedback with author and context.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51120" y="2331720"/>
            <a:ext cx="4190999" cy="4983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52287" y="2532888"/>
            <a:ext cx="3788663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7D2B42"/>
                </a:solidFill>
                <a:latin typeface="Montserrat"/>
              </a:defRPr>
            </a:pPr>
            <a:r>
              <a:t>HOLDER EXECUTES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52287" y="3429000"/>
            <a:ext cx="3788663" cy="374903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020"/>
                </a:solidFill>
                <a:latin typeface="Montserrat"/>
              </a:defRPr>
            </a:pPr>
            <a:r>
              <a:t>The accountable holder implements every comment and records how it was addressed.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70720" y="2331720"/>
            <a:ext cx="4190999" cy="4983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71888" y="2532888"/>
            <a:ext cx="3788663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7D2B42"/>
                </a:solidFill>
                <a:latin typeface="Montserrat"/>
              </a:defRPr>
            </a:pPr>
            <a:r>
              <a:t>REVIEW AGAIN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71888" y="3429000"/>
            <a:ext cx="3788663" cy="374903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020"/>
                </a:solidFill>
                <a:latin typeface="Montserrat"/>
              </a:defRPr>
            </a:pPr>
            <a:r>
              <a:t>Repeat applicable quality and MM reviews; revised client material returns for renewed approval.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" cy="411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7D2B42"/>
                </a:solidFill>
                <a:latin typeface="Montserrat"/>
              </a:defRPr>
            </a:pPr>
            <a:r>
              <a:t>PMP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84048"/>
            <a:ext cx="109728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7D2B42"/>
                </a:solidFill>
                <a:latin typeface="Montserrat"/>
              </a:defRPr>
            </a:pPr>
            <a:r>
              <a:t>MARKETING DEPARTMENT / OWNER HANDOVER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13350240" cy="13716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13258800" cy="9144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3800" b="1">
                <a:solidFill>
                  <a:srgbClr val="7D2B42"/>
                </a:solidFill>
                <a:latin typeface="Bebas Neue"/>
              </a:defRPr>
            </a:pPr>
            <a:r>
              <a:t>SOCIAL MEDIA / MORE THAN PUBLISHING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772400"/>
            <a:ext cx="109728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55555"/>
                </a:solidFill>
                <a:latin typeface="Montserrat"/>
              </a:defRPr>
            </a:pPr>
            <a:r>
              <a:t>MODE OF OPERATIONS • V1.0 • OWNER ACCEPTANCE PENDING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0" y="7726679"/>
            <a:ext cx="59436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7D2B42"/>
                </a:solidFill>
                <a:latin typeface="Montserrat"/>
              </a:defRPr>
            </a:pPr>
            <a: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31720"/>
            <a:ext cx="4190999" cy="4983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532888"/>
            <a:ext cx="3788663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7D2B42"/>
                </a:solidFill>
                <a:latin typeface="Montserrat"/>
              </a:defRPr>
            </a:pPr>
            <a:r>
              <a:t>CALENDARS &amp; 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429000"/>
            <a:ext cx="3788663" cy="374903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020"/>
                </a:solidFill>
                <a:latin typeface="Montserrat"/>
              </a:defRPr>
            </a:pPr>
            <a:r>
              <a:t>Gather all private-label calendars and contribute/create social strategy.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51120" y="2331720"/>
            <a:ext cx="4190999" cy="4983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52287" y="2532888"/>
            <a:ext cx="3788663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7D2B42"/>
                </a:solidFill>
                <a:latin typeface="Montserrat"/>
              </a:defRPr>
            </a:pPr>
            <a:r>
              <a:t>EXECUTION &amp; COMMUNITY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52287" y="3429000"/>
            <a:ext cx="3788663" cy="374903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020"/>
                </a:solidFill>
                <a:latin typeface="Montserrat"/>
              </a:defRPr>
            </a:pPr>
            <a:r>
              <a:t>Schedule/publish approved calendars and reply to private-label page comments.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70720" y="2331720"/>
            <a:ext cx="4190999" cy="4983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71888" y="2532888"/>
            <a:ext cx="3788663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7D2B42"/>
                </a:solidFill>
                <a:latin typeface="Montserrat"/>
              </a:defRPr>
            </a:pPr>
            <a:r>
              <a:t>REPORTING &amp; LISTENING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71888" y="3429000"/>
            <a:ext cx="3788663" cy="374903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020"/>
                </a:solidFill>
                <a:latin typeface="Montserrat"/>
              </a:defRPr>
            </a:pPr>
            <a:r>
              <a:t>Create performance and listening reports; feed evidence into the next strategy cycle.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" cy="411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7D2B42"/>
                </a:solidFill>
                <a:latin typeface="Montserrat"/>
              </a:defRPr>
            </a:pPr>
            <a:r>
              <a:t>PMP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84048"/>
            <a:ext cx="109728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7D2B42"/>
                </a:solidFill>
                <a:latin typeface="Montserrat"/>
              </a:defRPr>
            </a:pPr>
            <a:r>
              <a:t>MARKETING DEPARTMENT / OWNER HANDOVER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13350240" cy="13716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13258800" cy="9144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3800" b="1">
                <a:solidFill>
                  <a:srgbClr val="7D2B42"/>
                </a:solidFill>
                <a:latin typeface="Bebas Neue"/>
              </a:defRPr>
            </a:pPr>
            <a:r>
              <a:t>DAILY CONTROL LOOP / PROPOSED FOR CONFIRMATION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772400"/>
            <a:ext cx="109728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55555"/>
                </a:solidFill>
                <a:latin typeface="Montserrat"/>
              </a:defRPr>
            </a:pPr>
            <a:r>
              <a:t>MODE OF OPERATIONS • V1.0 • OWNER ACCEPTANCE PENDING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0" y="7726679"/>
            <a:ext cx="59436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7D2B42"/>
                </a:solidFill>
                <a:latin typeface="Montserrat"/>
              </a:defRPr>
            </a:pPr>
            <a: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31720"/>
            <a:ext cx="3383280" cy="886968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478024"/>
            <a:ext cx="3054096" cy="75895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OPENING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423160"/>
            <a:ext cx="9464040" cy="8412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020"/>
                </a:solidFill>
                <a:latin typeface="Montserrat"/>
              </a:defRPr>
            </a:pPr>
            <a:r>
              <a:t>AM + heads/MM review due work, ownership, missing assets, blockers and pending client decisions.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337560"/>
            <a:ext cx="3383280" cy="886968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483864"/>
            <a:ext cx="3054096" cy="75895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EXECUTION UPDATES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429000"/>
            <a:ext cx="9464040" cy="8412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020"/>
                </a:solidFill>
                <a:latin typeface="Montserrat"/>
              </a:defRPr>
            </a:pPr>
            <a:r>
              <a:t>Holders maintain sheet, output references and responses to comments.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343400"/>
            <a:ext cx="3383280" cy="886968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489704"/>
            <a:ext cx="3054096" cy="75895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REVIEW QUEUE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4434840"/>
            <a:ext cx="9464040" cy="8412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020"/>
                </a:solidFill>
                <a:latin typeface="Montserrat"/>
              </a:defRPr>
            </a:pPr>
            <a:r>
              <a:t>Heads/MM record quality decisions and comments; AM follows unresolved items.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349240"/>
            <a:ext cx="3383280" cy="886968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5495544"/>
            <a:ext cx="3054096" cy="75895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5440679"/>
            <a:ext cx="9464040" cy="8412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020"/>
                </a:solidFill>
                <a:latin typeface="Montserrat"/>
              </a:defRPr>
            </a:pPr>
            <a:r>
              <a:t>AM checks client PPTX approval; SM checks approved calendar, schedule and community issues.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6355080"/>
            <a:ext cx="3383280" cy="886968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6501384"/>
            <a:ext cx="3054096" cy="75895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CLOSING 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6446520"/>
            <a:ext cx="9464040" cy="8412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020"/>
                </a:solidFill>
                <a:latin typeface="Montserrat"/>
              </a:defRPr>
            </a:pPr>
            <a:r>
              <a:t>Reconcile tasks and daily-finished log; identify carryovers and next owner. Times/SLAs are not confirmed.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" cy="411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7D2B42"/>
                </a:solidFill>
                <a:latin typeface="Montserrat"/>
              </a:defRPr>
            </a:pPr>
            <a:r>
              <a:t>PMP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84048"/>
            <a:ext cx="109728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7D2B42"/>
                </a:solidFill>
                <a:latin typeface="Montserrat"/>
              </a:defRPr>
            </a:pPr>
            <a:r>
              <a:t>MARKETING DEPARTMENT / OWNER HANDOVER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13350240" cy="13716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13258800" cy="9144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3800" b="1">
                <a:solidFill>
                  <a:srgbClr val="7D2B42"/>
                </a:solidFill>
                <a:latin typeface="Bebas Neue"/>
              </a:defRPr>
            </a:pPr>
            <a:r>
              <a:t>MEASURE WHAT EXISTS / NEVER FABRICATE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772400"/>
            <a:ext cx="109728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55555"/>
                </a:solidFill>
                <a:latin typeface="Montserrat"/>
              </a:defRPr>
            </a:pPr>
            <a:r>
              <a:t>MODE OF OPERATIONS • V1.0 • OWNER ACCEPTANCE PENDING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0" y="7726679"/>
            <a:ext cx="59436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7D2B42"/>
                </a:solidFill>
                <a:latin typeface="Montserrat"/>
              </a:defRPr>
            </a:pPr>
            <a: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31720"/>
            <a:ext cx="4190999" cy="4983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532888"/>
            <a:ext cx="3788663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7D2B42"/>
                </a:solidFill>
                <a:latin typeface="Montserrat"/>
              </a:defRPr>
            </a:pPr>
            <a:r>
              <a:t>WORKFLOW HEALTH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429000"/>
            <a:ext cx="3788663" cy="374903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020"/>
                </a:solidFill>
                <a:latin typeface="Montserrat"/>
              </a:defRPr>
            </a:pPr>
            <a:r>
              <a:t>Use actual records of open tasks, blockers, pending reviews and revision loops.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51120" y="2331720"/>
            <a:ext cx="4190999" cy="4983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52287" y="2532888"/>
            <a:ext cx="3788663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7D2B42"/>
                </a:solidFill>
                <a:latin typeface="Montserrat"/>
              </a:defRPr>
            </a:pPr>
            <a:r>
              <a:t>CLIENT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52287" y="3429000"/>
            <a:ext cx="3788663" cy="374903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020"/>
                </a:solidFill>
                <a:latin typeface="Montserrat"/>
              </a:defRPr>
            </a:pPr>
            <a:r>
              <a:t>SM reports organic performance/listening; MB reports paid results and actual expenses.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70720" y="2331720"/>
            <a:ext cx="4190999" cy="4983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71888" y="2532888"/>
            <a:ext cx="3788663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7D2B42"/>
                </a:solidFill>
                <a:latin typeface="Montserrat"/>
              </a:defRPr>
            </a:pPr>
            <a:r>
              <a:t>NEXT ACTIONS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71888" y="3429000"/>
            <a:ext cx="3788663" cy="374903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020"/>
                </a:solidFill>
                <a:latin typeface="Montserrat"/>
              </a:defRPr>
            </a:pPr>
            <a:r>
              <a:t>AM/MM coordinate evidence-led changes. Account-specific reporting dates and KPI baselines need agreement.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" cy="411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7D2B42"/>
                </a:solidFill>
                <a:latin typeface="Montserrat"/>
              </a:defRPr>
            </a:pPr>
            <a:r>
              <a:t>PMP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84048"/>
            <a:ext cx="109728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7D2B42"/>
                </a:solidFill>
                <a:latin typeface="Montserrat"/>
              </a:defRPr>
            </a:pPr>
            <a:r>
              <a:t>MARKETING DEPARTMENT / OWNER HANDOVER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13350240" cy="13716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13258800" cy="9144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3800" b="1">
                <a:solidFill>
                  <a:srgbClr val="7D2B42"/>
                </a:solidFill>
                <a:latin typeface="Bebas Neue"/>
              </a:defRPr>
            </a:pPr>
            <a:r>
              <a:t>EXCEPTIONS / KEEP CONTROL WHEN WORK GOES OFF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772400"/>
            <a:ext cx="109728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55555"/>
                </a:solidFill>
                <a:latin typeface="Montserrat"/>
              </a:defRPr>
            </a:pPr>
            <a:r>
              <a:t>MODE OF OPERATIONS • V1.0 • OWNER ACCEPTANCE PENDING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0" y="7726679"/>
            <a:ext cx="59436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7D2B42"/>
                </a:solidFill>
                <a:latin typeface="Montserrat"/>
              </a:defRPr>
            </a:pPr>
            <a: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31720"/>
            <a:ext cx="3383280" cy="886968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478024"/>
            <a:ext cx="3054096" cy="75895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NOT READY TO 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423160"/>
            <a:ext cx="9464040" cy="8412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020"/>
                </a:solidFill>
                <a:latin typeface="Montserrat"/>
              </a:defRPr>
            </a:pPr>
            <a:r>
              <a:t>Stay in pre-sales; actual-strategy development remains pending.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337560"/>
            <a:ext cx="3383280" cy="886968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483864"/>
            <a:ext cx="3054096" cy="75895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MISSING FUNDS / INPUTS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429000"/>
            <a:ext cx="9464040" cy="8412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020"/>
                </a:solidFill>
                <a:latin typeface="Montserrat"/>
              </a:defRPr>
            </a:pPr>
            <a:r>
              <a:t>Hold the relevant delivery/handoff; record missing evidence and responsible follow-up.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343400"/>
            <a:ext cx="3383280" cy="886968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489704"/>
            <a:ext cx="3054096" cy="75895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REJECTED 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4434840"/>
            <a:ext cx="9464040" cy="8412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020"/>
                </a:solidFill>
                <a:latin typeface="Montserrat"/>
              </a:defRPr>
            </a:pPr>
            <a:r>
              <a:t>Keep/reopen task; owner executes comments; reviewers decide approval.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349240"/>
            <a:ext cx="3383280" cy="886968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5495544"/>
            <a:ext cx="3054096" cy="75895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POST-APPROVAL CHANGE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5440679"/>
            <a:ext cx="9464040" cy="8412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020"/>
                </a:solidFill>
                <a:latin typeface="Montserrat"/>
              </a:defRPr>
            </a:pPr>
            <a:r>
              <a:t>Route changed material through required reviews and renewed client approval.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6355080"/>
            <a:ext cx="3383280" cy="886968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6501384"/>
            <a:ext cx="3054096" cy="75895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MM UNAVAILABLE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6446520"/>
            <a:ext cx="9464040" cy="8412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020"/>
                </a:solidFill>
                <a:latin typeface="Montserrat"/>
              </a:defRPr>
            </a:pPr>
            <a:r>
              <a:t>Owner appoints an authorized successor/delegate; no invented bypass or self-appointed authority.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" cy="411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7D2B42"/>
                </a:solidFill>
                <a:latin typeface="Montserrat"/>
              </a:defRPr>
            </a:pPr>
            <a:r>
              <a:t>PMP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84048"/>
            <a:ext cx="109728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7D2B42"/>
                </a:solidFill>
                <a:latin typeface="Montserrat"/>
              </a:defRPr>
            </a:pPr>
            <a:r>
              <a:t>MARKETING DEPARTMENT / OWNER HANDOVER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13350240" cy="13716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13258800" cy="9144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3800" b="1">
                <a:solidFill>
                  <a:srgbClr val="7D2B42"/>
                </a:solidFill>
                <a:latin typeface="Bebas Neue"/>
              </a:defRPr>
            </a:pPr>
            <a:r>
              <a:t>WHAT THE OWNER MUST CONFIRM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772400"/>
            <a:ext cx="109728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55555"/>
                </a:solidFill>
                <a:latin typeface="Montserrat"/>
              </a:defRPr>
            </a:pPr>
            <a:r>
              <a:t>MODE OF OPERATIONS • V1.0 • OWNER ACCEPTANCE PENDING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0" y="7726679"/>
            <a:ext cx="59436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7D2B42"/>
                </a:solidFill>
                <a:latin typeface="Montserrat"/>
              </a:defRPr>
            </a:pPr>
            <a:r>
              <a:t>18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31720"/>
            <a:ext cx="4190999" cy="4983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532888"/>
            <a:ext cx="3788663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7D2B42"/>
                </a:solidFill>
                <a:latin typeface="Montserrat"/>
              </a:defRPr>
            </a:pPr>
            <a:r>
              <a:t>PEOPLE &amp; AUTHORITY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429000"/>
            <a:ext cx="3788663" cy="374903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020"/>
                </a:solidFill>
                <a:latin typeface="Montserrat"/>
              </a:defRPr>
            </a:pPr>
            <a:r>
              <a:t>Confirm retained or delegated MM approval duties, backup reviewers and remaining proposed reporting lines.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51120" y="2331720"/>
            <a:ext cx="4190999" cy="4983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52287" y="2532888"/>
            <a:ext cx="3788663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7D2B42"/>
                </a:solidFill>
                <a:latin typeface="Montserrat"/>
              </a:defRPr>
            </a:pPr>
            <a:r>
              <a:t>OPERATING STANDARDS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52287" y="3429000"/>
            <a:ext cx="3788663" cy="374903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020"/>
                </a:solidFill>
                <a:latin typeface="Montserrat"/>
              </a:defRPr>
            </a:pPr>
            <a:r>
              <a:t>Confirm daily cadence, SLAs, escalation route, response times and draft-review location.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70720" y="2331720"/>
            <a:ext cx="4190999" cy="4983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71888" y="2532888"/>
            <a:ext cx="3788663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7D2B42"/>
                </a:solidFill>
                <a:latin typeface="Montserrat"/>
              </a:defRPr>
            </a:pPr>
            <a:r>
              <a:t>COMMERCIAL CONTROLS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71888" y="3429000"/>
            <a:ext cx="3788663" cy="374903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020"/>
                </a:solidFill>
                <a:latin typeface="Montserrat"/>
              </a:defRPr>
            </a:pPr>
            <a:r>
              <a:t>Confirm payment verifier, balance schedule, media funding, taxes and actual-expense fee basis.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" cy="411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7D2B42"/>
                </a:solidFill>
                <a:latin typeface="Montserrat"/>
              </a:defRPr>
            </a:pPr>
            <a:r>
              <a:t>PMP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84048"/>
            <a:ext cx="109728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7D2B42"/>
                </a:solidFill>
                <a:latin typeface="Montserrat"/>
              </a:defRPr>
            </a:pPr>
            <a:r>
              <a:t>MARKETING DEPARTMENT / OWNER HANDOVER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13350240" cy="13716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13258800" cy="9144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3800" b="1">
                <a:solidFill>
                  <a:srgbClr val="7D2B42"/>
                </a:solidFill>
                <a:latin typeface="Bebas Neue"/>
              </a:defRPr>
            </a:pPr>
            <a:r>
              <a:t>HANDOVER CHECKLIST / COMPLETION NOT YET ASSESSED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772400"/>
            <a:ext cx="109728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55555"/>
                </a:solidFill>
                <a:latin typeface="Montserrat"/>
              </a:defRPr>
            </a:pPr>
            <a:r>
              <a:t>MODE OF OPERATIONS • V1.0 • OWNER ACCEPTANCE PENDING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0" y="7726679"/>
            <a:ext cx="59436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7D2B42"/>
                </a:solidFill>
                <a:latin typeface="Montserrat"/>
              </a:defRPr>
            </a:pPr>
            <a:r>
              <a:t>19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31720"/>
            <a:ext cx="3383280" cy="886968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478024"/>
            <a:ext cx="3054096" cy="75895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CLIENT 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423160"/>
            <a:ext cx="9464040" cy="8412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020"/>
                </a:solidFill>
                <a:latin typeface="Montserrat"/>
              </a:defRPr>
            </a:pPr>
            <a:r>
              <a:t>Private review of scopes, strategies, contracts, payments and current approval versions.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337560"/>
            <a:ext cx="3383280" cy="886968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483864"/>
            <a:ext cx="3054096" cy="75895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WORK IN PROGRESS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429000"/>
            <a:ext cx="9464040" cy="8412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020"/>
                </a:solidFill>
                <a:latin typeface="Montserrat"/>
              </a:defRPr>
            </a:pPr>
            <a:r>
              <a:t>Open tasks, unresolved comments, blockers, publishing calendars and reporting obligations.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343400"/>
            <a:ext cx="3383280" cy="886968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489704"/>
            <a:ext cx="3054096" cy="75895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ACCESS &amp; ASSETS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4434840"/>
            <a:ext cx="9464040" cy="8412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020"/>
                </a:solidFill>
                <a:latin typeface="Montserrat"/>
              </a:defRPr>
            </a:pPr>
            <a:r>
              <a:t>Review secure access/ownership for Drive, WhatsApp and platforms; transfer where required.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349240"/>
            <a:ext cx="3383280" cy="886968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5495544"/>
            <a:ext cx="3054096" cy="75895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PEOPLE &amp; CONTINUITY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5440679"/>
            <a:ext cx="9464040" cy="8412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020"/>
                </a:solidFill>
                <a:latin typeface="Montserrat"/>
              </a:defRPr>
            </a:pPr>
            <a:r>
              <a:t>Current MM authority and any necessary delegation; role/reporting relationships confirmed.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6355080"/>
            <a:ext cx="3383280" cy="886968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6501384"/>
            <a:ext cx="3054096" cy="75895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PROOF &amp; ACCEPTANCE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6446520"/>
            <a:ext cx="9464040" cy="8412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02020"/>
                </a:solidFill>
                <a:latin typeface="Montserrat"/>
              </a:defRPr>
            </a:pPr>
            <a:r>
              <a:t>Walk one full client example and one rejected-task loop; record owner acceptance and exceptions.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D2B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" cy="411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PMP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84048"/>
            <a:ext cx="109728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FFFFF"/>
                </a:solidFill>
                <a:latin typeface="Montserrat"/>
              </a:defRPr>
            </a:pPr>
            <a:r>
              <a:t>MARKETING DEPARTMENT / OWNER HANDOVER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13350240" cy="137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13258800" cy="9144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3800" b="1">
                <a:solidFill>
                  <a:srgbClr val="FFFFFF"/>
                </a:solidFill>
                <a:latin typeface="Bebas Neue"/>
              </a:defRPr>
            </a:pPr>
            <a:r>
              <a:t>OWNER HANDOVER / ACCEPT THE SYSTEM, THEN VERIFY THE LIVE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772400"/>
            <a:ext cx="109728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FFFFFF"/>
                </a:solidFill>
                <a:latin typeface="Montserrat"/>
              </a:defRPr>
            </a:pPr>
            <a:r>
              <a:t>MODE OF OPERATIONS • V1.0 • OWNER ACCEPTANCE PENDING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0" y="7726679"/>
            <a:ext cx="59436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FFFFFF"/>
                </a:solidFill>
                <a:latin typeface="Montserrat"/>
              </a:defRPr>
            </a:pPr>
            <a: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12801600" cy="8229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FFCC00"/>
                </a:solidFill>
                <a:latin typeface="Montserrat"/>
              </a:defRPr>
            </a:pPr>
            <a:r>
              <a:t>The operating blueprint is documented.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12801600" cy="1600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900" b="0">
                <a:solidFill>
                  <a:srgbClr val="FFFFFF"/>
                </a:solidFill>
                <a:latin typeface="Montserrat"/>
              </a:defRPr>
            </a:pPr>
            <a:r>
              <a:t>Next: confirm authority, review active accounts and access,</a:t>
            </a:r>
          </a:p>
          <a:p>
            <a:pPr>
              <a:spcAft>
                <a:spcPts val="800"/>
              </a:spcAft>
              <a:defRPr sz="2900" b="0">
                <a:solidFill>
                  <a:srgbClr val="FFFFFF"/>
                </a:solidFill>
                <a:latin typeface="Montserrat"/>
              </a:defRPr>
            </a:pPr>
            <a:r>
              <a:t>resolve open work and record owner acceptance.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80760"/>
            <a:ext cx="12801600" cy="7772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FFFFFF"/>
                </a:solidFill>
                <a:latin typeface="Montserrat"/>
              </a:defRPr>
            </a:pPr>
            <a:r>
              <a:t>Use the SOP document for execution. Use the private task sheet and company tools for live records.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