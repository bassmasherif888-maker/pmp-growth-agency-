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briefing. The DOCX SOP contains triggers, steps, exit gates and required records. Confirmed workflow derives from user instructions. Proposed controls and unresolved authority remain marked; no live access transfer, owner acceptance or actual client records are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2B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FFFFFF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Bebas Neue"/>
              </a:defRPr>
            </a:pPr>
            <a:r>
              <a:t>MARKETING DEPARTMENT</a:t>
            </a:r>
          </a:p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Bebas Neue"/>
              </a:defRPr>
            </a:pPr>
            <a:r>
              <a:t>MODE OF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FFFFFF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FFFFFF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10972800" cy="8229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FFCC00"/>
                </a:solidFill>
                <a:latin typeface="Montserrat"/>
              </a:defRPr>
            </a:pPr>
            <a:r>
              <a:t>Owner handover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261872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700" b="0">
                <a:solidFill>
                  <a:srgbClr val="FFFFFF"/>
                </a:solidFill>
                <a:latin typeface="Montserrat"/>
              </a:defRPr>
            </a:pPr>
            <a:r>
              <a:t>How we acquire clients, organize daily work, review quality,</a:t>
            </a:r>
          </a:p>
          <a:p>
            <a:pPr>
              <a:spcAft>
                <a:spcPts val="800"/>
              </a:spcAft>
              <a:defRPr sz="2700" b="0">
                <a:solidFill>
                  <a:srgbClr val="FFFFFF"/>
                </a:solidFill>
                <a:latin typeface="Montserrat"/>
              </a:defRPr>
            </a:pPr>
            <a:r>
              <a:t>secure approvals and deliver campaigns.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629400"/>
            <a:ext cx="1234440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tserrat"/>
              </a:defRPr>
            </a:pPr>
            <a:r>
              <a:t>Editable operating manual + concise briefing | 30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WHAT THE OWNER IS RECEIVING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THE OPERATING BLUEPRINT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Full start-to-end process, roles, tools, handoffs and controls.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THE DAILY SOP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12 procedures with triggers, inputs, steps, outputs, approval gates and records.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THE HANDOVER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Access, open work, client state, successor authority and acceptance still need verification.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THE COMPLETE JOURNEY / FROM OPPORTUNITY TO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01 / ACQUIRE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Sales or BD prospects, researches, prepares audit and initial proposal; AM is involved.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02 / ALIGN &amp;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Meeting one → client ready to sign → actual strategy with AM/SM/MM/MB → signed pack.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03 / ACTIVATE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Signed contract moves folder; verified upfront payment gates contracted delivery.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04 / 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briefs and distributes tasks; holders execute; heads/MM review and comment.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05 / APPROVE &amp; RELEASE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Marketing approval → AM one PPTX → final client approval → archive/schedule/publish.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06 / 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Performance and listening reports, paid-spend evidence, actions for next cycle.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THREE MILESTONES THAT MUST NEVER BE MERGED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READY TO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Only now does AM start actual-strategy development with SM, MM and MB after meeting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CONTRACT SIGNED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Move the SAME client folder out of Quotations to stand alone. Retain its records.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PAYMENT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Start contracted delivery only after required upfront funds and the signed pack are confirmed.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ACQUISITION / SALES OR BD LEADS, AM STAYS INVOLVED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OUTREACH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Visits, researched cold calls, LinkedIn, email campaigns and calls to PMP paid-media leads.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MEETING PREP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SSM audit → initial strategy/proposal → three pricing tiers; study problems and solutions.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MEETING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Online/offline presentation; capture actual client brief; record readiness to sign.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ACTUAL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Only if ready: AM compares proposal vs brief, then works with SM, MM and MB.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MEETING TWO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Printed brief, actual strategy, agreed quotation and contract; client signs all four.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COMMERCIAL START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SOCIAL MANAGEMENT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100% of the agreed contract amount before contracted delivery begins.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OTHER SERVICES INCLUDED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At least 50% of the agreed contract amount before contracted delivery begins.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MEDIA FEE AFTER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25% of actual media expenses. Actual-expense basis, taxes and billing terms follow the agreement.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TOOLS / EACH RECORD HAS 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WHATSAPP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AM’s client communication group: client, PMP owner, MM and relevant stakeholders.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TASK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Execution stage, accountable holder, priority, dates, deliverable links, reviewer/holder notes.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DRIVE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Quotations before signing; standalone client folder after signing; monthly production folders.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CONTENT CALENDAR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Working PPTX on Drive; review comments stay on the same calendar.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CLIENT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collects finalized work into one PPTX; approval must reference the presented version.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DEMO WEBSITE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Training/reference only; not verified finance, shared task data, real publication or Drive automation.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ACCOUNT MANAGER / THE EXECUTION COORDINATOR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BEFORE THE SALE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Involved in preparation and meetings; captures actual brief and leads readiness-gated actual strategy.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DURING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Writes/distributes briefs, assigns accountable tasks, monitors dates/inputs and follows comments.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AT CLIENT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Gathers finalized work in one PPTX, presents, records approval and routes rejected tasks 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WHO DOES WHAT / TEAM RELATIONS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LEADERSHIP &amp;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MM: strategy, internal approval and video quality. BD/Sales: acquisition and commercial materials.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coordinates the project across teams; coordination does not automatically create line authority.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Content + Senior and Junior Writers: create, submit and quality-review copy/calendars.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Design + Graphic Designers 1/2: create, correct and quality-review design 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Video Editors 1/2 report directly to MM; MM performs video-quality review and internal approval.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DISTRIBUTION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SM: calendar/strategy/reporting/community and publishing. MB: actual strategy and paid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TASK CREATION / MAKE OWNERSHIP TRACEABLE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BEFORE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Actual brief, scope and inputs available; signed pack and required payment confirmed.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ONE ACCOUNTABLE HOLDER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Task ID, account, task/brief, priority, deadline and expected output/reference.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WHILE EXECUTING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Update start/end dates, stage, blockers, output link and holder notes.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BEFORE HANDOFF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Check completeness; route to the named reviewer rather than assuming a finished file is approved.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AM FOLLOW-UP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Track missing inputs, review queues, client decisions and carryovers. Exact SLAs remain unconfirmed.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SUBMISSION / CONTENT AND CREATIVE ARE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CONTENT WORKING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Submit on sheet + upload monthly calendar PPTX to Drive. Receive/execute comments in that same calendar.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DESIGN &amp; VIDEO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Keep sheet and references current. Draft-review location is not yet confirmed; do not invent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FINAL CREATIVE ARCHIVE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Monthly Design/Video folders contain only final internally and client-approved copies.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THE APPROVAL CHAIN / NO SKIPPED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CONTENT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Content reviews the writers’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8515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3146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DESIGN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7659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 of Design reviews Graphic Designers 1/2 output.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3859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490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VIDEO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13003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Marketing Manager reviews Video Editors 1/2 output.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03834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FINAL INTERNAL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98347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Marketing Manager approves after quality review; record video checks as distinct decisions.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5480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891784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CLIENT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836920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gathers ONE PPTX; client approves the presented version.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598919"/>
            <a:ext cx="3383280" cy="734567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745223"/>
            <a:ext cx="3054096" cy="606551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PUBLICATION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6690359"/>
            <a:ext cx="9464040" cy="6888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SM receives approved calendar/presentation. Paid work remains a separate MB execution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REVISIONS / THE TASK STAYS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REVIEWERS COMMENT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AM, MM and relevant heads give actionable feedback with author and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HOLDER EXECUTES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The accountable holder implements every comment and records how it was addressed.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REVIEW AGAIN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Repeat applicable quality and MM reviews; revised client material returns for renewed approval.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SOCIAL MEDIA / MORE THAN PUBLISHING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CALENDARS &amp;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Gather all private-label calendars and contribute/create social strategy.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EXECUTION &amp; 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Schedule/publish approved calendars and reply to private-label page comments.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REPORTING &amp; LISTENING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Create performance and listening reports; feed evidence into the next strategy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DAILY CONTROL LOOP / PROPOSED FOR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OPENING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+ heads/MM review due work, ownership, missing assets, blockers and pending client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EXECUTION UPDATES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Holders maintain sheet, output references and responses to comments.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REVIEW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Heads/MM record quality decisions and comments; AM follows unresolved items.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RELEASE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 checks client PPTX approval; SM checks approved calendar, schedule and community issues.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CLOSING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Reconcile tasks and daily-finished log; identify carryovers and next owner. Times/SLAs are not confirmed.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MEASURE WHAT EXISTS / NEVER FABRICATE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WORKFLOW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Use actual records of open tasks, blockers, pending reviews and revision loops.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CLIENT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SM reports organic performance/listening; MB reports paid results and actual expenses.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NEXT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AM/MM coordinate evidence-led changes. Account-specific reporting dates and KPI baselines need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EXCEPTIONS / KEEP CONTROL WHEN WORK GOES OFF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NOT READY TO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Stay in pre-sales; actual-strategy development remains pending.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MISSING FUNDS / 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Hold the relevant delivery/handoff; record missing evidence and responsible follow-up.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REJECTED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Keep/reopen task; owner executes comments; reviewers decide approval.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POST-APPROVAL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Route changed material through required reviews and renewed client approval.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MM UNAVAILABLE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Owner appoints an authorized successor/delegate; no invented bypass or self-appointed authority.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WHAT THE OWNER MUST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PEOPLE &amp; AUTHORITY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Confirm retained or delegated MM approval duties, backup reviewers and remaining proposed reporting 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1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2287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OPERATING STANDARDS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287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Confirm daily cadence, SLAs, escalation route, response times and draft-review location.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0720" y="2331720"/>
            <a:ext cx="4190999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71888" y="2532888"/>
            <a:ext cx="3788663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D2B42"/>
                </a:solidFill>
                <a:latin typeface="Montserrat"/>
              </a:defRPr>
            </a:pPr>
            <a:r>
              <a:t>COMMERCIAL 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1888" y="3429000"/>
            <a:ext cx="3788663" cy="3749039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Confirm payment verifier, balance schedule, media funding, taxes and actual-expense fee basis.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HANDOVER CHECKLIST / COMPLETION NOT YET ASSESSED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CLIENT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Private review of scopes, strategies, contracts, payments and current approval versions.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WORK 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Open tasks, unresolved comments, blockers, publishing calendars and reporting obligations.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ACCESS &amp; ASSETS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Review secure access/ownership for Drive, WhatsApp and platforms; transfer where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PEOPLE &amp; CONTINUITY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Current MM authority and any necessary delegation; role/reporting relationships confirmed.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PROOF &amp;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Walk one full client example and one rejected-task loop; record owner acceptance and exceptions.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COMPANY RESOURCES / ACCESS IS NOT UNIVERSAL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HIGGSFIELD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Video Editors VE-01/VE-02 ONLY. Forbidden for every other team member.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CLAUDE + CHATGPT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Company-provided subscriptions; confirm named seats, licence and data-use rules.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CANVA + ADOBE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Company-provided software; exact applications and seat assignments remain to confirm.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HARD DRIVES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Several company drives exist. Register asset, location, contents and named custodian; custody not yet assigned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SHOOTING OPERATIONS / PEOPLE, DATA AND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AM COORDINATION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Arrange outsourced video/photo team, podcast guests and PR person.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SM DATA HANDOFF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Collect footage/photos from videographer/photographer; hand to assigned editors/designers.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SM ACCOUNTABILITY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Full accountability for memory cards and studio tools; capture behind-the-scenes content.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RECOMMENDED 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Shoot brief, asset issue/return, transfer reference, receiver check and backup/custody confirmation.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7D2B42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7D2B42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7D2B42"/>
                </a:solidFill>
                <a:latin typeface="Bebas Neue"/>
              </a:defRPr>
            </a:pPr>
            <a:r>
              <a:t>MONTHLY TEAM APPRAISALS / A DISTINCT OPERATING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555555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D2B42"/>
                </a:solidFill>
                <a:latin typeface="Montserrat"/>
              </a:defRPr>
            </a:pPr>
            <a: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3172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Use approved role-specific forms; preserve private employee evidence and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386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SELF +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Employee self-rating before the meeting; manager rating and gap discussion.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34340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970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WEIGHTS /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43484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30% core, 50% role KPIs, 10% development, 10% culture. Scale 1–5; justify 1/2/5.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4924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49554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440679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Record achievements, blockers, feedback and next SMART goals; follow quarterly OKRs monthly.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3383280" cy="886968"/>
          </a:xfrm>
          <a:prstGeom prst="rect">
            <a:avLst/>
          </a:prstGeom>
          <a:solidFill>
            <a:srgbClr val="7D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501384"/>
            <a:ext cx="3054096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COMPLETENESS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446520"/>
            <a:ext cx="9464040" cy="841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02020"/>
                </a:solidFill>
                <a:latin typeface="Montserrat"/>
              </a:defRPr>
            </a:pPr>
            <a:r>
              <a:t>Do not interpret blank-as-zero totals as completed reviews or make pay/promotion automatic.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2B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PMP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FFFFFF"/>
                </a:solidFill>
                <a:latin typeface="Montserrat"/>
              </a:defRPr>
            </a:pPr>
            <a:r>
              <a:t>MARKETING DEPARTMENT / OWNER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1335024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3258800" cy="914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Bebas Neue"/>
              </a:defRPr>
            </a:pPr>
            <a:r>
              <a:t>OWNER HANDOVER / ACCEPT THE SYSTEM, THEN VERIFY THE LIVE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772400"/>
            <a:ext cx="109728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FFFFFF"/>
                </a:solidFill>
                <a:latin typeface="Montserrat"/>
              </a:defRPr>
            </a:pPr>
            <a:r>
              <a:t>MODE OF OPERATIONS • V1.0 • OWNER ACCEPTANCE PENDING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0" y="7726679"/>
            <a:ext cx="5943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FFFFFF"/>
                </a:solidFill>
                <a:latin typeface="Montserrat"/>
              </a:defRPr>
            </a:pPr>
            <a: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2801600" cy="8229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FFCC00"/>
                </a:solidFill>
                <a:latin typeface="Montserrat"/>
              </a:defRPr>
            </a:pPr>
            <a:r>
              <a:t>The operating blueprint is documented.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2801600" cy="1600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0">
                <a:solidFill>
                  <a:srgbClr val="FFFFFF"/>
                </a:solidFill>
                <a:latin typeface="Montserrat"/>
              </a:defRPr>
            </a:pPr>
            <a:r>
              <a:t>Next: confirm authority, review active accounts and access,</a:t>
            </a:r>
          </a:p>
          <a:p>
            <a:pPr>
              <a:spcAft>
                <a:spcPts val="800"/>
              </a:spcAft>
              <a:defRPr sz="2900" b="0">
                <a:solidFill>
                  <a:srgbClr val="FFFFFF"/>
                </a:solidFill>
                <a:latin typeface="Montserrat"/>
              </a:defRPr>
            </a:pPr>
            <a:r>
              <a:t>resolve open work and record owner acceptance.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2801600" cy="7772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Montserrat"/>
              </a:defRPr>
            </a:pPr>
            <a:r>
              <a:t>Use the SOP document for execution. Use the private task sheet and company tools for live records.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